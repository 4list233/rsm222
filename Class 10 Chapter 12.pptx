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92" r:id="rId4"/>
    <p:sldMasterId id="2147483759" r:id="rId5"/>
    <p:sldMasterId id="2147483769" r:id="rId6"/>
    <p:sldMasterId id="2147483779" r:id="rId7"/>
    <p:sldMasterId id="2147483789" r:id="rId8"/>
    <p:sldMasterId id="2147483799" r:id="rId9"/>
    <p:sldMasterId id="2147483827" r:id="rId10"/>
    <p:sldMasterId id="2147483850" r:id="rId11"/>
  </p:sldMasterIdLst>
  <p:notesMasterIdLst>
    <p:notesMasterId r:id="rId89"/>
  </p:notesMasterIdLst>
  <p:sldIdLst>
    <p:sldId id="256" r:id="rId12"/>
    <p:sldId id="258" r:id="rId13"/>
    <p:sldId id="259" r:id="rId14"/>
    <p:sldId id="260" r:id="rId15"/>
    <p:sldId id="788" r:id="rId16"/>
    <p:sldId id="262" r:id="rId17"/>
    <p:sldId id="263" r:id="rId18"/>
    <p:sldId id="264" r:id="rId19"/>
    <p:sldId id="791" r:id="rId20"/>
    <p:sldId id="357" r:id="rId21"/>
    <p:sldId id="358" r:id="rId22"/>
    <p:sldId id="802" r:id="rId23"/>
    <p:sldId id="363" r:id="rId24"/>
    <p:sldId id="265" r:id="rId25"/>
    <p:sldId id="266" r:id="rId26"/>
    <p:sldId id="267" r:id="rId27"/>
    <p:sldId id="268" r:id="rId28"/>
    <p:sldId id="269" r:id="rId29"/>
    <p:sldId id="803" r:id="rId30"/>
    <p:sldId id="364" r:id="rId31"/>
    <p:sldId id="365" r:id="rId32"/>
    <p:sldId id="366" r:id="rId33"/>
    <p:sldId id="798" r:id="rId34"/>
    <p:sldId id="367" r:id="rId35"/>
    <p:sldId id="370" r:id="rId36"/>
    <p:sldId id="371" r:id="rId37"/>
    <p:sldId id="372" r:id="rId38"/>
    <p:sldId id="373" r:id="rId39"/>
    <p:sldId id="375" r:id="rId40"/>
    <p:sldId id="376" r:id="rId41"/>
    <p:sldId id="377" r:id="rId42"/>
    <p:sldId id="378" r:id="rId43"/>
    <p:sldId id="379" r:id="rId44"/>
    <p:sldId id="380" r:id="rId45"/>
    <p:sldId id="797" r:id="rId46"/>
    <p:sldId id="386" r:id="rId47"/>
    <p:sldId id="387" r:id="rId48"/>
    <p:sldId id="388" r:id="rId49"/>
    <p:sldId id="389" r:id="rId50"/>
    <p:sldId id="390" r:id="rId51"/>
    <p:sldId id="391" r:id="rId52"/>
    <p:sldId id="392" r:id="rId53"/>
    <p:sldId id="799" r:id="rId54"/>
    <p:sldId id="393" r:id="rId55"/>
    <p:sldId id="394" r:id="rId56"/>
    <p:sldId id="395" r:id="rId57"/>
    <p:sldId id="396" r:id="rId58"/>
    <p:sldId id="789" r:id="rId59"/>
    <p:sldId id="272" r:id="rId60"/>
    <p:sldId id="800" r:id="rId61"/>
    <p:sldId id="400" r:id="rId62"/>
    <p:sldId id="401" r:id="rId63"/>
    <p:sldId id="450" r:id="rId64"/>
    <p:sldId id="460" r:id="rId65"/>
    <p:sldId id="403" r:id="rId66"/>
    <p:sldId id="404" r:id="rId67"/>
    <p:sldId id="406" r:id="rId68"/>
    <p:sldId id="407" r:id="rId69"/>
    <p:sldId id="408" r:id="rId70"/>
    <p:sldId id="409" r:id="rId71"/>
    <p:sldId id="801" r:id="rId72"/>
    <p:sldId id="410" r:id="rId73"/>
    <p:sldId id="793" r:id="rId74"/>
    <p:sldId id="412" r:id="rId75"/>
    <p:sldId id="413" r:id="rId76"/>
    <p:sldId id="418" r:id="rId77"/>
    <p:sldId id="794" r:id="rId78"/>
    <p:sldId id="420" r:id="rId79"/>
    <p:sldId id="795" r:id="rId80"/>
    <p:sldId id="796" r:id="rId81"/>
    <p:sldId id="423" r:id="rId82"/>
    <p:sldId id="281" r:id="rId83"/>
    <p:sldId id="282" r:id="rId84"/>
    <p:sldId id="283" r:id="rId85"/>
    <p:sldId id="430" r:id="rId86"/>
    <p:sldId id="744" r:id="rId87"/>
    <p:sldId id="706" r:id="rId88"/>
  </p:sldIdLst>
  <p:sldSz cx="12192000" cy="6858000"/>
  <p:notesSz cx="6985000" cy="9283700"/>
  <p:embeddedFontLst>
    <p:embeddedFont>
      <p:font typeface="Rockwell" panose="02060603020205020403" pitchFamily="18" charset="0"/>
      <p:regular r:id="rId90"/>
      <p:bold r:id="rId91"/>
      <p:italic r:id="rId92"/>
      <p:boldItalic r:id="rId93"/>
    </p:embeddedFont>
    <p:embeddedFont>
      <p:font typeface="Wingdings 2" panose="05020102010507070707" pitchFamily="18" charset="2"/>
      <p:regular r:id="rId94"/>
    </p:embeddedFont>
    <p:embeddedFont>
      <p:font typeface="Wingdings 3" panose="05040102010807070707" pitchFamily="18" charset="2"/>
      <p:regular r:id="rId9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79" userDrawn="1">
          <p15:clr>
            <a:srgbClr val="A4A3A4"/>
          </p15:clr>
        </p15:guide>
        <p15:guide id="2" pos="3840" userDrawn="1">
          <p15:clr>
            <a:srgbClr val="A4A3A4"/>
          </p15:clr>
        </p15:guide>
        <p15:guide id="3" pos="3931" userDrawn="1">
          <p15:clr>
            <a:srgbClr val="A4A3A4"/>
          </p15:clr>
        </p15:guide>
      </p15:sldGuideLst>
    </p:ext>
    <p:ext uri="{2D200454-40CA-4A62-9FC3-DE9A4176ACB9}">
      <p15:notesGuideLst xmlns:p15="http://schemas.microsoft.com/office/powerpoint/2012/main">
        <p15:guide id="1" orient="horz" pos="2924" userDrawn="1">
          <p15:clr>
            <a:srgbClr val="A4A3A4"/>
          </p15:clr>
        </p15:guide>
        <p15:guide id="2" pos="220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037C"/>
    <a:srgbClr val="CF55A1"/>
    <a:srgbClr val="EACC1B"/>
    <a:srgbClr val="929292"/>
    <a:srgbClr val="FCAF17"/>
    <a:srgbClr val="CE9D00"/>
    <a:srgbClr val="00C2E2"/>
    <a:srgbClr val="7C98AE"/>
    <a:srgbClr val="FF8C3F"/>
    <a:srgbClr val="3989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2995E9-C747-4815-BB30-2B6BF89C913E}" v="440" dt="2025-10-31T07:15:14.9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89" autoAdjust="0"/>
    <p:restoredTop sz="94288" autoAdjust="0"/>
  </p:normalViewPr>
  <p:slideViewPr>
    <p:cSldViewPr>
      <p:cViewPr varScale="1">
        <p:scale>
          <a:sx n="99" d="100"/>
          <a:sy n="99" d="100"/>
        </p:scale>
        <p:origin x="228" y="64"/>
      </p:cViewPr>
      <p:guideLst>
        <p:guide orient="horz" pos="1979"/>
        <p:guide pos="3840"/>
        <p:guide pos="3931"/>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86" d="100"/>
          <a:sy n="86" d="100"/>
        </p:scale>
        <p:origin x="-2664" y="-96"/>
      </p:cViewPr>
      <p:guideLst>
        <p:guide orient="horz" pos="2924"/>
        <p:guide pos="220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84" Type="http://schemas.openxmlformats.org/officeDocument/2006/relationships/slide" Target="slides/slide73.xml"/><Relationship Id="rId89" Type="http://schemas.openxmlformats.org/officeDocument/2006/relationships/notesMaster" Target="notesMasters/notesMaster1.xml"/><Relationship Id="rId16" Type="http://schemas.openxmlformats.org/officeDocument/2006/relationships/slide" Target="slides/slide5.xml"/><Relationship Id="rId11" Type="http://schemas.openxmlformats.org/officeDocument/2006/relationships/slideMaster" Target="slideMasters/slideMaster8.xml"/><Relationship Id="rId32" Type="http://schemas.openxmlformats.org/officeDocument/2006/relationships/slide" Target="slides/slide21.xml"/><Relationship Id="rId37" Type="http://schemas.openxmlformats.org/officeDocument/2006/relationships/slide" Target="slides/slide26.xml"/><Relationship Id="rId53" Type="http://schemas.openxmlformats.org/officeDocument/2006/relationships/slide" Target="slides/slide42.xml"/><Relationship Id="rId58" Type="http://schemas.openxmlformats.org/officeDocument/2006/relationships/slide" Target="slides/slide47.xml"/><Relationship Id="rId74" Type="http://schemas.openxmlformats.org/officeDocument/2006/relationships/slide" Target="slides/slide63.xml"/><Relationship Id="rId79" Type="http://schemas.openxmlformats.org/officeDocument/2006/relationships/slide" Target="slides/slide68.xml"/><Relationship Id="rId5" Type="http://schemas.openxmlformats.org/officeDocument/2006/relationships/slideMaster" Target="slideMasters/slideMaster2.xml"/><Relationship Id="rId90" Type="http://schemas.openxmlformats.org/officeDocument/2006/relationships/font" Target="fonts/font1.fntdata"/><Relationship Id="rId95" Type="http://schemas.openxmlformats.org/officeDocument/2006/relationships/font" Target="fonts/font6.fntdata"/><Relationship Id="rId22" Type="http://schemas.openxmlformats.org/officeDocument/2006/relationships/slide" Target="slides/slide11.xml"/><Relationship Id="rId27" Type="http://schemas.openxmlformats.org/officeDocument/2006/relationships/slide" Target="slides/slide16.xml"/><Relationship Id="rId43" Type="http://schemas.openxmlformats.org/officeDocument/2006/relationships/slide" Target="slides/slide32.xml"/><Relationship Id="rId48" Type="http://schemas.openxmlformats.org/officeDocument/2006/relationships/slide" Target="slides/slide37.xml"/><Relationship Id="rId64" Type="http://schemas.openxmlformats.org/officeDocument/2006/relationships/slide" Target="slides/slide53.xml"/><Relationship Id="rId69" Type="http://schemas.openxmlformats.org/officeDocument/2006/relationships/slide" Target="slides/slide58.xml"/><Relationship Id="rId80" Type="http://schemas.openxmlformats.org/officeDocument/2006/relationships/slide" Target="slides/slide69.xml"/><Relationship Id="rId85" Type="http://schemas.openxmlformats.org/officeDocument/2006/relationships/slide" Target="slides/slide74.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67" Type="http://schemas.openxmlformats.org/officeDocument/2006/relationships/slide" Target="slides/slide56.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slide" Target="slides/slide51.xml"/><Relationship Id="rId70" Type="http://schemas.openxmlformats.org/officeDocument/2006/relationships/slide" Target="slides/slide59.xml"/><Relationship Id="rId75" Type="http://schemas.openxmlformats.org/officeDocument/2006/relationships/slide" Target="slides/slide64.xml"/><Relationship Id="rId83" Type="http://schemas.openxmlformats.org/officeDocument/2006/relationships/slide" Target="slides/slide72.xml"/><Relationship Id="rId88" Type="http://schemas.openxmlformats.org/officeDocument/2006/relationships/slide" Target="slides/slide77.xml"/><Relationship Id="rId91" Type="http://schemas.openxmlformats.org/officeDocument/2006/relationships/font" Target="fonts/font2.fntdata"/><Relationship Id="rId9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slide" Target="slides/slide62.xml"/><Relationship Id="rId78" Type="http://schemas.openxmlformats.org/officeDocument/2006/relationships/slide" Target="slides/slide67.xml"/><Relationship Id="rId81" Type="http://schemas.openxmlformats.org/officeDocument/2006/relationships/slide" Target="slides/slide70.xml"/><Relationship Id="rId86" Type="http://schemas.openxmlformats.org/officeDocument/2006/relationships/slide" Target="slides/slide75.xml"/><Relationship Id="rId94" Type="http://schemas.openxmlformats.org/officeDocument/2006/relationships/font" Target="fonts/font5.fntdata"/><Relationship Id="rId9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97" Type="http://schemas.openxmlformats.org/officeDocument/2006/relationships/viewProps" Target="viewProps.xml"/><Relationship Id="rId7" Type="http://schemas.openxmlformats.org/officeDocument/2006/relationships/slideMaster" Target="slideMasters/slideMaster4.xml"/><Relationship Id="rId71" Type="http://schemas.openxmlformats.org/officeDocument/2006/relationships/slide" Target="slides/slide60.xml"/><Relationship Id="rId92" Type="http://schemas.openxmlformats.org/officeDocument/2006/relationships/font" Target="fonts/font3.fntdata"/><Relationship Id="rId2" Type="http://schemas.openxmlformats.org/officeDocument/2006/relationships/customXml" Target="../customXml/item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61" Type="http://schemas.openxmlformats.org/officeDocument/2006/relationships/slide" Target="slides/slide50.xml"/><Relationship Id="rId82" Type="http://schemas.openxmlformats.org/officeDocument/2006/relationships/slide" Target="slides/slide71.xml"/><Relationship Id="rId19" Type="http://schemas.openxmlformats.org/officeDocument/2006/relationships/slide" Target="slides/slide8.xml"/><Relationship Id="rId14" Type="http://schemas.openxmlformats.org/officeDocument/2006/relationships/slide" Target="slides/slide3.xml"/><Relationship Id="rId30" Type="http://schemas.openxmlformats.org/officeDocument/2006/relationships/slide" Target="slides/slide19.xml"/><Relationship Id="rId35" Type="http://schemas.openxmlformats.org/officeDocument/2006/relationships/slide" Target="slides/slide24.xml"/><Relationship Id="rId56" Type="http://schemas.openxmlformats.org/officeDocument/2006/relationships/slide" Target="slides/slide45.xml"/><Relationship Id="rId77" Type="http://schemas.openxmlformats.org/officeDocument/2006/relationships/slide" Target="slides/slide66.xml"/><Relationship Id="rId100"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slide" Target="slides/slide40.xml"/><Relationship Id="rId72" Type="http://schemas.openxmlformats.org/officeDocument/2006/relationships/slide" Target="slides/slide61.xml"/><Relationship Id="rId93" Type="http://schemas.openxmlformats.org/officeDocument/2006/relationships/font" Target="fonts/font4.fntdata"/><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0A013A6D-A27B-464A-8085-12C2023C33AE}" type="datetimeFigureOut">
              <a:rPr lang="en-US" smtClean="0"/>
              <a:t>11/11/2025</a:t>
            </a:fld>
            <a:endParaRPr lang="en-US"/>
          </a:p>
        </p:txBody>
      </p:sp>
      <p:sp>
        <p:nvSpPr>
          <p:cNvPr id="4" name="Slide Image Placeholder 3"/>
          <p:cNvSpPr>
            <a:spLocks noGrp="1" noRot="1" noChangeAspect="1"/>
          </p:cNvSpPr>
          <p:nvPr>
            <p:ph type="sldImg" idx="2"/>
          </p:nvPr>
        </p:nvSpPr>
        <p:spPr>
          <a:xfrm>
            <a:off x="398463" y="696913"/>
            <a:ext cx="6188075"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99B22804-678A-4588-8318-46D4BE492181}" type="slidenum">
              <a:rPr lang="en-US" smtClean="0"/>
              <a:t>‹#›</a:t>
            </a:fld>
            <a:endParaRPr lang="en-US"/>
          </a:p>
        </p:txBody>
      </p:sp>
    </p:spTree>
    <p:extLst>
      <p:ext uri="{BB962C8B-B14F-4D97-AF65-F5344CB8AC3E}">
        <p14:creationId xmlns:p14="http://schemas.microsoft.com/office/powerpoint/2010/main" val="1042719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3">
            <a:extLst>
              <a:ext uri="{FF2B5EF4-FFF2-40B4-BE49-F238E27FC236}">
                <a16:creationId xmlns:a16="http://schemas.microsoft.com/office/drawing/2014/main" id="{F3DF25C4-5801-493D-A2A7-7F04A6AA7D5A}"/>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55EA1D5D-A2CA-4873-B597-813531C7F179}" type="slidenum">
              <a:rPr lang="en-US" altLang="en-US" sz="1800">
                <a:latin typeface="Arial" panose="020B0604020202020204" pitchFamily="34" charset="0"/>
              </a:rPr>
              <a:pPr eaLnBrk="1" hangingPunct="1">
                <a:spcBef>
                  <a:spcPct val="0"/>
                </a:spcBef>
              </a:pPr>
              <a:t>10</a:t>
            </a:fld>
            <a:endParaRPr lang="en-US" altLang="en-US" sz="1800">
              <a:latin typeface="Arial" panose="020B0604020202020204" pitchFamily="34" charset="0"/>
            </a:endParaRPr>
          </a:p>
        </p:txBody>
      </p:sp>
      <p:sp>
        <p:nvSpPr>
          <p:cNvPr id="30722" name="Rectangle 7">
            <a:extLst>
              <a:ext uri="{FF2B5EF4-FFF2-40B4-BE49-F238E27FC236}">
                <a16:creationId xmlns:a16="http://schemas.microsoft.com/office/drawing/2014/main" id="{73436B2F-2F31-45AF-A7C1-88D49EB8D309}"/>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84360344-EEDB-4948-9A49-A76878644BCA}" type="slidenum">
              <a:rPr lang="en-US" altLang="en-US" sz="1800">
                <a:latin typeface="Arial" panose="020B0604020202020204" pitchFamily="34" charset="0"/>
              </a:rPr>
              <a:pPr eaLnBrk="1" hangingPunct="1">
                <a:spcBef>
                  <a:spcPct val="0"/>
                </a:spcBef>
              </a:pPr>
              <a:t>10</a:t>
            </a:fld>
            <a:endParaRPr lang="en-US" altLang="en-US" sz="1800">
              <a:latin typeface="Arial" panose="020B0604020202020204" pitchFamily="34" charset="0"/>
            </a:endParaRPr>
          </a:p>
        </p:txBody>
      </p:sp>
      <p:sp>
        <p:nvSpPr>
          <p:cNvPr id="30723" name="Rectangle 2">
            <a:extLst>
              <a:ext uri="{FF2B5EF4-FFF2-40B4-BE49-F238E27FC236}">
                <a16:creationId xmlns:a16="http://schemas.microsoft.com/office/drawing/2014/main" id="{0424716D-67AD-4763-ACF2-B0A0A501E6C0}"/>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30724" name="Rectangle 3">
            <a:extLst>
              <a:ext uri="{FF2B5EF4-FFF2-40B4-BE49-F238E27FC236}">
                <a16:creationId xmlns:a16="http://schemas.microsoft.com/office/drawing/2014/main" id="{B80413DA-CCAA-4567-8648-03FB2F5ABF14}"/>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3">
            <a:extLst>
              <a:ext uri="{FF2B5EF4-FFF2-40B4-BE49-F238E27FC236}">
                <a16:creationId xmlns:a16="http://schemas.microsoft.com/office/drawing/2014/main" id="{88DCFF0D-8E8F-4832-82C6-53AB73D83241}"/>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7D9E828A-C4BF-42FC-AE5A-8545C23AF158}" type="slidenum">
              <a:rPr lang="en-US" altLang="en-US" sz="1800">
                <a:latin typeface="Arial" panose="020B0604020202020204" pitchFamily="34" charset="0"/>
              </a:rPr>
              <a:pPr eaLnBrk="1" hangingPunct="1">
                <a:spcBef>
                  <a:spcPct val="0"/>
                </a:spcBef>
              </a:pPr>
              <a:t>11</a:t>
            </a:fld>
            <a:endParaRPr lang="en-US" altLang="en-US" sz="1800">
              <a:latin typeface="Arial" panose="020B0604020202020204" pitchFamily="34" charset="0"/>
            </a:endParaRPr>
          </a:p>
        </p:txBody>
      </p:sp>
      <p:sp>
        <p:nvSpPr>
          <p:cNvPr id="32770" name="Rectangle 7">
            <a:extLst>
              <a:ext uri="{FF2B5EF4-FFF2-40B4-BE49-F238E27FC236}">
                <a16:creationId xmlns:a16="http://schemas.microsoft.com/office/drawing/2014/main" id="{6B385F6B-8F2F-42F7-926C-8F98336A66BD}"/>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0B031910-F0C6-4296-A85D-777238DAF84E}" type="slidenum">
              <a:rPr lang="en-US" altLang="en-US" sz="1800">
                <a:latin typeface="Arial" panose="020B0604020202020204" pitchFamily="34" charset="0"/>
              </a:rPr>
              <a:pPr eaLnBrk="1" hangingPunct="1">
                <a:spcBef>
                  <a:spcPct val="0"/>
                </a:spcBef>
              </a:pPr>
              <a:t>11</a:t>
            </a:fld>
            <a:endParaRPr lang="en-US" altLang="en-US" sz="1800">
              <a:latin typeface="Arial" panose="020B0604020202020204" pitchFamily="34" charset="0"/>
            </a:endParaRPr>
          </a:p>
        </p:txBody>
      </p:sp>
      <p:sp>
        <p:nvSpPr>
          <p:cNvPr id="32771" name="Rectangle 2">
            <a:extLst>
              <a:ext uri="{FF2B5EF4-FFF2-40B4-BE49-F238E27FC236}">
                <a16:creationId xmlns:a16="http://schemas.microsoft.com/office/drawing/2014/main" id="{B5E8B4CB-6224-4BC5-82A7-9C7908FA302B}"/>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32772" name="Rectangle 3">
            <a:extLst>
              <a:ext uri="{FF2B5EF4-FFF2-40B4-BE49-F238E27FC236}">
                <a16:creationId xmlns:a16="http://schemas.microsoft.com/office/drawing/2014/main" id="{14DD5F3A-5D8D-4AC0-A72F-23D799D55B37}"/>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3">
            <a:extLst>
              <a:ext uri="{FF2B5EF4-FFF2-40B4-BE49-F238E27FC236}">
                <a16:creationId xmlns:a16="http://schemas.microsoft.com/office/drawing/2014/main" id="{6A10ED88-BDE8-4B87-862E-7575DE77BE35}"/>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7B272760-C916-45B5-AF6E-D3FA5B398A83}" type="slidenum">
              <a:rPr lang="en-US" altLang="en-US" sz="1800">
                <a:latin typeface="Arial" panose="020B0604020202020204" pitchFamily="34" charset="0"/>
              </a:rPr>
              <a:pPr eaLnBrk="1" hangingPunct="1">
                <a:spcBef>
                  <a:spcPct val="0"/>
                </a:spcBef>
              </a:pPr>
              <a:t>13</a:t>
            </a:fld>
            <a:endParaRPr lang="en-US" altLang="en-US" sz="1800">
              <a:latin typeface="Arial" panose="020B0604020202020204" pitchFamily="34" charset="0"/>
            </a:endParaRPr>
          </a:p>
        </p:txBody>
      </p:sp>
      <p:sp>
        <p:nvSpPr>
          <p:cNvPr id="43010" name="Rectangle 7">
            <a:extLst>
              <a:ext uri="{FF2B5EF4-FFF2-40B4-BE49-F238E27FC236}">
                <a16:creationId xmlns:a16="http://schemas.microsoft.com/office/drawing/2014/main" id="{C481F7EA-9FA9-4D6E-BB55-06552FA4F608}"/>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F5BB334E-81C9-4185-957F-414689E5C04C}" type="slidenum">
              <a:rPr lang="en-US" altLang="en-US" sz="1800">
                <a:latin typeface="Arial" panose="020B0604020202020204" pitchFamily="34" charset="0"/>
              </a:rPr>
              <a:pPr eaLnBrk="1" hangingPunct="1">
                <a:spcBef>
                  <a:spcPct val="0"/>
                </a:spcBef>
              </a:pPr>
              <a:t>13</a:t>
            </a:fld>
            <a:endParaRPr lang="en-US" altLang="en-US" sz="1800">
              <a:latin typeface="Arial" panose="020B0604020202020204" pitchFamily="34" charset="0"/>
            </a:endParaRPr>
          </a:p>
        </p:txBody>
      </p:sp>
      <p:sp>
        <p:nvSpPr>
          <p:cNvPr id="43011" name="Rectangle 2">
            <a:extLst>
              <a:ext uri="{FF2B5EF4-FFF2-40B4-BE49-F238E27FC236}">
                <a16:creationId xmlns:a16="http://schemas.microsoft.com/office/drawing/2014/main" id="{27839F00-B198-4E30-A5CB-90138D3125BF}"/>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43012" name="Rectangle 3">
            <a:extLst>
              <a:ext uri="{FF2B5EF4-FFF2-40B4-BE49-F238E27FC236}">
                <a16:creationId xmlns:a16="http://schemas.microsoft.com/office/drawing/2014/main" id="{35CDA4C6-EF92-4A4F-976E-A045862A1C1D}"/>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a:extLst>
              <a:ext uri="{FF2B5EF4-FFF2-40B4-BE49-F238E27FC236}">
                <a16:creationId xmlns:a16="http://schemas.microsoft.com/office/drawing/2014/main" id="{01A70CA4-038F-45E5-B8D6-D5A9C52FDFB3}"/>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2C105920-6B5A-45A9-80B8-6EFF83CB6ECD}" type="slidenum">
              <a:rPr lang="en-US" altLang="en-US" sz="1800">
                <a:latin typeface="Arial" panose="020B0604020202020204" pitchFamily="34" charset="0"/>
              </a:rPr>
              <a:pPr eaLnBrk="1" hangingPunct="1">
                <a:spcBef>
                  <a:spcPct val="0"/>
                </a:spcBef>
              </a:pPr>
              <a:t>20</a:t>
            </a:fld>
            <a:endParaRPr lang="en-US" altLang="en-US" sz="1800">
              <a:latin typeface="Arial" panose="020B0604020202020204" pitchFamily="34" charset="0"/>
            </a:endParaRPr>
          </a:p>
        </p:txBody>
      </p:sp>
      <p:sp>
        <p:nvSpPr>
          <p:cNvPr id="45058" name="Rectangle 7">
            <a:extLst>
              <a:ext uri="{FF2B5EF4-FFF2-40B4-BE49-F238E27FC236}">
                <a16:creationId xmlns:a16="http://schemas.microsoft.com/office/drawing/2014/main" id="{7E9FE84C-448D-42CA-8375-121CAE12F557}"/>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70C93578-1FBE-4AC5-BD78-6B7D5D3B84F8}" type="slidenum">
              <a:rPr lang="en-US" altLang="en-US" sz="1800">
                <a:latin typeface="Arial" panose="020B0604020202020204" pitchFamily="34" charset="0"/>
              </a:rPr>
              <a:pPr eaLnBrk="1" hangingPunct="1">
                <a:spcBef>
                  <a:spcPct val="0"/>
                </a:spcBef>
              </a:pPr>
              <a:t>20</a:t>
            </a:fld>
            <a:endParaRPr lang="en-US" altLang="en-US" sz="1800">
              <a:latin typeface="Arial" panose="020B0604020202020204" pitchFamily="34" charset="0"/>
            </a:endParaRPr>
          </a:p>
        </p:txBody>
      </p:sp>
      <p:sp>
        <p:nvSpPr>
          <p:cNvPr id="45059" name="Rectangle 2">
            <a:extLst>
              <a:ext uri="{FF2B5EF4-FFF2-40B4-BE49-F238E27FC236}">
                <a16:creationId xmlns:a16="http://schemas.microsoft.com/office/drawing/2014/main" id="{29DC3A9F-0978-415E-87B0-22E32D50B88D}"/>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45060" name="Rectangle 3">
            <a:extLst>
              <a:ext uri="{FF2B5EF4-FFF2-40B4-BE49-F238E27FC236}">
                <a16:creationId xmlns:a16="http://schemas.microsoft.com/office/drawing/2014/main" id="{2EA89445-BAE5-4F47-ACEE-D9D8CD543571}"/>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3">
            <a:extLst>
              <a:ext uri="{FF2B5EF4-FFF2-40B4-BE49-F238E27FC236}">
                <a16:creationId xmlns:a16="http://schemas.microsoft.com/office/drawing/2014/main" id="{2205522C-DE6F-4C37-A2EF-4D816DA79A8F}"/>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7466CD3C-9725-4FAE-9006-E1EB3D90F53E}" type="slidenum">
              <a:rPr lang="en-US" altLang="en-US" sz="1800">
                <a:latin typeface="Arial" panose="020B0604020202020204" pitchFamily="34" charset="0"/>
              </a:rPr>
              <a:pPr eaLnBrk="1" hangingPunct="1">
                <a:spcBef>
                  <a:spcPct val="0"/>
                </a:spcBef>
              </a:pPr>
              <a:t>21</a:t>
            </a:fld>
            <a:endParaRPr lang="en-US" altLang="en-US" sz="1800">
              <a:latin typeface="Arial" panose="020B0604020202020204" pitchFamily="34" charset="0"/>
            </a:endParaRPr>
          </a:p>
        </p:txBody>
      </p:sp>
      <p:sp>
        <p:nvSpPr>
          <p:cNvPr id="47106" name="Rectangle 7">
            <a:extLst>
              <a:ext uri="{FF2B5EF4-FFF2-40B4-BE49-F238E27FC236}">
                <a16:creationId xmlns:a16="http://schemas.microsoft.com/office/drawing/2014/main" id="{AB65E6D4-F24E-4467-968A-4DF231407DCD}"/>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69AA5B95-75C2-49EC-BF41-414F55E88F69}" type="slidenum">
              <a:rPr lang="en-US" altLang="en-US" sz="1800">
                <a:latin typeface="Arial" panose="020B0604020202020204" pitchFamily="34" charset="0"/>
              </a:rPr>
              <a:pPr eaLnBrk="1" hangingPunct="1">
                <a:spcBef>
                  <a:spcPct val="0"/>
                </a:spcBef>
              </a:pPr>
              <a:t>21</a:t>
            </a:fld>
            <a:endParaRPr lang="en-US" altLang="en-US" sz="1800">
              <a:latin typeface="Arial" panose="020B0604020202020204" pitchFamily="34" charset="0"/>
            </a:endParaRPr>
          </a:p>
        </p:txBody>
      </p:sp>
      <p:sp>
        <p:nvSpPr>
          <p:cNvPr id="47107" name="Rectangle 2">
            <a:extLst>
              <a:ext uri="{FF2B5EF4-FFF2-40B4-BE49-F238E27FC236}">
                <a16:creationId xmlns:a16="http://schemas.microsoft.com/office/drawing/2014/main" id="{8626BB6F-A6E8-4823-958D-2532EF4F734A}"/>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47108" name="Rectangle 3">
            <a:extLst>
              <a:ext uri="{FF2B5EF4-FFF2-40B4-BE49-F238E27FC236}">
                <a16:creationId xmlns:a16="http://schemas.microsoft.com/office/drawing/2014/main" id="{498D884B-DFAF-470F-BE33-3454760459EB}"/>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cs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3">
            <a:extLst>
              <a:ext uri="{FF2B5EF4-FFF2-40B4-BE49-F238E27FC236}">
                <a16:creationId xmlns:a16="http://schemas.microsoft.com/office/drawing/2014/main" id="{E5A71384-AEA2-48E1-B637-B9FF9194A2AE}"/>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1EAC1E59-7AD6-4123-92C2-BA6F291A6CA6}" type="slidenum">
              <a:rPr lang="en-US" altLang="en-US" sz="1800">
                <a:latin typeface="Arial" panose="020B0604020202020204" pitchFamily="34" charset="0"/>
              </a:rPr>
              <a:pPr eaLnBrk="1" hangingPunct="1">
                <a:spcBef>
                  <a:spcPct val="0"/>
                </a:spcBef>
              </a:pPr>
              <a:t>22</a:t>
            </a:fld>
            <a:endParaRPr lang="en-US" altLang="en-US" sz="1800">
              <a:latin typeface="Arial" panose="020B0604020202020204" pitchFamily="34" charset="0"/>
            </a:endParaRPr>
          </a:p>
        </p:txBody>
      </p:sp>
      <p:sp>
        <p:nvSpPr>
          <p:cNvPr id="49154" name="Rectangle 7">
            <a:extLst>
              <a:ext uri="{FF2B5EF4-FFF2-40B4-BE49-F238E27FC236}">
                <a16:creationId xmlns:a16="http://schemas.microsoft.com/office/drawing/2014/main" id="{EA3827F8-619D-4DEA-95FD-C3923844F201}"/>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515DB889-84D1-47A9-9E48-933F7D7A4FB1}" type="slidenum">
              <a:rPr lang="en-US" altLang="en-US" sz="1800">
                <a:latin typeface="Arial" panose="020B0604020202020204" pitchFamily="34" charset="0"/>
              </a:rPr>
              <a:pPr eaLnBrk="1" hangingPunct="1">
                <a:spcBef>
                  <a:spcPct val="0"/>
                </a:spcBef>
              </a:pPr>
              <a:t>22</a:t>
            </a:fld>
            <a:endParaRPr lang="en-US" altLang="en-US" sz="1800">
              <a:latin typeface="Arial" panose="020B0604020202020204" pitchFamily="34" charset="0"/>
            </a:endParaRPr>
          </a:p>
        </p:txBody>
      </p:sp>
      <p:sp>
        <p:nvSpPr>
          <p:cNvPr id="49155" name="Rectangle 2">
            <a:extLst>
              <a:ext uri="{FF2B5EF4-FFF2-40B4-BE49-F238E27FC236}">
                <a16:creationId xmlns:a16="http://schemas.microsoft.com/office/drawing/2014/main" id="{F614102F-9289-4E19-8073-98413E01A516}"/>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49156" name="Rectangle 3">
            <a:extLst>
              <a:ext uri="{FF2B5EF4-FFF2-40B4-BE49-F238E27FC236}">
                <a16:creationId xmlns:a16="http://schemas.microsoft.com/office/drawing/2014/main" id="{A9FF2B0D-A832-4786-937B-383425F90CCE}"/>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cs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a:extLst>
              <a:ext uri="{FF2B5EF4-FFF2-40B4-BE49-F238E27FC236}">
                <a16:creationId xmlns:a16="http://schemas.microsoft.com/office/drawing/2014/main" id="{30A0164D-56D5-43D9-AC38-98CD31DF8B66}"/>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E8121677-C16C-4964-846B-47DB021D0381}" type="slidenum">
              <a:rPr lang="en-US" altLang="en-US" sz="1800">
                <a:latin typeface="Arial" panose="020B0604020202020204" pitchFamily="34" charset="0"/>
              </a:rPr>
              <a:pPr eaLnBrk="1" hangingPunct="1">
                <a:spcBef>
                  <a:spcPct val="0"/>
                </a:spcBef>
              </a:pPr>
              <a:t>24</a:t>
            </a:fld>
            <a:endParaRPr lang="en-US" altLang="en-US" sz="1800">
              <a:latin typeface="Arial" panose="020B0604020202020204" pitchFamily="34" charset="0"/>
            </a:endParaRPr>
          </a:p>
        </p:txBody>
      </p:sp>
      <p:sp>
        <p:nvSpPr>
          <p:cNvPr id="51202" name="Rectangle 7">
            <a:extLst>
              <a:ext uri="{FF2B5EF4-FFF2-40B4-BE49-F238E27FC236}">
                <a16:creationId xmlns:a16="http://schemas.microsoft.com/office/drawing/2014/main" id="{43DB0B0E-D05C-4E77-962A-E99045298F67}"/>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0ACA8CBA-E927-43F9-BC66-5C1DCA0EBFE8}" type="slidenum">
              <a:rPr lang="en-US" altLang="en-US" sz="1800">
                <a:latin typeface="Arial" panose="020B0604020202020204" pitchFamily="34" charset="0"/>
              </a:rPr>
              <a:pPr eaLnBrk="1" hangingPunct="1">
                <a:spcBef>
                  <a:spcPct val="0"/>
                </a:spcBef>
              </a:pPr>
              <a:t>24</a:t>
            </a:fld>
            <a:endParaRPr lang="en-US" altLang="en-US" sz="1800">
              <a:latin typeface="Arial" panose="020B0604020202020204" pitchFamily="34" charset="0"/>
            </a:endParaRPr>
          </a:p>
        </p:txBody>
      </p:sp>
      <p:sp>
        <p:nvSpPr>
          <p:cNvPr id="51203" name="Rectangle 1026">
            <a:extLst>
              <a:ext uri="{FF2B5EF4-FFF2-40B4-BE49-F238E27FC236}">
                <a16:creationId xmlns:a16="http://schemas.microsoft.com/office/drawing/2014/main" id="{311B7D5E-608F-4FB7-BD56-DB6D27F0067C}"/>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51204" name="Rectangle 1027">
            <a:extLst>
              <a:ext uri="{FF2B5EF4-FFF2-40B4-BE49-F238E27FC236}">
                <a16:creationId xmlns:a16="http://schemas.microsoft.com/office/drawing/2014/main" id="{1B66BE7F-BFDB-4748-B6EB-B1291B25D122}"/>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solidFill>
                <a:srgbClr val="008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3">
            <a:extLst>
              <a:ext uri="{FF2B5EF4-FFF2-40B4-BE49-F238E27FC236}">
                <a16:creationId xmlns:a16="http://schemas.microsoft.com/office/drawing/2014/main" id="{01ADDC63-3B37-4CDB-965F-5D405C6B2A7A}"/>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5F7C1516-086C-4983-94D0-9EE79EBE3CCD}" type="slidenum">
              <a:rPr lang="en-US" altLang="en-US" sz="1800">
                <a:latin typeface="Arial" panose="020B0604020202020204" pitchFamily="34" charset="0"/>
              </a:rPr>
              <a:pPr eaLnBrk="1" hangingPunct="1">
                <a:spcBef>
                  <a:spcPct val="0"/>
                </a:spcBef>
              </a:pPr>
              <a:t>25</a:t>
            </a:fld>
            <a:endParaRPr lang="en-US" altLang="en-US" sz="1800">
              <a:latin typeface="Arial" panose="020B0604020202020204" pitchFamily="34" charset="0"/>
            </a:endParaRPr>
          </a:p>
        </p:txBody>
      </p:sp>
      <p:sp>
        <p:nvSpPr>
          <p:cNvPr id="57346" name="Rectangle 7">
            <a:extLst>
              <a:ext uri="{FF2B5EF4-FFF2-40B4-BE49-F238E27FC236}">
                <a16:creationId xmlns:a16="http://schemas.microsoft.com/office/drawing/2014/main" id="{B4BD242E-1F56-48E3-A0C5-B6BA3B028D84}"/>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7B1EDC8A-7857-41CF-85F3-3618C5A7F89E}" type="slidenum">
              <a:rPr lang="en-US" altLang="en-US" sz="1800">
                <a:latin typeface="Arial" panose="020B0604020202020204" pitchFamily="34" charset="0"/>
              </a:rPr>
              <a:pPr eaLnBrk="1" hangingPunct="1">
                <a:spcBef>
                  <a:spcPct val="0"/>
                </a:spcBef>
              </a:pPr>
              <a:t>25</a:t>
            </a:fld>
            <a:endParaRPr lang="en-US" altLang="en-US" sz="1800">
              <a:latin typeface="Arial" panose="020B0604020202020204" pitchFamily="34" charset="0"/>
            </a:endParaRPr>
          </a:p>
        </p:txBody>
      </p:sp>
      <p:sp>
        <p:nvSpPr>
          <p:cNvPr id="57347" name="Rectangle 2">
            <a:extLst>
              <a:ext uri="{FF2B5EF4-FFF2-40B4-BE49-F238E27FC236}">
                <a16:creationId xmlns:a16="http://schemas.microsoft.com/office/drawing/2014/main" id="{752C8D4D-68BD-4752-AAE5-E1E7E7D83774}"/>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57348" name="Rectangle 3">
            <a:extLst>
              <a:ext uri="{FF2B5EF4-FFF2-40B4-BE49-F238E27FC236}">
                <a16:creationId xmlns:a16="http://schemas.microsoft.com/office/drawing/2014/main" id="{1AABFEBD-49F2-4BF5-B0E4-A25BF6EC24DA}"/>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cs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3">
            <a:extLst>
              <a:ext uri="{FF2B5EF4-FFF2-40B4-BE49-F238E27FC236}">
                <a16:creationId xmlns:a16="http://schemas.microsoft.com/office/drawing/2014/main" id="{11EB86FA-3C9A-451B-943F-850AC74D7286}"/>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FAF3DA9D-01ED-4CA9-A5A3-26025AD4D7F6}" type="slidenum">
              <a:rPr lang="en-US" altLang="en-US" sz="1800">
                <a:latin typeface="Arial" panose="020B0604020202020204" pitchFamily="34" charset="0"/>
              </a:rPr>
              <a:pPr eaLnBrk="1" hangingPunct="1">
                <a:spcBef>
                  <a:spcPct val="0"/>
                </a:spcBef>
              </a:pPr>
              <a:t>26</a:t>
            </a:fld>
            <a:endParaRPr lang="en-US" altLang="en-US" sz="1800">
              <a:latin typeface="Arial" panose="020B0604020202020204" pitchFamily="34" charset="0"/>
            </a:endParaRPr>
          </a:p>
        </p:txBody>
      </p:sp>
      <p:sp>
        <p:nvSpPr>
          <p:cNvPr id="59394" name="Rectangle 7">
            <a:extLst>
              <a:ext uri="{FF2B5EF4-FFF2-40B4-BE49-F238E27FC236}">
                <a16:creationId xmlns:a16="http://schemas.microsoft.com/office/drawing/2014/main" id="{C3E3BAC8-B9EB-4AB9-961B-3AB870019F32}"/>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F9F7B2DC-C1AD-4CE6-A1B2-DA13578E8895}" type="slidenum">
              <a:rPr lang="en-US" altLang="en-US" sz="1800">
                <a:latin typeface="Arial" panose="020B0604020202020204" pitchFamily="34" charset="0"/>
              </a:rPr>
              <a:pPr eaLnBrk="1" hangingPunct="1">
                <a:spcBef>
                  <a:spcPct val="0"/>
                </a:spcBef>
              </a:pPr>
              <a:t>26</a:t>
            </a:fld>
            <a:endParaRPr lang="en-US" altLang="en-US" sz="1800">
              <a:latin typeface="Arial" panose="020B0604020202020204" pitchFamily="34" charset="0"/>
            </a:endParaRPr>
          </a:p>
        </p:txBody>
      </p:sp>
      <p:sp>
        <p:nvSpPr>
          <p:cNvPr id="59395" name="Rectangle 2">
            <a:extLst>
              <a:ext uri="{FF2B5EF4-FFF2-40B4-BE49-F238E27FC236}">
                <a16:creationId xmlns:a16="http://schemas.microsoft.com/office/drawing/2014/main" id="{53CE859F-D83F-4501-8D35-23E8EDB54E90}"/>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59396" name="Rectangle 3">
            <a:extLst>
              <a:ext uri="{FF2B5EF4-FFF2-40B4-BE49-F238E27FC236}">
                <a16:creationId xmlns:a16="http://schemas.microsoft.com/office/drawing/2014/main" id="{AAF63F64-B40D-4E8B-8821-B8034EB728E5}"/>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3">
            <a:extLst>
              <a:ext uri="{FF2B5EF4-FFF2-40B4-BE49-F238E27FC236}">
                <a16:creationId xmlns:a16="http://schemas.microsoft.com/office/drawing/2014/main" id="{FAAEA6EF-7945-4D31-ABEB-42E3C759C290}"/>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36AB152A-0729-4D2B-872E-1EC28F7DEC83}" type="slidenum">
              <a:rPr lang="en-US" altLang="en-US" sz="1800">
                <a:latin typeface="Arial" panose="020B0604020202020204" pitchFamily="34" charset="0"/>
              </a:rPr>
              <a:pPr eaLnBrk="1" hangingPunct="1">
                <a:spcBef>
                  <a:spcPct val="0"/>
                </a:spcBef>
              </a:pPr>
              <a:t>27</a:t>
            </a:fld>
            <a:endParaRPr lang="en-US" altLang="en-US" sz="1800">
              <a:latin typeface="Arial" panose="020B0604020202020204" pitchFamily="34" charset="0"/>
            </a:endParaRPr>
          </a:p>
        </p:txBody>
      </p:sp>
      <p:sp>
        <p:nvSpPr>
          <p:cNvPr id="61442" name="Rectangle 7">
            <a:extLst>
              <a:ext uri="{FF2B5EF4-FFF2-40B4-BE49-F238E27FC236}">
                <a16:creationId xmlns:a16="http://schemas.microsoft.com/office/drawing/2014/main" id="{858924CA-9376-46E3-A148-B4F100A51E8E}"/>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0FE93743-E984-4E60-8656-1144EBF4AE1C}" type="slidenum">
              <a:rPr lang="en-US" altLang="en-US" sz="1800">
                <a:latin typeface="Arial" panose="020B0604020202020204" pitchFamily="34" charset="0"/>
              </a:rPr>
              <a:pPr eaLnBrk="1" hangingPunct="1">
                <a:spcBef>
                  <a:spcPct val="0"/>
                </a:spcBef>
              </a:pPr>
              <a:t>27</a:t>
            </a:fld>
            <a:endParaRPr lang="en-US" altLang="en-US" sz="1800">
              <a:latin typeface="Arial" panose="020B0604020202020204" pitchFamily="34" charset="0"/>
            </a:endParaRPr>
          </a:p>
        </p:txBody>
      </p:sp>
      <p:sp>
        <p:nvSpPr>
          <p:cNvPr id="61443" name="Rectangle 1026">
            <a:extLst>
              <a:ext uri="{FF2B5EF4-FFF2-40B4-BE49-F238E27FC236}">
                <a16:creationId xmlns:a16="http://schemas.microsoft.com/office/drawing/2014/main" id="{887346D6-905A-401F-BD6A-DF044023399D}"/>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61444" name="Rectangle 1027">
            <a:extLst>
              <a:ext uri="{FF2B5EF4-FFF2-40B4-BE49-F238E27FC236}">
                <a16:creationId xmlns:a16="http://schemas.microsoft.com/office/drawing/2014/main" id="{6433C874-253F-498A-ACA4-3B831A240A25}"/>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3">
            <a:extLst>
              <a:ext uri="{FF2B5EF4-FFF2-40B4-BE49-F238E27FC236}">
                <a16:creationId xmlns:a16="http://schemas.microsoft.com/office/drawing/2014/main" id="{24437437-E54B-4E26-A398-71A49BD8D2C2}"/>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2D206A07-E686-4CDB-AB8F-1C1937589FAF}" type="slidenum">
              <a:rPr lang="en-US" altLang="en-US" sz="1800">
                <a:latin typeface="Arial" panose="020B0604020202020204" pitchFamily="34" charset="0"/>
              </a:rPr>
              <a:pPr eaLnBrk="1" hangingPunct="1">
                <a:spcBef>
                  <a:spcPct val="0"/>
                </a:spcBef>
              </a:pPr>
              <a:t>28</a:t>
            </a:fld>
            <a:endParaRPr lang="en-US" altLang="en-US" sz="1800">
              <a:latin typeface="Arial" panose="020B0604020202020204" pitchFamily="34" charset="0"/>
            </a:endParaRPr>
          </a:p>
        </p:txBody>
      </p:sp>
      <p:sp>
        <p:nvSpPr>
          <p:cNvPr id="63490" name="Rectangle 7">
            <a:extLst>
              <a:ext uri="{FF2B5EF4-FFF2-40B4-BE49-F238E27FC236}">
                <a16:creationId xmlns:a16="http://schemas.microsoft.com/office/drawing/2014/main" id="{3F5FD91A-C166-4545-8B24-F1472BD7A85E}"/>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633B3B93-4157-4C56-8CEB-39DE4B6265ED}" type="slidenum">
              <a:rPr lang="en-US" altLang="en-US" sz="1800">
                <a:latin typeface="Arial" panose="020B0604020202020204" pitchFamily="34" charset="0"/>
              </a:rPr>
              <a:pPr eaLnBrk="1" hangingPunct="1">
                <a:spcBef>
                  <a:spcPct val="0"/>
                </a:spcBef>
              </a:pPr>
              <a:t>28</a:t>
            </a:fld>
            <a:endParaRPr lang="en-US" altLang="en-US" sz="1800">
              <a:latin typeface="Arial" panose="020B0604020202020204" pitchFamily="34" charset="0"/>
            </a:endParaRPr>
          </a:p>
        </p:txBody>
      </p:sp>
      <p:sp>
        <p:nvSpPr>
          <p:cNvPr id="63491" name="Rectangle 2">
            <a:extLst>
              <a:ext uri="{FF2B5EF4-FFF2-40B4-BE49-F238E27FC236}">
                <a16:creationId xmlns:a16="http://schemas.microsoft.com/office/drawing/2014/main" id="{C11BF352-D1F4-428E-B073-9ED30E1E0689}"/>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63492" name="Rectangle 3">
            <a:extLst>
              <a:ext uri="{FF2B5EF4-FFF2-40B4-BE49-F238E27FC236}">
                <a16:creationId xmlns:a16="http://schemas.microsoft.com/office/drawing/2014/main" id="{BD0CA33E-A13A-41E8-809A-040055B3B5AA}"/>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3">
            <a:extLst>
              <a:ext uri="{FF2B5EF4-FFF2-40B4-BE49-F238E27FC236}">
                <a16:creationId xmlns:a16="http://schemas.microsoft.com/office/drawing/2014/main" id="{39412F71-B2CB-4749-86A8-6F9A91DB33E9}"/>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2C31410A-1EC8-4AA2-8322-CA4FA414E1BD}" type="slidenum">
              <a:rPr lang="en-US" altLang="en-US" sz="1800">
                <a:latin typeface="Arial" panose="020B0604020202020204" pitchFamily="34" charset="0"/>
              </a:rPr>
              <a:pPr eaLnBrk="1" hangingPunct="1">
                <a:spcBef>
                  <a:spcPct val="0"/>
                </a:spcBef>
              </a:pPr>
              <a:t>29</a:t>
            </a:fld>
            <a:endParaRPr lang="en-US" altLang="en-US" sz="1800">
              <a:latin typeface="Arial" panose="020B0604020202020204" pitchFamily="34" charset="0"/>
            </a:endParaRPr>
          </a:p>
        </p:txBody>
      </p:sp>
      <p:sp>
        <p:nvSpPr>
          <p:cNvPr id="67586" name="Rectangle 7">
            <a:extLst>
              <a:ext uri="{FF2B5EF4-FFF2-40B4-BE49-F238E27FC236}">
                <a16:creationId xmlns:a16="http://schemas.microsoft.com/office/drawing/2014/main" id="{9859EFAB-F5BD-45F4-8B88-070D34C8E96F}"/>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AADFE8CF-B3DB-494E-B0BF-F5D48E1A2524}" type="slidenum">
              <a:rPr lang="en-US" altLang="en-US" sz="1800">
                <a:latin typeface="Arial" panose="020B0604020202020204" pitchFamily="34" charset="0"/>
              </a:rPr>
              <a:pPr eaLnBrk="1" hangingPunct="1">
                <a:spcBef>
                  <a:spcPct val="0"/>
                </a:spcBef>
              </a:pPr>
              <a:t>29</a:t>
            </a:fld>
            <a:endParaRPr lang="en-US" altLang="en-US" sz="1800">
              <a:latin typeface="Arial" panose="020B0604020202020204" pitchFamily="34" charset="0"/>
            </a:endParaRPr>
          </a:p>
        </p:txBody>
      </p:sp>
      <p:sp>
        <p:nvSpPr>
          <p:cNvPr id="67587" name="Rectangle 1026">
            <a:extLst>
              <a:ext uri="{FF2B5EF4-FFF2-40B4-BE49-F238E27FC236}">
                <a16:creationId xmlns:a16="http://schemas.microsoft.com/office/drawing/2014/main" id="{155F4BDB-815C-4974-A4BC-73DD0AFD27AC}"/>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67588" name="Rectangle 1027">
            <a:extLst>
              <a:ext uri="{FF2B5EF4-FFF2-40B4-BE49-F238E27FC236}">
                <a16:creationId xmlns:a16="http://schemas.microsoft.com/office/drawing/2014/main" id="{6E884A34-9233-47DF-8504-5C24AAC18FCB}"/>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3">
            <a:extLst>
              <a:ext uri="{FF2B5EF4-FFF2-40B4-BE49-F238E27FC236}">
                <a16:creationId xmlns:a16="http://schemas.microsoft.com/office/drawing/2014/main" id="{0E6E41B0-25BE-4FA8-BCE1-BD2A721A7769}"/>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590ED952-8382-4F80-9120-93EE73845D9E}" type="slidenum">
              <a:rPr lang="en-US" altLang="en-US" sz="1800">
                <a:latin typeface="Arial" panose="020B0604020202020204" pitchFamily="34" charset="0"/>
              </a:rPr>
              <a:pPr eaLnBrk="1" hangingPunct="1">
                <a:spcBef>
                  <a:spcPct val="0"/>
                </a:spcBef>
              </a:pPr>
              <a:t>30</a:t>
            </a:fld>
            <a:endParaRPr lang="en-US" altLang="en-US" sz="1800">
              <a:latin typeface="Arial" panose="020B0604020202020204" pitchFamily="34" charset="0"/>
            </a:endParaRPr>
          </a:p>
        </p:txBody>
      </p:sp>
      <p:sp>
        <p:nvSpPr>
          <p:cNvPr id="69634" name="Rectangle 7">
            <a:extLst>
              <a:ext uri="{FF2B5EF4-FFF2-40B4-BE49-F238E27FC236}">
                <a16:creationId xmlns:a16="http://schemas.microsoft.com/office/drawing/2014/main" id="{2B93BBD7-C84A-4E8A-8824-19BAB976D222}"/>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76F8A149-EBF5-4A60-9BCD-FCBC5ED1C14A}" type="slidenum">
              <a:rPr lang="en-US" altLang="en-US" sz="1800">
                <a:latin typeface="Arial" panose="020B0604020202020204" pitchFamily="34" charset="0"/>
              </a:rPr>
              <a:pPr eaLnBrk="1" hangingPunct="1">
                <a:spcBef>
                  <a:spcPct val="0"/>
                </a:spcBef>
              </a:pPr>
              <a:t>30</a:t>
            </a:fld>
            <a:endParaRPr lang="en-US" altLang="en-US" sz="1800">
              <a:latin typeface="Arial" panose="020B0604020202020204" pitchFamily="34" charset="0"/>
            </a:endParaRPr>
          </a:p>
        </p:txBody>
      </p:sp>
      <p:sp>
        <p:nvSpPr>
          <p:cNvPr id="69635" name="Rectangle 2">
            <a:extLst>
              <a:ext uri="{FF2B5EF4-FFF2-40B4-BE49-F238E27FC236}">
                <a16:creationId xmlns:a16="http://schemas.microsoft.com/office/drawing/2014/main" id="{A0966F30-9A7C-4654-B7E4-9B6CC8D84F12}"/>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69636" name="Rectangle 3">
            <a:extLst>
              <a:ext uri="{FF2B5EF4-FFF2-40B4-BE49-F238E27FC236}">
                <a16:creationId xmlns:a16="http://schemas.microsoft.com/office/drawing/2014/main" id="{463E1829-19C3-4009-95F2-1059187130E4}"/>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3">
            <a:extLst>
              <a:ext uri="{FF2B5EF4-FFF2-40B4-BE49-F238E27FC236}">
                <a16:creationId xmlns:a16="http://schemas.microsoft.com/office/drawing/2014/main" id="{42E53500-6C48-4F38-8D3E-01D8FC76A3B2}"/>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FC6B7693-C263-4B77-8667-CFA9D8DC20ED}" type="slidenum">
              <a:rPr lang="en-US" altLang="en-US" sz="1800">
                <a:latin typeface="Arial" panose="020B0604020202020204" pitchFamily="34" charset="0"/>
              </a:rPr>
              <a:pPr eaLnBrk="1" hangingPunct="1">
                <a:spcBef>
                  <a:spcPct val="0"/>
                </a:spcBef>
              </a:pPr>
              <a:t>31</a:t>
            </a:fld>
            <a:endParaRPr lang="en-US" altLang="en-US" sz="1800">
              <a:latin typeface="Arial" panose="020B0604020202020204" pitchFamily="34" charset="0"/>
            </a:endParaRPr>
          </a:p>
        </p:txBody>
      </p:sp>
      <p:sp>
        <p:nvSpPr>
          <p:cNvPr id="71682" name="Rectangle 7">
            <a:extLst>
              <a:ext uri="{FF2B5EF4-FFF2-40B4-BE49-F238E27FC236}">
                <a16:creationId xmlns:a16="http://schemas.microsoft.com/office/drawing/2014/main" id="{04C0FDC4-CFC4-4098-BA0C-547E94E1E89D}"/>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466CD816-2474-459F-A460-2142E7536629}" type="slidenum">
              <a:rPr lang="en-US" altLang="en-US" sz="1800">
                <a:latin typeface="Arial" panose="020B0604020202020204" pitchFamily="34" charset="0"/>
              </a:rPr>
              <a:pPr eaLnBrk="1" hangingPunct="1">
                <a:spcBef>
                  <a:spcPct val="0"/>
                </a:spcBef>
              </a:pPr>
              <a:t>31</a:t>
            </a:fld>
            <a:endParaRPr lang="en-US" altLang="en-US" sz="1800">
              <a:latin typeface="Arial" panose="020B0604020202020204" pitchFamily="34" charset="0"/>
            </a:endParaRPr>
          </a:p>
        </p:txBody>
      </p:sp>
      <p:sp>
        <p:nvSpPr>
          <p:cNvPr id="71683" name="Rectangle 2">
            <a:extLst>
              <a:ext uri="{FF2B5EF4-FFF2-40B4-BE49-F238E27FC236}">
                <a16:creationId xmlns:a16="http://schemas.microsoft.com/office/drawing/2014/main" id="{A23079B8-A247-4344-915A-BD72A9CD5187}"/>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71684" name="Rectangle 3">
            <a:extLst>
              <a:ext uri="{FF2B5EF4-FFF2-40B4-BE49-F238E27FC236}">
                <a16:creationId xmlns:a16="http://schemas.microsoft.com/office/drawing/2014/main" id="{BF7726CC-EC0C-40F6-BB74-7D845C2ABBA9}"/>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3">
            <a:extLst>
              <a:ext uri="{FF2B5EF4-FFF2-40B4-BE49-F238E27FC236}">
                <a16:creationId xmlns:a16="http://schemas.microsoft.com/office/drawing/2014/main" id="{13A45D4C-0A87-4D56-ADCF-32821B665CFC}"/>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0453B2B1-CB1A-46E2-B2D1-151384661E33}" type="slidenum">
              <a:rPr lang="en-US" altLang="en-US" sz="1800">
                <a:latin typeface="Arial" panose="020B0604020202020204" pitchFamily="34" charset="0"/>
              </a:rPr>
              <a:pPr eaLnBrk="1" hangingPunct="1">
                <a:spcBef>
                  <a:spcPct val="0"/>
                </a:spcBef>
              </a:pPr>
              <a:t>32</a:t>
            </a:fld>
            <a:endParaRPr lang="en-US" altLang="en-US" sz="1800">
              <a:latin typeface="Arial" panose="020B0604020202020204" pitchFamily="34" charset="0"/>
            </a:endParaRPr>
          </a:p>
        </p:txBody>
      </p:sp>
      <p:sp>
        <p:nvSpPr>
          <p:cNvPr id="73730" name="Rectangle 7">
            <a:extLst>
              <a:ext uri="{FF2B5EF4-FFF2-40B4-BE49-F238E27FC236}">
                <a16:creationId xmlns:a16="http://schemas.microsoft.com/office/drawing/2014/main" id="{85A948A8-1735-4B90-91D5-3C5DFF1F7391}"/>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2CABF46E-CBDC-47A2-85CD-F4C7F2E11FA6}" type="slidenum">
              <a:rPr lang="en-US" altLang="en-US" sz="1800">
                <a:latin typeface="Arial" panose="020B0604020202020204" pitchFamily="34" charset="0"/>
              </a:rPr>
              <a:pPr eaLnBrk="1" hangingPunct="1">
                <a:spcBef>
                  <a:spcPct val="0"/>
                </a:spcBef>
              </a:pPr>
              <a:t>32</a:t>
            </a:fld>
            <a:endParaRPr lang="en-US" altLang="en-US" sz="1800">
              <a:latin typeface="Arial" panose="020B0604020202020204" pitchFamily="34" charset="0"/>
            </a:endParaRPr>
          </a:p>
        </p:txBody>
      </p:sp>
      <p:sp>
        <p:nvSpPr>
          <p:cNvPr id="73731" name="Rectangle 1026">
            <a:extLst>
              <a:ext uri="{FF2B5EF4-FFF2-40B4-BE49-F238E27FC236}">
                <a16:creationId xmlns:a16="http://schemas.microsoft.com/office/drawing/2014/main" id="{203B65ED-12F1-4CB5-9982-426FAE85E308}"/>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73732" name="Rectangle 1027">
            <a:extLst>
              <a:ext uri="{FF2B5EF4-FFF2-40B4-BE49-F238E27FC236}">
                <a16:creationId xmlns:a16="http://schemas.microsoft.com/office/drawing/2014/main" id="{415F1501-0EC8-4DE5-B937-68B7D6DD62D0}"/>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3">
            <a:extLst>
              <a:ext uri="{FF2B5EF4-FFF2-40B4-BE49-F238E27FC236}">
                <a16:creationId xmlns:a16="http://schemas.microsoft.com/office/drawing/2014/main" id="{17BFA8FE-2B5E-410E-A966-54C143A2667F}"/>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D9D9ABAD-E104-4D65-8C79-A53D8E3AC283}" type="slidenum">
              <a:rPr lang="en-US" altLang="en-US" sz="1800">
                <a:latin typeface="Arial" panose="020B0604020202020204" pitchFamily="34" charset="0"/>
              </a:rPr>
              <a:pPr eaLnBrk="1" hangingPunct="1">
                <a:spcBef>
                  <a:spcPct val="0"/>
                </a:spcBef>
              </a:pPr>
              <a:t>33</a:t>
            </a:fld>
            <a:endParaRPr lang="en-US" altLang="en-US" sz="1800">
              <a:latin typeface="Arial" panose="020B0604020202020204" pitchFamily="34" charset="0"/>
            </a:endParaRPr>
          </a:p>
        </p:txBody>
      </p:sp>
      <p:sp>
        <p:nvSpPr>
          <p:cNvPr id="75778" name="Rectangle 7">
            <a:extLst>
              <a:ext uri="{FF2B5EF4-FFF2-40B4-BE49-F238E27FC236}">
                <a16:creationId xmlns:a16="http://schemas.microsoft.com/office/drawing/2014/main" id="{1C7C5967-5F92-4E40-97BE-96763AEFF6D3}"/>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7DCEC22C-8345-4EFF-A29B-750CEE6FF7DF}" type="slidenum">
              <a:rPr lang="en-US" altLang="en-US" sz="1800">
                <a:latin typeface="Arial" panose="020B0604020202020204" pitchFamily="34" charset="0"/>
              </a:rPr>
              <a:pPr eaLnBrk="1" hangingPunct="1">
                <a:spcBef>
                  <a:spcPct val="0"/>
                </a:spcBef>
              </a:pPr>
              <a:t>33</a:t>
            </a:fld>
            <a:endParaRPr lang="en-US" altLang="en-US" sz="1800">
              <a:latin typeface="Arial" panose="020B0604020202020204" pitchFamily="34" charset="0"/>
            </a:endParaRPr>
          </a:p>
        </p:txBody>
      </p:sp>
      <p:sp>
        <p:nvSpPr>
          <p:cNvPr id="75779" name="Rectangle 2">
            <a:extLst>
              <a:ext uri="{FF2B5EF4-FFF2-40B4-BE49-F238E27FC236}">
                <a16:creationId xmlns:a16="http://schemas.microsoft.com/office/drawing/2014/main" id="{14621896-8AF4-4C31-84D0-A56D923F1333}"/>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75780" name="Rectangle 3">
            <a:extLst>
              <a:ext uri="{FF2B5EF4-FFF2-40B4-BE49-F238E27FC236}">
                <a16:creationId xmlns:a16="http://schemas.microsoft.com/office/drawing/2014/main" id="{13439DF3-715F-487C-98AA-542A8660F512}"/>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3">
            <a:extLst>
              <a:ext uri="{FF2B5EF4-FFF2-40B4-BE49-F238E27FC236}">
                <a16:creationId xmlns:a16="http://schemas.microsoft.com/office/drawing/2014/main" id="{C93818CB-1A2F-4A15-A3E7-A7FAB99456A7}"/>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31FC2B93-4AC3-4F0A-AB05-5A5C366FEEEE}" type="slidenum">
              <a:rPr lang="en-US" altLang="en-US" sz="1800">
                <a:latin typeface="Arial" panose="020B0604020202020204" pitchFamily="34" charset="0"/>
              </a:rPr>
              <a:pPr eaLnBrk="1" hangingPunct="1">
                <a:spcBef>
                  <a:spcPct val="0"/>
                </a:spcBef>
              </a:pPr>
              <a:t>34</a:t>
            </a:fld>
            <a:endParaRPr lang="en-US" altLang="en-US" sz="1800">
              <a:latin typeface="Arial" panose="020B0604020202020204" pitchFamily="34" charset="0"/>
            </a:endParaRPr>
          </a:p>
        </p:txBody>
      </p:sp>
      <p:sp>
        <p:nvSpPr>
          <p:cNvPr id="77826" name="Rectangle 7">
            <a:extLst>
              <a:ext uri="{FF2B5EF4-FFF2-40B4-BE49-F238E27FC236}">
                <a16:creationId xmlns:a16="http://schemas.microsoft.com/office/drawing/2014/main" id="{848DB52A-AEC3-4EC3-ABBD-A2AA2D16C2FE}"/>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D87E865D-0816-4502-AD23-5B528AB4DC38}" type="slidenum">
              <a:rPr lang="en-US" altLang="en-US" sz="1800">
                <a:latin typeface="Arial" panose="020B0604020202020204" pitchFamily="34" charset="0"/>
              </a:rPr>
              <a:pPr eaLnBrk="1" hangingPunct="1">
                <a:spcBef>
                  <a:spcPct val="0"/>
                </a:spcBef>
              </a:pPr>
              <a:t>34</a:t>
            </a:fld>
            <a:endParaRPr lang="en-US" altLang="en-US" sz="1800">
              <a:latin typeface="Arial" panose="020B0604020202020204" pitchFamily="34" charset="0"/>
            </a:endParaRPr>
          </a:p>
        </p:txBody>
      </p:sp>
      <p:sp>
        <p:nvSpPr>
          <p:cNvPr id="77827" name="Rectangle 2">
            <a:extLst>
              <a:ext uri="{FF2B5EF4-FFF2-40B4-BE49-F238E27FC236}">
                <a16:creationId xmlns:a16="http://schemas.microsoft.com/office/drawing/2014/main" id="{341EBD5A-917C-4689-82CC-D6AFBA2B0F57}"/>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77828" name="Rectangle 3">
            <a:extLst>
              <a:ext uri="{FF2B5EF4-FFF2-40B4-BE49-F238E27FC236}">
                <a16:creationId xmlns:a16="http://schemas.microsoft.com/office/drawing/2014/main" id="{1A667266-A233-4A14-BEDF-2994638C9F3F}"/>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3">
            <a:extLst>
              <a:ext uri="{FF2B5EF4-FFF2-40B4-BE49-F238E27FC236}">
                <a16:creationId xmlns:a16="http://schemas.microsoft.com/office/drawing/2014/main" id="{9822DBCC-B0B5-4541-B055-94B9A81393E5}"/>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D5DBC4FB-7BDD-466B-A0BA-259D6E1227A5}" type="slidenum">
              <a:rPr lang="en-US" altLang="en-US" sz="1800">
                <a:latin typeface="Arial" panose="020B0604020202020204" pitchFamily="34" charset="0"/>
              </a:rPr>
              <a:pPr eaLnBrk="1" hangingPunct="1">
                <a:spcBef>
                  <a:spcPct val="0"/>
                </a:spcBef>
              </a:pPr>
              <a:t>36</a:t>
            </a:fld>
            <a:endParaRPr lang="en-US" altLang="en-US" sz="1800">
              <a:latin typeface="Arial" panose="020B0604020202020204" pitchFamily="34" charset="0"/>
            </a:endParaRPr>
          </a:p>
        </p:txBody>
      </p:sp>
      <p:sp>
        <p:nvSpPr>
          <p:cNvPr id="83970" name="Rectangle 7">
            <a:extLst>
              <a:ext uri="{FF2B5EF4-FFF2-40B4-BE49-F238E27FC236}">
                <a16:creationId xmlns:a16="http://schemas.microsoft.com/office/drawing/2014/main" id="{163F8DA6-8581-43FC-95C0-08BBF7CDF33E}"/>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D05AE606-D7ED-4056-A759-73BA76A67AAE}" type="slidenum">
              <a:rPr lang="en-US" altLang="en-US" sz="1800">
                <a:latin typeface="Arial" panose="020B0604020202020204" pitchFamily="34" charset="0"/>
              </a:rPr>
              <a:pPr eaLnBrk="1" hangingPunct="1">
                <a:spcBef>
                  <a:spcPct val="0"/>
                </a:spcBef>
              </a:pPr>
              <a:t>36</a:t>
            </a:fld>
            <a:endParaRPr lang="en-US" altLang="en-US" sz="1800">
              <a:latin typeface="Arial" panose="020B0604020202020204" pitchFamily="34" charset="0"/>
            </a:endParaRPr>
          </a:p>
        </p:txBody>
      </p:sp>
      <p:sp>
        <p:nvSpPr>
          <p:cNvPr id="83971" name="Rectangle 2">
            <a:extLst>
              <a:ext uri="{FF2B5EF4-FFF2-40B4-BE49-F238E27FC236}">
                <a16:creationId xmlns:a16="http://schemas.microsoft.com/office/drawing/2014/main" id="{C6D0C5B6-4F75-47D5-A224-6097978AD32B}"/>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83972" name="Rectangle 3">
            <a:extLst>
              <a:ext uri="{FF2B5EF4-FFF2-40B4-BE49-F238E27FC236}">
                <a16:creationId xmlns:a16="http://schemas.microsoft.com/office/drawing/2014/main" id="{91650663-B774-4CF8-A00C-60F346CB74A0}"/>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3">
            <a:extLst>
              <a:ext uri="{FF2B5EF4-FFF2-40B4-BE49-F238E27FC236}">
                <a16:creationId xmlns:a16="http://schemas.microsoft.com/office/drawing/2014/main" id="{CA40570C-729F-44C5-BD3C-D52DCBD6B600}"/>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624601EF-D9E4-4A01-9F0E-588425549A26}" type="slidenum">
              <a:rPr lang="en-US" altLang="en-US" sz="1800">
                <a:latin typeface="Arial" panose="020B0604020202020204" pitchFamily="34" charset="0"/>
              </a:rPr>
              <a:pPr eaLnBrk="1" hangingPunct="1">
                <a:spcBef>
                  <a:spcPct val="0"/>
                </a:spcBef>
              </a:pPr>
              <a:t>37</a:t>
            </a:fld>
            <a:endParaRPr lang="en-US" altLang="en-US" sz="1800">
              <a:latin typeface="Arial" panose="020B0604020202020204" pitchFamily="34" charset="0"/>
            </a:endParaRPr>
          </a:p>
        </p:txBody>
      </p:sp>
      <p:sp>
        <p:nvSpPr>
          <p:cNvPr id="86018" name="Rectangle 7">
            <a:extLst>
              <a:ext uri="{FF2B5EF4-FFF2-40B4-BE49-F238E27FC236}">
                <a16:creationId xmlns:a16="http://schemas.microsoft.com/office/drawing/2014/main" id="{850C3F64-8493-4E5B-AEA3-0E625465EC25}"/>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6C87EDB4-B88F-4CD8-85F0-7DE732C4C089}" type="slidenum">
              <a:rPr lang="en-US" altLang="en-US" sz="1800">
                <a:latin typeface="Arial" panose="020B0604020202020204" pitchFamily="34" charset="0"/>
              </a:rPr>
              <a:pPr eaLnBrk="1" hangingPunct="1">
                <a:spcBef>
                  <a:spcPct val="0"/>
                </a:spcBef>
              </a:pPr>
              <a:t>37</a:t>
            </a:fld>
            <a:endParaRPr lang="en-US" altLang="en-US" sz="1800">
              <a:latin typeface="Arial" panose="020B0604020202020204" pitchFamily="34" charset="0"/>
            </a:endParaRPr>
          </a:p>
        </p:txBody>
      </p:sp>
      <p:sp>
        <p:nvSpPr>
          <p:cNvPr id="86019" name="Rectangle 2">
            <a:extLst>
              <a:ext uri="{FF2B5EF4-FFF2-40B4-BE49-F238E27FC236}">
                <a16:creationId xmlns:a16="http://schemas.microsoft.com/office/drawing/2014/main" id="{B2B6CFAD-8B67-4C8C-988E-E922CA8D2650}"/>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86020" name="Rectangle 3">
            <a:extLst>
              <a:ext uri="{FF2B5EF4-FFF2-40B4-BE49-F238E27FC236}">
                <a16:creationId xmlns:a16="http://schemas.microsoft.com/office/drawing/2014/main" id="{43E82232-F6B7-42AA-B9D8-DBF7E3E34C78}"/>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3">
            <a:extLst>
              <a:ext uri="{FF2B5EF4-FFF2-40B4-BE49-F238E27FC236}">
                <a16:creationId xmlns:a16="http://schemas.microsoft.com/office/drawing/2014/main" id="{83D36D8A-F899-438B-9C4C-7CCCBC562224}"/>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34D20026-E5E7-448A-8EF2-5C8DB422BECF}" type="slidenum">
              <a:rPr lang="en-US" altLang="en-US" sz="1800">
                <a:latin typeface="Arial" panose="020B0604020202020204" pitchFamily="34" charset="0"/>
              </a:rPr>
              <a:pPr eaLnBrk="1" hangingPunct="1">
                <a:spcBef>
                  <a:spcPct val="0"/>
                </a:spcBef>
              </a:pPr>
              <a:t>38</a:t>
            </a:fld>
            <a:endParaRPr lang="en-US" altLang="en-US" sz="1800">
              <a:latin typeface="Arial" panose="020B0604020202020204" pitchFamily="34" charset="0"/>
            </a:endParaRPr>
          </a:p>
        </p:txBody>
      </p:sp>
      <p:sp>
        <p:nvSpPr>
          <p:cNvPr id="88066" name="Rectangle 7">
            <a:extLst>
              <a:ext uri="{FF2B5EF4-FFF2-40B4-BE49-F238E27FC236}">
                <a16:creationId xmlns:a16="http://schemas.microsoft.com/office/drawing/2014/main" id="{A87D026C-8BC2-49A5-9568-B0DF6C549042}"/>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2F60BB98-4F89-4214-984F-265787B4E953}" type="slidenum">
              <a:rPr lang="en-US" altLang="en-US" sz="1800">
                <a:latin typeface="Arial" panose="020B0604020202020204" pitchFamily="34" charset="0"/>
              </a:rPr>
              <a:pPr eaLnBrk="1" hangingPunct="1">
                <a:spcBef>
                  <a:spcPct val="0"/>
                </a:spcBef>
              </a:pPr>
              <a:t>38</a:t>
            </a:fld>
            <a:endParaRPr lang="en-US" altLang="en-US" sz="1800">
              <a:latin typeface="Arial" panose="020B0604020202020204" pitchFamily="34" charset="0"/>
            </a:endParaRPr>
          </a:p>
        </p:txBody>
      </p:sp>
      <p:sp>
        <p:nvSpPr>
          <p:cNvPr id="88067" name="Rectangle 2">
            <a:extLst>
              <a:ext uri="{FF2B5EF4-FFF2-40B4-BE49-F238E27FC236}">
                <a16:creationId xmlns:a16="http://schemas.microsoft.com/office/drawing/2014/main" id="{0BE72683-4595-49AD-A6E9-F6A78D8C0701}"/>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88068" name="Rectangle 3">
            <a:extLst>
              <a:ext uri="{FF2B5EF4-FFF2-40B4-BE49-F238E27FC236}">
                <a16:creationId xmlns:a16="http://schemas.microsoft.com/office/drawing/2014/main" id="{1BC58B93-CB9C-41A2-B0C0-CBBA7C08B73B}"/>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cs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3">
            <a:extLst>
              <a:ext uri="{FF2B5EF4-FFF2-40B4-BE49-F238E27FC236}">
                <a16:creationId xmlns:a16="http://schemas.microsoft.com/office/drawing/2014/main" id="{6A3FA627-A5C5-4F0D-9918-33FE85DED8A1}"/>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7D209D85-D1BA-47D5-A394-392AE699DD07}" type="slidenum">
              <a:rPr lang="en-US" altLang="en-US" sz="1800">
                <a:latin typeface="Arial" panose="020B0604020202020204" pitchFamily="34" charset="0"/>
              </a:rPr>
              <a:pPr eaLnBrk="1" hangingPunct="1">
                <a:spcBef>
                  <a:spcPct val="0"/>
                </a:spcBef>
              </a:pPr>
              <a:t>39</a:t>
            </a:fld>
            <a:endParaRPr lang="en-US" altLang="en-US" sz="1800">
              <a:latin typeface="Arial" panose="020B0604020202020204" pitchFamily="34" charset="0"/>
            </a:endParaRPr>
          </a:p>
        </p:txBody>
      </p:sp>
      <p:sp>
        <p:nvSpPr>
          <p:cNvPr id="90114" name="Rectangle 7">
            <a:extLst>
              <a:ext uri="{FF2B5EF4-FFF2-40B4-BE49-F238E27FC236}">
                <a16:creationId xmlns:a16="http://schemas.microsoft.com/office/drawing/2014/main" id="{3F27DE04-EE3E-4F6E-9F52-A898B6B59039}"/>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B54BE66A-9D80-4EFE-9375-86C5FAC82E71}" type="slidenum">
              <a:rPr lang="en-US" altLang="en-US" sz="1800">
                <a:latin typeface="Arial" panose="020B0604020202020204" pitchFamily="34" charset="0"/>
              </a:rPr>
              <a:pPr eaLnBrk="1" hangingPunct="1">
                <a:spcBef>
                  <a:spcPct val="0"/>
                </a:spcBef>
              </a:pPr>
              <a:t>39</a:t>
            </a:fld>
            <a:endParaRPr lang="en-US" altLang="en-US" sz="1800">
              <a:latin typeface="Arial" panose="020B0604020202020204" pitchFamily="34" charset="0"/>
            </a:endParaRPr>
          </a:p>
        </p:txBody>
      </p:sp>
      <p:sp>
        <p:nvSpPr>
          <p:cNvPr id="90115" name="Rectangle 2">
            <a:extLst>
              <a:ext uri="{FF2B5EF4-FFF2-40B4-BE49-F238E27FC236}">
                <a16:creationId xmlns:a16="http://schemas.microsoft.com/office/drawing/2014/main" id="{4B756709-8F40-4BF9-B344-1FE5A220EE66}"/>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90116" name="Rectangle 3">
            <a:extLst>
              <a:ext uri="{FF2B5EF4-FFF2-40B4-BE49-F238E27FC236}">
                <a16:creationId xmlns:a16="http://schemas.microsoft.com/office/drawing/2014/main" id="{1C160CB0-58FC-4DC4-9238-3B79A397EBB3}"/>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dirty="0">
              <a:cs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3">
            <a:extLst>
              <a:ext uri="{FF2B5EF4-FFF2-40B4-BE49-F238E27FC236}">
                <a16:creationId xmlns:a16="http://schemas.microsoft.com/office/drawing/2014/main" id="{E3CCEF01-C034-432C-BD58-E46D5275431B}"/>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EDA89CFB-E200-43DF-9979-117A4EC1BFDF}" type="slidenum">
              <a:rPr lang="en-US" altLang="en-US" sz="1800">
                <a:latin typeface="Arial" panose="020B0604020202020204" pitchFamily="34" charset="0"/>
              </a:rPr>
              <a:pPr eaLnBrk="1" hangingPunct="1">
                <a:spcBef>
                  <a:spcPct val="0"/>
                </a:spcBef>
              </a:pPr>
              <a:t>40</a:t>
            </a:fld>
            <a:endParaRPr lang="en-US" altLang="en-US" sz="1800">
              <a:latin typeface="Arial" panose="020B0604020202020204" pitchFamily="34" charset="0"/>
            </a:endParaRPr>
          </a:p>
        </p:txBody>
      </p:sp>
      <p:sp>
        <p:nvSpPr>
          <p:cNvPr id="92162" name="Rectangle 7">
            <a:extLst>
              <a:ext uri="{FF2B5EF4-FFF2-40B4-BE49-F238E27FC236}">
                <a16:creationId xmlns:a16="http://schemas.microsoft.com/office/drawing/2014/main" id="{428CA5DC-8974-4A9E-96ED-CCF8870554F1}"/>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ACA41EA8-080B-4EF1-AFA0-02C2C50C2899}" type="slidenum">
              <a:rPr lang="en-US" altLang="en-US" sz="1800">
                <a:latin typeface="Arial" panose="020B0604020202020204" pitchFamily="34" charset="0"/>
              </a:rPr>
              <a:pPr eaLnBrk="1" hangingPunct="1">
                <a:spcBef>
                  <a:spcPct val="0"/>
                </a:spcBef>
              </a:pPr>
              <a:t>40</a:t>
            </a:fld>
            <a:endParaRPr lang="en-US" altLang="en-US" sz="1800">
              <a:latin typeface="Arial" panose="020B0604020202020204" pitchFamily="34" charset="0"/>
            </a:endParaRPr>
          </a:p>
        </p:txBody>
      </p:sp>
      <p:sp>
        <p:nvSpPr>
          <p:cNvPr id="92163" name="Rectangle 2">
            <a:extLst>
              <a:ext uri="{FF2B5EF4-FFF2-40B4-BE49-F238E27FC236}">
                <a16:creationId xmlns:a16="http://schemas.microsoft.com/office/drawing/2014/main" id="{4C1D41A4-C964-4F1A-ABA2-9137364ADAB0}"/>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92164" name="Rectangle 3">
            <a:extLst>
              <a:ext uri="{FF2B5EF4-FFF2-40B4-BE49-F238E27FC236}">
                <a16:creationId xmlns:a16="http://schemas.microsoft.com/office/drawing/2014/main" id="{20A3DDCA-BFB3-40AC-AD71-86A5559EB4C0}"/>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3">
            <a:extLst>
              <a:ext uri="{FF2B5EF4-FFF2-40B4-BE49-F238E27FC236}">
                <a16:creationId xmlns:a16="http://schemas.microsoft.com/office/drawing/2014/main" id="{2357DF6A-9772-47AB-B3BE-6DA46E9B5324}"/>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36FFF0AC-0D82-4D52-A566-1F34E6840C90}" type="slidenum">
              <a:rPr lang="en-US" altLang="en-US" sz="1800">
                <a:latin typeface="Arial" panose="020B0604020202020204" pitchFamily="34" charset="0"/>
              </a:rPr>
              <a:pPr eaLnBrk="1" hangingPunct="1">
                <a:spcBef>
                  <a:spcPct val="0"/>
                </a:spcBef>
              </a:pPr>
              <a:t>41</a:t>
            </a:fld>
            <a:endParaRPr lang="en-US" altLang="en-US" sz="1800">
              <a:latin typeface="Arial" panose="020B0604020202020204" pitchFamily="34" charset="0"/>
            </a:endParaRPr>
          </a:p>
        </p:txBody>
      </p:sp>
      <p:sp>
        <p:nvSpPr>
          <p:cNvPr id="94210" name="Rectangle 7">
            <a:extLst>
              <a:ext uri="{FF2B5EF4-FFF2-40B4-BE49-F238E27FC236}">
                <a16:creationId xmlns:a16="http://schemas.microsoft.com/office/drawing/2014/main" id="{DF067887-6323-490F-9045-3180BE222BBE}"/>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B6A61A0B-FC5A-4D3A-94C7-C10A0DD3B07C}" type="slidenum">
              <a:rPr lang="en-US" altLang="en-US" sz="1800">
                <a:latin typeface="Arial" panose="020B0604020202020204" pitchFamily="34" charset="0"/>
              </a:rPr>
              <a:pPr eaLnBrk="1" hangingPunct="1">
                <a:spcBef>
                  <a:spcPct val="0"/>
                </a:spcBef>
              </a:pPr>
              <a:t>41</a:t>
            </a:fld>
            <a:endParaRPr lang="en-US" altLang="en-US" sz="1800">
              <a:latin typeface="Arial" panose="020B0604020202020204" pitchFamily="34" charset="0"/>
            </a:endParaRPr>
          </a:p>
        </p:txBody>
      </p:sp>
      <p:sp>
        <p:nvSpPr>
          <p:cNvPr id="94211" name="Rectangle 2">
            <a:extLst>
              <a:ext uri="{FF2B5EF4-FFF2-40B4-BE49-F238E27FC236}">
                <a16:creationId xmlns:a16="http://schemas.microsoft.com/office/drawing/2014/main" id="{A69D4A41-8A53-4CCA-B41A-04EB62E764BE}"/>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94212" name="Rectangle 3">
            <a:extLst>
              <a:ext uri="{FF2B5EF4-FFF2-40B4-BE49-F238E27FC236}">
                <a16:creationId xmlns:a16="http://schemas.microsoft.com/office/drawing/2014/main" id="{5EBAE802-C510-4D1C-8B54-8FF2B0EBCDC0}"/>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cs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3">
            <a:extLst>
              <a:ext uri="{FF2B5EF4-FFF2-40B4-BE49-F238E27FC236}">
                <a16:creationId xmlns:a16="http://schemas.microsoft.com/office/drawing/2014/main" id="{1CDD587F-C346-471C-BF8D-458A865B9DD9}"/>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918CD255-4C89-4F72-87E0-C651A0D0656D}" type="slidenum">
              <a:rPr lang="en-US" altLang="en-US" sz="1800">
                <a:latin typeface="Arial" panose="020B0604020202020204" pitchFamily="34" charset="0"/>
              </a:rPr>
              <a:pPr eaLnBrk="1" hangingPunct="1">
                <a:spcBef>
                  <a:spcPct val="0"/>
                </a:spcBef>
              </a:pPr>
              <a:t>42</a:t>
            </a:fld>
            <a:endParaRPr lang="en-US" altLang="en-US" sz="1800">
              <a:latin typeface="Arial" panose="020B0604020202020204" pitchFamily="34" charset="0"/>
            </a:endParaRPr>
          </a:p>
        </p:txBody>
      </p:sp>
      <p:sp>
        <p:nvSpPr>
          <p:cNvPr id="96258" name="Rectangle 7">
            <a:extLst>
              <a:ext uri="{FF2B5EF4-FFF2-40B4-BE49-F238E27FC236}">
                <a16:creationId xmlns:a16="http://schemas.microsoft.com/office/drawing/2014/main" id="{68F8D93A-FC87-4C63-8572-8F61B435150C}"/>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7F8671B5-FD2E-4B66-91FB-1A030A64546B}" type="slidenum">
              <a:rPr lang="en-US" altLang="en-US" sz="1800">
                <a:latin typeface="Arial" panose="020B0604020202020204" pitchFamily="34" charset="0"/>
              </a:rPr>
              <a:pPr eaLnBrk="1" hangingPunct="1">
                <a:spcBef>
                  <a:spcPct val="0"/>
                </a:spcBef>
              </a:pPr>
              <a:t>42</a:t>
            </a:fld>
            <a:endParaRPr lang="en-US" altLang="en-US" sz="1800">
              <a:latin typeface="Arial" panose="020B0604020202020204" pitchFamily="34" charset="0"/>
            </a:endParaRPr>
          </a:p>
        </p:txBody>
      </p:sp>
      <p:sp>
        <p:nvSpPr>
          <p:cNvPr id="96259" name="Rectangle 2">
            <a:extLst>
              <a:ext uri="{FF2B5EF4-FFF2-40B4-BE49-F238E27FC236}">
                <a16:creationId xmlns:a16="http://schemas.microsoft.com/office/drawing/2014/main" id="{F4005FC3-C753-4C26-BFFB-6D923F083EFF}"/>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96260" name="Rectangle 3">
            <a:extLst>
              <a:ext uri="{FF2B5EF4-FFF2-40B4-BE49-F238E27FC236}">
                <a16:creationId xmlns:a16="http://schemas.microsoft.com/office/drawing/2014/main" id="{D097C6EC-B38C-4C9C-9864-0FA31E11BB63}"/>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3">
            <a:extLst>
              <a:ext uri="{FF2B5EF4-FFF2-40B4-BE49-F238E27FC236}">
                <a16:creationId xmlns:a16="http://schemas.microsoft.com/office/drawing/2014/main" id="{9D145CE3-9FCE-48E8-925C-6EB39F6E4605}"/>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0AF19BFA-43E7-42ED-8E7C-FFB025664171}" type="slidenum">
              <a:rPr lang="en-US" altLang="en-US" sz="1800">
                <a:latin typeface="Arial" panose="020B0604020202020204" pitchFamily="34" charset="0"/>
              </a:rPr>
              <a:pPr eaLnBrk="1" hangingPunct="1">
                <a:spcBef>
                  <a:spcPct val="0"/>
                </a:spcBef>
              </a:pPr>
              <a:t>44</a:t>
            </a:fld>
            <a:endParaRPr lang="en-US" altLang="en-US" sz="1800">
              <a:latin typeface="Arial" panose="020B0604020202020204" pitchFamily="34" charset="0"/>
            </a:endParaRPr>
          </a:p>
        </p:txBody>
      </p:sp>
      <p:sp>
        <p:nvSpPr>
          <p:cNvPr id="98306" name="Rectangle 7">
            <a:extLst>
              <a:ext uri="{FF2B5EF4-FFF2-40B4-BE49-F238E27FC236}">
                <a16:creationId xmlns:a16="http://schemas.microsoft.com/office/drawing/2014/main" id="{D6A48D40-70DD-400D-B43E-0EB2330CEFD2}"/>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7B6FFD47-1C47-4917-9E42-DF12EC104042}" type="slidenum">
              <a:rPr lang="en-US" altLang="en-US" sz="1800">
                <a:latin typeface="Arial" panose="020B0604020202020204" pitchFamily="34" charset="0"/>
              </a:rPr>
              <a:pPr eaLnBrk="1" hangingPunct="1">
                <a:spcBef>
                  <a:spcPct val="0"/>
                </a:spcBef>
              </a:pPr>
              <a:t>44</a:t>
            </a:fld>
            <a:endParaRPr lang="en-US" altLang="en-US" sz="1800">
              <a:latin typeface="Arial" panose="020B0604020202020204" pitchFamily="34" charset="0"/>
            </a:endParaRPr>
          </a:p>
        </p:txBody>
      </p:sp>
      <p:sp>
        <p:nvSpPr>
          <p:cNvPr id="98307" name="Rectangle 1026">
            <a:extLst>
              <a:ext uri="{FF2B5EF4-FFF2-40B4-BE49-F238E27FC236}">
                <a16:creationId xmlns:a16="http://schemas.microsoft.com/office/drawing/2014/main" id="{06B249B1-3B86-45E9-8338-AF082637BC04}"/>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98308" name="Rectangle 1027">
            <a:extLst>
              <a:ext uri="{FF2B5EF4-FFF2-40B4-BE49-F238E27FC236}">
                <a16:creationId xmlns:a16="http://schemas.microsoft.com/office/drawing/2014/main" id="{8F6E8F71-3F5D-456D-B3B7-AA04E7DA073D}"/>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cs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3">
            <a:extLst>
              <a:ext uri="{FF2B5EF4-FFF2-40B4-BE49-F238E27FC236}">
                <a16:creationId xmlns:a16="http://schemas.microsoft.com/office/drawing/2014/main" id="{274855B6-6250-4679-BFED-E2A0AB950C5A}"/>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ACD77526-E412-4CE1-8EDA-01F3B186D28B}" type="slidenum">
              <a:rPr lang="en-US" altLang="en-US" sz="1800">
                <a:latin typeface="Arial" panose="020B0604020202020204" pitchFamily="34" charset="0"/>
              </a:rPr>
              <a:pPr eaLnBrk="1" hangingPunct="1">
                <a:spcBef>
                  <a:spcPct val="0"/>
                </a:spcBef>
              </a:pPr>
              <a:t>45</a:t>
            </a:fld>
            <a:endParaRPr lang="en-US" altLang="en-US" sz="1800">
              <a:latin typeface="Arial" panose="020B0604020202020204" pitchFamily="34" charset="0"/>
            </a:endParaRPr>
          </a:p>
        </p:txBody>
      </p:sp>
      <p:sp>
        <p:nvSpPr>
          <p:cNvPr id="100354" name="Rectangle 7">
            <a:extLst>
              <a:ext uri="{FF2B5EF4-FFF2-40B4-BE49-F238E27FC236}">
                <a16:creationId xmlns:a16="http://schemas.microsoft.com/office/drawing/2014/main" id="{C472324E-1E7C-48A5-B9C0-9A7F7B0B280F}"/>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E39C2C5A-ECAC-477F-961A-DA0142F82632}" type="slidenum">
              <a:rPr lang="en-US" altLang="en-US" sz="1800">
                <a:latin typeface="Arial" panose="020B0604020202020204" pitchFamily="34" charset="0"/>
              </a:rPr>
              <a:pPr eaLnBrk="1" hangingPunct="1">
                <a:spcBef>
                  <a:spcPct val="0"/>
                </a:spcBef>
              </a:pPr>
              <a:t>45</a:t>
            </a:fld>
            <a:endParaRPr lang="en-US" altLang="en-US" sz="1800">
              <a:latin typeface="Arial" panose="020B0604020202020204" pitchFamily="34" charset="0"/>
            </a:endParaRPr>
          </a:p>
        </p:txBody>
      </p:sp>
      <p:sp>
        <p:nvSpPr>
          <p:cNvPr id="100355" name="Rectangle 1026">
            <a:extLst>
              <a:ext uri="{FF2B5EF4-FFF2-40B4-BE49-F238E27FC236}">
                <a16:creationId xmlns:a16="http://schemas.microsoft.com/office/drawing/2014/main" id="{4A787921-2254-4AC6-8857-54122D765F38}"/>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00356" name="Rectangle 1027">
            <a:extLst>
              <a:ext uri="{FF2B5EF4-FFF2-40B4-BE49-F238E27FC236}">
                <a16:creationId xmlns:a16="http://schemas.microsoft.com/office/drawing/2014/main" id="{BD7B35B3-1B5E-4BF6-A95A-C1385477C70B}"/>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3">
            <a:extLst>
              <a:ext uri="{FF2B5EF4-FFF2-40B4-BE49-F238E27FC236}">
                <a16:creationId xmlns:a16="http://schemas.microsoft.com/office/drawing/2014/main" id="{6AA66092-05BD-45F5-B7D3-88B94C28C032}"/>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FF116643-DB1E-41A8-95EE-58DD4E10DB7C}" type="slidenum">
              <a:rPr lang="en-US" altLang="en-US" sz="1800">
                <a:latin typeface="Arial" panose="020B0604020202020204" pitchFamily="34" charset="0"/>
              </a:rPr>
              <a:pPr eaLnBrk="1" hangingPunct="1">
                <a:spcBef>
                  <a:spcPct val="0"/>
                </a:spcBef>
              </a:pPr>
              <a:t>46</a:t>
            </a:fld>
            <a:endParaRPr lang="en-US" altLang="en-US" sz="1800">
              <a:latin typeface="Arial" panose="020B0604020202020204" pitchFamily="34" charset="0"/>
            </a:endParaRPr>
          </a:p>
        </p:txBody>
      </p:sp>
      <p:sp>
        <p:nvSpPr>
          <p:cNvPr id="102402" name="Rectangle 7">
            <a:extLst>
              <a:ext uri="{FF2B5EF4-FFF2-40B4-BE49-F238E27FC236}">
                <a16:creationId xmlns:a16="http://schemas.microsoft.com/office/drawing/2014/main" id="{61CE2DC0-FBC7-4670-A43C-45CDAEAA6522}"/>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9EED43D0-50BE-43AA-8CFC-4881E5012A25}" type="slidenum">
              <a:rPr lang="en-US" altLang="en-US" sz="1800">
                <a:latin typeface="Arial" panose="020B0604020202020204" pitchFamily="34" charset="0"/>
              </a:rPr>
              <a:pPr eaLnBrk="1" hangingPunct="1">
                <a:spcBef>
                  <a:spcPct val="0"/>
                </a:spcBef>
              </a:pPr>
              <a:t>46</a:t>
            </a:fld>
            <a:endParaRPr lang="en-US" altLang="en-US" sz="1800">
              <a:latin typeface="Arial" panose="020B0604020202020204" pitchFamily="34" charset="0"/>
            </a:endParaRPr>
          </a:p>
        </p:txBody>
      </p:sp>
      <p:sp>
        <p:nvSpPr>
          <p:cNvPr id="102403" name="Rectangle 2">
            <a:extLst>
              <a:ext uri="{FF2B5EF4-FFF2-40B4-BE49-F238E27FC236}">
                <a16:creationId xmlns:a16="http://schemas.microsoft.com/office/drawing/2014/main" id="{7E8C031F-434E-4979-B99B-342F81560C6A}"/>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02404" name="Rectangle 3">
            <a:extLst>
              <a:ext uri="{FF2B5EF4-FFF2-40B4-BE49-F238E27FC236}">
                <a16:creationId xmlns:a16="http://schemas.microsoft.com/office/drawing/2014/main" id="{48BB28DE-2827-4644-8DAC-03A495879B3D}"/>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3">
            <a:extLst>
              <a:ext uri="{FF2B5EF4-FFF2-40B4-BE49-F238E27FC236}">
                <a16:creationId xmlns:a16="http://schemas.microsoft.com/office/drawing/2014/main" id="{9535D163-EB9A-4325-8514-F081D3C2BDC8}"/>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76E92425-330A-4A4B-93F7-398D165C56A7}" type="slidenum">
              <a:rPr lang="en-US" altLang="en-US" sz="1800">
                <a:latin typeface="Arial" panose="020B0604020202020204" pitchFamily="34" charset="0"/>
              </a:rPr>
              <a:pPr eaLnBrk="1" hangingPunct="1">
                <a:spcBef>
                  <a:spcPct val="0"/>
                </a:spcBef>
              </a:pPr>
              <a:t>47</a:t>
            </a:fld>
            <a:endParaRPr lang="en-US" altLang="en-US" sz="1800">
              <a:latin typeface="Arial" panose="020B0604020202020204" pitchFamily="34" charset="0"/>
            </a:endParaRPr>
          </a:p>
        </p:txBody>
      </p:sp>
      <p:sp>
        <p:nvSpPr>
          <p:cNvPr id="104450" name="Rectangle 7">
            <a:extLst>
              <a:ext uri="{FF2B5EF4-FFF2-40B4-BE49-F238E27FC236}">
                <a16:creationId xmlns:a16="http://schemas.microsoft.com/office/drawing/2014/main" id="{78781869-F14C-41F9-BCDB-105688EB2D19}"/>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D77A4019-1D3E-42D9-8A5F-A4E439E636A1}" type="slidenum">
              <a:rPr lang="en-US" altLang="en-US" sz="1800">
                <a:latin typeface="Arial" panose="020B0604020202020204" pitchFamily="34" charset="0"/>
              </a:rPr>
              <a:pPr eaLnBrk="1" hangingPunct="1">
                <a:spcBef>
                  <a:spcPct val="0"/>
                </a:spcBef>
              </a:pPr>
              <a:t>47</a:t>
            </a:fld>
            <a:endParaRPr lang="en-US" altLang="en-US" sz="1800">
              <a:latin typeface="Arial" panose="020B0604020202020204" pitchFamily="34" charset="0"/>
            </a:endParaRPr>
          </a:p>
        </p:txBody>
      </p:sp>
      <p:sp>
        <p:nvSpPr>
          <p:cNvPr id="104451" name="Rectangle 2">
            <a:extLst>
              <a:ext uri="{FF2B5EF4-FFF2-40B4-BE49-F238E27FC236}">
                <a16:creationId xmlns:a16="http://schemas.microsoft.com/office/drawing/2014/main" id="{85B6A77B-CE70-416F-9C54-A761461812EB}"/>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04452" name="Rectangle 3">
            <a:extLst>
              <a:ext uri="{FF2B5EF4-FFF2-40B4-BE49-F238E27FC236}">
                <a16:creationId xmlns:a16="http://schemas.microsoft.com/office/drawing/2014/main" id="{EF61F5E5-2B65-4A43-B047-71CA27A54038}"/>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3">
            <a:extLst>
              <a:ext uri="{FF2B5EF4-FFF2-40B4-BE49-F238E27FC236}">
                <a16:creationId xmlns:a16="http://schemas.microsoft.com/office/drawing/2014/main" id="{4EAEAB01-7FEF-4330-B8D5-EB34AB2AB098}"/>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9C0F6B47-FCBB-4B91-B5C9-EC394FA72B07}" type="slidenum">
              <a:rPr lang="en-US" altLang="en-US" sz="1800">
                <a:latin typeface="Arial" panose="020B0604020202020204" pitchFamily="34" charset="0"/>
              </a:rPr>
              <a:pPr eaLnBrk="1" hangingPunct="1">
                <a:spcBef>
                  <a:spcPct val="0"/>
                </a:spcBef>
              </a:pPr>
              <a:t>51</a:t>
            </a:fld>
            <a:endParaRPr lang="en-US" altLang="en-US" sz="1800">
              <a:latin typeface="Arial" panose="020B0604020202020204" pitchFamily="34" charset="0"/>
            </a:endParaRPr>
          </a:p>
        </p:txBody>
      </p:sp>
      <p:sp>
        <p:nvSpPr>
          <p:cNvPr id="112642" name="Rectangle 7">
            <a:extLst>
              <a:ext uri="{FF2B5EF4-FFF2-40B4-BE49-F238E27FC236}">
                <a16:creationId xmlns:a16="http://schemas.microsoft.com/office/drawing/2014/main" id="{71E928D9-FF0D-45B4-A9F5-DA46ED0C45C7}"/>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40A5EB03-50C0-45C5-A840-022820407CFE}" type="slidenum">
              <a:rPr lang="en-US" altLang="en-US" sz="1800">
                <a:latin typeface="Arial" panose="020B0604020202020204" pitchFamily="34" charset="0"/>
              </a:rPr>
              <a:pPr eaLnBrk="1" hangingPunct="1">
                <a:spcBef>
                  <a:spcPct val="0"/>
                </a:spcBef>
              </a:pPr>
              <a:t>51</a:t>
            </a:fld>
            <a:endParaRPr lang="en-US" altLang="en-US" sz="1800">
              <a:latin typeface="Arial" panose="020B0604020202020204" pitchFamily="34" charset="0"/>
            </a:endParaRPr>
          </a:p>
        </p:txBody>
      </p:sp>
      <p:sp>
        <p:nvSpPr>
          <p:cNvPr id="112643" name="Rectangle 2">
            <a:extLst>
              <a:ext uri="{FF2B5EF4-FFF2-40B4-BE49-F238E27FC236}">
                <a16:creationId xmlns:a16="http://schemas.microsoft.com/office/drawing/2014/main" id="{E19ED87D-A688-4AF3-9A84-F7F802DAA887}"/>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12644" name="Rectangle 3">
            <a:extLst>
              <a:ext uri="{FF2B5EF4-FFF2-40B4-BE49-F238E27FC236}">
                <a16:creationId xmlns:a16="http://schemas.microsoft.com/office/drawing/2014/main" id="{84DCA96C-C1E9-421F-92C5-9BDF01238433}"/>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3">
            <a:extLst>
              <a:ext uri="{FF2B5EF4-FFF2-40B4-BE49-F238E27FC236}">
                <a16:creationId xmlns:a16="http://schemas.microsoft.com/office/drawing/2014/main" id="{A5EAC301-2FD3-4AB5-AE2D-ED34600C2821}"/>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E5D30CEE-BD3F-434B-A708-D042F2ECFFD7}" type="slidenum">
              <a:rPr lang="en-US" altLang="en-US" sz="1800">
                <a:latin typeface="Arial" panose="020B0604020202020204" pitchFamily="34" charset="0"/>
              </a:rPr>
              <a:pPr eaLnBrk="1" hangingPunct="1">
                <a:spcBef>
                  <a:spcPct val="0"/>
                </a:spcBef>
              </a:pPr>
              <a:t>52</a:t>
            </a:fld>
            <a:endParaRPr lang="en-US" altLang="en-US" sz="1800">
              <a:latin typeface="Arial" panose="020B0604020202020204" pitchFamily="34" charset="0"/>
            </a:endParaRPr>
          </a:p>
        </p:txBody>
      </p:sp>
      <p:sp>
        <p:nvSpPr>
          <p:cNvPr id="114690" name="Rectangle 7">
            <a:extLst>
              <a:ext uri="{FF2B5EF4-FFF2-40B4-BE49-F238E27FC236}">
                <a16:creationId xmlns:a16="http://schemas.microsoft.com/office/drawing/2014/main" id="{6E973C71-B0B3-4246-A32D-4895BD7E0B02}"/>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13BB9032-6C72-4BA0-93F1-840DC9394C46}" type="slidenum">
              <a:rPr lang="en-US" altLang="en-US" sz="1800">
                <a:latin typeface="Arial" panose="020B0604020202020204" pitchFamily="34" charset="0"/>
              </a:rPr>
              <a:pPr eaLnBrk="1" hangingPunct="1">
                <a:spcBef>
                  <a:spcPct val="0"/>
                </a:spcBef>
              </a:pPr>
              <a:t>52</a:t>
            </a:fld>
            <a:endParaRPr lang="en-US" altLang="en-US" sz="1800">
              <a:latin typeface="Arial" panose="020B0604020202020204" pitchFamily="34" charset="0"/>
            </a:endParaRPr>
          </a:p>
        </p:txBody>
      </p:sp>
      <p:sp>
        <p:nvSpPr>
          <p:cNvPr id="114691" name="Rectangle 2">
            <a:extLst>
              <a:ext uri="{FF2B5EF4-FFF2-40B4-BE49-F238E27FC236}">
                <a16:creationId xmlns:a16="http://schemas.microsoft.com/office/drawing/2014/main" id="{16BA6B3E-E135-4EC0-BFA3-D752EBFB696A}"/>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14692" name="Rectangle 3">
            <a:extLst>
              <a:ext uri="{FF2B5EF4-FFF2-40B4-BE49-F238E27FC236}">
                <a16:creationId xmlns:a16="http://schemas.microsoft.com/office/drawing/2014/main" id="{EAD4230A-C846-43B4-BC23-BFB30929FFF8}"/>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3">
            <a:extLst>
              <a:ext uri="{FF2B5EF4-FFF2-40B4-BE49-F238E27FC236}">
                <a16:creationId xmlns:a16="http://schemas.microsoft.com/office/drawing/2014/main" id="{80FD7BF9-8D48-4275-A0FC-BF85189C165F}"/>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4F92738B-E62C-40FA-BB19-7EF1B4385592}" type="slidenum">
              <a:rPr lang="en-US" altLang="en-US" sz="1800">
                <a:latin typeface="Arial" panose="020B0604020202020204" pitchFamily="34" charset="0"/>
              </a:rPr>
              <a:pPr eaLnBrk="1" hangingPunct="1">
                <a:spcBef>
                  <a:spcPct val="0"/>
                </a:spcBef>
              </a:pPr>
              <a:t>53</a:t>
            </a:fld>
            <a:endParaRPr lang="en-US" altLang="en-US" sz="1800">
              <a:latin typeface="Arial" panose="020B0604020202020204" pitchFamily="34" charset="0"/>
            </a:endParaRPr>
          </a:p>
        </p:txBody>
      </p:sp>
      <p:sp>
        <p:nvSpPr>
          <p:cNvPr id="116738" name="Rectangle 7">
            <a:extLst>
              <a:ext uri="{FF2B5EF4-FFF2-40B4-BE49-F238E27FC236}">
                <a16:creationId xmlns:a16="http://schemas.microsoft.com/office/drawing/2014/main" id="{C18B5ECC-7235-4DDC-97C1-6D9265B55627}"/>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A50B0237-68A5-4B2C-8793-B27F6BBBCF89}" type="slidenum">
              <a:rPr lang="en-US" altLang="en-US" sz="1800">
                <a:latin typeface="Arial" panose="020B0604020202020204" pitchFamily="34" charset="0"/>
              </a:rPr>
              <a:pPr eaLnBrk="1" hangingPunct="1">
                <a:spcBef>
                  <a:spcPct val="0"/>
                </a:spcBef>
              </a:pPr>
              <a:t>53</a:t>
            </a:fld>
            <a:endParaRPr lang="en-US" altLang="en-US" sz="1800">
              <a:latin typeface="Arial" panose="020B0604020202020204" pitchFamily="34" charset="0"/>
            </a:endParaRPr>
          </a:p>
        </p:txBody>
      </p:sp>
      <p:sp>
        <p:nvSpPr>
          <p:cNvPr id="116739" name="Rectangle 2">
            <a:extLst>
              <a:ext uri="{FF2B5EF4-FFF2-40B4-BE49-F238E27FC236}">
                <a16:creationId xmlns:a16="http://schemas.microsoft.com/office/drawing/2014/main" id="{2B675F5D-91FF-4ABF-9F0C-6D40B596FBAC}"/>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16740" name="Rectangle 3">
            <a:extLst>
              <a:ext uri="{FF2B5EF4-FFF2-40B4-BE49-F238E27FC236}">
                <a16:creationId xmlns:a16="http://schemas.microsoft.com/office/drawing/2014/main" id="{B051237E-AC08-4A59-8D94-B27EAA6C45E8}"/>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3">
            <a:extLst>
              <a:ext uri="{FF2B5EF4-FFF2-40B4-BE49-F238E27FC236}">
                <a16:creationId xmlns:a16="http://schemas.microsoft.com/office/drawing/2014/main" id="{185C6B33-755D-49DA-81E7-5408ED070310}"/>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FF8E9E5A-5E19-4C5C-8B11-4BCE6CB4B5EB}" type="slidenum">
              <a:rPr lang="en-US" altLang="en-US" sz="1800">
                <a:latin typeface="Arial" panose="020B0604020202020204" pitchFamily="34" charset="0"/>
              </a:rPr>
              <a:pPr eaLnBrk="1" hangingPunct="1">
                <a:spcBef>
                  <a:spcPct val="0"/>
                </a:spcBef>
              </a:pPr>
              <a:t>54</a:t>
            </a:fld>
            <a:endParaRPr lang="en-US" altLang="en-US" sz="1800">
              <a:latin typeface="Arial" panose="020B0604020202020204" pitchFamily="34" charset="0"/>
            </a:endParaRPr>
          </a:p>
        </p:txBody>
      </p:sp>
      <p:sp>
        <p:nvSpPr>
          <p:cNvPr id="118786" name="Rectangle 7">
            <a:extLst>
              <a:ext uri="{FF2B5EF4-FFF2-40B4-BE49-F238E27FC236}">
                <a16:creationId xmlns:a16="http://schemas.microsoft.com/office/drawing/2014/main" id="{7DC62B45-6DE7-4129-AFB4-B518D399FF11}"/>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CB6E5734-A3FD-4841-A93E-E4D8F9642EB6}" type="slidenum">
              <a:rPr lang="en-US" altLang="en-US" sz="1800">
                <a:latin typeface="Arial" panose="020B0604020202020204" pitchFamily="34" charset="0"/>
              </a:rPr>
              <a:pPr eaLnBrk="1" hangingPunct="1">
                <a:spcBef>
                  <a:spcPct val="0"/>
                </a:spcBef>
              </a:pPr>
              <a:t>54</a:t>
            </a:fld>
            <a:endParaRPr lang="en-US" altLang="en-US" sz="1800">
              <a:latin typeface="Arial" panose="020B0604020202020204" pitchFamily="34" charset="0"/>
            </a:endParaRPr>
          </a:p>
        </p:txBody>
      </p:sp>
      <p:sp>
        <p:nvSpPr>
          <p:cNvPr id="118787" name="Rectangle 2">
            <a:extLst>
              <a:ext uri="{FF2B5EF4-FFF2-40B4-BE49-F238E27FC236}">
                <a16:creationId xmlns:a16="http://schemas.microsoft.com/office/drawing/2014/main" id="{20640F3D-553B-4418-9A34-B2CAEEF39AB0}"/>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18788" name="Rectangle 3">
            <a:extLst>
              <a:ext uri="{FF2B5EF4-FFF2-40B4-BE49-F238E27FC236}">
                <a16:creationId xmlns:a16="http://schemas.microsoft.com/office/drawing/2014/main" id="{E67481D4-3C89-4183-88DD-70FBCD9D1D97}"/>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3">
            <a:extLst>
              <a:ext uri="{FF2B5EF4-FFF2-40B4-BE49-F238E27FC236}">
                <a16:creationId xmlns:a16="http://schemas.microsoft.com/office/drawing/2014/main" id="{BE63B776-B9DC-4670-959F-F3CBBFF47AFB}"/>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DE858F1D-AEBB-4655-AE01-92E33EC4E8BF}" type="slidenum">
              <a:rPr lang="en-US" altLang="en-US" sz="1800">
                <a:latin typeface="Arial" panose="020B0604020202020204" pitchFamily="34" charset="0"/>
              </a:rPr>
              <a:pPr eaLnBrk="1" hangingPunct="1">
                <a:spcBef>
                  <a:spcPct val="0"/>
                </a:spcBef>
              </a:pPr>
              <a:t>55</a:t>
            </a:fld>
            <a:endParaRPr lang="en-US" altLang="en-US" sz="1800">
              <a:latin typeface="Arial" panose="020B0604020202020204" pitchFamily="34" charset="0"/>
            </a:endParaRPr>
          </a:p>
        </p:txBody>
      </p:sp>
      <p:sp>
        <p:nvSpPr>
          <p:cNvPr id="120834" name="Rectangle 7">
            <a:extLst>
              <a:ext uri="{FF2B5EF4-FFF2-40B4-BE49-F238E27FC236}">
                <a16:creationId xmlns:a16="http://schemas.microsoft.com/office/drawing/2014/main" id="{B753B97B-F4D8-458C-80F0-05A44520014B}"/>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7D5DA2E7-09FB-49E9-9DBE-A24527201B09}" type="slidenum">
              <a:rPr lang="en-US" altLang="en-US" sz="1800">
                <a:latin typeface="Arial" panose="020B0604020202020204" pitchFamily="34" charset="0"/>
              </a:rPr>
              <a:pPr eaLnBrk="1" hangingPunct="1">
                <a:spcBef>
                  <a:spcPct val="0"/>
                </a:spcBef>
              </a:pPr>
              <a:t>55</a:t>
            </a:fld>
            <a:endParaRPr lang="en-US" altLang="en-US" sz="1800">
              <a:latin typeface="Arial" panose="020B0604020202020204" pitchFamily="34" charset="0"/>
            </a:endParaRPr>
          </a:p>
        </p:txBody>
      </p:sp>
      <p:sp>
        <p:nvSpPr>
          <p:cNvPr id="120835" name="Rectangle 2">
            <a:extLst>
              <a:ext uri="{FF2B5EF4-FFF2-40B4-BE49-F238E27FC236}">
                <a16:creationId xmlns:a16="http://schemas.microsoft.com/office/drawing/2014/main" id="{87255B66-B364-4ECF-A22D-9791A3CBE66C}"/>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20836" name="Rectangle 3">
            <a:extLst>
              <a:ext uri="{FF2B5EF4-FFF2-40B4-BE49-F238E27FC236}">
                <a16:creationId xmlns:a16="http://schemas.microsoft.com/office/drawing/2014/main" id="{906F8E49-6463-4D7C-A1AF-436E4A85B89A}"/>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cs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3">
            <a:extLst>
              <a:ext uri="{FF2B5EF4-FFF2-40B4-BE49-F238E27FC236}">
                <a16:creationId xmlns:a16="http://schemas.microsoft.com/office/drawing/2014/main" id="{8E1A0EEF-239E-4549-AE77-F3F798DFF41F}"/>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2459770E-5FCB-41A8-AD15-06941F15C9C6}" type="slidenum">
              <a:rPr lang="en-US" altLang="en-US" sz="1800">
                <a:latin typeface="Arial" panose="020B0604020202020204" pitchFamily="34" charset="0"/>
              </a:rPr>
              <a:pPr eaLnBrk="1" hangingPunct="1">
                <a:spcBef>
                  <a:spcPct val="0"/>
                </a:spcBef>
              </a:pPr>
              <a:t>56</a:t>
            </a:fld>
            <a:endParaRPr lang="en-US" altLang="en-US" sz="1800">
              <a:latin typeface="Arial" panose="020B0604020202020204" pitchFamily="34" charset="0"/>
            </a:endParaRPr>
          </a:p>
        </p:txBody>
      </p:sp>
      <p:sp>
        <p:nvSpPr>
          <p:cNvPr id="122882" name="Rectangle 7">
            <a:extLst>
              <a:ext uri="{FF2B5EF4-FFF2-40B4-BE49-F238E27FC236}">
                <a16:creationId xmlns:a16="http://schemas.microsoft.com/office/drawing/2014/main" id="{7EF98F0B-9B14-4B44-AF47-14433714FA29}"/>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DA1FC935-EBCE-4BAD-B37A-8F9544EB29AE}" type="slidenum">
              <a:rPr lang="en-US" altLang="en-US" sz="1800">
                <a:latin typeface="Arial" panose="020B0604020202020204" pitchFamily="34" charset="0"/>
              </a:rPr>
              <a:pPr eaLnBrk="1" hangingPunct="1">
                <a:spcBef>
                  <a:spcPct val="0"/>
                </a:spcBef>
              </a:pPr>
              <a:t>56</a:t>
            </a:fld>
            <a:endParaRPr lang="en-US" altLang="en-US" sz="1800">
              <a:latin typeface="Arial" panose="020B0604020202020204" pitchFamily="34" charset="0"/>
            </a:endParaRPr>
          </a:p>
        </p:txBody>
      </p:sp>
      <p:sp>
        <p:nvSpPr>
          <p:cNvPr id="122883" name="Rectangle 2">
            <a:extLst>
              <a:ext uri="{FF2B5EF4-FFF2-40B4-BE49-F238E27FC236}">
                <a16:creationId xmlns:a16="http://schemas.microsoft.com/office/drawing/2014/main" id="{672E9A51-96DF-4328-9F5F-10C2A4CCD746}"/>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22884" name="Rectangle 3">
            <a:extLst>
              <a:ext uri="{FF2B5EF4-FFF2-40B4-BE49-F238E27FC236}">
                <a16:creationId xmlns:a16="http://schemas.microsoft.com/office/drawing/2014/main" id="{629BCD0E-A8A3-4115-BEBE-3ACBAE2D89AB}"/>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3">
            <a:extLst>
              <a:ext uri="{FF2B5EF4-FFF2-40B4-BE49-F238E27FC236}">
                <a16:creationId xmlns:a16="http://schemas.microsoft.com/office/drawing/2014/main" id="{358375CF-9906-4E12-AA2C-3B28AB22F716}"/>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E5871DB8-8892-4C29-8354-1C621C162E85}" type="slidenum">
              <a:rPr lang="en-US" altLang="en-US" sz="1800">
                <a:latin typeface="Arial" panose="020B0604020202020204" pitchFamily="34" charset="0"/>
              </a:rPr>
              <a:pPr eaLnBrk="1" hangingPunct="1">
                <a:spcBef>
                  <a:spcPct val="0"/>
                </a:spcBef>
              </a:pPr>
              <a:t>57</a:t>
            </a:fld>
            <a:endParaRPr lang="en-US" altLang="en-US" sz="1800">
              <a:latin typeface="Arial" panose="020B0604020202020204" pitchFamily="34" charset="0"/>
            </a:endParaRPr>
          </a:p>
        </p:txBody>
      </p:sp>
      <p:sp>
        <p:nvSpPr>
          <p:cNvPr id="126978" name="Rectangle 7">
            <a:extLst>
              <a:ext uri="{FF2B5EF4-FFF2-40B4-BE49-F238E27FC236}">
                <a16:creationId xmlns:a16="http://schemas.microsoft.com/office/drawing/2014/main" id="{377EEEB1-3A2C-49A6-9F4B-FAC3AA1B8DF8}"/>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A05F6DED-112E-4037-B891-C353C1BBDDBD}" type="slidenum">
              <a:rPr lang="en-US" altLang="en-US" sz="1800">
                <a:latin typeface="Arial" panose="020B0604020202020204" pitchFamily="34" charset="0"/>
              </a:rPr>
              <a:pPr eaLnBrk="1" hangingPunct="1">
                <a:spcBef>
                  <a:spcPct val="0"/>
                </a:spcBef>
              </a:pPr>
              <a:t>57</a:t>
            </a:fld>
            <a:endParaRPr lang="en-US" altLang="en-US" sz="1800">
              <a:latin typeface="Arial" panose="020B0604020202020204" pitchFamily="34" charset="0"/>
            </a:endParaRPr>
          </a:p>
        </p:txBody>
      </p:sp>
      <p:sp>
        <p:nvSpPr>
          <p:cNvPr id="126979" name="Rectangle 2">
            <a:extLst>
              <a:ext uri="{FF2B5EF4-FFF2-40B4-BE49-F238E27FC236}">
                <a16:creationId xmlns:a16="http://schemas.microsoft.com/office/drawing/2014/main" id="{7AAD5475-DA6B-4333-89B9-48BBDAD84332}"/>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26980" name="Rectangle 3">
            <a:extLst>
              <a:ext uri="{FF2B5EF4-FFF2-40B4-BE49-F238E27FC236}">
                <a16:creationId xmlns:a16="http://schemas.microsoft.com/office/drawing/2014/main" id="{4FD9597F-9949-4BE9-A02D-9B2400ADD7E0}"/>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3">
            <a:extLst>
              <a:ext uri="{FF2B5EF4-FFF2-40B4-BE49-F238E27FC236}">
                <a16:creationId xmlns:a16="http://schemas.microsoft.com/office/drawing/2014/main" id="{7B6A7737-D311-4BC2-B26E-45CFA8EF8AF2}"/>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377E0A9C-8DA6-4582-920D-BA33FC18FD6A}" type="slidenum">
              <a:rPr lang="en-US" altLang="en-US" sz="1800">
                <a:latin typeface="Arial" panose="020B0604020202020204" pitchFamily="34" charset="0"/>
              </a:rPr>
              <a:pPr eaLnBrk="1" hangingPunct="1">
                <a:spcBef>
                  <a:spcPct val="0"/>
                </a:spcBef>
              </a:pPr>
              <a:t>58</a:t>
            </a:fld>
            <a:endParaRPr lang="en-US" altLang="en-US" sz="1800">
              <a:latin typeface="Arial" panose="020B0604020202020204" pitchFamily="34" charset="0"/>
            </a:endParaRPr>
          </a:p>
        </p:txBody>
      </p:sp>
      <p:sp>
        <p:nvSpPr>
          <p:cNvPr id="129026" name="Rectangle 7">
            <a:extLst>
              <a:ext uri="{FF2B5EF4-FFF2-40B4-BE49-F238E27FC236}">
                <a16:creationId xmlns:a16="http://schemas.microsoft.com/office/drawing/2014/main" id="{08AB6B35-6D03-4B3E-A7ED-F369F557B34F}"/>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D481D4E2-6A0A-4460-807F-0A7ECD59805F}" type="slidenum">
              <a:rPr lang="en-US" altLang="en-US" sz="1800">
                <a:latin typeface="Arial" panose="020B0604020202020204" pitchFamily="34" charset="0"/>
              </a:rPr>
              <a:pPr eaLnBrk="1" hangingPunct="1">
                <a:spcBef>
                  <a:spcPct val="0"/>
                </a:spcBef>
              </a:pPr>
              <a:t>58</a:t>
            </a:fld>
            <a:endParaRPr lang="en-US" altLang="en-US" sz="1800">
              <a:latin typeface="Arial" panose="020B0604020202020204" pitchFamily="34" charset="0"/>
            </a:endParaRPr>
          </a:p>
        </p:txBody>
      </p:sp>
      <p:sp>
        <p:nvSpPr>
          <p:cNvPr id="129027" name="Rectangle 2">
            <a:extLst>
              <a:ext uri="{FF2B5EF4-FFF2-40B4-BE49-F238E27FC236}">
                <a16:creationId xmlns:a16="http://schemas.microsoft.com/office/drawing/2014/main" id="{78CE07EF-6B0E-44CA-90FD-BBB4878FCF44}"/>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29028" name="Rectangle 3">
            <a:extLst>
              <a:ext uri="{FF2B5EF4-FFF2-40B4-BE49-F238E27FC236}">
                <a16:creationId xmlns:a16="http://schemas.microsoft.com/office/drawing/2014/main" id="{018A2A88-556C-4057-AE13-531F33AC31AF}"/>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3">
            <a:extLst>
              <a:ext uri="{FF2B5EF4-FFF2-40B4-BE49-F238E27FC236}">
                <a16:creationId xmlns:a16="http://schemas.microsoft.com/office/drawing/2014/main" id="{049023FB-B333-484C-B05F-8091880519BF}"/>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A9563BC9-8542-424A-8F20-D5A3A53E4785}" type="slidenum">
              <a:rPr lang="en-US" altLang="en-US" sz="1800">
                <a:latin typeface="Arial" panose="020B0604020202020204" pitchFamily="34" charset="0"/>
              </a:rPr>
              <a:pPr eaLnBrk="1" hangingPunct="1">
                <a:spcBef>
                  <a:spcPct val="0"/>
                </a:spcBef>
              </a:pPr>
              <a:t>59</a:t>
            </a:fld>
            <a:endParaRPr lang="en-US" altLang="en-US" sz="1800">
              <a:latin typeface="Arial" panose="020B0604020202020204" pitchFamily="34" charset="0"/>
            </a:endParaRPr>
          </a:p>
        </p:txBody>
      </p:sp>
      <p:sp>
        <p:nvSpPr>
          <p:cNvPr id="131074" name="Rectangle 7">
            <a:extLst>
              <a:ext uri="{FF2B5EF4-FFF2-40B4-BE49-F238E27FC236}">
                <a16:creationId xmlns:a16="http://schemas.microsoft.com/office/drawing/2014/main" id="{348C54D2-F4EB-4901-BD46-7D9DCFDB50BD}"/>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ECF9C847-2BD1-49E8-9BCF-C0CDF904F7FB}" type="slidenum">
              <a:rPr lang="en-US" altLang="en-US" sz="1800">
                <a:latin typeface="Arial" panose="020B0604020202020204" pitchFamily="34" charset="0"/>
              </a:rPr>
              <a:pPr eaLnBrk="1" hangingPunct="1">
                <a:spcBef>
                  <a:spcPct val="0"/>
                </a:spcBef>
              </a:pPr>
              <a:t>59</a:t>
            </a:fld>
            <a:endParaRPr lang="en-US" altLang="en-US" sz="1800">
              <a:latin typeface="Arial" panose="020B0604020202020204" pitchFamily="34" charset="0"/>
            </a:endParaRPr>
          </a:p>
        </p:txBody>
      </p:sp>
      <p:sp>
        <p:nvSpPr>
          <p:cNvPr id="131075" name="Rectangle 2">
            <a:extLst>
              <a:ext uri="{FF2B5EF4-FFF2-40B4-BE49-F238E27FC236}">
                <a16:creationId xmlns:a16="http://schemas.microsoft.com/office/drawing/2014/main" id="{02D208AA-C8D0-4C8C-B581-FF299E520FE3}"/>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31076" name="Rectangle 3">
            <a:extLst>
              <a:ext uri="{FF2B5EF4-FFF2-40B4-BE49-F238E27FC236}">
                <a16:creationId xmlns:a16="http://schemas.microsoft.com/office/drawing/2014/main" id="{2E85FB44-4448-4B48-9EE7-5B46B04B72CD}"/>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cs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3">
            <a:extLst>
              <a:ext uri="{FF2B5EF4-FFF2-40B4-BE49-F238E27FC236}">
                <a16:creationId xmlns:a16="http://schemas.microsoft.com/office/drawing/2014/main" id="{02E4B9BD-ADE7-493F-9E5C-9F197CC7D08B}"/>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290FBF49-F6A1-492E-9958-DE6AF3C83B33}" type="slidenum">
              <a:rPr lang="en-US" altLang="en-US" sz="1800">
                <a:latin typeface="Arial" panose="020B0604020202020204" pitchFamily="34" charset="0"/>
              </a:rPr>
              <a:pPr eaLnBrk="1" hangingPunct="1">
                <a:spcBef>
                  <a:spcPct val="0"/>
                </a:spcBef>
              </a:pPr>
              <a:t>60</a:t>
            </a:fld>
            <a:endParaRPr lang="en-US" altLang="en-US" sz="1800">
              <a:latin typeface="Arial" panose="020B0604020202020204" pitchFamily="34" charset="0"/>
            </a:endParaRPr>
          </a:p>
        </p:txBody>
      </p:sp>
      <p:sp>
        <p:nvSpPr>
          <p:cNvPr id="133122" name="Rectangle 7">
            <a:extLst>
              <a:ext uri="{FF2B5EF4-FFF2-40B4-BE49-F238E27FC236}">
                <a16:creationId xmlns:a16="http://schemas.microsoft.com/office/drawing/2014/main" id="{B97C6BE1-F5B1-4DF8-ABE1-C2C7BEBA2C79}"/>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EC979B39-379E-4D7C-B540-1079AB7789D7}" type="slidenum">
              <a:rPr lang="en-US" altLang="en-US" sz="1800">
                <a:latin typeface="Arial" panose="020B0604020202020204" pitchFamily="34" charset="0"/>
              </a:rPr>
              <a:pPr eaLnBrk="1" hangingPunct="1">
                <a:spcBef>
                  <a:spcPct val="0"/>
                </a:spcBef>
              </a:pPr>
              <a:t>60</a:t>
            </a:fld>
            <a:endParaRPr lang="en-US" altLang="en-US" sz="1800">
              <a:latin typeface="Arial" panose="020B0604020202020204" pitchFamily="34" charset="0"/>
            </a:endParaRPr>
          </a:p>
        </p:txBody>
      </p:sp>
      <p:sp>
        <p:nvSpPr>
          <p:cNvPr id="133123" name="Rectangle 2">
            <a:extLst>
              <a:ext uri="{FF2B5EF4-FFF2-40B4-BE49-F238E27FC236}">
                <a16:creationId xmlns:a16="http://schemas.microsoft.com/office/drawing/2014/main" id="{40B52FFB-C31A-44FB-AFD6-90CE9F11568A}"/>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33124" name="Rectangle 3">
            <a:extLst>
              <a:ext uri="{FF2B5EF4-FFF2-40B4-BE49-F238E27FC236}">
                <a16:creationId xmlns:a16="http://schemas.microsoft.com/office/drawing/2014/main" id="{7709F392-63C5-4696-83A0-11C24BD9058D}"/>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3">
            <a:extLst>
              <a:ext uri="{FF2B5EF4-FFF2-40B4-BE49-F238E27FC236}">
                <a16:creationId xmlns:a16="http://schemas.microsoft.com/office/drawing/2014/main" id="{B352145A-5095-4C6F-94E6-ED31C82535F8}"/>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2EF7C5D5-973A-47D6-B756-48A19C19CB22}" type="slidenum">
              <a:rPr lang="en-US" altLang="en-US" sz="1800">
                <a:latin typeface="Arial" panose="020B0604020202020204" pitchFamily="34" charset="0"/>
              </a:rPr>
              <a:pPr eaLnBrk="1" hangingPunct="1">
                <a:spcBef>
                  <a:spcPct val="0"/>
                </a:spcBef>
              </a:pPr>
              <a:t>62</a:t>
            </a:fld>
            <a:endParaRPr lang="en-US" altLang="en-US" sz="1800">
              <a:latin typeface="Arial" panose="020B0604020202020204" pitchFamily="34" charset="0"/>
            </a:endParaRPr>
          </a:p>
        </p:txBody>
      </p:sp>
      <p:sp>
        <p:nvSpPr>
          <p:cNvPr id="135170" name="Rectangle 7">
            <a:extLst>
              <a:ext uri="{FF2B5EF4-FFF2-40B4-BE49-F238E27FC236}">
                <a16:creationId xmlns:a16="http://schemas.microsoft.com/office/drawing/2014/main" id="{4EEAA9A1-E980-4B79-8C48-33ED47043C6E}"/>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47765666-66FA-41B2-8622-0C6574D39EFD}" type="slidenum">
              <a:rPr lang="en-US" altLang="en-US" sz="1800">
                <a:latin typeface="Arial" panose="020B0604020202020204" pitchFamily="34" charset="0"/>
              </a:rPr>
              <a:pPr eaLnBrk="1" hangingPunct="1">
                <a:spcBef>
                  <a:spcPct val="0"/>
                </a:spcBef>
              </a:pPr>
              <a:t>62</a:t>
            </a:fld>
            <a:endParaRPr lang="en-US" altLang="en-US" sz="1800">
              <a:latin typeface="Arial" panose="020B0604020202020204" pitchFamily="34" charset="0"/>
            </a:endParaRPr>
          </a:p>
        </p:txBody>
      </p:sp>
      <p:sp>
        <p:nvSpPr>
          <p:cNvPr id="135171" name="Rectangle 2">
            <a:extLst>
              <a:ext uri="{FF2B5EF4-FFF2-40B4-BE49-F238E27FC236}">
                <a16:creationId xmlns:a16="http://schemas.microsoft.com/office/drawing/2014/main" id="{D6E152F0-0C0A-4C3F-90BB-C7A9389D62D3}"/>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35172" name="Rectangle 3">
            <a:extLst>
              <a:ext uri="{FF2B5EF4-FFF2-40B4-BE49-F238E27FC236}">
                <a16:creationId xmlns:a16="http://schemas.microsoft.com/office/drawing/2014/main" id="{B02AEEEF-6012-4ED7-A6B1-F4C11AB7DBCB}"/>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cs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C6D7C-10B4-2CC0-5DF8-B19A918CAA14}"/>
            </a:ext>
          </a:extLst>
        </p:cNvPr>
        <p:cNvGrpSpPr/>
        <p:nvPr/>
      </p:nvGrpSpPr>
      <p:grpSpPr>
        <a:xfrm>
          <a:off x="0" y="0"/>
          <a:ext cx="0" cy="0"/>
          <a:chOff x="0" y="0"/>
          <a:chExt cx="0" cy="0"/>
        </a:xfrm>
      </p:grpSpPr>
      <p:sp>
        <p:nvSpPr>
          <p:cNvPr id="135169" name="Rectangle 3">
            <a:extLst>
              <a:ext uri="{FF2B5EF4-FFF2-40B4-BE49-F238E27FC236}">
                <a16:creationId xmlns:a16="http://schemas.microsoft.com/office/drawing/2014/main" id="{47FADC63-64A6-9FCB-E560-6B74250F0A5C}"/>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2EF7C5D5-973A-47D6-B756-48A19C19CB22}" type="slidenum">
              <a:rPr lang="en-US" altLang="en-US" sz="1800">
                <a:latin typeface="Arial" panose="020B0604020202020204" pitchFamily="34" charset="0"/>
              </a:rPr>
              <a:pPr eaLnBrk="1" hangingPunct="1">
                <a:spcBef>
                  <a:spcPct val="0"/>
                </a:spcBef>
              </a:pPr>
              <a:t>63</a:t>
            </a:fld>
            <a:endParaRPr lang="en-US" altLang="en-US" sz="1800">
              <a:latin typeface="Arial" panose="020B0604020202020204" pitchFamily="34" charset="0"/>
            </a:endParaRPr>
          </a:p>
        </p:txBody>
      </p:sp>
      <p:sp>
        <p:nvSpPr>
          <p:cNvPr id="135170" name="Rectangle 7">
            <a:extLst>
              <a:ext uri="{FF2B5EF4-FFF2-40B4-BE49-F238E27FC236}">
                <a16:creationId xmlns:a16="http://schemas.microsoft.com/office/drawing/2014/main" id="{AE754E5B-CFC4-82D7-324A-1FF2FA1961C1}"/>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47765666-66FA-41B2-8622-0C6574D39EFD}" type="slidenum">
              <a:rPr lang="en-US" altLang="en-US" sz="1800">
                <a:latin typeface="Arial" panose="020B0604020202020204" pitchFamily="34" charset="0"/>
              </a:rPr>
              <a:pPr eaLnBrk="1" hangingPunct="1">
                <a:spcBef>
                  <a:spcPct val="0"/>
                </a:spcBef>
              </a:pPr>
              <a:t>63</a:t>
            </a:fld>
            <a:endParaRPr lang="en-US" altLang="en-US" sz="1800">
              <a:latin typeface="Arial" panose="020B0604020202020204" pitchFamily="34" charset="0"/>
            </a:endParaRPr>
          </a:p>
        </p:txBody>
      </p:sp>
      <p:sp>
        <p:nvSpPr>
          <p:cNvPr id="135171" name="Rectangle 2">
            <a:extLst>
              <a:ext uri="{FF2B5EF4-FFF2-40B4-BE49-F238E27FC236}">
                <a16:creationId xmlns:a16="http://schemas.microsoft.com/office/drawing/2014/main" id="{DAB05535-AAF4-FFBB-3AB9-74D310D1630D}"/>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35172" name="Rectangle 3">
            <a:extLst>
              <a:ext uri="{FF2B5EF4-FFF2-40B4-BE49-F238E27FC236}">
                <a16:creationId xmlns:a16="http://schemas.microsoft.com/office/drawing/2014/main" id="{EE630126-CE04-F8D6-A54C-2A920BAD76C8}"/>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cs typeface="Times New Roman" panose="02020603050405020304" pitchFamily="18" charset="0"/>
            </a:endParaRPr>
          </a:p>
        </p:txBody>
      </p:sp>
    </p:spTree>
    <p:extLst>
      <p:ext uri="{BB962C8B-B14F-4D97-AF65-F5344CB8AC3E}">
        <p14:creationId xmlns:p14="http://schemas.microsoft.com/office/powerpoint/2010/main" val="27661891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3">
            <a:extLst>
              <a:ext uri="{FF2B5EF4-FFF2-40B4-BE49-F238E27FC236}">
                <a16:creationId xmlns:a16="http://schemas.microsoft.com/office/drawing/2014/main" id="{858B3BA5-F283-4951-938D-FAD72AB1998E}"/>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3444F5AF-3056-48F9-8FB6-3F8D2670B398}" type="slidenum">
              <a:rPr lang="en-US" altLang="en-US" sz="1800">
                <a:latin typeface="Arial" panose="020B0604020202020204" pitchFamily="34" charset="0"/>
              </a:rPr>
              <a:pPr eaLnBrk="1" hangingPunct="1">
                <a:spcBef>
                  <a:spcPct val="0"/>
                </a:spcBef>
              </a:pPr>
              <a:t>64</a:t>
            </a:fld>
            <a:endParaRPr lang="en-US" altLang="en-US" sz="1800">
              <a:latin typeface="Arial" panose="020B0604020202020204" pitchFamily="34" charset="0"/>
            </a:endParaRPr>
          </a:p>
        </p:txBody>
      </p:sp>
      <p:sp>
        <p:nvSpPr>
          <p:cNvPr id="139266" name="Rectangle 7">
            <a:extLst>
              <a:ext uri="{FF2B5EF4-FFF2-40B4-BE49-F238E27FC236}">
                <a16:creationId xmlns:a16="http://schemas.microsoft.com/office/drawing/2014/main" id="{9B6F333E-ED9C-41D0-AAB6-9D2DE79899AC}"/>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0513DD3D-FADE-4B80-818A-9690A3EFC1C7}" type="slidenum">
              <a:rPr lang="en-US" altLang="en-US" sz="1800">
                <a:latin typeface="Arial" panose="020B0604020202020204" pitchFamily="34" charset="0"/>
              </a:rPr>
              <a:pPr eaLnBrk="1" hangingPunct="1">
                <a:spcBef>
                  <a:spcPct val="0"/>
                </a:spcBef>
              </a:pPr>
              <a:t>64</a:t>
            </a:fld>
            <a:endParaRPr lang="en-US" altLang="en-US" sz="1800">
              <a:latin typeface="Arial" panose="020B0604020202020204" pitchFamily="34" charset="0"/>
            </a:endParaRPr>
          </a:p>
        </p:txBody>
      </p:sp>
      <p:sp>
        <p:nvSpPr>
          <p:cNvPr id="139267" name="Rectangle 2050">
            <a:extLst>
              <a:ext uri="{FF2B5EF4-FFF2-40B4-BE49-F238E27FC236}">
                <a16:creationId xmlns:a16="http://schemas.microsoft.com/office/drawing/2014/main" id="{A550587F-B38D-4BF5-8656-D558244E82D1}"/>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39268" name="Rectangle 2051">
            <a:extLst>
              <a:ext uri="{FF2B5EF4-FFF2-40B4-BE49-F238E27FC236}">
                <a16:creationId xmlns:a16="http://schemas.microsoft.com/office/drawing/2014/main" id="{C74867AD-16F8-4736-A576-8BDC072437A6}"/>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cs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3">
            <a:extLst>
              <a:ext uri="{FF2B5EF4-FFF2-40B4-BE49-F238E27FC236}">
                <a16:creationId xmlns:a16="http://schemas.microsoft.com/office/drawing/2014/main" id="{6166CD9D-6D29-4C65-BE14-07276D943407}"/>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24B41CF6-0DEF-40AC-9A4B-117958B2B401}" type="slidenum">
              <a:rPr lang="en-US" altLang="en-US" sz="1800">
                <a:latin typeface="Arial" panose="020B0604020202020204" pitchFamily="34" charset="0"/>
              </a:rPr>
              <a:pPr eaLnBrk="1" hangingPunct="1">
                <a:spcBef>
                  <a:spcPct val="0"/>
                </a:spcBef>
              </a:pPr>
              <a:t>65</a:t>
            </a:fld>
            <a:endParaRPr lang="en-US" altLang="en-US" sz="1800">
              <a:latin typeface="Arial" panose="020B0604020202020204" pitchFamily="34" charset="0"/>
            </a:endParaRPr>
          </a:p>
        </p:txBody>
      </p:sp>
      <p:sp>
        <p:nvSpPr>
          <p:cNvPr id="141314" name="Rectangle 7">
            <a:extLst>
              <a:ext uri="{FF2B5EF4-FFF2-40B4-BE49-F238E27FC236}">
                <a16:creationId xmlns:a16="http://schemas.microsoft.com/office/drawing/2014/main" id="{7936DDF2-0049-415C-B472-14387A732AA6}"/>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2EA4ACDC-8772-4B71-BC3D-53CDAF9EC99A}" type="slidenum">
              <a:rPr lang="en-US" altLang="en-US" sz="1800">
                <a:latin typeface="Arial" panose="020B0604020202020204" pitchFamily="34" charset="0"/>
              </a:rPr>
              <a:pPr eaLnBrk="1" hangingPunct="1">
                <a:spcBef>
                  <a:spcPct val="0"/>
                </a:spcBef>
              </a:pPr>
              <a:t>65</a:t>
            </a:fld>
            <a:endParaRPr lang="en-US" altLang="en-US" sz="1800">
              <a:latin typeface="Arial" panose="020B0604020202020204" pitchFamily="34" charset="0"/>
            </a:endParaRPr>
          </a:p>
        </p:txBody>
      </p:sp>
      <p:sp>
        <p:nvSpPr>
          <p:cNvPr id="141315" name="Rectangle 2">
            <a:extLst>
              <a:ext uri="{FF2B5EF4-FFF2-40B4-BE49-F238E27FC236}">
                <a16:creationId xmlns:a16="http://schemas.microsoft.com/office/drawing/2014/main" id="{5673BAD9-DDE0-481A-A0F7-CC0A54AA5123}"/>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41316" name="Rectangle 3">
            <a:extLst>
              <a:ext uri="{FF2B5EF4-FFF2-40B4-BE49-F238E27FC236}">
                <a16:creationId xmlns:a16="http://schemas.microsoft.com/office/drawing/2014/main" id="{B4AED045-76FA-43A9-9D33-236AC10D2E32}"/>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3">
            <a:extLst>
              <a:ext uri="{FF2B5EF4-FFF2-40B4-BE49-F238E27FC236}">
                <a16:creationId xmlns:a16="http://schemas.microsoft.com/office/drawing/2014/main" id="{AABDDD89-97D6-4829-BF67-2136892C3396}"/>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D8D0EC52-414E-4627-B4E6-B7B39DF91986}" type="slidenum">
              <a:rPr lang="en-US" altLang="en-US" sz="1800">
                <a:latin typeface="Arial" panose="020B0604020202020204" pitchFamily="34" charset="0"/>
              </a:rPr>
              <a:pPr eaLnBrk="1" hangingPunct="1">
                <a:spcBef>
                  <a:spcPct val="0"/>
                </a:spcBef>
              </a:pPr>
              <a:t>66</a:t>
            </a:fld>
            <a:endParaRPr lang="en-US" altLang="en-US" sz="1800">
              <a:latin typeface="Arial" panose="020B0604020202020204" pitchFamily="34" charset="0"/>
            </a:endParaRPr>
          </a:p>
        </p:txBody>
      </p:sp>
      <p:sp>
        <p:nvSpPr>
          <p:cNvPr id="151554" name="Rectangle 7">
            <a:extLst>
              <a:ext uri="{FF2B5EF4-FFF2-40B4-BE49-F238E27FC236}">
                <a16:creationId xmlns:a16="http://schemas.microsoft.com/office/drawing/2014/main" id="{C7E9D591-8AF8-4659-9964-7FDB8AED9122}"/>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952939A0-9BF7-4BEE-8C3E-C1503FE9BF7A}" type="slidenum">
              <a:rPr lang="en-US" altLang="en-US" sz="1800">
                <a:latin typeface="Arial" panose="020B0604020202020204" pitchFamily="34" charset="0"/>
              </a:rPr>
              <a:pPr eaLnBrk="1" hangingPunct="1">
                <a:spcBef>
                  <a:spcPct val="0"/>
                </a:spcBef>
              </a:pPr>
              <a:t>66</a:t>
            </a:fld>
            <a:endParaRPr lang="en-US" altLang="en-US" sz="1800">
              <a:latin typeface="Arial" panose="020B0604020202020204" pitchFamily="34" charset="0"/>
            </a:endParaRPr>
          </a:p>
        </p:txBody>
      </p:sp>
      <p:sp>
        <p:nvSpPr>
          <p:cNvPr id="151555" name="Rectangle 2">
            <a:extLst>
              <a:ext uri="{FF2B5EF4-FFF2-40B4-BE49-F238E27FC236}">
                <a16:creationId xmlns:a16="http://schemas.microsoft.com/office/drawing/2014/main" id="{B6AB9374-74C5-4F8B-B825-C73F95C7C2C1}"/>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51556" name="Rectangle 3">
            <a:extLst>
              <a:ext uri="{FF2B5EF4-FFF2-40B4-BE49-F238E27FC236}">
                <a16:creationId xmlns:a16="http://schemas.microsoft.com/office/drawing/2014/main" id="{4C678CF8-C3F6-4448-99C1-0AB1D52FBEA4}"/>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63914-8623-003E-C452-4B0327A34D36}"/>
            </a:ext>
          </a:extLst>
        </p:cNvPr>
        <p:cNvGrpSpPr/>
        <p:nvPr/>
      </p:nvGrpSpPr>
      <p:grpSpPr>
        <a:xfrm>
          <a:off x="0" y="0"/>
          <a:ext cx="0" cy="0"/>
          <a:chOff x="0" y="0"/>
          <a:chExt cx="0" cy="0"/>
        </a:xfrm>
      </p:grpSpPr>
      <p:sp>
        <p:nvSpPr>
          <p:cNvPr id="151553" name="Rectangle 3">
            <a:extLst>
              <a:ext uri="{FF2B5EF4-FFF2-40B4-BE49-F238E27FC236}">
                <a16:creationId xmlns:a16="http://schemas.microsoft.com/office/drawing/2014/main" id="{A39396F2-B0A0-36FC-AC6B-67905782417E}"/>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D8D0EC52-414E-4627-B4E6-B7B39DF91986}" type="slidenum">
              <a:rPr lang="en-US" altLang="en-US" sz="1800">
                <a:latin typeface="Arial" panose="020B0604020202020204" pitchFamily="34" charset="0"/>
              </a:rPr>
              <a:pPr eaLnBrk="1" hangingPunct="1">
                <a:spcBef>
                  <a:spcPct val="0"/>
                </a:spcBef>
              </a:pPr>
              <a:t>67</a:t>
            </a:fld>
            <a:endParaRPr lang="en-US" altLang="en-US" sz="1800">
              <a:latin typeface="Arial" panose="020B0604020202020204" pitchFamily="34" charset="0"/>
            </a:endParaRPr>
          </a:p>
        </p:txBody>
      </p:sp>
      <p:sp>
        <p:nvSpPr>
          <p:cNvPr id="151554" name="Rectangle 7">
            <a:extLst>
              <a:ext uri="{FF2B5EF4-FFF2-40B4-BE49-F238E27FC236}">
                <a16:creationId xmlns:a16="http://schemas.microsoft.com/office/drawing/2014/main" id="{2E10AC0F-627D-A641-6AC5-5BA9877F2072}"/>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952939A0-9BF7-4BEE-8C3E-C1503FE9BF7A}" type="slidenum">
              <a:rPr lang="en-US" altLang="en-US" sz="1800">
                <a:latin typeface="Arial" panose="020B0604020202020204" pitchFamily="34" charset="0"/>
              </a:rPr>
              <a:pPr eaLnBrk="1" hangingPunct="1">
                <a:spcBef>
                  <a:spcPct val="0"/>
                </a:spcBef>
              </a:pPr>
              <a:t>67</a:t>
            </a:fld>
            <a:endParaRPr lang="en-US" altLang="en-US" sz="1800">
              <a:latin typeface="Arial" panose="020B0604020202020204" pitchFamily="34" charset="0"/>
            </a:endParaRPr>
          </a:p>
        </p:txBody>
      </p:sp>
      <p:sp>
        <p:nvSpPr>
          <p:cNvPr id="151555" name="Rectangle 2">
            <a:extLst>
              <a:ext uri="{FF2B5EF4-FFF2-40B4-BE49-F238E27FC236}">
                <a16:creationId xmlns:a16="http://schemas.microsoft.com/office/drawing/2014/main" id="{80C089C3-3E34-C586-5FB8-1C6493B06E0F}"/>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51556" name="Rectangle 3">
            <a:extLst>
              <a:ext uri="{FF2B5EF4-FFF2-40B4-BE49-F238E27FC236}">
                <a16:creationId xmlns:a16="http://schemas.microsoft.com/office/drawing/2014/main" id="{F9F6EEC6-18DB-4264-2782-F1A7931F080E}"/>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38744101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3">
            <a:extLst>
              <a:ext uri="{FF2B5EF4-FFF2-40B4-BE49-F238E27FC236}">
                <a16:creationId xmlns:a16="http://schemas.microsoft.com/office/drawing/2014/main" id="{829350FC-31D3-4D5B-83B1-5789A9A03898}"/>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2CE22A2A-F943-40C4-9986-20ACEE64A38A}" type="slidenum">
              <a:rPr lang="en-US" altLang="en-US" sz="1800">
                <a:latin typeface="Arial" panose="020B0604020202020204" pitchFamily="34" charset="0"/>
              </a:rPr>
              <a:pPr eaLnBrk="1" hangingPunct="1">
                <a:spcBef>
                  <a:spcPct val="0"/>
                </a:spcBef>
              </a:pPr>
              <a:t>68</a:t>
            </a:fld>
            <a:endParaRPr lang="en-US" altLang="en-US" sz="1800">
              <a:latin typeface="Arial" panose="020B0604020202020204" pitchFamily="34" charset="0"/>
            </a:endParaRPr>
          </a:p>
        </p:txBody>
      </p:sp>
      <p:sp>
        <p:nvSpPr>
          <p:cNvPr id="155650" name="Rectangle 7">
            <a:extLst>
              <a:ext uri="{FF2B5EF4-FFF2-40B4-BE49-F238E27FC236}">
                <a16:creationId xmlns:a16="http://schemas.microsoft.com/office/drawing/2014/main" id="{DF6A552E-AAFC-41D8-9356-5E8669B55D5E}"/>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54E3E07D-BDDD-4EA4-A887-C85A5A0D59D6}" type="slidenum">
              <a:rPr lang="en-US" altLang="en-US" sz="1800">
                <a:latin typeface="Arial" panose="020B0604020202020204" pitchFamily="34" charset="0"/>
              </a:rPr>
              <a:pPr eaLnBrk="1" hangingPunct="1">
                <a:spcBef>
                  <a:spcPct val="0"/>
                </a:spcBef>
              </a:pPr>
              <a:t>68</a:t>
            </a:fld>
            <a:endParaRPr lang="en-US" altLang="en-US" sz="1800">
              <a:latin typeface="Arial" panose="020B0604020202020204" pitchFamily="34" charset="0"/>
            </a:endParaRPr>
          </a:p>
        </p:txBody>
      </p:sp>
      <p:sp>
        <p:nvSpPr>
          <p:cNvPr id="155651" name="Rectangle 2">
            <a:extLst>
              <a:ext uri="{FF2B5EF4-FFF2-40B4-BE49-F238E27FC236}">
                <a16:creationId xmlns:a16="http://schemas.microsoft.com/office/drawing/2014/main" id="{009255E5-7F49-4119-9C32-A9C1A3399B72}"/>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55652" name="Rectangle 3">
            <a:extLst>
              <a:ext uri="{FF2B5EF4-FFF2-40B4-BE49-F238E27FC236}">
                <a16:creationId xmlns:a16="http://schemas.microsoft.com/office/drawing/2014/main" id="{D6416E8C-69A3-4A65-A220-E4D73EE08C10}"/>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F1CF1-9D96-D58D-0384-8A3B8FCA6779}"/>
            </a:ext>
          </a:extLst>
        </p:cNvPr>
        <p:cNvGrpSpPr/>
        <p:nvPr/>
      </p:nvGrpSpPr>
      <p:grpSpPr>
        <a:xfrm>
          <a:off x="0" y="0"/>
          <a:ext cx="0" cy="0"/>
          <a:chOff x="0" y="0"/>
          <a:chExt cx="0" cy="0"/>
        </a:xfrm>
      </p:grpSpPr>
      <p:sp>
        <p:nvSpPr>
          <p:cNvPr id="155649" name="Rectangle 3">
            <a:extLst>
              <a:ext uri="{FF2B5EF4-FFF2-40B4-BE49-F238E27FC236}">
                <a16:creationId xmlns:a16="http://schemas.microsoft.com/office/drawing/2014/main" id="{696DA9DD-0039-7289-889C-BF5613E6A29B}"/>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2CE22A2A-F943-40C4-9986-20ACEE64A38A}" type="slidenum">
              <a:rPr lang="en-US" altLang="en-US" sz="1800">
                <a:latin typeface="Arial" panose="020B0604020202020204" pitchFamily="34" charset="0"/>
              </a:rPr>
              <a:pPr eaLnBrk="1" hangingPunct="1">
                <a:spcBef>
                  <a:spcPct val="0"/>
                </a:spcBef>
              </a:pPr>
              <a:t>69</a:t>
            </a:fld>
            <a:endParaRPr lang="en-US" altLang="en-US" sz="1800">
              <a:latin typeface="Arial" panose="020B0604020202020204" pitchFamily="34" charset="0"/>
            </a:endParaRPr>
          </a:p>
        </p:txBody>
      </p:sp>
      <p:sp>
        <p:nvSpPr>
          <p:cNvPr id="155650" name="Rectangle 7">
            <a:extLst>
              <a:ext uri="{FF2B5EF4-FFF2-40B4-BE49-F238E27FC236}">
                <a16:creationId xmlns:a16="http://schemas.microsoft.com/office/drawing/2014/main" id="{583DAD5A-37FA-89AC-FB63-03CA814185CE}"/>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54E3E07D-BDDD-4EA4-A887-C85A5A0D59D6}" type="slidenum">
              <a:rPr lang="en-US" altLang="en-US" sz="1800">
                <a:latin typeface="Arial" panose="020B0604020202020204" pitchFamily="34" charset="0"/>
              </a:rPr>
              <a:pPr eaLnBrk="1" hangingPunct="1">
                <a:spcBef>
                  <a:spcPct val="0"/>
                </a:spcBef>
              </a:pPr>
              <a:t>69</a:t>
            </a:fld>
            <a:endParaRPr lang="en-US" altLang="en-US" sz="1800">
              <a:latin typeface="Arial" panose="020B0604020202020204" pitchFamily="34" charset="0"/>
            </a:endParaRPr>
          </a:p>
        </p:txBody>
      </p:sp>
      <p:sp>
        <p:nvSpPr>
          <p:cNvPr id="155651" name="Rectangle 2">
            <a:extLst>
              <a:ext uri="{FF2B5EF4-FFF2-40B4-BE49-F238E27FC236}">
                <a16:creationId xmlns:a16="http://schemas.microsoft.com/office/drawing/2014/main" id="{7F06FE00-C24B-1E8C-80C1-DF11AE56675B}"/>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55652" name="Rectangle 3">
            <a:extLst>
              <a:ext uri="{FF2B5EF4-FFF2-40B4-BE49-F238E27FC236}">
                <a16:creationId xmlns:a16="http://schemas.microsoft.com/office/drawing/2014/main" id="{70B98B3B-870D-F27E-D8AB-55B4135080B4}"/>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26252556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A393F-2938-B680-05CA-B97A4281AA27}"/>
            </a:ext>
          </a:extLst>
        </p:cNvPr>
        <p:cNvGrpSpPr/>
        <p:nvPr/>
      </p:nvGrpSpPr>
      <p:grpSpPr>
        <a:xfrm>
          <a:off x="0" y="0"/>
          <a:ext cx="0" cy="0"/>
          <a:chOff x="0" y="0"/>
          <a:chExt cx="0" cy="0"/>
        </a:xfrm>
      </p:grpSpPr>
      <p:sp>
        <p:nvSpPr>
          <p:cNvPr id="155649" name="Rectangle 3">
            <a:extLst>
              <a:ext uri="{FF2B5EF4-FFF2-40B4-BE49-F238E27FC236}">
                <a16:creationId xmlns:a16="http://schemas.microsoft.com/office/drawing/2014/main" id="{1E3B3486-6074-AA5E-0E62-E3DAD033C902}"/>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2CE22A2A-F943-40C4-9986-20ACEE64A38A}" type="slidenum">
              <a:rPr lang="en-US" altLang="en-US" sz="1800">
                <a:latin typeface="Arial" panose="020B0604020202020204" pitchFamily="34" charset="0"/>
              </a:rPr>
              <a:pPr eaLnBrk="1" hangingPunct="1">
                <a:spcBef>
                  <a:spcPct val="0"/>
                </a:spcBef>
              </a:pPr>
              <a:t>70</a:t>
            </a:fld>
            <a:endParaRPr lang="en-US" altLang="en-US" sz="1800">
              <a:latin typeface="Arial" panose="020B0604020202020204" pitchFamily="34" charset="0"/>
            </a:endParaRPr>
          </a:p>
        </p:txBody>
      </p:sp>
      <p:sp>
        <p:nvSpPr>
          <p:cNvPr id="155650" name="Rectangle 7">
            <a:extLst>
              <a:ext uri="{FF2B5EF4-FFF2-40B4-BE49-F238E27FC236}">
                <a16:creationId xmlns:a16="http://schemas.microsoft.com/office/drawing/2014/main" id="{D987A278-67ED-44B5-7A6F-8C3596EDAD0F}"/>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54E3E07D-BDDD-4EA4-A887-C85A5A0D59D6}" type="slidenum">
              <a:rPr lang="en-US" altLang="en-US" sz="1800">
                <a:latin typeface="Arial" panose="020B0604020202020204" pitchFamily="34" charset="0"/>
              </a:rPr>
              <a:pPr eaLnBrk="1" hangingPunct="1">
                <a:spcBef>
                  <a:spcPct val="0"/>
                </a:spcBef>
              </a:pPr>
              <a:t>70</a:t>
            </a:fld>
            <a:endParaRPr lang="en-US" altLang="en-US" sz="1800">
              <a:latin typeface="Arial" panose="020B0604020202020204" pitchFamily="34" charset="0"/>
            </a:endParaRPr>
          </a:p>
        </p:txBody>
      </p:sp>
      <p:sp>
        <p:nvSpPr>
          <p:cNvPr id="155651" name="Rectangle 2">
            <a:extLst>
              <a:ext uri="{FF2B5EF4-FFF2-40B4-BE49-F238E27FC236}">
                <a16:creationId xmlns:a16="http://schemas.microsoft.com/office/drawing/2014/main" id="{7EBFF3CC-88F4-E304-7C64-E136391D2B93}"/>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55652" name="Rectangle 3">
            <a:extLst>
              <a:ext uri="{FF2B5EF4-FFF2-40B4-BE49-F238E27FC236}">
                <a16:creationId xmlns:a16="http://schemas.microsoft.com/office/drawing/2014/main" id="{C8B85A64-A768-00D9-3026-2A4E0318A658}"/>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extLst>
      <p:ext uri="{BB962C8B-B14F-4D97-AF65-F5344CB8AC3E}">
        <p14:creationId xmlns:p14="http://schemas.microsoft.com/office/powerpoint/2010/main" val="22270068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3">
            <a:extLst>
              <a:ext uri="{FF2B5EF4-FFF2-40B4-BE49-F238E27FC236}">
                <a16:creationId xmlns:a16="http://schemas.microsoft.com/office/drawing/2014/main" id="{88398A4D-15DD-423D-95EA-CB53E881ADEA}"/>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ACCCE904-8099-48B9-B547-50B654016BC2}" type="slidenum">
              <a:rPr lang="en-US" altLang="en-US" sz="1800">
                <a:latin typeface="Arial" panose="020B0604020202020204" pitchFamily="34" charset="0"/>
              </a:rPr>
              <a:pPr eaLnBrk="1" hangingPunct="1">
                <a:spcBef>
                  <a:spcPct val="0"/>
                </a:spcBef>
              </a:pPr>
              <a:t>71</a:t>
            </a:fld>
            <a:endParaRPr lang="en-US" altLang="en-US" sz="1800">
              <a:latin typeface="Arial" panose="020B0604020202020204" pitchFamily="34" charset="0"/>
            </a:endParaRPr>
          </a:p>
        </p:txBody>
      </p:sp>
      <p:sp>
        <p:nvSpPr>
          <p:cNvPr id="161794" name="Rectangle 7">
            <a:extLst>
              <a:ext uri="{FF2B5EF4-FFF2-40B4-BE49-F238E27FC236}">
                <a16:creationId xmlns:a16="http://schemas.microsoft.com/office/drawing/2014/main" id="{D1280AB9-5FB0-47D4-A291-BFAF0FD2C872}"/>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D8035709-B59B-42F4-9BE0-152172EEBC42}" type="slidenum">
              <a:rPr lang="en-US" altLang="en-US" sz="1800">
                <a:latin typeface="Arial" panose="020B0604020202020204" pitchFamily="34" charset="0"/>
              </a:rPr>
              <a:pPr eaLnBrk="1" hangingPunct="1">
                <a:spcBef>
                  <a:spcPct val="0"/>
                </a:spcBef>
              </a:pPr>
              <a:t>71</a:t>
            </a:fld>
            <a:endParaRPr lang="en-US" altLang="en-US" sz="1800">
              <a:latin typeface="Arial" panose="020B0604020202020204" pitchFamily="34" charset="0"/>
            </a:endParaRPr>
          </a:p>
        </p:txBody>
      </p:sp>
      <p:sp>
        <p:nvSpPr>
          <p:cNvPr id="161795" name="Rectangle 2">
            <a:extLst>
              <a:ext uri="{FF2B5EF4-FFF2-40B4-BE49-F238E27FC236}">
                <a16:creationId xmlns:a16="http://schemas.microsoft.com/office/drawing/2014/main" id="{C01BC4EC-BFEA-45F7-8D92-B34CD7A37C3E}"/>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61796" name="Rectangle 3">
            <a:extLst>
              <a:ext uri="{FF2B5EF4-FFF2-40B4-BE49-F238E27FC236}">
                <a16:creationId xmlns:a16="http://schemas.microsoft.com/office/drawing/2014/main" id="{610FF127-8367-4A4E-B1F1-383A8F35E6D6}"/>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3">
            <a:extLst>
              <a:ext uri="{FF2B5EF4-FFF2-40B4-BE49-F238E27FC236}">
                <a16:creationId xmlns:a16="http://schemas.microsoft.com/office/drawing/2014/main" id="{B5186A71-E5E4-4A34-8F9E-E8E66B75CE7C}"/>
              </a:ext>
            </a:extLst>
          </p:cNvPr>
          <p:cNvSpPr>
            <a:spLocks noGrp="1" noChangeArrowheads="1"/>
          </p:cNvSpPr>
          <p:nvPr>
            <p:ph type="dt" sz="quarter" idx="4294967295"/>
          </p:nvPr>
        </p:nvSpPr>
        <p:spPr bwMode="auto">
          <a:xfrm>
            <a:off x="3970938" y="0"/>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r>
              <a:rPr lang="en-US" altLang="en-US" sz="1800">
                <a:latin typeface="Arial" panose="020B0604020202020204" pitchFamily="34" charset="0"/>
              </a:rPr>
              <a:t>12-</a:t>
            </a:r>
            <a:fld id="{3B4FB1FF-AF06-45AA-B977-E009577DAF7E}" type="slidenum">
              <a:rPr lang="en-US" altLang="en-US" sz="1800">
                <a:latin typeface="Arial" panose="020B0604020202020204" pitchFamily="34" charset="0"/>
              </a:rPr>
              <a:pPr eaLnBrk="1" hangingPunct="1">
                <a:spcBef>
                  <a:spcPct val="0"/>
                </a:spcBef>
              </a:pPr>
              <a:t>75</a:t>
            </a:fld>
            <a:endParaRPr lang="en-US" altLang="en-US" sz="1800">
              <a:latin typeface="Arial" panose="020B0604020202020204" pitchFamily="34" charset="0"/>
            </a:endParaRPr>
          </a:p>
        </p:txBody>
      </p:sp>
      <p:sp>
        <p:nvSpPr>
          <p:cNvPr id="176130" name="Rectangle 7">
            <a:extLst>
              <a:ext uri="{FF2B5EF4-FFF2-40B4-BE49-F238E27FC236}">
                <a16:creationId xmlns:a16="http://schemas.microsoft.com/office/drawing/2014/main" id="{1EA437F0-FA5E-4D10-8A24-BB68806CA8D4}"/>
              </a:ext>
            </a:extLst>
          </p:cNvPr>
          <p:cNvSpPr>
            <a:spLocks noGrp="1" noChangeArrowheads="1"/>
          </p:cNvSpPr>
          <p:nvPr>
            <p:ph type="sldNum" sz="quarter" idx="4294967295"/>
          </p:nvPr>
        </p:nvSpPr>
        <p:spPr bwMode="auto">
          <a:xfrm>
            <a:off x="3970938" y="8829967"/>
            <a:ext cx="3037840" cy="4648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a:spcBef>
                <a:spcPct val="30000"/>
              </a:spcBef>
              <a:defRPr sz="1200">
                <a:solidFill>
                  <a:schemeClr val="tx1"/>
                </a:solidFill>
                <a:latin typeface="Calibri" panose="020F0502020204030204" pitchFamily="34" charset="0"/>
              </a:defRPr>
            </a:lvl1pPr>
            <a:lvl2pPr marL="757066" indent="-291179">
              <a:spcBef>
                <a:spcPct val="30000"/>
              </a:spcBef>
              <a:defRPr sz="1200">
                <a:solidFill>
                  <a:schemeClr val="tx1"/>
                </a:solidFill>
                <a:latin typeface="Calibri" panose="020F0502020204030204" pitchFamily="34" charset="0"/>
              </a:defRPr>
            </a:lvl2pPr>
            <a:lvl3pPr marL="1164717" indent="-232943">
              <a:spcBef>
                <a:spcPct val="30000"/>
              </a:spcBef>
              <a:defRPr sz="1200">
                <a:solidFill>
                  <a:schemeClr val="tx1"/>
                </a:solidFill>
                <a:latin typeface="Calibri" panose="020F0502020204030204" pitchFamily="34" charset="0"/>
              </a:defRPr>
            </a:lvl3pPr>
            <a:lvl4pPr marL="1630604" indent="-232943">
              <a:spcBef>
                <a:spcPct val="30000"/>
              </a:spcBef>
              <a:defRPr sz="1200">
                <a:solidFill>
                  <a:schemeClr val="tx1"/>
                </a:solidFill>
                <a:latin typeface="Calibri" panose="020F0502020204030204" pitchFamily="34" charset="0"/>
              </a:defRPr>
            </a:lvl4pPr>
            <a:lvl5pPr marL="2096491" indent="-232943">
              <a:spcBef>
                <a:spcPct val="30000"/>
              </a:spcBef>
              <a:defRPr sz="1200">
                <a:solidFill>
                  <a:schemeClr val="tx1"/>
                </a:solidFill>
                <a:latin typeface="Calibri" panose="020F0502020204030204" pitchFamily="34" charset="0"/>
              </a:defRPr>
            </a:lvl5pPr>
            <a:lvl6pPr marL="2562377" indent="-232943" eaLnBrk="0" fontAlgn="base" hangingPunct="0">
              <a:spcBef>
                <a:spcPct val="30000"/>
              </a:spcBef>
              <a:spcAft>
                <a:spcPct val="0"/>
              </a:spcAft>
              <a:defRPr sz="1200">
                <a:solidFill>
                  <a:schemeClr val="tx1"/>
                </a:solidFill>
                <a:latin typeface="Calibri" panose="020F0502020204030204" pitchFamily="34" charset="0"/>
              </a:defRPr>
            </a:lvl6pPr>
            <a:lvl7pPr marL="3028264" indent="-232943" eaLnBrk="0" fontAlgn="base" hangingPunct="0">
              <a:spcBef>
                <a:spcPct val="30000"/>
              </a:spcBef>
              <a:spcAft>
                <a:spcPct val="0"/>
              </a:spcAft>
              <a:defRPr sz="1200">
                <a:solidFill>
                  <a:schemeClr val="tx1"/>
                </a:solidFill>
                <a:latin typeface="Calibri" panose="020F0502020204030204" pitchFamily="34" charset="0"/>
              </a:defRPr>
            </a:lvl7pPr>
            <a:lvl8pPr marL="3494151" indent="-232943" eaLnBrk="0" fontAlgn="base" hangingPunct="0">
              <a:spcBef>
                <a:spcPct val="30000"/>
              </a:spcBef>
              <a:spcAft>
                <a:spcPct val="0"/>
              </a:spcAft>
              <a:defRPr sz="1200">
                <a:solidFill>
                  <a:schemeClr val="tx1"/>
                </a:solidFill>
                <a:latin typeface="Calibri" panose="020F0502020204030204" pitchFamily="34" charset="0"/>
              </a:defRPr>
            </a:lvl8pPr>
            <a:lvl9pPr marL="3960038" indent="-232943"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35B3076E-21D3-4887-AF7A-FF293CB28B1A}" type="slidenum">
              <a:rPr lang="en-US" altLang="en-US" sz="1800">
                <a:latin typeface="Arial" panose="020B0604020202020204" pitchFamily="34" charset="0"/>
              </a:rPr>
              <a:pPr eaLnBrk="1" hangingPunct="1">
                <a:spcBef>
                  <a:spcPct val="0"/>
                </a:spcBef>
              </a:pPr>
              <a:t>75</a:t>
            </a:fld>
            <a:endParaRPr lang="en-US" altLang="en-US" sz="1800">
              <a:latin typeface="Arial" panose="020B0604020202020204" pitchFamily="34" charset="0"/>
            </a:endParaRPr>
          </a:p>
        </p:txBody>
      </p:sp>
      <p:sp>
        <p:nvSpPr>
          <p:cNvPr id="176131" name="Rectangle 2">
            <a:extLst>
              <a:ext uri="{FF2B5EF4-FFF2-40B4-BE49-F238E27FC236}">
                <a16:creationId xmlns:a16="http://schemas.microsoft.com/office/drawing/2014/main" id="{CC1E7681-2A36-4E8F-9DD5-3B1AF1779F38}"/>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76132" name="Rectangle 3">
            <a:extLst>
              <a:ext uri="{FF2B5EF4-FFF2-40B4-BE49-F238E27FC236}">
                <a16:creationId xmlns:a16="http://schemas.microsoft.com/office/drawing/2014/main" id="{64B9E219-9C76-4147-8A74-6D95C7FA9FED}"/>
              </a:ext>
            </a:extLst>
          </p:cNvPr>
          <p:cNvSpPr>
            <a:spLocks noGrp="1" noChangeArrowheads="1"/>
          </p:cNvSpPr>
          <p:nvPr>
            <p:ph type="body" idx="1"/>
          </p:nvPr>
        </p:nvSpPr>
        <p:spPr bwMode="auto">
          <a:xfrm>
            <a:off x="934720" y="4415790"/>
            <a:ext cx="5140960" cy="4183380"/>
          </a:xfrm>
          <a:solidFill>
            <a:srgbClr val="FFFFFF"/>
          </a:solidFill>
          <a:ln>
            <a:solidFill>
              <a:srgbClr val="000000"/>
            </a:solidFill>
            <a:miter lim="800000"/>
            <a:headEnd/>
            <a:tailEnd/>
          </a:ln>
        </p:spPr>
        <p:txBody>
          <a:bodyPr wrap="square" numCol="1" anchor="t" anchorCtr="0" compatLnSpc="1">
            <a:prstTxWarp prst="textNoShape">
              <a:avLst/>
            </a:prstTxWarp>
          </a:bodyPr>
          <a:lstStyle/>
          <a:p>
            <a:endParaRPr lang="en-CA" altLang="en-US">
              <a:cs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ink Blank - Logo Righ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A7E160-31FD-C540-B0FF-DC1FB76864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2060" y="506439"/>
            <a:ext cx="1440161" cy="228497"/>
          </a:xfrm>
          <a:prstGeom prst="rect">
            <a:avLst/>
          </a:prstGeom>
        </p:spPr>
      </p:pic>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E7AEEBF4-03BE-4B77-AA3B-AE788312C822}"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770600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nk Title Bar - Top Righ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0ED6BF8-7C6F-6F4F-967B-BD627575E3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
        <p:nvSpPr>
          <p:cNvPr id="15" name="Rectangle 14"/>
          <p:cNvSpPr/>
          <p:nvPr userDrawn="1"/>
        </p:nvSpPr>
        <p:spPr>
          <a:xfrm>
            <a:off x="0" y="838201"/>
            <a:ext cx="12192000" cy="533400"/>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9D9016B7-2382-47F7-A3B6-FBEE0097C63D}"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3071208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nk Title Bar - Logo Bottom Righ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8315FBE-0FCD-7A43-A51F-8D7A70A8E2E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15" name="Rectangle 14"/>
          <p:cNvSpPr/>
          <p:nvPr userDrawn="1"/>
        </p:nvSpPr>
        <p:spPr>
          <a:xfrm>
            <a:off x="0" y="838201"/>
            <a:ext cx="12192000" cy="533400"/>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CA8A0090-6EBC-4F87-8248-400E42066359}"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3372730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ink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540094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nk Half Vertic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3250437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nk Basic - Logo Bottom Righ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B9783AF-9CA9-F643-9710-CDABBD628C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2" name="Title 1"/>
          <p:cNvSpPr>
            <a:spLocks noGrp="1"/>
          </p:cNvSpPr>
          <p:nvPr>
            <p:ph type="ctrTitle"/>
          </p:nvPr>
        </p:nvSpPr>
        <p:spPr>
          <a:xfrm>
            <a:off x="335361" y="274638"/>
            <a:ext cx="9601067" cy="563564"/>
          </a:xfrm>
        </p:spPr>
        <p:txBody>
          <a:bodyPr>
            <a:normAutofit/>
          </a:bodyPr>
          <a:lstStyle>
            <a:lvl1pPr>
              <a:defRPr sz="2400">
                <a:solidFill>
                  <a:srgbClr val="ED037C"/>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6279A2D-4CF4-4E0B-9509-7B014021AEA0}"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783698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nk Top Bar - Logo Bottom Righ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C0562C7-A6C2-594B-86B1-EC3B8C2D7C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15" name="Rectangle 14"/>
          <p:cNvSpPr/>
          <p:nvPr userDrawn="1"/>
        </p:nvSpPr>
        <p:spPr>
          <a:xfrm>
            <a:off x="0" y="0"/>
            <a:ext cx="12192000" cy="506016"/>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5B2DA3AE-D9A1-4207-952C-ACEC4D1A6D9D}"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2" name="Title 1"/>
          <p:cNvSpPr>
            <a:spLocks noGrp="1"/>
          </p:cNvSpPr>
          <p:nvPr>
            <p:ph type="title"/>
          </p:nvPr>
        </p:nvSpPr>
        <p:spPr>
          <a:xfrm>
            <a:off x="335360" y="5961487"/>
            <a:ext cx="9601067" cy="563563"/>
          </a:xfrm>
        </p:spPr>
        <p:txBody>
          <a:bodyPr>
            <a:normAutofit/>
          </a:bodyPr>
          <a:lstStyle>
            <a:lvl1pPr algn="l">
              <a:defRPr sz="12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3423181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nk Title - With Formal Logo ">
    <p:spTree>
      <p:nvGrpSpPr>
        <p:cNvPr id="1" name=""/>
        <p:cNvGrpSpPr/>
        <p:nvPr/>
      </p:nvGrpSpPr>
      <p:grpSpPr>
        <a:xfrm>
          <a:off x="0" y="0"/>
          <a:ext cx="0" cy="0"/>
          <a:chOff x="0" y="0"/>
          <a:chExt cx="0" cy="0"/>
        </a:xfrm>
      </p:grpSpPr>
      <p:sp>
        <p:nvSpPr>
          <p:cNvPr id="9" name="Rectangle 8"/>
          <p:cNvSpPr/>
          <p:nvPr userDrawn="1"/>
        </p:nvSpPr>
        <p:spPr>
          <a:xfrm>
            <a:off x="0" y="2348880"/>
            <a:ext cx="12192000" cy="4509120"/>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4C9A5F6A-5D03-4619-A968-87B59889BD5D}"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pic>
        <p:nvPicPr>
          <p:cNvPr id="12" name="Picture 11">
            <a:extLst>
              <a:ext uri="{FF2B5EF4-FFF2-40B4-BE49-F238E27FC236}">
                <a16:creationId xmlns:a16="http://schemas.microsoft.com/office/drawing/2014/main" id="{77DD24ED-7FEE-BC40-8BEB-EFDEB1B510B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Tree>
    <p:extLst>
      <p:ext uri="{BB962C8B-B14F-4D97-AF65-F5344CB8AC3E}">
        <p14:creationId xmlns:p14="http://schemas.microsoft.com/office/powerpoint/2010/main" val="814036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nk Title with HWIC">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46EC379-6D58-A14A-BEBA-44C77DE616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ED03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86B74ECD-6F30-4CDF-B017-E8321782D30B}"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80159" y="4583089"/>
            <a:ext cx="2938408" cy="2178820"/>
          </a:xfrm>
          <a:prstGeom prst="rect">
            <a:avLst/>
          </a:prstGeom>
        </p:spPr>
      </p:pic>
    </p:spTree>
    <p:extLst>
      <p:ext uri="{BB962C8B-B14F-4D97-AF65-F5344CB8AC3E}">
        <p14:creationId xmlns:p14="http://schemas.microsoft.com/office/powerpoint/2010/main" val="5127811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asic Title with formal log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113D517-41DE-5D40-A368-5FB76062B40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chemeClr val="tx1"/>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BFE296BD-76C5-43A6-8727-64A5EFD158B9}"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ED037C"/>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pic>
        <p:nvPicPr>
          <p:cNvPr id="12" name="Picture 11">
            <a:extLst>
              <a:ext uri="{FF2B5EF4-FFF2-40B4-BE49-F238E27FC236}">
                <a16:creationId xmlns:a16="http://schemas.microsoft.com/office/drawing/2014/main" id="{4171D495-C219-A746-8610-2F0C9838351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726409" y="5651500"/>
            <a:ext cx="2842199" cy="757219"/>
          </a:xfrm>
          <a:prstGeom prst="rect">
            <a:avLst/>
          </a:prstGeom>
        </p:spPr>
      </p:pic>
    </p:spTree>
    <p:extLst>
      <p:ext uri="{BB962C8B-B14F-4D97-AF65-F5344CB8AC3E}">
        <p14:creationId xmlns:p14="http://schemas.microsoft.com/office/powerpoint/2010/main" val="1715123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DEBBC621-C44E-4BFB-A536-12AAA99296AD}" type="datetime1">
              <a:rPr lang="en-US" smtClean="0"/>
              <a:t>11/11/2025</a:t>
            </a:fld>
            <a:endParaRPr lang="en-CA"/>
          </a:p>
        </p:txBody>
      </p:sp>
      <p:sp>
        <p:nvSpPr>
          <p:cNvPr id="5" name="Footer Placeholder 4"/>
          <p:cNvSpPr>
            <a:spLocks noGrp="1"/>
          </p:cNvSpPr>
          <p:nvPr>
            <p:ph type="ftr" sz="quarter" idx="11"/>
          </p:nvPr>
        </p:nvSpPr>
        <p:spPr/>
        <p:txBody>
          <a:bodyPr/>
          <a:lstStyle/>
          <a:p>
            <a:r>
              <a:rPr lang="en-CA"/>
              <a:t>This is the slide footer, which can be edited under Header &amp; Footer, along with slide numbers and date</a:t>
            </a:r>
          </a:p>
        </p:txBody>
      </p:sp>
      <p:pic>
        <p:nvPicPr>
          <p:cNvPr id="9" name="Picture 8">
            <a:extLst>
              <a:ext uri="{FF2B5EF4-FFF2-40B4-BE49-F238E27FC236}">
                <a16:creationId xmlns:a16="http://schemas.microsoft.com/office/drawing/2014/main" id="{37DDFF89-8F57-AE40-A965-8A5344176B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84792" y="4542655"/>
            <a:ext cx="2938408" cy="2178820"/>
          </a:xfrm>
          <a:prstGeom prst="rect">
            <a:avLst/>
          </a:prstGeom>
        </p:spPr>
      </p:pic>
    </p:spTree>
    <p:extLst>
      <p:ext uri="{BB962C8B-B14F-4D97-AF65-F5344CB8AC3E}">
        <p14:creationId xmlns:p14="http://schemas.microsoft.com/office/powerpoint/2010/main" val="158617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22859" y="210769"/>
            <a:ext cx="11346281" cy="46863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CA"/>
              <a:t>This is the slide footer, which can be edited under Header &amp; Footer, along with slide numbers and date</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4D253A55-A009-4F26-9FBF-E36F37C140AE}" type="datetime1">
              <a:rPr lang="en-US" smtClean="0"/>
              <a:t>11/11/2025</a:t>
            </a:fld>
            <a:endParaRPr lang="en-US"/>
          </a:p>
        </p:txBody>
      </p:sp>
      <p:sp>
        <p:nvSpPr>
          <p:cNvPr id="6" name="Holder 6"/>
          <p:cNvSpPr>
            <a:spLocks noGrp="1"/>
          </p:cNvSpPr>
          <p:nvPr>
            <p:ph type="sldNum" sz="quarter" idx="7"/>
          </p:nvPr>
        </p:nvSpPr>
        <p:spPr/>
        <p:txBody>
          <a:bodyPr lIns="0" tIns="0" rIns="0" bIns="0"/>
          <a:lstStyle>
            <a:lvl1pPr>
              <a:defRPr sz="900" b="0" i="0">
                <a:solidFill>
                  <a:srgbClr val="888888"/>
                </a:solidFill>
                <a:latin typeface="Arial MT"/>
                <a:cs typeface="Arial MT"/>
              </a:defRPr>
            </a:lvl1pPr>
          </a:lstStyle>
          <a:p>
            <a:pPr marL="38100">
              <a:lnSpc>
                <a:spcPct val="100000"/>
              </a:lnSpc>
              <a:spcBef>
                <a:spcPts val="65"/>
              </a:spcBef>
            </a:pPr>
            <a:fld id="{81D60167-4931-47E6-BA6A-407CBD079E47}" type="slidenum">
              <a:rPr spc="-5" dirty="0"/>
              <a:t>‹#›</a:t>
            </a:fld>
            <a:endParaRPr spc="-5" dirty="0"/>
          </a:p>
        </p:txBody>
      </p:sp>
    </p:spTree>
    <p:extLst>
      <p:ext uri="{BB962C8B-B14F-4D97-AF65-F5344CB8AC3E}">
        <p14:creationId xmlns:p14="http://schemas.microsoft.com/office/powerpoint/2010/main" val="1825044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rgbClr val="929292"/>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CA"/>
              <a:t>This is the slide footer, which can be edited under Header &amp; Footer, along with slide numbers and date</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86A1482A-A33D-4A96-A71A-15BDF62FBF4B}" type="datetime1">
              <a:rPr lang="en-US" smtClean="0"/>
              <a:t>11/11/2025</a:t>
            </a:fld>
            <a:endParaRPr lang="en-US"/>
          </a:p>
        </p:txBody>
      </p:sp>
      <p:sp>
        <p:nvSpPr>
          <p:cNvPr id="7" name="Holder 7"/>
          <p:cNvSpPr>
            <a:spLocks noGrp="1"/>
          </p:cNvSpPr>
          <p:nvPr>
            <p:ph type="sldNum" sz="quarter" idx="7"/>
          </p:nvPr>
        </p:nvSpPr>
        <p:spPr/>
        <p:txBody>
          <a:bodyPr lIns="0" tIns="0" rIns="0" bIns="0"/>
          <a:lstStyle>
            <a:lvl1pPr>
              <a:defRPr sz="900" b="0" i="0">
                <a:solidFill>
                  <a:srgbClr val="888888"/>
                </a:solidFill>
                <a:latin typeface="Arial MT"/>
                <a:cs typeface="Arial MT"/>
              </a:defRPr>
            </a:lvl1pPr>
          </a:lstStyle>
          <a:p>
            <a:pPr marL="38100">
              <a:lnSpc>
                <a:spcPct val="100000"/>
              </a:lnSpc>
              <a:spcBef>
                <a:spcPts val="15"/>
              </a:spcBef>
            </a:pPr>
            <a:fld id="{81D60167-4931-47E6-BA6A-407CBD079E47}" type="slidenum">
              <a:rPr spc="-25" dirty="0"/>
              <a:t>‹#›</a:t>
            </a:fld>
            <a:endParaRPr spc="-25" dirty="0"/>
          </a:p>
        </p:txBody>
      </p:sp>
    </p:spTree>
    <p:extLst>
      <p:ext uri="{BB962C8B-B14F-4D97-AF65-F5344CB8AC3E}">
        <p14:creationId xmlns:p14="http://schemas.microsoft.com/office/powerpoint/2010/main" val="2919446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1"/>
            <a:ext cx="10972800" cy="792163"/>
          </a:xfrm>
          <a:prstGeom prst="rect">
            <a:avLst/>
          </a:prstGeom>
        </p:spPr>
        <p:txBody>
          <a:bodyPr/>
          <a:lstStyle>
            <a:lvl1pPr algn="ctr">
              <a:defRPr b="1">
                <a:solidFill>
                  <a:srgbClr val="1C3163"/>
                </a:solidFill>
                <a:effectLst/>
              </a:defRPr>
            </a:lvl1pPr>
          </a:lstStyle>
          <a:p>
            <a:r>
              <a:rPr lang="en-US"/>
              <a:t>Click to edit Master title style</a:t>
            </a:r>
            <a:endParaRPr lang="en-CA"/>
          </a:p>
        </p:txBody>
      </p:sp>
      <p:sp>
        <p:nvSpPr>
          <p:cNvPr id="3" name="Footer Placeholder 3">
            <a:extLst>
              <a:ext uri="{FF2B5EF4-FFF2-40B4-BE49-F238E27FC236}">
                <a16:creationId xmlns:a16="http://schemas.microsoft.com/office/drawing/2014/main" id="{F8897B8F-20B3-4372-AA8B-D0B6B59067BE}"/>
              </a:ext>
            </a:extLst>
          </p:cNvPr>
          <p:cNvSpPr>
            <a:spLocks noGrp="1"/>
          </p:cNvSpPr>
          <p:nvPr>
            <p:ph type="ftr" sz="quarter" idx="10"/>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
        <p:nvSpPr>
          <p:cNvPr id="4" name="Slide Number Placeholder 5">
            <a:extLst>
              <a:ext uri="{FF2B5EF4-FFF2-40B4-BE49-F238E27FC236}">
                <a16:creationId xmlns:a16="http://schemas.microsoft.com/office/drawing/2014/main" id="{7139C506-08A0-F8FB-F6C5-DF40708D8BBA}"/>
              </a:ext>
            </a:extLst>
          </p:cNvPr>
          <p:cNvSpPr>
            <a:spLocks noGrp="1"/>
          </p:cNvSpPr>
          <p:nvPr>
            <p:ph type="sldNum" sz="quarter" idx="11"/>
          </p:nvPr>
        </p:nvSpPr>
        <p:spPr>
          <a:xfrm>
            <a:off x="11518900" y="6515100"/>
            <a:ext cx="618067"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C5457A48-0AC0-4B4E-B9EC-6A3F3AD0BA9C}" type="slidenum">
              <a:rPr lang="en-US" altLang="en-US" smtClean="0"/>
              <a:pPr/>
              <a:t>‹#›</a:t>
            </a:fld>
            <a:endParaRPr lang="en-US" altLang="en-US" dirty="0"/>
          </a:p>
        </p:txBody>
      </p:sp>
    </p:spTree>
    <p:extLst>
      <p:ext uri="{BB962C8B-B14F-4D97-AF65-F5344CB8AC3E}">
        <p14:creationId xmlns:p14="http://schemas.microsoft.com/office/powerpoint/2010/main" val="423195552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bg>
      <p:bgPr>
        <a:solidFill>
          <a:schemeClr val="bg1"/>
        </a:solidFill>
        <a:effectLst/>
      </p:bgPr>
    </p:bg>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84F83F4-D6EA-4C8C-B032-9FD00F0C8B18}"/>
              </a:ext>
            </a:extLst>
          </p:cNvPr>
          <p:cNvSpPr>
            <a:spLocks noGrp="1"/>
          </p:cNvSpPr>
          <p:nvPr>
            <p:ph type="sldNum" sz="quarter" idx="10"/>
          </p:nvPr>
        </p:nvSpPr>
        <p:spPr>
          <a:xfrm>
            <a:off x="11573933" y="6477000"/>
            <a:ext cx="618067"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543952B3-C2A1-4189-8D90-FF32252BFA6B}" type="slidenum">
              <a:rPr lang="en-US" altLang="en-US" smtClean="0"/>
              <a:pPr/>
              <a:t>‹#›</a:t>
            </a:fld>
            <a:endParaRPr lang="en-US" altLang="en-US" dirty="0"/>
          </a:p>
        </p:txBody>
      </p:sp>
      <p:sp>
        <p:nvSpPr>
          <p:cNvPr id="3" name="Footer Placeholder 3">
            <a:extLst>
              <a:ext uri="{FF2B5EF4-FFF2-40B4-BE49-F238E27FC236}">
                <a16:creationId xmlns:a16="http://schemas.microsoft.com/office/drawing/2014/main" id="{34D9F7ED-27A3-413F-B331-9193474CB9CE}"/>
              </a:ext>
            </a:extLst>
          </p:cNvPr>
          <p:cNvSpPr>
            <a:spLocks noGrp="1"/>
          </p:cNvSpPr>
          <p:nvPr>
            <p:ph type="ftr" sz="quarter" idx="11"/>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Tree>
    <p:extLst>
      <p:ext uri="{BB962C8B-B14F-4D97-AF65-F5344CB8AC3E}">
        <p14:creationId xmlns:p14="http://schemas.microsoft.com/office/powerpoint/2010/main" val="316571926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1"/>
            <a:ext cx="10972800" cy="792163"/>
          </a:xfrm>
          <a:prstGeom prst="rect">
            <a:avLst/>
          </a:prstGeom>
        </p:spPr>
        <p:txBody>
          <a:bodyPr/>
          <a:lstStyle>
            <a:lvl1pPr algn="ctr">
              <a:defRPr sz="4400" b="1">
                <a:solidFill>
                  <a:srgbClr val="1C3163"/>
                </a:solidFill>
                <a:effectLst/>
              </a:defRPr>
            </a:lvl1pPr>
          </a:lstStyle>
          <a:p>
            <a:r>
              <a:rPr lang="en-US"/>
              <a:t>Click to edit Master title style</a:t>
            </a:r>
            <a:endParaRPr lang="en-CA"/>
          </a:p>
        </p:txBody>
      </p:sp>
      <p:sp>
        <p:nvSpPr>
          <p:cNvPr id="3" name="Content Placeholder 2"/>
          <p:cNvSpPr>
            <a:spLocks noGrp="1"/>
          </p:cNvSpPr>
          <p:nvPr>
            <p:ph idx="1"/>
          </p:nvPr>
        </p:nvSpPr>
        <p:spPr>
          <a:xfrm>
            <a:off x="609600" y="1219200"/>
            <a:ext cx="10972800" cy="5334000"/>
          </a:xfrm>
          <a:prstGeom prst="rect">
            <a:avLst/>
          </a:prstGeom>
        </p:spPr>
        <p:txBody>
          <a:bodyPr/>
          <a:lstStyle>
            <a:lvl1pPr marL="292100" indent="-292100">
              <a:buClr>
                <a:srgbClr val="1C3163"/>
              </a:buClr>
              <a:buFont typeface="Arial" charset="0"/>
              <a:buChar char="•"/>
              <a:defRPr/>
            </a:lvl1pPr>
            <a:lvl2pPr marL="868363" indent="-457200">
              <a:buClr>
                <a:srgbClr val="1C3163"/>
              </a:buClr>
              <a:buFont typeface="Arial" charset="0"/>
              <a:buChar char="•"/>
              <a:defRPr/>
            </a:lvl2pPr>
            <a:lvl3pPr marL="822325" indent="-190500">
              <a:buClr>
                <a:srgbClr val="1C3163"/>
              </a:buClr>
              <a:buFont typeface="Arial" charset="0"/>
              <a:buChar char="•"/>
              <a:defRPr/>
            </a:lvl3pPr>
            <a:lvl4pPr marL="1004888" indent="-182563">
              <a:buClr>
                <a:srgbClr val="1C3163"/>
              </a:buClr>
              <a:buFont typeface="Arial" charset="0"/>
              <a:buChar char="•"/>
              <a:defRPr/>
            </a:lvl4pPr>
            <a:lvl5pPr marL="1187450" indent="-182563">
              <a:buClr>
                <a:srgbClr val="1C3163"/>
              </a:buClr>
              <a:buFont typeface="Arial"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Slide Number Placeholder 5">
            <a:extLst>
              <a:ext uri="{FF2B5EF4-FFF2-40B4-BE49-F238E27FC236}">
                <a16:creationId xmlns:a16="http://schemas.microsoft.com/office/drawing/2014/main" id="{6DBF0824-7FF2-44D6-AF2D-62E9EAAAD524}"/>
              </a:ext>
            </a:extLst>
          </p:cNvPr>
          <p:cNvSpPr>
            <a:spLocks noGrp="1"/>
          </p:cNvSpPr>
          <p:nvPr>
            <p:ph type="sldNum" sz="quarter" idx="10"/>
          </p:nvPr>
        </p:nvSpPr>
        <p:spPr>
          <a:xfrm>
            <a:off x="11518900" y="6515100"/>
            <a:ext cx="618067"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189E8429-0931-4089-B345-5851B38D0308}" type="slidenum">
              <a:rPr lang="en-US" altLang="en-US" smtClean="0"/>
              <a:pPr/>
              <a:t>‹#›</a:t>
            </a:fld>
            <a:endParaRPr lang="en-US" altLang="en-US" dirty="0"/>
          </a:p>
        </p:txBody>
      </p:sp>
      <p:sp>
        <p:nvSpPr>
          <p:cNvPr id="5" name="Footer Placeholder 3">
            <a:extLst>
              <a:ext uri="{FF2B5EF4-FFF2-40B4-BE49-F238E27FC236}">
                <a16:creationId xmlns:a16="http://schemas.microsoft.com/office/drawing/2014/main" id="{F242C673-76F9-924B-3699-2A4DF7FA4ED9}"/>
              </a:ext>
            </a:extLst>
          </p:cNvPr>
          <p:cNvSpPr>
            <a:spLocks noGrp="1"/>
          </p:cNvSpPr>
          <p:nvPr>
            <p:ph type="ftr" sz="quarter" idx="11"/>
          </p:nvPr>
        </p:nvSpPr>
        <p:spPr>
          <a:xfrm>
            <a:off x="3407834" y="6491288"/>
            <a:ext cx="5281084" cy="366712"/>
          </a:xfrm>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Tree>
    <p:extLst>
      <p:ext uri="{BB962C8B-B14F-4D97-AF65-F5344CB8AC3E}">
        <p14:creationId xmlns:p14="http://schemas.microsoft.com/office/powerpoint/2010/main" val="311771975"/>
      </p:ext>
    </p:extLst>
  </p:cSld>
  <p:clrMapOvr>
    <a:overrideClrMapping bg1="lt1" tx1="dk1" bg2="lt2" tx2="dk2" accent1="accent1" accent2="accent2" accent3="accent3" accent4="accent4" accent5="accent5" accent6="accent6" hlink="hlink" folHlink="folHlink"/>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28F1DB92-AF8E-4D9C-8E09-EE5D4A26D9E9}"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0320617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yan - Blank">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C1AAA8D8-2961-4E84-B50F-362BD62F715A}"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8" name="Picture 7">
            <a:extLst>
              <a:ext uri="{FF2B5EF4-FFF2-40B4-BE49-F238E27FC236}">
                <a16:creationId xmlns:a16="http://schemas.microsoft.com/office/drawing/2014/main" id="{3FEC20C1-EED5-9F44-9014-775D277A0C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2060" y="506439"/>
            <a:ext cx="1440161" cy="228497"/>
          </a:xfrm>
          <a:prstGeom prst="rect">
            <a:avLst/>
          </a:prstGeom>
        </p:spPr>
      </p:pic>
      <p:sp>
        <p:nvSpPr>
          <p:cNvPr id="9" name="Rectangle 8">
            <a:extLst>
              <a:ext uri="{FF2B5EF4-FFF2-40B4-BE49-F238E27FC236}">
                <a16:creationId xmlns:a16="http://schemas.microsoft.com/office/drawing/2014/main" id="{3E5174B0-7AB5-F542-A5F8-596151682DE7}"/>
              </a:ext>
            </a:extLst>
          </p:cNvPr>
          <p:cNvSpPr/>
          <p:nvPr userDrawn="1"/>
        </p:nvSpPr>
        <p:spPr>
          <a:xfrm>
            <a:off x="10293069" y="6381328"/>
            <a:ext cx="1616364" cy="360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19995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yan Title Bar -  Logo Top Righ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D29DE60-3DCA-4247-9B9A-9CF7F29EAB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
        <p:nvSpPr>
          <p:cNvPr id="15" name="Rectangle 14"/>
          <p:cNvSpPr/>
          <p:nvPr userDrawn="1"/>
        </p:nvSpPr>
        <p:spPr>
          <a:xfrm>
            <a:off x="0" y="838201"/>
            <a:ext cx="12192000" cy="533400"/>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solidFill>
                  <a:schemeClr val="tx1"/>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EBB3BE02-C657-4D09-8FB9-773B3E938078}"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0" name="Rectangle 9">
            <a:extLst>
              <a:ext uri="{FF2B5EF4-FFF2-40B4-BE49-F238E27FC236}">
                <a16:creationId xmlns:a16="http://schemas.microsoft.com/office/drawing/2014/main" id="{E10D783E-D406-104A-8E62-287FB56CA2E9}"/>
              </a:ext>
            </a:extLst>
          </p:cNvPr>
          <p:cNvSpPr/>
          <p:nvPr userDrawn="1"/>
        </p:nvSpPr>
        <p:spPr>
          <a:xfrm>
            <a:off x="10293069" y="6381328"/>
            <a:ext cx="1616364" cy="360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54021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yan Title Bar -Logo Bottom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solidFill>
                  <a:schemeClr val="tx1"/>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E4C2A4E9-DC49-466A-A3A2-76027F19993D}"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351299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yan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39597601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yan Half Vertic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62ED89-E857-F342-8101-D01552358E88}"/>
              </a:ext>
            </a:extLst>
          </p:cNvPr>
          <p:cNvSpPr/>
          <p:nvPr userDrawn="1"/>
        </p:nvSpPr>
        <p:spPr>
          <a:xfrm>
            <a:off x="10200456" y="6381328"/>
            <a:ext cx="1656184" cy="476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15893903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yan Blank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ormAutofit/>
          </a:bodyPr>
          <a:lstStyle>
            <a:lvl1pPr>
              <a:defRPr sz="2400">
                <a:solidFill>
                  <a:srgbClr val="00C2E2"/>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8ACE12E5-C6CE-44DF-878D-DC68AB06A71B}"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9121320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yan Top Bar - Logo Bottom Right">
    <p:spTree>
      <p:nvGrpSpPr>
        <p:cNvPr id="1" name=""/>
        <p:cNvGrpSpPr/>
        <p:nvPr/>
      </p:nvGrpSpPr>
      <p:grpSpPr>
        <a:xfrm>
          <a:off x="0" y="0"/>
          <a:ext cx="0" cy="0"/>
          <a:chOff x="0" y="0"/>
          <a:chExt cx="0" cy="0"/>
        </a:xfrm>
      </p:grpSpPr>
      <p:sp>
        <p:nvSpPr>
          <p:cNvPr id="10" name="Rectangle 9"/>
          <p:cNvSpPr/>
          <p:nvPr userDrawn="1"/>
        </p:nvSpPr>
        <p:spPr>
          <a:xfrm>
            <a:off x="0" y="0"/>
            <a:ext cx="12192000" cy="506016"/>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F8F64FCD-3178-4FF6-BBDD-7B13D3E3D262}"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7" name="Title 6"/>
          <p:cNvSpPr>
            <a:spLocks noGrp="1"/>
          </p:cNvSpPr>
          <p:nvPr>
            <p:ph type="title"/>
          </p:nvPr>
        </p:nvSpPr>
        <p:spPr>
          <a:xfrm>
            <a:off x="335360" y="5961784"/>
            <a:ext cx="11713301" cy="563563"/>
          </a:xfrm>
        </p:spPr>
        <p:txBody>
          <a:bodyPr anchor="b">
            <a:normAutofit/>
          </a:bodyPr>
          <a:lstStyle>
            <a:lvl1pPr algn="l">
              <a:defRPr sz="1200">
                <a:solidFill>
                  <a:schemeClr val="tx1"/>
                </a:solidFill>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32158771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yan Title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61E413C-54E0-0E47-9173-86A258A0A7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7EDCA4B-7B1A-4C79-A904-C3B45F291477}"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spTree>
    <p:extLst>
      <p:ext uri="{BB962C8B-B14F-4D97-AF65-F5344CB8AC3E}">
        <p14:creationId xmlns:p14="http://schemas.microsoft.com/office/powerpoint/2010/main" val="35973361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yan Title with HWIC">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FC9C2BC-0E48-6041-8B55-69563B3D233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00C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3797EC25-2E97-4455-B934-5108AABF0425}"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16876" y="4581128"/>
            <a:ext cx="2938408" cy="2178820"/>
          </a:xfrm>
          <a:prstGeom prst="rect">
            <a:avLst/>
          </a:prstGeom>
        </p:spPr>
      </p:pic>
    </p:spTree>
    <p:extLst>
      <p:ext uri="{BB962C8B-B14F-4D97-AF65-F5344CB8AC3E}">
        <p14:creationId xmlns:p14="http://schemas.microsoft.com/office/powerpoint/2010/main" val="24876363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sic Cyan Title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79D93F3-E9DF-6A47-A3B6-27C4DC28D33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rgbClr val="00C2E2"/>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2321E971-A94E-4CA0-B7FC-69CD74C6798F}"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00C2E2"/>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22" name="Rectangle 21"/>
          <p:cNvSpPr/>
          <p:nvPr userDrawn="1"/>
        </p:nvSpPr>
        <p:spPr>
          <a:xfrm>
            <a:off x="8688288" y="5733256"/>
            <a:ext cx="2880320" cy="684665"/>
          </a:xfrm>
          <a:prstGeom prst="rect">
            <a:avLst/>
          </a:prstGeom>
          <a:blipFill dpi="0" rotWithShape="1">
            <a:blip r:embed="rId3">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a:p>
        </p:txBody>
      </p:sp>
      <p:sp>
        <p:nvSpPr>
          <p:cNvPr id="3" name="Rectangle 2">
            <a:extLst>
              <a:ext uri="{FF2B5EF4-FFF2-40B4-BE49-F238E27FC236}">
                <a16:creationId xmlns:a16="http://schemas.microsoft.com/office/drawing/2014/main" id="{AFD61C1D-0A55-2249-AE5E-EBFB47DADBC4}"/>
              </a:ext>
            </a:extLst>
          </p:cNvPr>
          <p:cNvSpPr/>
          <p:nvPr userDrawn="1"/>
        </p:nvSpPr>
        <p:spPr>
          <a:xfrm>
            <a:off x="10200456" y="6417921"/>
            <a:ext cx="1872208" cy="440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86423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l Blank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solidFill>
                  <a:srgbClr val="0AAD88"/>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9EC666EA-BAFB-4EB7-9AC8-30D20A660EAC}"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8" name="Picture 7">
            <a:extLst>
              <a:ext uri="{FF2B5EF4-FFF2-40B4-BE49-F238E27FC236}">
                <a16:creationId xmlns:a16="http://schemas.microsoft.com/office/drawing/2014/main" id="{74684829-7E9C-F64F-9C1B-54FA176E0A8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2060" y="506439"/>
            <a:ext cx="1440161" cy="228497"/>
          </a:xfrm>
          <a:prstGeom prst="rect">
            <a:avLst/>
          </a:prstGeom>
        </p:spPr>
      </p:pic>
      <p:sp>
        <p:nvSpPr>
          <p:cNvPr id="9" name="Rectangle 8">
            <a:extLst>
              <a:ext uri="{FF2B5EF4-FFF2-40B4-BE49-F238E27FC236}">
                <a16:creationId xmlns:a16="http://schemas.microsoft.com/office/drawing/2014/main" id="{40DFE46C-76B7-0F41-A5F3-963324091D7F}"/>
              </a:ext>
            </a:extLst>
          </p:cNvPr>
          <p:cNvSpPr/>
          <p:nvPr userDrawn="1"/>
        </p:nvSpPr>
        <p:spPr>
          <a:xfrm>
            <a:off x="10293069" y="6381328"/>
            <a:ext cx="1616364" cy="360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27600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l Title Bar -  Logo Top Righ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D32BE11-4D8F-1740-BE19-BE288FB716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
        <p:nvSpPr>
          <p:cNvPr id="15" name="Rectangle 14"/>
          <p:cNvSpPr/>
          <p:nvPr userDrawn="1"/>
        </p:nvSpPr>
        <p:spPr>
          <a:xfrm>
            <a:off x="0" y="838201"/>
            <a:ext cx="12192000" cy="533400"/>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solidFill>
                  <a:schemeClr val="tx1">
                    <a:lumMod val="85000"/>
                    <a:lumOff val="15000"/>
                  </a:schemeClr>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F636E23B-E2A7-4FAA-A530-6ADEDF4DF4B6}"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7" name="Rectangle 6">
            <a:extLst>
              <a:ext uri="{FF2B5EF4-FFF2-40B4-BE49-F238E27FC236}">
                <a16:creationId xmlns:a16="http://schemas.microsoft.com/office/drawing/2014/main" id="{338248FB-0E2E-BA44-BA49-725257B11DF0}"/>
              </a:ext>
            </a:extLst>
          </p:cNvPr>
          <p:cNvSpPr/>
          <p:nvPr userDrawn="1"/>
        </p:nvSpPr>
        <p:spPr>
          <a:xfrm>
            <a:off x="10293069" y="6381328"/>
            <a:ext cx="1616364" cy="360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07457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l Title Bar - Logo Bottom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solidFill>
                  <a:schemeClr val="tx1">
                    <a:lumMod val="85000"/>
                    <a:lumOff val="15000"/>
                  </a:schemeClr>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8A70C183-619B-4518-8941-7B7379D9A9B4}"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20924610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l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4826421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l Half Vertic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62ED89-E857-F342-8101-D01552358E88}"/>
              </a:ext>
            </a:extLst>
          </p:cNvPr>
          <p:cNvSpPr/>
          <p:nvPr userDrawn="1"/>
        </p:nvSpPr>
        <p:spPr>
          <a:xfrm>
            <a:off x="10200456" y="6381328"/>
            <a:ext cx="1656184" cy="476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11670977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l Title No Bar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ormAutofit/>
          </a:bodyPr>
          <a:lstStyle>
            <a:lvl1pPr>
              <a:defRPr sz="2400">
                <a:solidFill>
                  <a:srgbClr val="0AAD88"/>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02CCD308-8DD6-4A7B-B24B-8CD4982A1913}"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385512132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al Top Bar -  Logo Bottom Right">
    <p:spTree>
      <p:nvGrpSpPr>
        <p:cNvPr id="1" name=""/>
        <p:cNvGrpSpPr/>
        <p:nvPr/>
      </p:nvGrpSpPr>
      <p:grpSpPr>
        <a:xfrm>
          <a:off x="0" y="0"/>
          <a:ext cx="0" cy="0"/>
          <a:chOff x="0" y="0"/>
          <a:chExt cx="0" cy="0"/>
        </a:xfrm>
      </p:grpSpPr>
      <p:sp>
        <p:nvSpPr>
          <p:cNvPr id="15" name="Rectangle 14"/>
          <p:cNvSpPr/>
          <p:nvPr userDrawn="1"/>
        </p:nvSpPr>
        <p:spPr>
          <a:xfrm>
            <a:off x="0" y="0"/>
            <a:ext cx="12192000" cy="506016"/>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DDD7CC76-021F-4C38-A57E-534D1D24601E}"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2" name="Title 1"/>
          <p:cNvSpPr>
            <a:spLocks noGrp="1"/>
          </p:cNvSpPr>
          <p:nvPr>
            <p:ph type="title"/>
          </p:nvPr>
        </p:nvSpPr>
        <p:spPr>
          <a:xfrm>
            <a:off x="335360" y="5961487"/>
            <a:ext cx="9601067" cy="563563"/>
          </a:xfrm>
        </p:spPr>
        <p:txBody>
          <a:bodyPr>
            <a:normAutofit/>
          </a:bodyPr>
          <a:lstStyle>
            <a:lvl1pPr algn="l">
              <a:defRPr sz="12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400015440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al Title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2B606A2-C5BE-8347-AC2D-E16F02D330F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1D6245A2-774F-44DA-A165-584E17F8208E}"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spTree>
    <p:extLst>
      <p:ext uri="{BB962C8B-B14F-4D97-AF65-F5344CB8AC3E}">
        <p14:creationId xmlns:p14="http://schemas.microsoft.com/office/powerpoint/2010/main" val="40766530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al Title with HWIC">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F74C05C-EDD5-DE4E-A665-68D9CD302ED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0AAD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C1F46430-40F3-4D43-82ED-AD5EFB83EBD0}"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16876" y="4581128"/>
            <a:ext cx="2938408" cy="2178820"/>
          </a:xfrm>
          <a:prstGeom prst="rect">
            <a:avLst/>
          </a:prstGeom>
        </p:spPr>
      </p:pic>
    </p:spTree>
    <p:extLst>
      <p:ext uri="{BB962C8B-B14F-4D97-AF65-F5344CB8AC3E}">
        <p14:creationId xmlns:p14="http://schemas.microsoft.com/office/powerpoint/2010/main" val="10279463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al Title Basic with formal logo">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EB1F70B-7F65-7D47-95E6-F3E523AD0D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rgbClr val="0AAD88"/>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5B8C499E-3F2A-4E46-BBB3-35A768AAB080}"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0AAD88"/>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2" name="Rectangle 11">
            <a:extLst>
              <a:ext uri="{FF2B5EF4-FFF2-40B4-BE49-F238E27FC236}">
                <a16:creationId xmlns:a16="http://schemas.microsoft.com/office/drawing/2014/main" id="{719B4413-1374-5B4E-B988-72DF93ECD468}"/>
              </a:ext>
            </a:extLst>
          </p:cNvPr>
          <p:cNvSpPr/>
          <p:nvPr userDrawn="1"/>
        </p:nvSpPr>
        <p:spPr>
          <a:xfrm>
            <a:off x="8688288" y="5733256"/>
            <a:ext cx="2880320" cy="684665"/>
          </a:xfrm>
          <a:prstGeom prst="rect">
            <a:avLst/>
          </a:prstGeom>
          <a:blipFill dpi="0" rotWithShape="1">
            <a:blip r:embed="rId3">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a:p>
        </p:txBody>
      </p:sp>
      <p:sp>
        <p:nvSpPr>
          <p:cNvPr id="13" name="Rectangle 12">
            <a:extLst>
              <a:ext uri="{FF2B5EF4-FFF2-40B4-BE49-F238E27FC236}">
                <a16:creationId xmlns:a16="http://schemas.microsoft.com/office/drawing/2014/main" id="{DE20C128-7ABB-1B44-A68F-ECCC4C7A0E18}"/>
              </a:ext>
            </a:extLst>
          </p:cNvPr>
          <p:cNvSpPr/>
          <p:nvPr userDrawn="1"/>
        </p:nvSpPr>
        <p:spPr>
          <a:xfrm>
            <a:off x="10200456" y="6417921"/>
            <a:ext cx="1872208" cy="440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54074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ue Blank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80138FBB-5BD4-4722-A17C-437BF580275A}"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5863" y="476672"/>
            <a:ext cx="1510777" cy="240425"/>
          </a:xfrm>
          <a:prstGeom prst="rect">
            <a:avLst/>
          </a:prstGeom>
        </p:spPr>
      </p:pic>
      <p:pic>
        <p:nvPicPr>
          <p:cNvPr id="9" name="Picture 8">
            <a:extLst>
              <a:ext uri="{FF2B5EF4-FFF2-40B4-BE49-F238E27FC236}">
                <a16:creationId xmlns:a16="http://schemas.microsoft.com/office/drawing/2014/main" id="{ED7ADDDE-045B-E44F-BDEA-08AE7E6AC42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93069" y="318420"/>
            <a:ext cx="1616364" cy="417686"/>
          </a:xfrm>
          <a:prstGeom prst="rect">
            <a:avLst/>
          </a:prstGeom>
          <a:solidFill>
            <a:schemeClr val="bg1"/>
          </a:solidFill>
        </p:spPr>
      </p:pic>
      <p:sp>
        <p:nvSpPr>
          <p:cNvPr id="14" name="Rectangle 13">
            <a:extLst>
              <a:ext uri="{FF2B5EF4-FFF2-40B4-BE49-F238E27FC236}">
                <a16:creationId xmlns:a16="http://schemas.microsoft.com/office/drawing/2014/main" id="{AA9C1ECB-7705-6B42-B534-5DF04A5F771B}"/>
              </a:ext>
            </a:extLst>
          </p:cNvPr>
          <p:cNvSpPr/>
          <p:nvPr userDrawn="1"/>
        </p:nvSpPr>
        <p:spPr>
          <a:xfrm>
            <a:off x="10345863" y="347241"/>
            <a:ext cx="1616364" cy="360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224776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ue Title Bar - Logo Bottom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solidFill>
                  <a:schemeClr val="tx1"/>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D7BED012-6F7F-44AC-9C82-1847525FE269}"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11" name="Picture 10">
            <a:extLst>
              <a:ext uri="{FF2B5EF4-FFF2-40B4-BE49-F238E27FC236}">
                <a16:creationId xmlns:a16="http://schemas.microsoft.com/office/drawing/2014/main" id="{2FD90012-C036-0F41-B75F-09A3674CE13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
        <p:nvSpPr>
          <p:cNvPr id="13" name="Rectangle 12">
            <a:extLst>
              <a:ext uri="{FF2B5EF4-FFF2-40B4-BE49-F238E27FC236}">
                <a16:creationId xmlns:a16="http://schemas.microsoft.com/office/drawing/2014/main" id="{AD9EC9B9-43AC-CB49-8487-347669B75B16}"/>
              </a:ext>
            </a:extLst>
          </p:cNvPr>
          <p:cNvSpPr/>
          <p:nvPr userDrawn="1"/>
        </p:nvSpPr>
        <p:spPr>
          <a:xfrm>
            <a:off x="10293069" y="6381328"/>
            <a:ext cx="1616364" cy="360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02668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ue Title Bar - Logo Bottom Right 2">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2066CAF4-F326-454D-9A06-BF8BB58B461A}"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7485572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ue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6149733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ue Half Vertic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62ED89-E857-F342-8101-D01552358E88}"/>
              </a:ext>
            </a:extLst>
          </p:cNvPr>
          <p:cNvSpPr/>
          <p:nvPr userDrawn="1"/>
        </p:nvSpPr>
        <p:spPr>
          <a:xfrm>
            <a:off x="10200456" y="6381328"/>
            <a:ext cx="1656184" cy="476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2206225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ue Title No Bar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43E4BF21-C854-4A9B-BA79-7AB51F95F4E1}"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5952059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ue Top Bar - Logo Bottom Right">
    <p:spTree>
      <p:nvGrpSpPr>
        <p:cNvPr id="1" name=""/>
        <p:cNvGrpSpPr/>
        <p:nvPr/>
      </p:nvGrpSpPr>
      <p:grpSpPr>
        <a:xfrm>
          <a:off x="0" y="0"/>
          <a:ext cx="0" cy="0"/>
          <a:chOff x="0" y="0"/>
          <a:chExt cx="0" cy="0"/>
        </a:xfrm>
      </p:grpSpPr>
      <p:sp>
        <p:nvSpPr>
          <p:cNvPr id="10" name="Rectangle 9"/>
          <p:cNvSpPr/>
          <p:nvPr userDrawn="1"/>
        </p:nvSpPr>
        <p:spPr>
          <a:xfrm>
            <a:off x="0" y="0"/>
            <a:ext cx="12192000" cy="506016"/>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F7C45499-AB7D-44C5-9F03-579150D05CB2}"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7" name="Title 6"/>
          <p:cNvSpPr>
            <a:spLocks noGrp="1"/>
          </p:cNvSpPr>
          <p:nvPr>
            <p:ph type="title"/>
          </p:nvPr>
        </p:nvSpPr>
        <p:spPr>
          <a:xfrm>
            <a:off x="335360" y="5961784"/>
            <a:ext cx="11713301" cy="563563"/>
          </a:xfrm>
        </p:spPr>
        <p:txBody>
          <a:bodyPr anchor="b">
            <a:normAutofit/>
          </a:bodyPr>
          <a:lstStyle>
            <a:lvl1pPr algn="l">
              <a:defRPr sz="12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210907503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ue Title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50FE744-3BC4-0C41-A71D-DB17FDE4A6B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BD8DB3AE-841D-40D1-A2B2-DF7B008505A3}"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spTree>
    <p:extLst>
      <p:ext uri="{BB962C8B-B14F-4D97-AF65-F5344CB8AC3E}">
        <p14:creationId xmlns:p14="http://schemas.microsoft.com/office/powerpoint/2010/main" val="18065530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ue Title with HWIC">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EF07A5D-A511-024A-BFBF-792F92A4D9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3989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6DDC5FF5-43DA-455E-85B8-FF3B62B9FFC7}"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16876" y="4581128"/>
            <a:ext cx="2938408" cy="2178820"/>
          </a:xfrm>
          <a:prstGeom prst="rect">
            <a:avLst/>
          </a:prstGeom>
        </p:spPr>
      </p:pic>
    </p:spTree>
    <p:extLst>
      <p:ext uri="{BB962C8B-B14F-4D97-AF65-F5344CB8AC3E}">
        <p14:creationId xmlns:p14="http://schemas.microsoft.com/office/powerpoint/2010/main" val="16416689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ue Title Blank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E40A3BE-0884-9A40-9729-B4511D3904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rgbClr val="3989C9"/>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C43825B0-5636-4DB1-B734-3A5486920C59}"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3989C9"/>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22" name="Rectangle 21"/>
          <p:cNvSpPr/>
          <p:nvPr userDrawn="1"/>
        </p:nvSpPr>
        <p:spPr>
          <a:xfrm>
            <a:off x="8688288" y="5733256"/>
            <a:ext cx="2880320" cy="684665"/>
          </a:xfrm>
          <a:prstGeom prst="rect">
            <a:avLst/>
          </a:prstGeom>
          <a:blipFill dpi="0" rotWithShape="1">
            <a:blip r:embed="rId3">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a:p>
        </p:txBody>
      </p:sp>
      <p:sp>
        <p:nvSpPr>
          <p:cNvPr id="3" name="Rectangle 2">
            <a:extLst>
              <a:ext uri="{FF2B5EF4-FFF2-40B4-BE49-F238E27FC236}">
                <a16:creationId xmlns:a16="http://schemas.microsoft.com/office/drawing/2014/main" id="{EFA79E1E-4059-6D4C-B2DA-D243E675219E}"/>
              </a:ext>
            </a:extLst>
          </p:cNvPr>
          <p:cNvSpPr/>
          <p:nvPr userDrawn="1"/>
        </p:nvSpPr>
        <p:spPr>
          <a:xfrm>
            <a:off x="10200456" y="6417921"/>
            <a:ext cx="1728192" cy="323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76619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range Blank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43CC5F66-19FD-4CF8-80FB-9230D2AE9756}"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42522892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Orange Title Bar -  Logo Top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9658DA49-143C-4D62-8C6A-0E96CC0F56F5}"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7" name="Rectangle 6">
            <a:extLst>
              <a:ext uri="{FF2B5EF4-FFF2-40B4-BE49-F238E27FC236}">
                <a16:creationId xmlns:a16="http://schemas.microsoft.com/office/drawing/2014/main" id="{61CC098A-9E4A-0E46-9529-FEABB0D27F62}"/>
              </a:ext>
            </a:extLst>
          </p:cNvPr>
          <p:cNvSpPr/>
          <p:nvPr userDrawn="1"/>
        </p:nvSpPr>
        <p:spPr>
          <a:xfrm>
            <a:off x="10293069" y="6453336"/>
            <a:ext cx="1616364" cy="288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D58CCDB9-4EA1-EB48-A095-88664431E2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Tree>
    <p:extLst>
      <p:ext uri="{BB962C8B-B14F-4D97-AF65-F5344CB8AC3E}">
        <p14:creationId xmlns:p14="http://schemas.microsoft.com/office/powerpoint/2010/main" val="7506141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range Title Bar - Logo Bottom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F536BE75-5EA8-4E02-9D08-E57A14538D11}"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310295188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range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31072682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range Half Vertic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62ED89-E857-F342-8101-D01552358E88}"/>
              </a:ext>
            </a:extLst>
          </p:cNvPr>
          <p:cNvSpPr/>
          <p:nvPr userDrawn="1"/>
        </p:nvSpPr>
        <p:spPr>
          <a:xfrm>
            <a:off x="10200456" y="6381328"/>
            <a:ext cx="1656184" cy="476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15272211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range Title No Bar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3BF7A8C2-9194-4EA8-8750-CE12B7211327}"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27836613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Orange Top Bar - Logo Bottom Right">
    <p:spTree>
      <p:nvGrpSpPr>
        <p:cNvPr id="1" name=""/>
        <p:cNvGrpSpPr/>
        <p:nvPr/>
      </p:nvGrpSpPr>
      <p:grpSpPr>
        <a:xfrm>
          <a:off x="0" y="0"/>
          <a:ext cx="0" cy="0"/>
          <a:chOff x="0" y="0"/>
          <a:chExt cx="0" cy="0"/>
        </a:xfrm>
      </p:grpSpPr>
      <p:sp>
        <p:nvSpPr>
          <p:cNvPr id="15" name="Rectangle 14"/>
          <p:cNvSpPr/>
          <p:nvPr userDrawn="1"/>
        </p:nvSpPr>
        <p:spPr>
          <a:xfrm>
            <a:off x="0" y="0"/>
            <a:ext cx="12192000" cy="506016"/>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4D8ED709-C0EE-49B6-BC3C-4D26FF1029BA}"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2" name="Title 1"/>
          <p:cNvSpPr>
            <a:spLocks noGrp="1"/>
          </p:cNvSpPr>
          <p:nvPr>
            <p:ph type="title"/>
          </p:nvPr>
        </p:nvSpPr>
        <p:spPr>
          <a:xfrm>
            <a:off x="335360" y="5961487"/>
            <a:ext cx="9601067" cy="563563"/>
          </a:xfrm>
        </p:spPr>
        <p:txBody>
          <a:bodyPr>
            <a:normAutofit/>
          </a:bodyPr>
          <a:lstStyle>
            <a:lvl1pPr algn="l">
              <a:defRPr sz="12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31792919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Orange Title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0D5F9C7-9FF4-F941-8C81-F3197D2D03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767E4A45-E8B9-4B61-A862-3B2EF20C942C}"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spTree>
    <p:extLst>
      <p:ext uri="{BB962C8B-B14F-4D97-AF65-F5344CB8AC3E}">
        <p14:creationId xmlns:p14="http://schemas.microsoft.com/office/powerpoint/2010/main" val="64904244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range Title with HWIC">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D3160C0-A6C3-6145-BC13-2FF2038ECF0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5B17DB78-2557-4548-94B1-FE19DBD2C412}"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16876" y="4581128"/>
            <a:ext cx="2938408" cy="2178820"/>
          </a:xfrm>
          <a:prstGeom prst="rect">
            <a:avLst/>
          </a:prstGeom>
        </p:spPr>
      </p:pic>
    </p:spTree>
    <p:extLst>
      <p:ext uri="{BB962C8B-B14F-4D97-AF65-F5344CB8AC3E}">
        <p14:creationId xmlns:p14="http://schemas.microsoft.com/office/powerpoint/2010/main" val="272443552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Orange Title Blank with Formal logo">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9528109-03A2-E64F-967C-36BC1EFB1F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rgbClr val="FCAF17"/>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BFF2974E-6AB6-4F47-8440-0AB9132A2369}"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FCAF17"/>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2" name="Rectangle 11">
            <a:extLst>
              <a:ext uri="{FF2B5EF4-FFF2-40B4-BE49-F238E27FC236}">
                <a16:creationId xmlns:a16="http://schemas.microsoft.com/office/drawing/2014/main" id="{C1DE75FC-B753-5945-B1F8-09D61C52AB2C}"/>
              </a:ext>
            </a:extLst>
          </p:cNvPr>
          <p:cNvSpPr/>
          <p:nvPr userDrawn="1"/>
        </p:nvSpPr>
        <p:spPr>
          <a:xfrm>
            <a:off x="8688288" y="5733256"/>
            <a:ext cx="2880320" cy="684665"/>
          </a:xfrm>
          <a:prstGeom prst="rect">
            <a:avLst/>
          </a:prstGeom>
          <a:blipFill dpi="0" rotWithShape="1">
            <a:blip r:embed="rId3">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a:p>
        </p:txBody>
      </p:sp>
      <p:sp>
        <p:nvSpPr>
          <p:cNvPr id="9" name="Rectangle 8">
            <a:extLst>
              <a:ext uri="{FF2B5EF4-FFF2-40B4-BE49-F238E27FC236}">
                <a16:creationId xmlns:a16="http://schemas.microsoft.com/office/drawing/2014/main" id="{27F8600E-CCBB-3648-941C-B98583C319F9}"/>
              </a:ext>
            </a:extLst>
          </p:cNvPr>
          <p:cNvSpPr/>
          <p:nvPr userDrawn="1"/>
        </p:nvSpPr>
        <p:spPr>
          <a:xfrm>
            <a:off x="10200456" y="6417921"/>
            <a:ext cx="1728192" cy="323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818899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ey Blank with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119AB114-79A6-4D10-9DF8-24800C9CF6EB}"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75209170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rey Blank - Logo Top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15152F82-B378-43F5-ADF1-8F2F5F50760B}"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7233545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Grey Title Bar - Logo Top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9D7048A5-8943-4871-9D53-1C87267B585B}"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11" name="Picture 10">
            <a:extLst>
              <a:ext uri="{FF2B5EF4-FFF2-40B4-BE49-F238E27FC236}">
                <a16:creationId xmlns:a16="http://schemas.microsoft.com/office/drawing/2014/main" id="{E7A9C6CD-C211-CD45-AF14-B91B0C3675C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
        <p:nvSpPr>
          <p:cNvPr id="13" name="Rectangle 12">
            <a:extLst>
              <a:ext uri="{FF2B5EF4-FFF2-40B4-BE49-F238E27FC236}">
                <a16:creationId xmlns:a16="http://schemas.microsoft.com/office/drawing/2014/main" id="{8A5C0DB1-217D-D84F-BCFF-D85D9250277D}"/>
              </a:ext>
            </a:extLst>
          </p:cNvPr>
          <p:cNvSpPr/>
          <p:nvPr userDrawn="1"/>
        </p:nvSpPr>
        <p:spPr>
          <a:xfrm>
            <a:off x="10293069" y="6453336"/>
            <a:ext cx="1616364" cy="288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293656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Grey Title Bar - Logo Bottom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5279E4B-8934-4748-BEA4-21448DBDF2C7}"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10" name="Picture 9">
            <a:extLst>
              <a:ext uri="{FF2B5EF4-FFF2-40B4-BE49-F238E27FC236}">
                <a16:creationId xmlns:a16="http://schemas.microsoft.com/office/drawing/2014/main" id="{E2AFE199-E756-F240-9DD5-700C15C111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Tree>
    <p:extLst>
      <p:ext uri="{BB962C8B-B14F-4D97-AF65-F5344CB8AC3E}">
        <p14:creationId xmlns:p14="http://schemas.microsoft.com/office/powerpoint/2010/main" val="427641424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Grey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40220158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Grey Half Vertic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62ED89-E857-F342-8101-D01552358E88}"/>
              </a:ext>
            </a:extLst>
          </p:cNvPr>
          <p:cNvSpPr/>
          <p:nvPr userDrawn="1"/>
        </p:nvSpPr>
        <p:spPr>
          <a:xfrm>
            <a:off x="10200456" y="6381328"/>
            <a:ext cx="1656184" cy="4766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42749053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Grety Title No Bar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99FFEBB-2072-4B47-AEF0-C63A7E170FF8}"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87648160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Grey Top Bar - Logo Bottom Right">
    <p:spTree>
      <p:nvGrpSpPr>
        <p:cNvPr id="1" name=""/>
        <p:cNvGrpSpPr/>
        <p:nvPr/>
      </p:nvGrpSpPr>
      <p:grpSpPr>
        <a:xfrm>
          <a:off x="0" y="0"/>
          <a:ext cx="0" cy="0"/>
          <a:chOff x="0" y="0"/>
          <a:chExt cx="0" cy="0"/>
        </a:xfrm>
      </p:grpSpPr>
      <p:sp>
        <p:nvSpPr>
          <p:cNvPr id="15" name="Rectangle 14"/>
          <p:cNvSpPr/>
          <p:nvPr userDrawn="1"/>
        </p:nvSpPr>
        <p:spPr>
          <a:xfrm>
            <a:off x="0" y="0"/>
            <a:ext cx="12192000" cy="506016"/>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8D73231F-D6CC-4735-AE9D-3A6382137244}"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2" name="Title 1"/>
          <p:cNvSpPr>
            <a:spLocks noGrp="1"/>
          </p:cNvSpPr>
          <p:nvPr>
            <p:ph type="title"/>
          </p:nvPr>
        </p:nvSpPr>
        <p:spPr>
          <a:xfrm>
            <a:off x="335360" y="5961487"/>
            <a:ext cx="9601067" cy="563563"/>
          </a:xfrm>
        </p:spPr>
        <p:txBody>
          <a:bodyPr>
            <a:normAutofit/>
          </a:bodyPr>
          <a:lstStyle>
            <a:lvl1pPr algn="l">
              <a:defRPr sz="12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232955956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Grey Title with Formal Logo">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D85D5B3-F476-1948-B9C5-A6FAFD8D81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D1FA9DD8-B81A-4BB8-86D2-BFBD495BB5AB}"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spTree>
    <p:extLst>
      <p:ext uri="{BB962C8B-B14F-4D97-AF65-F5344CB8AC3E}">
        <p14:creationId xmlns:p14="http://schemas.microsoft.com/office/powerpoint/2010/main" val="249910576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Grey Title with HWIC">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A19CBFF-5DA8-C341-A194-572FB5991EB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9" name="Rectangle 8"/>
          <p:cNvSpPr/>
          <p:nvPr userDrawn="1"/>
        </p:nvSpPr>
        <p:spPr>
          <a:xfrm>
            <a:off x="0" y="2348880"/>
            <a:ext cx="12192000" cy="4509120"/>
          </a:xfrm>
          <a:prstGeom prst="rect">
            <a:avLst/>
          </a:prstGeom>
          <a:solidFill>
            <a:srgbClr val="9292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bg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07715A1C-814F-4CC5-92C9-C64FA9C03AE1}"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16876" y="4581128"/>
            <a:ext cx="2938408" cy="2178820"/>
          </a:xfrm>
          <a:prstGeom prst="rect">
            <a:avLst/>
          </a:prstGeom>
        </p:spPr>
      </p:pic>
    </p:spTree>
    <p:extLst>
      <p:ext uri="{BB962C8B-B14F-4D97-AF65-F5344CB8AC3E}">
        <p14:creationId xmlns:p14="http://schemas.microsoft.com/office/powerpoint/2010/main" val="42519467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Grety Title Blank with Formal Logo">
    <p:spTree>
      <p:nvGrpSpPr>
        <p:cNvPr id="1" name=""/>
        <p:cNvGrpSpPr/>
        <p:nvPr/>
      </p:nvGrpSpPr>
      <p:grpSpPr>
        <a:xfrm>
          <a:off x="0" y="0"/>
          <a:ext cx="0" cy="0"/>
          <a:chOff x="0" y="0"/>
          <a:chExt cx="0" cy="0"/>
        </a:xfrm>
      </p:grpSpPr>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rgbClr val="929292"/>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5B784277-5729-4131-95E2-D1429AEF6ABE}"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929292"/>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22" name="Rectangle 21"/>
          <p:cNvSpPr/>
          <p:nvPr userDrawn="1"/>
        </p:nvSpPr>
        <p:spPr>
          <a:xfrm>
            <a:off x="8688288" y="5733256"/>
            <a:ext cx="2880320" cy="684665"/>
          </a:xfrm>
          <a:prstGeom prst="rect">
            <a:avLst/>
          </a:prstGeom>
          <a:blipFill dpi="0" rotWithShape="1">
            <a:blip r:embed="rId2">
              <a:alphaModFix amt="9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en-US"/>
          </a:p>
        </p:txBody>
      </p:sp>
      <p:pic>
        <p:nvPicPr>
          <p:cNvPr id="9" name="Picture 8">
            <a:extLst>
              <a:ext uri="{FF2B5EF4-FFF2-40B4-BE49-F238E27FC236}">
                <a16:creationId xmlns:a16="http://schemas.microsoft.com/office/drawing/2014/main" id="{7AB46D33-AEE0-4B44-96C5-9DF44DA9F4C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12" name="Rectangle 11">
            <a:extLst>
              <a:ext uri="{FF2B5EF4-FFF2-40B4-BE49-F238E27FC236}">
                <a16:creationId xmlns:a16="http://schemas.microsoft.com/office/drawing/2014/main" id="{DFBFAEFA-7989-2D4E-B407-C70594E59033}"/>
              </a:ext>
            </a:extLst>
          </p:cNvPr>
          <p:cNvSpPr/>
          <p:nvPr userDrawn="1"/>
        </p:nvSpPr>
        <p:spPr>
          <a:xfrm>
            <a:off x="10293069" y="6453336"/>
            <a:ext cx="1616364" cy="288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092546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Gold Blank - Logo Top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chor="b"/>
          <a:lstStyle>
            <a:lvl1pPr>
              <a:defRPr>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D2AFB94F-5260-4333-8D95-6E13D8EC6EF1}"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10" name="Picture 9">
            <a:extLst>
              <a:ext uri="{FF2B5EF4-FFF2-40B4-BE49-F238E27FC236}">
                <a16:creationId xmlns:a16="http://schemas.microsoft.com/office/drawing/2014/main" id="{E69EBD09-9E6C-EA45-8A15-D292326849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54153"/>
            <a:ext cx="1440161" cy="228497"/>
          </a:xfrm>
          <a:prstGeom prst="rect">
            <a:avLst/>
          </a:prstGeom>
        </p:spPr>
      </p:pic>
      <p:sp>
        <p:nvSpPr>
          <p:cNvPr id="11" name="Rectangle 10">
            <a:extLst>
              <a:ext uri="{FF2B5EF4-FFF2-40B4-BE49-F238E27FC236}">
                <a16:creationId xmlns:a16="http://schemas.microsoft.com/office/drawing/2014/main" id="{D4B6B18B-AB28-AA4D-83BD-446B5D203650}"/>
              </a:ext>
            </a:extLst>
          </p:cNvPr>
          <p:cNvSpPr/>
          <p:nvPr userDrawn="1"/>
        </p:nvSpPr>
        <p:spPr>
          <a:xfrm>
            <a:off x="10293069" y="6453336"/>
            <a:ext cx="1616364" cy="288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71011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old Title Bar - Logo Top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861C3C82-2233-471E-8F9E-0E3D892871C8}"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pic>
        <p:nvPicPr>
          <p:cNvPr id="11" name="Picture 10">
            <a:extLst>
              <a:ext uri="{FF2B5EF4-FFF2-40B4-BE49-F238E27FC236}">
                <a16:creationId xmlns:a16="http://schemas.microsoft.com/office/drawing/2014/main" id="{C0C5FD76-5D1E-DD46-92C4-84879FCD4A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81170" y="413014"/>
            <a:ext cx="1440161" cy="228497"/>
          </a:xfrm>
          <a:prstGeom prst="rect">
            <a:avLst/>
          </a:prstGeom>
        </p:spPr>
      </p:pic>
      <p:sp>
        <p:nvSpPr>
          <p:cNvPr id="13" name="Rectangle 12">
            <a:extLst>
              <a:ext uri="{FF2B5EF4-FFF2-40B4-BE49-F238E27FC236}">
                <a16:creationId xmlns:a16="http://schemas.microsoft.com/office/drawing/2014/main" id="{8AD2CD78-9605-124A-BD79-E9E50314E2B9}"/>
              </a:ext>
            </a:extLst>
          </p:cNvPr>
          <p:cNvSpPr/>
          <p:nvPr userDrawn="1"/>
        </p:nvSpPr>
        <p:spPr>
          <a:xfrm>
            <a:off x="10293069" y="6453336"/>
            <a:ext cx="1616364" cy="288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886719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Gold Title Bar - Logo Bottom Right">
    <p:spTree>
      <p:nvGrpSpPr>
        <p:cNvPr id="1" name=""/>
        <p:cNvGrpSpPr/>
        <p:nvPr/>
      </p:nvGrpSpPr>
      <p:grpSpPr>
        <a:xfrm>
          <a:off x="0" y="0"/>
          <a:ext cx="0" cy="0"/>
          <a:chOff x="0" y="0"/>
          <a:chExt cx="0" cy="0"/>
        </a:xfrm>
      </p:grpSpPr>
      <p:sp>
        <p:nvSpPr>
          <p:cNvPr id="15" name="Rectangle 14"/>
          <p:cNvSpPr/>
          <p:nvPr userDrawn="1"/>
        </p:nvSpPr>
        <p:spPr>
          <a:xfrm>
            <a:off x="0" y="838201"/>
            <a:ext cx="12192000" cy="533400"/>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274638"/>
            <a:ext cx="9601067" cy="563564"/>
          </a:xfrm>
        </p:spPr>
        <p:txBody>
          <a:bodyPr anchor="ctr">
            <a:normAutofit/>
          </a:bodyPr>
          <a:lstStyle>
            <a:lvl1pPr>
              <a:defRPr sz="2400">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D39216CD-0FA2-4DA1-A21D-4C8F437E2FDE}" type="datetime1">
              <a:rPr lang="en-US" smtClean="0"/>
              <a:t>11/11/2025</a:t>
            </a:fld>
            <a:endParaRPr lang="en-US" dirty="0"/>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6712"/>
            <a:ext cx="9601067" cy="533400"/>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276662799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old Half Horizontal">
    <p:spTree>
      <p:nvGrpSpPr>
        <p:cNvPr id="1" name=""/>
        <p:cNvGrpSpPr/>
        <p:nvPr/>
      </p:nvGrpSpPr>
      <p:grpSpPr>
        <a:xfrm>
          <a:off x="0" y="0"/>
          <a:ext cx="0" cy="0"/>
          <a:chOff x="0" y="0"/>
          <a:chExt cx="0" cy="0"/>
        </a:xfrm>
      </p:grpSpPr>
      <p:sp>
        <p:nvSpPr>
          <p:cNvPr id="12" name="Content Placeholder 2"/>
          <p:cNvSpPr>
            <a:spLocks noGrp="1"/>
          </p:cNvSpPr>
          <p:nvPr>
            <p:ph idx="14"/>
          </p:nvPr>
        </p:nvSpPr>
        <p:spPr>
          <a:xfrm>
            <a:off x="0" y="0"/>
            <a:ext cx="12192000" cy="321297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3212976"/>
            <a:ext cx="12192000" cy="3645024"/>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3717032"/>
            <a:ext cx="9601067"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4279106"/>
            <a:ext cx="9601067" cy="533400"/>
          </a:xfrm>
        </p:spPr>
        <p:txBody>
          <a:bodyPr anchor="ctr">
            <a:normAutofit/>
          </a:bodyPr>
          <a:lstStyle>
            <a:lvl1pPr marL="0" indent="0" algn="l">
              <a:buNone/>
              <a:defRPr sz="1800" b="1">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97142764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old Half Vertic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67BBE12-5279-134C-8C5C-B521F5578401}"/>
              </a:ext>
            </a:extLst>
          </p:cNvPr>
          <p:cNvSpPr/>
          <p:nvPr userDrawn="1"/>
        </p:nvSpPr>
        <p:spPr>
          <a:xfrm>
            <a:off x="10272464" y="6309320"/>
            <a:ext cx="1584175"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a:spLocks noGrp="1"/>
          </p:cNvSpPr>
          <p:nvPr>
            <p:ph idx="14"/>
          </p:nvPr>
        </p:nvSpPr>
        <p:spPr>
          <a:xfrm>
            <a:off x="6096000" y="0"/>
            <a:ext cx="6096000" cy="6858000"/>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15" name="Rectangle 14"/>
          <p:cNvSpPr/>
          <p:nvPr userDrawn="1"/>
        </p:nvSpPr>
        <p:spPr>
          <a:xfrm>
            <a:off x="0" y="0"/>
            <a:ext cx="6096000" cy="6858000"/>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335361" y="1124744"/>
            <a:ext cx="5256583" cy="563564"/>
          </a:xfrm>
        </p:spPr>
        <p:txBody>
          <a:bodyPr anchor="ctr">
            <a:noAutofit/>
          </a:bodyPr>
          <a:lstStyle>
            <a:lvl1pPr>
              <a:defRPr sz="5000">
                <a:solidFill>
                  <a:schemeClr val="bg1"/>
                </a:solidFill>
                <a:latin typeface="Arial" panose="020B0604020202020204" pitchFamily="34" charset="0"/>
                <a:cs typeface="Arial" panose="020B0604020202020204" pitchFamily="34" charset="0"/>
              </a:defRPr>
            </a:lvl1pPr>
          </a:lstStyle>
          <a:p>
            <a:endParaRPr lang="en-US" dirty="0"/>
          </a:p>
        </p:txBody>
      </p:sp>
      <p:sp>
        <p:nvSpPr>
          <p:cNvPr id="3" name="Subtitle 2"/>
          <p:cNvSpPr>
            <a:spLocks noGrp="1"/>
          </p:cNvSpPr>
          <p:nvPr>
            <p:ph type="subTitle" idx="1"/>
          </p:nvPr>
        </p:nvSpPr>
        <p:spPr>
          <a:xfrm>
            <a:off x="335361" y="1844824"/>
            <a:ext cx="5256583" cy="533400"/>
          </a:xfrm>
        </p:spPr>
        <p:txBody>
          <a:bodyPr anchor="ctr">
            <a:normAutofit/>
          </a:bodyPr>
          <a:lstStyle>
            <a:lvl1pPr marL="0" indent="0" algn="l">
              <a:buNone/>
              <a:defRPr sz="1800" b="1">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Tree>
    <p:extLst>
      <p:ext uri="{BB962C8B-B14F-4D97-AF65-F5344CB8AC3E}">
        <p14:creationId xmlns:p14="http://schemas.microsoft.com/office/powerpoint/2010/main" val="277437898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old Title No Bar - Logo Bottom Right">
    <p:spTree>
      <p:nvGrpSpPr>
        <p:cNvPr id="1" name=""/>
        <p:cNvGrpSpPr/>
        <p:nvPr/>
      </p:nvGrpSpPr>
      <p:grpSpPr>
        <a:xfrm>
          <a:off x="0" y="0"/>
          <a:ext cx="0" cy="0"/>
          <a:chOff x="0" y="0"/>
          <a:chExt cx="0" cy="0"/>
        </a:xfrm>
      </p:grpSpPr>
      <p:sp>
        <p:nvSpPr>
          <p:cNvPr id="2" name="Title 1"/>
          <p:cNvSpPr>
            <a:spLocks noGrp="1"/>
          </p:cNvSpPr>
          <p:nvPr>
            <p:ph type="ctrTitle"/>
          </p:nvPr>
        </p:nvSpPr>
        <p:spPr>
          <a:xfrm>
            <a:off x="335361" y="274638"/>
            <a:ext cx="9601067" cy="563564"/>
          </a:xfrm>
        </p:spPr>
        <p:txBody>
          <a:bodyPr>
            <a:normAutofit/>
          </a:bodyPr>
          <a:lstStyle>
            <a:lvl1pPr>
              <a:defRPr sz="2400">
                <a:solidFill>
                  <a:srgbClr val="EACC1B"/>
                </a:solidFill>
                <a:latin typeface="Arial" panose="020B0604020202020204" pitchFamily="34" charset="0"/>
                <a:cs typeface="Arial" panose="020B0604020202020204" pitchFamily="34" charset="0"/>
              </a:defRPr>
            </a:lvl1pPr>
          </a:lstStyle>
          <a:p>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1E90D1A7-698F-4C19-A87A-AAA38A700ACF}"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838201"/>
            <a:ext cx="9601067" cy="533400"/>
          </a:xfrm>
        </p:spPr>
        <p:txBody>
          <a:bodyPr anchor="t">
            <a:normAutofit/>
          </a:bodyPr>
          <a:lstStyle>
            <a:lvl1pPr marL="0" indent="0" algn="l">
              <a:buNone/>
              <a:defRPr sz="1800" b="0">
                <a:solidFill>
                  <a:schemeClr val="bg1">
                    <a:lumMod val="6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0" y="1484784"/>
            <a:ext cx="11516853" cy="4752528"/>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Tree>
    <p:extLst>
      <p:ext uri="{BB962C8B-B14F-4D97-AF65-F5344CB8AC3E}">
        <p14:creationId xmlns:p14="http://schemas.microsoft.com/office/powerpoint/2010/main" val="19318654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Gold Top Bar - Logo Bottom Right">
    <p:spTree>
      <p:nvGrpSpPr>
        <p:cNvPr id="1" name=""/>
        <p:cNvGrpSpPr/>
        <p:nvPr/>
      </p:nvGrpSpPr>
      <p:grpSpPr>
        <a:xfrm>
          <a:off x="0" y="0"/>
          <a:ext cx="0" cy="0"/>
          <a:chOff x="0" y="0"/>
          <a:chExt cx="0" cy="0"/>
        </a:xfrm>
      </p:grpSpPr>
      <p:sp>
        <p:nvSpPr>
          <p:cNvPr id="15" name="Rectangle 14"/>
          <p:cNvSpPr/>
          <p:nvPr userDrawn="1"/>
        </p:nvSpPr>
        <p:spPr>
          <a:xfrm>
            <a:off x="0" y="0"/>
            <a:ext cx="12192000" cy="506016"/>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E8F12958-8935-4710-B275-B5C2D730CF94}" type="datetime1">
              <a:rPr lang="en-US" smtClean="0"/>
              <a:t>11/11/2025</a:t>
            </a:fld>
            <a:endParaRPr lang="en-US"/>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a:p>
        </p:txBody>
      </p:sp>
      <p:sp>
        <p:nvSpPr>
          <p:cNvPr id="3" name="Subtitle 2"/>
          <p:cNvSpPr>
            <a:spLocks noGrp="1"/>
          </p:cNvSpPr>
          <p:nvPr>
            <p:ph type="subTitle" idx="1"/>
          </p:nvPr>
        </p:nvSpPr>
        <p:spPr>
          <a:xfrm>
            <a:off x="335361" y="-27384"/>
            <a:ext cx="9601067" cy="506016"/>
          </a:xfrm>
        </p:spPr>
        <p:txBody>
          <a:bodyPr anchor="ctr">
            <a:norm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12" name="Content Placeholder 2"/>
          <p:cNvSpPr>
            <a:spLocks noGrp="1"/>
          </p:cNvSpPr>
          <p:nvPr>
            <p:ph idx="14"/>
          </p:nvPr>
        </p:nvSpPr>
        <p:spPr>
          <a:xfrm>
            <a:off x="335361" y="620688"/>
            <a:ext cx="11617291" cy="5904656"/>
          </a:xfrm>
        </p:spPr>
        <p:txBody>
          <a:bodyPr/>
          <a:lstStyle>
            <a:lvl1pPr>
              <a:defRPr>
                <a:latin typeface="Arial" panose="020B0604020202020204" pitchFamily="34" charset="0"/>
                <a:cs typeface="Arial" panose="020B0604020202020204" pitchFamily="34" charset="0"/>
              </a:defRPr>
            </a:lvl1pPr>
          </a:lstStyle>
          <a:p>
            <a:pPr lvl="0"/>
            <a:endParaRPr lang="en-US" dirty="0"/>
          </a:p>
        </p:txBody>
      </p:sp>
      <p:sp>
        <p:nvSpPr>
          <p:cNvPr id="2" name="Title 1"/>
          <p:cNvSpPr>
            <a:spLocks noGrp="1"/>
          </p:cNvSpPr>
          <p:nvPr>
            <p:ph type="title"/>
          </p:nvPr>
        </p:nvSpPr>
        <p:spPr>
          <a:xfrm>
            <a:off x="335360" y="5961487"/>
            <a:ext cx="9601067" cy="563563"/>
          </a:xfrm>
        </p:spPr>
        <p:txBody>
          <a:bodyPr>
            <a:normAutofit/>
          </a:bodyPr>
          <a:lstStyle>
            <a:lvl1pPr algn="l">
              <a:defRPr sz="1200">
                <a:latin typeface="Arial" panose="020B0604020202020204" pitchFamily="34" charset="0"/>
                <a:cs typeface="Arial" panose="020B0604020202020204" pitchFamily="34" charset="0"/>
              </a:defRPr>
            </a:lvl1pPr>
          </a:lstStyle>
          <a:p>
            <a:endParaRPr lang="en-US" dirty="0"/>
          </a:p>
        </p:txBody>
      </p:sp>
    </p:spTree>
    <p:extLst>
      <p:ext uri="{BB962C8B-B14F-4D97-AF65-F5344CB8AC3E}">
        <p14:creationId xmlns:p14="http://schemas.microsoft.com/office/powerpoint/2010/main" val="72220158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Gold Title with Formal Logo">
    <p:spTree>
      <p:nvGrpSpPr>
        <p:cNvPr id="1" name=""/>
        <p:cNvGrpSpPr/>
        <p:nvPr/>
      </p:nvGrpSpPr>
      <p:grpSpPr>
        <a:xfrm>
          <a:off x="0" y="0"/>
          <a:ext cx="0" cy="0"/>
          <a:chOff x="0" y="0"/>
          <a:chExt cx="0" cy="0"/>
        </a:xfrm>
      </p:grpSpPr>
      <p:sp>
        <p:nvSpPr>
          <p:cNvPr id="9" name="Rectangle 8"/>
          <p:cNvSpPr/>
          <p:nvPr userDrawn="1"/>
        </p:nvSpPr>
        <p:spPr>
          <a:xfrm>
            <a:off x="0" y="2348880"/>
            <a:ext cx="12192000" cy="4509120"/>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all">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tx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A6C06B09-27AD-48D1-B023-21F788D16790}"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35357" y="5756569"/>
            <a:ext cx="2933251" cy="652150"/>
          </a:xfrm>
          <a:prstGeom prst="rect">
            <a:avLst/>
          </a:prstGeom>
        </p:spPr>
      </p:pic>
      <p:pic>
        <p:nvPicPr>
          <p:cNvPr id="12" name="Picture 11">
            <a:extLst>
              <a:ext uri="{FF2B5EF4-FFF2-40B4-BE49-F238E27FC236}">
                <a16:creationId xmlns:a16="http://schemas.microsoft.com/office/drawing/2014/main" id="{C9A26479-5203-0C49-B7D7-8080A14B660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Tree>
    <p:extLst>
      <p:ext uri="{BB962C8B-B14F-4D97-AF65-F5344CB8AC3E}">
        <p14:creationId xmlns:p14="http://schemas.microsoft.com/office/powerpoint/2010/main" val="56219676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Gold Title with HWIC">
    <p:spTree>
      <p:nvGrpSpPr>
        <p:cNvPr id="1" name=""/>
        <p:cNvGrpSpPr/>
        <p:nvPr/>
      </p:nvGrpSpPr>
      <p:grpSpPr>
        <a:xfrm>
          <a:off x="0" y="0"/>
          <a:ext cx="0" cy="0"/>
          <a:chOff x="0" y="0"/>
          <a:chExt cx="0" cy="0"/>
        </a:xfrm>
      </p:grpSpPr>
      <p:sp>
        <p:nvSpPr>
          <p:cNvPr id="9" name="Rectangle 8"/>
          <p:cNvSpPr/>
          <p:nvPr userDrawn="1"/>
        </p:nvSpPr>
        <p:spPr>
          <a:xfrm>
            <a:off x="0" y="2348880"/>
            <a:ext cx="12192000" cy="4509120"/>
          </a:xfrm>
          <a:prstGeom prst="rect">
            <a:avLst/>
          </a:prstGeom>
          <a:solidFill>
            <a:srgbClr val="EACC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CA" sz="1800" dirty="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551384" y="2348883"/>
            <a:ext cx="10363200" cy="1362075"/>
          </a:xfrm>
        </p:spPr>
        <p:txBody>
          <a:bodyPr anchor="b">
            <a:noAutofit/>
          </a:bodyPr>
          <a:lstStyle>
            <a:lvl1pPr algn="l">
              <a:lnSpc>
                <a:spcPts val="4800"/>
              </a:lnSpc>
              <a:defRPr sz="4800" b="0" cap="none">
                <a:solidFill>
                  <a:schemeClr val="bg1"/>
                </a:solidFill>
                <a:effectLst/>
                <a:latin typeface="Arial" panose="020B0604020202020204" pitchFamily="34" charset="0"/>
                <a:cs typeface="Arial" panose="020B0604020202020204" pitchFamily="34" charset="0"/>
              </a:defRPr>
            </a:lvl1pPr>
          </a:lstStyle>
          <a:p>
            <a:endParaRPr lang="en-US" dirty="0"/>
          </a:p>
        </p:txBody>
      </p:sp>
      <p:sp>
        <p:nvSpPr>
          <p:cNvPr id="3" name="Text Placeholder 2"/>
          <p:cNvSpPr>
            <a:spLocks noGrp="1"/>
          </p:cNvSpPr>
          <p:nvPr>
            <p:ph type="body" idx="1"/>
          </p:nvPr>
        </p:nvSpPr>
        <p:spPr>
          <a:xfrm>
            <a:off x="551384" y="3717032"/>
            <a:ext cx="10369152" cy="1008112"/>
          </a:xfrm>
        </p:spPr>
        <p:txBody>
          <a:bodyPr anchor="t">
            <a:normAutofit/>
          </a:bodyPr>
          <a:lstStyle>
            <a:lvl1pPr marL="0" indent="0">
              <a:buNone/>
              <a:defRPr sz="2400" b="0">
                <a:solidFill>
                  <a:schemeClr val="tx1"/>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sp>
        <p:nvSpPr>
          <p:cNvPr id="16" name="Date Placeholder 15"/>
          <p:cNvSpPr>
            <a:spLocks noGrp="1"/>
          </p:cNvSpPr>
          <p:nvPr>
            <p:ph type="dt" sz="half" idx="10"/>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A9EC15F2-25B4-4150-B6B7-B78883A25900}"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5" name="Picture 4">
            <a:extLst>
              <a:ext uri="{FF2B5EF4-FFF2-40B4-BE49-F238E27FC236}">
                <a16:creationId xmlns:a16="http://schemas.microsoft.com/office/drawing/2014/main" id="{37DDFF89-8F57-AE40-A965-8A5344176B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16876" y="4581128"/>
            <a:ext cx="2938408" cy="2178820"/>
          </a:xfrm>
          <a:prstGeom prst="rect">
            <a:avLst/>
          </a:prstGeom>
        </p:spPr>
      </p:pic>
      <p:pic>
        <p:nvPicPr>
          <p:cNvPr id="11" name="Picture 10">
            <a:extLst>
              <a:ext uri="{FF2B5EF4-FFF2-40B4-BE49-F238E27FC236}">
                <a16:creationId xmlns:a16="http://schemas.microsoft.com/office/drawing/2014/main" id="{8E1CA3E9-B6E4-8A4B-8871-5A4E67F3336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Tree>
    <p:extLst>
      <p:ext uri="{BB962C8B-B14F-4D97-AF65-F5344CB8AC3E}">
        <p14:creationId xmlns:p14="http://schemas.microsoft.com/office/powerpoint/2010/main" val="197604037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Gold Title Blank with Formal Logo">
    <p:spTree>
      <p:nvGrpSpPr>
        <p:cNvPr id="1" name=""/>
        <p:cNvGrpSpPr/>
        <p:nvPr/>
      </p:nvGrpSpPr>
      <p:grpSpPr>
        <a:xfrm>
          <a:off x="0" y="0"/>
          <a:ext cx="0" cy="0"/>
          <a:chOff x="0" y="0"/>
          <a:chExt cx="0" cy="0"/>
        </a:xfrm>
      </p:grpSpPr>
      <p:sp>
        <p:nvSpPr>
          <p:cNvPr id="2" name="Title 1"/>
          <p:cNvSpPr>
            <a:spLocks noGrp="1"/>
          </p:cNvSpPr>
          <p:nvPr>
            <p:ph type="title"/>
          </p:nvPr>
        </p:nvSpPr>
        <p:spPr>
          <a:xfrm>
            <a:off x="551384" y="1916832"/>
            <a:ext cx="10363200" cy="2592288"/>
          </a:xfrm>
        </p:spPr>
        <p:txBody>
          <a:bodyPr anchor="ctr">
            <a:noAutofit/>
          </a:bodyPr>
          <a:lstStyle>
            <a:lvl1pPr algn="l">
              <a:lnSpc>
                <a:spcPts val="4800"/>
              </a:lnSpc>
              <a:defRPr sz="4800" b="0" cap="all">
                <a:solidFill>
                  <a:schemeClr val="tx1"/>
                </a:solidFill>
                <a:effectLst/>
                <a:latin typeface="Arial" panose="020B0604020202020204" pitchFamily="34" charset="0"/>
                <a:cs typeface="Arial" panose="020B0604020202020204" pitchFamily="34" charset="0"/>
              </a:defRPr>
            </a:lvl1pPr>
          </a:lstStyle>
          <a:p>
            <a:endParaRPr lang="en-US" dirty="0"/>
          </a:p>
        </p:txBody>
      </p:sp>
      <p:sp>
        <p:nvSpPr>
          <p:cNvPr id="16" name="Date Placeholder 15"/>
          <p:cNvSpPr>
            <a:spLocks noGrp="1"/>
          </p:cNvSpPr>
          <p:nvPr>
            <p:ph type="dt" sz="half" idx="10"/>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FF311FE3-A2B9-4D4E-AA60-99FFA40E50DF}" type="datetime1">
              <a:rPr lang="en-US" smtClean="0"/>
              <a:t>11/11/2025</a:t>
            </a:fld>
            <a:endParaRPr lang="en-US" dirty="0"/>
          </a:p>
        </p:txBody>
      </p:sp>
      <p:sp>
        <p:nvSpPr>
          <p:cNvPr id="17" name="Footer Placeholder 16"/>
          <p:cNvSpPr>
            <a:spLocks noGrp="1"/>
          </p:cNvSpPr>
          <p:nvPr>
            <p:ph type="ftr" sz="quarter" idx="11"/>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19" name="Slide Number Placeholder 18"/>
          <p:cNvSpPr>
            <a:spLocks noGrp="1"/>
          </p:cNvSpPr>
          <p:nvPr>
            <p:ph type="sldNum" sz="quarter" idx="12"/>
          </p:nvPr>
        </p:nvSpPr>
        <p:spPr/>
        <p:txBody>
          <a:bodyPr/>
          <a:lstStyle>
            <a:lvl1pPr>
              <a:defRPr>
                <a:solidFill>
                  <a:schemeClr val="bg1">
                    <a:lumMod val="50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
        <p:nvSpPr>
          <p:cNvPr id="11" name="Text Placeholder 2"/>
          <p:cNvSpPr>
            <a:spLocks noGrp="1"/>
          </p:cNvSpPr>
          <p:nvPr>
            <p:ph type="body" idx="1"/>
          </p:nvPr>
        </p:nvSpPr>
        <p:spPr>
          <a:xfrm>
            <a:off x="551384" y="3506986"/>
            <a:ext cx="10369152" cy="1002134"/>
          </a:xfrm>
        </p:spPr>
        <p:txBody>
          <a:bodyPr anchor="t">
            <a:normAutofit/>
          </a:bodyPr>
          <a:lstStyle>
            <a:lvl1pPr marL="0" indent="0">
              <a:buNone/>
              <a:defRPr sz="2400" b="0">
                <a:solidFill>
                  <a:srgbClr val="EACC1B"/>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endParaRPr lang="en-US" dirty="0"/>
          </a:p>
        </p:txBody>
      </p:sp>
      <p:pic>
        <p:nvPicPr>
          <p:cNvPr id="12" name="Picture 11">
            <a:extLst>
              <a:ext uri="{FF2B5EF4-FFF2-40B4-BE49-F238E27FC236}">
                <a16:creationId xmlns:a16="http://schemas.microsoft.com/office/drawing/2014/main" id="{4171D495-C219-A746-8610-2F0C983835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6409" y="5651500"/>
            <a:ext cx="2842199" cy="757219"/>
          </a:xfrm>
          <a:prstGeom prst="rect">
            <a:avLst/>
          </a:prstGeom>
        </p:spPr>
      </p:pic>
      <p:pic>
        <p:nvPicPr>
          <p:cNvPr id="9" name="Picture 8">
            <a:extLst>
              <a:ext uri="{FF2B5EF4-FFF2-40B4-BE49-F238E27FC236}">
                <a16:creationId xmlns:a16="http://schemas.microsoft.com/office/drawing/2014/main" id="{7BEAC545-525B-E24B-883C-56D60E4E600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23392" y="1024367"/>
            <a:ext cx="2448050" cy="388409"/>
          </a:xfrm>
          <a:prstGeom prst="rect">
            <a:avLst/>
          </a:prstGeom>
        </p:spPr>
      </p:pic>
      <p:sp>
        <p:nvSpPr>
          <p:cNvPr id="13" name="Rectangle 12">
            <a:extLst>
              <a:ext uri="{FF2B5EF4-FFF2-40B4-BE49-F238E27FC236}">
                <a16:creationId xmlns:a16="http://schemas.microsoft.com/office/drawing/2014/main" id="{8348241C-3B0A-7749-B7A2-6AD8F3FB35F6}"/>
              </a:ext>
            </a:extLst>
          </p:cNvPr>
          <p:cNvSpPr/>
          <p:nvPr userDrawn="1"/>
        </p:nvSpPr>
        <p:spPr>
          <a:xfrm>
            <a:off x="10293069" y="6453336"/>
            <a:ext cx="1616364" cy="288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934416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384FB34E-9178-4EC2-99CF-E3E3128712D0}"/>
              </a:ext>
            </a:extLst>
          </p:cNvPr>
          <p:cNvSpPr>
            <a:spLocks noGrp="1"/>
          </p:cNvSpPr>
          <p:nvPr>
            <p:ph type="sldNum" sz="quarter" idx="10"/>
          </p:nvPr>
        </p:nvSpPr>
        <p:spPr>
          <a:xfrm>
            <a:off x="11521018" y="6515100"/>
            <a:ext cx="620183"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B60D20F0-BF52-4113-B6F7-D9E3CC94383E}" type="slidenum">
              <a:rPr lang="en-US" altLang="en-US" smtClean="0"/>
              <a:pPr/>
              <a:t>‹#›</a:t>
            </a:fld>
            <a:endParaRPr lang="en-US" altLang="en-US" dirty="0"/>
          </a:p>
        </p:txBody>
      </p:sp>
      <p:sp>
        <p:nvSpPr>
          <p:cNvPr id="3" name="Footer Placeholder 3">
            <a:extLst>
              <a:ext uri="{FF2B5EF4-FFF2-40B4-BE49-F238E27FC236}">
                <a16:creationId xmlns:a16="http://schemas.microsoft.com/office/drawing/2014/main" id="{C8593D8E-288B-487B-B309-83AAD984E7DF}"/>
              </a:ext>
            </a:extLst>
          </p:cNvPr>
          <p:cNvSpPr>
            <a:spLocks noGrp="1"/>
          </p:cNvSpPr>
          <p:nvPr>
            <p:ph type="ftr" sz="quarter" idx="11"/>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Tree>
    <p:extLst>
      <p:ext uri="{BB962C8B-B14F-4D97-AF65-F5344CB8AC3E}">
        <p14:creationId xmlns:p14="http://schemas.microsoft.com/office/powerpoint/2010/main" val="21235368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680EE43B-107C-49A0-82AF-3A496D5B9DA4}"/>
              </a:ext>
            </a:extLst>
          </p:cNvPr>
          <p:cNvSpPr>
            <a:spLocks noGrp="1"/>
          </p:cNvSpPr>
          <p:nvPr>
            <p:ph type="sldNum" sz="quarter" idx="10"/>
          </p:nvPr>
        </p:nvSpPr>
        <p:spPr>
          <a:xfrm>
            <a:off x="11521018" y="6515100"/>
            <a:ext cx="620183"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B37431BF-C2EE-4127-8B81-1CFF59825F26}" type="slidenum">
              <a:rPr lang="en-US" altLang="en-US" smtClean="0"/>
              <a:pPr/>
              <a:t>‹#›</a:t>
            </a:fld>
            <a:endParaRPr lang="en-US" altLang="en-US" dirty="0"/>
          </a:p>
        </p:txBody>
      </p:sp>
      <p:sp>
        <p:nvSpPr>
          <p:cNvPr id="3" name="Footer Placeholder 3">
            <a:extLst>
              <a:ext uri="{FF2B5EF4-FFF2-40B4-BE49-F238E27FC236}">
                <a16:creationId xmlns:a16="http://schemas.microsoft.com/office/drawing/2014/main" id="{2B55D9BF-9E54-4129-A3B2-E70F7E10C837}"/>
              </a:ext>
            </a:extLst>
          </p:cNvPr>
          <p:cNvSpPr>
            <a:spLocks noGrp="1"/>
          </p:cNvSpPr>
          <p:nvPr>
            <p:ph type="ftr" sz="quarter" idx="11"/>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Tree>
    <p:extLst>
      <p:ext uri="{BB962C8B-B14F-4D97-AF65-F5344CB8AC3E}">
        <p14:creationId xmlns:p14="http://schemas.microsoft.com/office/powerpoint/2010/main" val="308506675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Slide Number Placeholder 8">
            <a:extLst>
              <a:ext uri="{FF2B5EF4-FFF2-40B4-BE49-F238E27FC236}">
                <a16:creationId xmlns:a16="http://schemas.microsoft.com/office/drawing/2014/main" id="{473978F5-F2D5-4251-B0FB-279CA53B56AC}"/>
              </a:ext>
            </a:extLst>
          </p:cNvPr>
          <p:cNvSpPr>
            <a:spLocks noGrp="1"/>
          </p:cNvSpPr>
          <p:nvPr>
            <p:ph type="sldNum" sz="quarter" idx="10"/>
          </p:nvPr>
        </p:nvSpPr>
        <p:spPr>
          <a:xfrm>
            <a:off x="11521018" y="6515100"/>
            <a:ext cx="620183"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8D32FECC-C98A-4825-8A57-9E0A5AB50500}" type="slidenum">
              <a:rPr lang="en-US" altLang="en-US" smtClean="0"/>
              <a:pPr/>
              <a:t>‹#›</a:t>
            </a:fld>
            <a:endParaRPr lang="en-US" altLang="en-US" dirty="0"/>
          </a:p>
        </p:txBody>
      </p:sp>
      <p:sp>
        <p:nvSpPr>
          <p:cNvPr id="3" name="Footer Placeholder 3">
            <a:extLst>
              <a:ext uri="{FF2B5EF4-FFF2-40B4-BE49-F238E27FC236}">
                <a16:creationId xmlns:a16="http://schemas.microsoft.com/office/drawing/2014/main" id="{91E34D24-5C52-4C2A-91AC-9CC8209BCC86}"/>
              </a:ext>
            </a:extLst>
          </p:cNvPr>
          <p:cNvSpPr>
            <a:spLocks noGrp="1"/>
          </p:cNvSpPr>
          <p:nvPr>
            <p:ph type="ftr" sz="quarter" idx="11"/>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Tree>
    <p:extLst>
      <p:ext uri="{BB962C8B-B14F-4D97-AF65-F5344CB8AC3E}">
        <p14:creationId xmlns:p14="http://schemas.microsoft.com/office/powerpoint/2010/main" val="24978038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B13178A2-F6DC-4EEA-ADC0-0B57644D037C}"/>
              </a:ext>
            </a:extLst>
          </p:cNvPr>
          <p:cNvSpPr>
            <a:spLocks noGrp="1"/>
          </p:cNvSpPr>
          <p:nvPr>
            <p:ph type="sldNum" sz="quarter" idx="10"/>
          </p:nvPr>
        </p:nvSpPr>
        <p:spPr>
          <a:xfrm>
            <a:off x="11518900" y="6515100"/>
            <a:ext cx="618067"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FB492FCF-1311-47A3-B43A-0118359FC3B7}" type="slidenum">
              <a:rPr lang="en-US" altLang="en-US" smtClean="0"/>
              <a:pPr/>
              <a:t>‹#›</a:t>
            </a:fld>
            <a:endParaRPr lang="en-US" altLang="en-US" dirty="0"/>
          </a:p>
        </p:txBody>
      </p:sp>
      <p:sp>
        <p:nvSpPr>
          <p:cNvPr id="3" name="Footer Placeholder 3">
            <a:extLst>
              <a:ext uri="{FF2B5EF4-FFF2-40B4-BE49-F238E27FC236}">
                <a16:creationId xmlns:a16="http://schemas.microsoft.com/office/drawing/2014/main" id="{E7A99880-621D-4016-9168-FDA719CD94E4}"/>
              </a:ext>
            </a:extLst>
          </p:cNvPr>
          <p:cNvSpPr>
            <a:spLocks noGrp="1"/>
          </p:cNvSpPr>
          <p:nvPr>
            <p:ph type="ftr" sz="quarter" idx="11"/>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Tree>
    <p:extLst>
      <p:ext uri="{BB962C8B-B14F-4D97-AF65-F5344CB8AC3E}">
        <p14:creationId xmlns:p14="http://schemas.microsoft.com/office/powerpoint/2010/main" val="15337392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262DBF3B-5625-4155-8B3F-583B46505B78}"/>
              </a:ext>
            </a:extLst>
          </p:cNvPr>
          <p:cNvSpPr>
            <a:spLocks noGrp="1"/>
          </p:cNvSpPr>
          <p:nvPr>
            <p:ph type="sldNum" sz="quarter" idx="10"/>
          </p:nvPr>
        </p:nvSpPr>
        <p:spPr>
          <a:xfrm>
            <a:off x="11573933" y="6477000"/>
            <a:ext cx="618067"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16C1878D-8072-49F5-AF49-A0727AD43DC3}" type="slidenum">
              <a:rPr lang="en-US" altLang="en-US" smtClean="0"/>
              <a:pPr/>
              <a:t>‹#›</a:t>
            </a:fld>
            <a:endParaRPr lang="en-US" altLang="en-US" dirty="0"/>
          </a:p>
        </p:txBody>
      </p:sp>
      <p:sp>
        <p:nvSpPr>
          <p:cNvPr id="3" name="Footer Placeholder 3">
            <a:extLst>
              <a:ext uri="{FF2B5EF4-FFF2-40B4-BE49-F238E27FC236}">
                <a16:creationId xmlns:a16="http://schemas.microsoft.com/office/drawing/2014/main" id="{A6158F0B-D315-4E64-99D2-02B412F36307}"/>
              </a:ext>
            </a:extLst>
          </p:cNvPr>
          <p:cNvSpPr>
            <a:spLocks noGrp="1"/>
          </p:cNvSpPr>
          <p:nvPr>
            <p:ph type="ftr" sz="quarter" idx="11"/>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Tree>
    <p:extLst>
      <p:ext uri="{BB962C8B-B14F-4D97-AF65-F5344CB8AC3E}">
        <p14:creationId xmlns:p14="http://schemas.microsoft.com/office/powerpoint/2010/main" val="58211668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0C51C89C-67C7-49C1-99A4-C455ECFF3D43}"/>
              </a:ext>
            </a:extLst>
          </p:cNvPr>
          <p:cNvSpPr>
            <a:spLocks noGrp="1"/>
          </p:cNvSpPr>
          <p:nvPr>
            <p:ph type="sldNum" sz="quarter" idx="10"/>
          </p:nvPr>
        </p:nvSpPr>
        <p:spPr>
          <a:xfrm>
            <a:off x="11518900" y="6515100"/>
            <a:ext cx="618067"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79F0C9D1-CDD2-4624-BA1D-6B785B25D801}" type="slidenum">
              <a:rPr lang="en-US" altLang="en-US" smtClean="0"/>
              <a:pPr/>
              <a:t>‹#›</a:t>
            </a:fld>
            <a:endParaRPr lang="en-US" altLang="en-US" dirty="0"/>
          </a:p>
        </p:txBody>
      </p:sp>
      <p:sp>
        <p:nvSpPr>
          <p:cNvPr id="3" name="Footer Placeholder 3">
            <a:extLst>
              <a:ext uri="{FF2B5EF4-FFF2-40B4-BE49-F238E27FC236}">
                <a16:creationId xmlns:a16="http://schemas.microsoft.com/office/drawing/2014/main" id="{803B4379-8522-4F96-88FB-682B374868DC}"/>
              </a:ext>
            </a:extLst>
          </p:cNvPr>
          <p:cNvSpPr>
            <a:spLocks noGrp="1"/>
          </p:cNvSpPr>
          <p:nvPr>
            <p:ph type="ftr" sz="quarter" idx="11"/>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Tree>
    <p:extLst>
      <p:ext uri="{BB962C8B-B14F-4D97-AF65-F5344CB8AC3E}">
        <p14:creationId xmlns:p14="http://schemas.microsoft.com/office/powerpoint/2010/main" val="296308765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4EB2E136-75BB-416A-929B-875AE14D4E1A}"/>
              </a:ext>
            </a:extLst>
          </p:cNvPr>
          <p:cNvSpPr>
            <a:spLocks noGrp="1"/>
          </p:cNvSpPr>
          <p:nvPr>
            <p:ph type="sldNum" sz="quarter" idx="10"/>
          </p:nvPr>
        </p:nvSpPr>
        <p:spPr>
          <a:xfrm>
            <a:off x="11518900" y="6515100"/>
            <a:ext cx="618067"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C5457A48-0AC0-4B4E-B9EC-6A3F3AD0BA9C}" type="slidenum">
              <a:rPr lang="en-US" altLang="en-US" smtClean="0"/>
              <a:pPr/>
              <a:t>‹#›</a:t>
            </a:fld>
            <a:endParaRPr lang="en-US" altLang="en-US" dirty="0"/>
          </a:p>
        </p:txBody>
      </p:sp>
      <p:sp>
        <p:nvSpPr>
          <p:cNvPr id="3" name="Footer Placeholder 3">
            <a:extLst>
              <a:ext uri="{FF2B5EF4-FFF2-40B4-BE49-F238E27FC236}">
                <a16:creationId xmlns:a16="http://schemas.microsoft.com/office/drawing/2014/main" id="{3FB7BA89-6B6A-41C4-80A0-220D4DCFD5D0}"/>
              </a:ext>
            </a:extLst>
          </p:cNvPr>
          <p:cNvSpPr>
            <a:spLocks noGrp="1"/>
          </p:cNvSpPr>
          <p:nvPr>
            <p:ph type="ftr" sz="quarter" idx="11"/>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Tree>
    <p:extLst>
      <p:ext uri="{BB962C8B-B14F-4D97-AF65-F5344CB8AC3E}">
        <p14:creationId xmlns:p14="http://schemas.microsoft.com/office/powerpoint/2010/main" val="173033240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1"/>
            <a:ext cx="10972800" cy="792163"/>
          </a:xfrm>
          <a:prstGeom prst="rect">
            <a:avLst/>
          </a:prstGeom>
        </p:spPr>
        <p:txBody>
          <a:bodyPr/>
          <a:lstStyle>
            <a:lvl1pPr algn="ctr">
              <a:defRPr b="1">
                <a:solidFill>
                  <a:srgbClr val="1C3163"/>
                </a:solidFill>
                <a:effectLst/>
              </a:defRPr>
            </a:lvl1pPr>
          </a:lstStyle>
          <a:p>
            <a:r>
              <a:rPr lang="en-US"/>
              <a:t>Click to edit Master title style</a:t>
            </a:r>
            <a:endParaRPr lang="en-CA"/>
          </a:p>
        </p:txBody>
      </p:sp>
      <p:sp>
        <p:nvSpPr>
          <p:cNvPr id="3" name="Footer Placeholder 3">
            <a:extLst>
              <a:ext uri="{FF2B5EF4-FFF2-40B4-BE49-F238E27FC236}">
                <a16:creationId xmlns:a16="http://schemas.microsoft.com/office/drawing/2014/main" id="{F8897B8F-20B3-4372-AA8B-D0B6B59067BE}"/>
              </a:ext>
            </a:extLst>
          </p:cNvPr>
          <p:cNvSpPr>
            <a:spLocks noGrp="1"/>
          </p:cNvSpPr>
          <p:nvPr>
            <p:ph type="ftr" sz="quarter" idx="10"/>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
        <p:nvSpPr>
          <p:cNvPr id="4" name="Slide Number Placeholder 5">
            <a:extLst>
              <a:ext uri="{FF2B5EF4-FFF2-40B4-BE49-F238E27FC236}">
                <a16:creationId xmlns:a16="http://schemas.microsoft.com/office/drawing/2014/main" id="{7139C506-08A0-F8FB-F6C5-DF40708D8BBA}"/>
              </a:ext>
            </a:extLst>
          </p:cNvPr>
          <p:cNvSpPr>
            <a:spLocks noGrp="1"/>
          </p:cNvSpPr>
          <p:nvPr>
            <p:ph type="sldNum" sz="quarter" idx="11"/>
          </p:nvPr>
        </p:nvSpPr>
        <p:spPr>
          <a:xfrm>
            <a:off x="11518900" y="6515100"/>
            <a:ext cx="618067"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C5457A48-0AC0-4B4E-B9EC-6A3F3AD0BA9C}" type="slidenum">
              <a:rPr lang="en-US" altLang="en-US" smtClean="0"/>
              <a:pPr/>
              <a:t>‹#›</a:t>
            </a:fld>
            <a:endParaRPr lang="en-US" altLang="en-US" dirty="0"/>
          </a:p>
        </p:txBody>
      </p:sp>
    </p:spTree>
    <p:extLst>
      <p:ext uri="{BB962C8B-B14F-4D97-AF65-F5344CB8AC3E}">
        <p14:creationId xmlns:p14="http://schemas.microsoft.com/office/powerpoint/2010/main" val="3806697248"/>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1"/>
            <a:ext cx="10972800" cy="792163"/>
          </a:xfrm>
          <a:prstGeom prst="rect">
            <a:avLst/>
          </a:prstGeom>
        </p:spPr>
        <p:txBody>
          <a:bodyPr/>
          <a:lstStyle>
            <a:lvl1pPr algn="ctr">
              <a:defRPr b="1">
                <a:solidFill>
                  <a:srgbClr val="1C3163"/>
                </a:solidFill>
                <a:effectLst/>
              </a:defRPr>
            </a:lvl1pPr>
          </a:lstStyle>
          <a:p>
            <a:r>
              <a:rPr lang="en-US"/>
              <a:t>Click to edit Master title style</a:t>
            </a:r>
            <a:endParaRPr lang="en-CA"/>
          </a:p>
        </p:txBody>
      </p:sp>
      <p:sp>
        <p:nvSpPr>
          <p:cNvPr id="3" name="Content Placeholder 2"/>
          <p:cNvSpPr>
            <a:spLocks noGrp="1"/>
          </p:cNvSpPr>
          <p:nvPr>
            <p:ph sz="half" idx="1"/>
          </p:nvPr>
        </p:nvSpPr>
        <p:spPr>
          <a:xfrm>
            <a:off x="609600" y="1143000"/>
            <a:ext cx="5384800" cy="5334000"/>
          </a:xfrm>
          <a:prstGeom prst="rect">
            <a:avLst/>
          </a:prstGeom>
        </p:spPr>
        <p:txBody>
          <a:bodyPr/>
          <a:lstStyle>
            <a:lvl1pPr marL="292100" indent="-292100">
              <a:buClr>
                <a:srgbClr val="223261"/>
              </a:buClr>
              <a:buFont typeface="Arial" panose="020B0604020202020204" pitchFamily="34" charset="0"/>
              <a:buChar char="•"/>
              <a:defRPr sz="2800"/>
            </a:lvl1pPr>
            <a:lvl2pPr marL="754063" indent="-342900">
              <a:buClr>
                <a:srgbClr val="223261"/>
              </a:buClr>
              <a:buFont typeface="Arial" panose="020B0604020202020204" pitchFamily="34" charset="0"/>
              <a:buChar char="•"/>
              <a:defRPr sz="2400"/>
            </a:lvl2pPr>
            <a:lvl3pPr marL="822325" indent="-190500">
              <a:buClr>
                <a:srgbClr val="223261"/>
              </a:buClr>
              <a:buFont typeface="Arial" panose="020B0604020202020204" pitchFamily="34" charset="0"/>
              <a:buChar char="•"/>
              <a:defRPr sz="2000"/>
            </a:lvl3pPr>
            <a:lvl4pPr marL="1004888" indent="-182563">
              <a:buClr>
                <a:srgbClr val="223261"/>
              </a:buClr>
              <a:buFont typeface="Arial" panose="020B0604020202020204" pitchFamily="34" charset="0"/>
              <a:buChar char="•"/>
              <a:defRPr sz="1800"/>
            </a:lvl4pPr>
            <a:lvl5pPr marL="1187450" indent="-182563">
              <a:buClr>
                <a:srgbClr val="223261"/>
              </a:buClr>
              <a:buFont typeface="Arial" panose="020B0604020202020204"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97600" y="1143000"/>
            <a:ext cx="5384800" cy="5334000"/>
          </a:xfrm>
          <a:prstGeom prst="rect">
            <a:avLst/>
          </a:prstGeom>
        </p:spPr>
        <p:txBody>
          <a:bodyPr/>
          <a:lstStyle>
            <a:lvl1pPr marL="292100" indent="-292100">
              <a:buClr>
                <a:srgbClr val="213260"/>
              </a:buClr>
              <a:buFont typeface="Arial" panose="020B0604020202020204" pitchFamily="34" charset="0"/>
              <a:buChar char="•"/>
              <a:defRPr sz="2800"/>
            </a:lvl1pPr>
            <a:lvl2pPr marL="754063" indent="-342900">
              <a:buClr>
                <a:srgbClr val="213260"/>
              </a:buClr>
              <a:buFont typeface="Arial" panose="020B0604020202020204" pitchFamily="34" charset="0"/>
              <a:buChar char="•"/>
              <a:defRPr sz="2400"/>
            </a:lvl2pPr>
            <a:lvl3pPr marL="822325" indent="-190500">
              <a:buClr>
                <a:srgbClr val="213260"/>
              </a:buClr>
              <a:buFont typeface="Arial" panose="020B0604020202020204" pitchFamily="34" charset="0"/>
              <a:buChar char="•"/>
              <a:defRPr sz="2000"/>
            </a:lvl3pPr>
            <a:lvl4pPr marL="1004888" indent="-182563">
              <a:buClr>
                <a:srgbClr val="213260"/>
              </a:buClr>
              <a:buFont typeface="Arial" panose="020B0604020202020204" pitchFamily="34" charset="0"/>
              <a:buChar char="•"/>
              <a:defRPr sz="1800"/>
            </a:lvl4pPr>
            <a:lvl5pPr marL="1187450" indent="-182563">
              <a:buClr>
                <a:srgbClr val="213260"/>
              </a:buClr>
              <a:buFont typeface="Arial" panose="020B0604020202020204"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Footer Placeholder 3">
            <a:extLst>
              <a:ext uri="{FF2B5EF4-FFF2-40B4-BE49-F238E27FC236}">
                <a16:creationId xmlns:a16="http://schemas.microsoft.com/office/drawing/2014/main" id="{AA687A00-3F15-4144-8D58-67C8055C91A6}"/>
              </a:ext>
            </a:extLst>
          </p:cNvPr>
          <p:cNvSpPr>
            <a:spLocks noGrp="1"/>
          </p:cNvSpPr>
          <p:nvPr>
            <p:ph type="ftr" sz="quarter" idx="10"/>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
        <p:nvSpPr>
          <p:cNvPr id="6" name="Slide Number Placeholder 5">
            <a:extLst>
              <a:ext uri="{FF2B5EF4-FFF2-40B4-BE49-F238E27FC236}">
                <a16:creationId xmlns:a16="http://schemas.microsoft.com/office/drawing/2014/main" id="{D63761F3-6B87-DC72-4901-AA2875BA2157}"/>
              </a:ext>
            </a:extLst>
          </p:cNvPr>
          <p:cNvSpPr>
            <a:spLocks noGrp="1"/>
          </p:cNvSpPr>
          <p:nvPr>
            <p:ph type="sldNum" sz="quarter" idx="11"/>
          </p:nvPr>
        </p:nvSpPr>
        <p:spPr>
          <a:xfrm>
            <a:off x="11518900" y="6515100"/>
            <a:ext cx="618067"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C5457A48-0AC0-4B4E-B9EC-6A3F3AD0BA9C}" type="slidenum">
              <a:rPr lang="en-US" altLang="en-US" smtClean="0"/>
              <a:pPr/>
              <a:t>‹#›</a:t>
            </a:fld>
            <a:endParaRPr lang="en-US" altLang="en-US" dirty="0"/>
          </a:p>
        </p:txBody>
      </p:sp>
    </p:spTree>
    <p:extLst>
      <p:ext uri="{BB962C8B-B14F-4D97-AF65-F5344CB8AC3E}">
        <p14:creationId xmlns:p14="http://schemas.microsoft.com/office/powerpoint/2010/main" val="2111455323"/>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1"/>
            <a:ext cx="10972800" cy="792163"/>
          </a:xfrm>
          <a:prstGeom prst="rect">
            <a:avLst/>
          </a:prstGeom>
        </p:spPr>
        <p:txBody>
          <a:bodyPr/>
          <a:lstStyle>
            <a:lvl1pPr algn="ctr">
              <a:defRPr b="1">
                <a:solidFill>
                  <a:srgbClr val="1C3163"/>
                </a:solidFill>
                <a:effectLst/>
              </a:defRPr>
            </a:lvl1pPr>
          </a:lstStyle>
          <a:p>
            <a:r>
              <a:rPr lang="en-US"/>
              <a:t>Click to edit Master title style</a:t>
            </a:r>
            <a:endParaRPr lang="en-CA"/>
          </a:p>
        </p:txBody>
      </p:sp>
      <p:sp>
        <p:nvSpPr>
          <p:cNvPr id="3" name="Content Placeholder 2"/>
          <p:cNvSpPr>
            <a:spLocks noGrp="1"/>
          </p:cNvSpPr>
          <p:nvPr>
            <p:ph idx="1"/>
          </p:nvPr>
        </p:nvSpPr>
        <p:spPr>
          <a:xfrm>
            <a:off x="609600" y="1143000"/>
            <a:ext cx="10972800" cy="5334000"/>
          </a:xfrm>
          <a:prstGeom prst="rect">
            <a:avLst/>
          </a:prstGeom>
        </p:spPr>
        <p:txBody>
          <a:bodyPr/>
          <a:lstStyle>
            <a:lvl1pPr marL="292100" indent="-292100">
              <a:buClr>
                <a:srgbClr val="213260"/>
              </a:buClr>
              <a:buFont typeface="Arial" panose="020B0604020202020204" pitchFamily="34" charset="0"/>
              <a:buChar char="•"/>
              <a:defRPr/>
            </a:lvl1pPr>
            <a:lvl2pPr marL="868363" indent="-457200">
              <a:buClr>
                <a:srgbClr val="213260"/>
              </a:buClr>
              <a:buFont typeface="Arial" panose="020B0604020202020204" pitchFamily="34" charset="0"/>
              <a:buChar char="•"/>
              <a:defRPr/>
            </a:lvl2pPr>
            <a:lvl3pPr marL="822325" indent="-190500">
              <a:buClr>
                <a:srgbClr val="213260"/>
              </a:buClr>
              <a:buFont typeface="Arial" panose="020B0604020202020204" pitchFamily="34" charset="0"/>
              <a:buChar char="•"/>
              <a:defRPr/>
            </a:lvl3pPr>
            <a:lvl4pPr marL="1004888" indent="-182563">
              <a:buClr>
                <a:srgbClr val="213260"/>
              </a:buClr>
              <a:buFont typeface="Arial" panose="020B0604020202020204" pitchFamily="34" charset="0"/>
              <a:buChar char="•"/>
              <a:defRPr/>
            </a:lvl4pPr>
            <a:lvl5pPr marL="1187450" indent="-182563">
              <a:buClr>
                <a:srgbClr val="213260"/>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Footer Placeholder 3">
            <a:extLst>
              <a:ext uri="{FF2B5EF4-FFF2-40B4-BE49-F238E27FC236}">
                <a16:creationId xmlns:a16="http://schemas.microsoft.com/office/drawing/2014/main" id="{D5C3B7D9-25D3-46F6-A077-650E02FCBB72}"/>
              </a:ext>
            </a:extLst>
          </p:cNvPr>
          <p:cNvSpPr>
            <a:spLocks noGrp="1"/>
          </p:cNvSpPr>
          <p:nvPr>
            <p:ph type="ftr" sz="quarter" idx="10"/>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
        <p:nvSpPr>
          <p:cNvPr id="5" name="Slide Number Placeholder 5">
            <a:extLst>
              <a:ext uri="{FF2B5EF4-FFF2-40B4-BE49-F238E27FC236}">
                <a16:creationId xmlns:a16="http://schemas.microsoft.com/office/drawing/2014/main" id="{F25D1D4E-5ED3-4691-6052-0A329F1573C0}"/>
              </a:ext>
            </a:extLst>
          </p:cNvPr>
          <p:cNvSpPr>
            <a:spLocks noGrp="1"/>
          </p:cNvSpPr>
          <p:nvPr>
            <p:ph type="sldNum" sz="quarter" idx="11"/>
          </p:nvPr>
        </p:nvSpPr>
        <p:spPr>
          <a:xfrm>
            <a:off x="11518900" y="6515100"/>
            <a:ext cx="618067" cy="27305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mn-lt"/>
              </a:defRPr>
            </a:lvl1pPr>
          </a:lstStyle>
          <a:p>
            <a:fld id="{C5457A48-0AC0-4B4E-B9EC-6A3F3AD0BA9C}" type="slidenum">
              <a:rPr lang="en-US" altLang="en-US" smtClean="0"/>
              <a:pPr/>
              <a:t>‹#›</a:t>
            </a:fld>
            <a:endParaRPr lang="en-US" altLang="en-US" dirty="0"/>
          </a:p>
        </p:txBody>
      </p:sp>
    </p:spTree>
    <p:extLst>
      <p:ext uri="{BB962C8B-B14F-4D97-AF65-F5344CB8AC3E}">
        <p14:creationId xmlns:p14="http://schemas.microsoft.com/office/powerpoint/2010/main" val="3563802841"/>
      </p:ext>
    </p:extLst>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1"/>
            <a:ext cx="10972800" cy="792163"/>
          </a:xfrm>
          <a:prstGeom prst="rect">
            <a:avLst/>
          </a:prstGeom>
        </p:spPr>
        <p:txBody>
          <a:bodyPr/>
          <a:lstStyle>
            <a:lvl1pPr algn="ctr">
              <a:defRPr b="1">
                <a:solidFill>
                  <a:srgbClr val="1C3163"/>
                </a:solidFill>
                <a:effectLst/>
              </a:defRPr>
            </a:lvl1pPr>
          </a:lstStyle>
          <a:p>
            <a:r>
              <a:rPr lang="en-US"/>
              <a:t>Click to edit Master title style</a:t>
            </a:r>
            <a:endParaRPr lang="en-CA"/>
          </a:p>
        </p:txBody>
      </p:sp>
      <p:sp>
        <p:nvSpPr>
          <p:cNvPr id="3" name="Text Placeholder 2"/>
          <p:cNvSpPr>
            <a:spLocks noGrp="1"/>
          </p:cNvSpPr>
          <p:nvPr>
            <p:ph type="body" sz="half" idx="1"/>
          </p:nvPr>
        </p:nvSpPr>
        <p:spPr>
          <a:xfrm>
            <a:off x="609600" y="1143000"/>
            <a:ext cx="5384800" cy="5334000"/>
          </a:xfrm>
          <a:prstGeom prst="rect">
            <a:avLst/>
          </a:prstGeom>
        </p:spPr>
        <p:txBody>
          <a:bodyPr/>
          <a:lstStyle>
            <a:lvl1pPr marL="292100" indent="-292100">
              <a:buClr>
                <a:srgbClr val="213260"/>
              </a:buClr>
              <a:buFont typeface="Arial" panose="020B0604020202020204" pitchFamily="34" charset="0"/>
              <a:buChar char="•"/>
              <a:defRPr/>
            </a:lvl1pPr>
            <a:lvl2pPr marL="868363" indent="-457200">
              <a:buClr>
                <a:srgbClr val="213260"/>
              </a:buClr>
              <a:buFont typeface="Arial" panose="020B0604020202020204" pitchFamily="34" charset="0"/>
              <a:buChar char="•"/>
              <a:defRPr/>
            </a:lvl2pPr>
            <a:lvl3pPr marL="822325" indent="-190500">
              <a:buClr>
                <a:srgbClr val="213260"/>
              </a:buClr>
              <a:buFont typeface="Arial" panose="020B0604020202020204" pitchFamily="34" charset="0"/>
              <a:buChar char="•"/>
              <a:defRPr/>
            </a:lvl3pPr>
            <a:lvl4pPr marL="1004888" indent="-182563">
              <a:buClr>
                <a:srgbClr val="213260"/>
              </a:buClr>
              <a:buFont typeface="Arial" panose="020B0604020202020204" pitchFamily="34" charset="0"/>
              <a:buChar char="•"/>
              <a:defRPr/>
            </a:lvl4pPr>
            <a:lvl5pPr marL="1187450" indent="-182563">
              <a:buClr>
                <a:srgbClr val="213260"/>
              </a:buCl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lipArt Placeholder 3"/>
          <p:cNvSpPr>
            <a:spLocks noGrp="1"/>
          </p:cNvSpPr>
          <p:nvPr>
            <p:ph type="clipArt" sz="half" idx="2"/>
          </p:nvPr>
        </p:nvSpPr>
        <p:spPr>
          <a:xfrm>
            <a:off x="6204376" y="1143000"/>
            <a:ext cx="5384800" cy="5334000"/>
          </a:xfrm>
          <a:prstGeom prst="rect">
            <a:avLst/>
          </a:prstGeom>
        </p:spPr>
        <p:txBody>
          <a:bodyPr/>
          <a:lstStyle>
            <a:lvl1pPr marL="292100" indent="-292100">
              <a:buClr>
                <a:srgbClr val="25325D"/>
              </a:buClr>
              <a:buFont typeface="Arial" panose="020B0604020202020204" pitchFamily="34" charset="0"/>
              <a:buChar char="•"/>
              <a:defRPr/>
            </a:lvl1pPr>
          </a:lstStyle>
          <a:p>
            <a:pPr lvl="0"/>
            <a:endParaRPr lang="en-CA" noProof="0" dirty="0"/>
          </a:p>
        </p:txBody>
      </p:sp>
      <p:sp>
        <p:nvSpPr>
          <p:cNvPr id="5" name="Footer Placeholder 3">
            <a:extLst>
              <a:ext uri="{FF2B5EF4-FFF2-40B4-BE49-F238E27FC236}">
                <a16:creationId xmlns:a16="http://schemas.microsoft.com/office/drawing/2014/main" id="{C2CD8835-85C9-4CE2-874A-1ABC7A5BB7E9}"/>
              </a:ext>
            </a:extLst>
          </p:cNvPr>
          <p:cNvSpPr>
            <a:spLocks noGrp="1"/>
          </p:cNvSpPr>
          <p:nvPr>
            <p:ph type="ftr" sz="quarter" idx="10"/>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
        <p:nvSpPr>
          <p:cNvPr id="7" name="TextBox 6">
            <a:extLst>
              <a:ext uri="{FF2B5EF4-FFF2-40B4-BE49-F238E27FC236}">
                <a16:creationId xmlns:a16="http://schemas.microsoft.com/office/drawing/2014/main" id="{9272EA21-87E1-C5EF-49B0-AECA0E72AE3B}"/>
              </a:ext>
            </a:extLst>
          </p:cNvPr>
          <p:cNvSpPr txBox="1"/>
          <p:nvPr userDrawn="1"/>
        </p:nvSpPr>
        <p:spPr>
          <a:xfrm>
            <a:off x="11529483" y="6491289"/>
            <a:ext cx="662517" cy="276999"/>
          </a:xfrm>
          <a:prstGeom prst="rect">
            <a:avLst/>
          </a:prstGeom>
          <a:noFill/>
        </p:spPr>
        <p:txBody>
          <a:bodyPr wrap="square">
            <a:spAutoFit/>
          </a:bodyPr>
          <a:lstStyle/>
          <a:p>
            <a:fld id="{C5457A48-0AC0-4B4E-B9EC-6A3F3AD0BA9C}" type="slidenum">
              <a:rPr lang="en-US" altLang="en-US" sz="1200" smtClean="0">
                <a:latin typeface="+mn-lt"/>
              </a:rPr>
              <a:pPr/>
              <a:t>‹#›</a:t>
            </a:fld>
            <a:endParaRPr lang="en-CA" sz="1200" dirty="0">
              <a:latin typeface="+mn-lt"/>
            </a:endParaRPr>
          </a:p>
        </p:txBody>
      </p:sp>
    </p:spTree>
    <p:extLst>
      <p:ext uri="{BB962C8B-B14F-4D97-AF65-F5344CB8AC3E}">
        <p14:creationId xmlns:p14="http://schemas.microsoft.com/office/powerpoint/2010/main" val="1841111042"/>
      </p:ext>
    </p:extLst>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lvl1pPr algn="ctr">
              <a:defRPr b="1">
                <a:solidFill>
                  <a:srgbClr val="1C3163"/>
                </a:solidFill>
                <a:effectLst/>
              </a:defRPr>
            </a:lvl1pPr>
          </a:lstStyle>
          <a:p>
            <a:r>
              <a:rPr lang="en-US"/>
              <a:t>Click to edit Master title style</a:t>
            </a:r>
            <a:endParaRPr lang="en-CA"/>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
        <p:nvSpPr>
          <p:cNvPr id="4" name="Footer Placeholder 3">
            <a:extLst>
              <a:ext uri="{FF2B5EF4-FFF2-40B4-BE49-F238E27FC236}">
                <a16:creationId xmlns:a16="http://schemas.microsoft.com/office/drawing/2014/main" id="{3CF52902-B772-4981-A3B7-A4FF9BF27339}"/>
              </a:ext>
            </a:extLst>
          </p:cNvPr>
          <p:cNvSpPr>
            <a:spLocks noGrp="1"/>
          </p:cNvSpPr>
          <p:nvPr>
            <p:ph type="ftr" sz="quarter" idx="10"/>
          </p:nvPr>
        </p:nvSpPr>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
        <p:nvSpPr>
          <p:cNvPr id="7" name="TextBox 6">
            <a:extLst>
              <a:ext uri="{FF2B5EF4-FFF2-40B4-BE49-F238E27FC236}">
                <a16:creationId xmlns:a16="http://schemas.microsoft.com/office/drawing/2014/main" id="{4618FC2B-B9A0-C2DD-BC07-E43FB8B1DF26}"/>
              </a:ext>
            </a:extLst>
          </p:cNvPr>
          <p:cNvSpPr txBox="1"/>
          <p:nvPr userDrawn="1"/>
        </p:nvSpPr>
        <p:spPr>
          <a:xfrm>
            <a:off x="11529483" y="6491289"/>
            <a:ext cx="662517" cy="276999"/>
          </a:xfrm>
          <a:prstGeom prst="rect">
            <a:avLst/>
          </a:prstGeom>
          <a:noFill/>
        </p:spPr>
        <p:txBody>
          <a:bodyPr wrap="square">
            <a:spAutoFit/>
          </a:bodyPr>
          <a:lstStyle/>
          <a:p>
            <a:fld id="{C5457A48-0AC0-4B4E-B9EC-6A3F3AD0BA9C}" type="slidenum">
              <a:rPr lang="en-US" altLang="en-US" sz="1200" smtClean="0">
                <a:latin typeface="+mn-lt"/>
              </a:rPr>
              <a:pPr/>
              <a:t>‹#›</a:t>
            </a:fld>
            <a:endParaRPr lang="en-CA" sz="1200" dirty="0">
              <a:latin typeface="+mn-lt"/>
            </a:endParaRPr>
          </a:p>
        </p:txBody>
      </p:sp>
    </p:spTree>
    <p:extLst>
      <p:ext uri="{BB962C8B-B14F-4D97-AF65-F5344CB8AC3E}">
        <p14:creationId xmlns:p14="http://schemas.microsoft.com/office/powerpoint/2010/main" val="341861021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image" Target="../media/image1.pn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theme" Target="../theme/theme3.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image" Target="../media/image1.png"/><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theme" Target="../theme/theme4.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image" Target="../media/image1.png"/><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theme" Target="../theme/theme5.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1.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image" Target="../media/image1.png"/><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theme" Target="../theme/theme7.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theme" Target="../theme/theme8.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5C6E3380-5633-4288-A8A8-ECD25667FB64}" type="datetime1">
              <a:rPr lang="en-US" smtClean="0"/>
              <a:t>11/11/2025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Tree>
    <p:extLst>
      <p:ext uri="{BB962C8B-B14F-4D97-AF65-F5344CB8AC3E}">
        <p14:creationId xmlns:p14="http://schemas.microsoft.com/office/powerpoint/2010/main" val="2374070772"/>
      </p:ext>
    </p:extLst>
  </p:cSld>
  <p:clrMap bg1="lt1" tx1="dk1" bg2="lt2" tx2="dk2" accent1="accent1" accent2="accent2" accent3="accent3" accent4="accent4" accent5="accent5" accent6="accent6" hlink="hlink" folHlink="folHlink"/>
  <p:sldLayoutIdLst>
    <p:sldLayoutId id="2147483756" r:id="rId1"/>
    <p:sldLayoutId id="2147483694" r:id="rId2"/>
    <p:sldLayoutId id="2147483757" r:id="rId3"/>
    <p:sldLayoutId id="2147483815" r:id="rId4"/>
    <p:sldLayoutId id="2147483816" r:id="rId5"/>
    <p:sldLayoutId id="2147483695" r:id="rId6"/>
    <p:sldLayoutId id="2147483697" r:id="rId7"/>
    <p:sldLayoutId id="2147483700" r:id="rId8"/>
    <p:sldLayoutId id="2147483809" r:id="rId9"/>
    <p:sldLayoutId id="2147483758" r:id="rId10"/>
    <p:sldLayoutId id="2147483839" r:id="rId11"/>
    <p:sldLayoutId id="2147483841" r:id="rId12"/>
    <p:sldLayoutId id="2147483845" r:id="rId13"/>
    <p:sldLayoutId id="2147483849" r:id="rId14"/>
    <p:sldLayoutId id="2147483863" r:id="rId15"/>
    <p:sldLayoutId id="2147483864" r:id="rId16"/>
  </p:sldLayoutIdLst>
  <p:hf hdr="0" ftr="0" dt="0"/>
  <p:txStyles>
    <p:titleStyle>
      <a:lvl1pPr algn="l" defTabSz="914400" rtl="0" eaLnBrk="1" latinLnBrk="0" hangingPunct="1">
        <a:spcBef>
          <a:spcPct val="0"/>
        </a:spcBef>
        <a:buNone/>
        <a:defRPr sz="2400" b="1" kern="1200">
          <a:solidFill>
            <a:srgbClr val="ED037C"/>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E61E5-4F51-5244-AF22-7E7830F6013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6F514A79-2463-4F29-88BD-4D9C4C19AAA9}" type="datetime1">
              <a:rPr lang="en-US" smtClean="0"/>
              <a:t>11/11/2025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Tree>
    <p:extLst>
      <p:ext uri="{BB962C8B-B14F-4D97-AF65-F5344CB8AC3E}">
        <p14:creationId xmlns:p14="http://schemas.microsoft.com/office/powerpoint/2010/main" val="4158461917"/>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817" r:id="rId5"/>
    <p:sldLayoutId id="2147483818" r:id="rId6"/>
    <p:sldLayoutId id="2147483764" r:id="rId7"/>
    <p:sldLayoutId id="2147483765" r:id="rId8"/>
    <p:sldLayoutId id="2147483767" r:id="rId9"/>
    <p:sldLayoutId id="2147483810" r:id="rId10"/>
    <p:sldLayoutId id="2147483768" r:id="rId11"/>
  </p:sldLayoutIdLst>
  <p:hf hdr="0" ftr="0" dt="0"/>
  <p:txStyles>
    <p:titleStyle>
      <a:lvl1pPr algn="l" defTabSz="914400" rtl="0" eaLnBrk="1" latinLnBrk="0" hangingPunct="1">
        <a:spcBef>
          <a:spcPct val="0"/>
        </a:spcBef>
        <a:buNone/>
        <a:defRPr sz="2400" b="1" kern="1200">
          <a:solidFill>
            <a:srgbClr val="00C2E2"/>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8506057-B2D2-8D43-A4F7-12D8B3B0A82F}"/>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AB0A6EC4-36EA-4612-993B-63646985A483}" type="datetime1">
              <a:rPr lang="en-US" smtClean="0"/>
              <a:t>11/11/2025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Tree>
    <p:extLst>
      <p:ext uri="{BB962C8B-B14F-4D97-AF65-F5344CB8AC3E}">
        <p14:creationId xmlns:p14="http://schemas.microsoft.com/office/powerpoint/2010/main" val="1654826252"/>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819" r:id="rId4"/>
    <p:sldLayoutId id="2147483820" r:id="rId5"/>
    <p:sldLayoutId id="2147483774" r:id="rId6"/>
    <p:sldLayoutId id="2147483776" r:id="rId7"/>
    <p:sldLayoutId id="2147483777" r:id="rId8"/>
    <p:sldLayoutId id="2147483811" r:id="rId9"/>
    <p:sldLayoutId id="2147483778" r:id="rId10"/>
  </p:sldLayoutIdLst>
  <p:hf hdr="0" ftr="0" dt="0"/>
  <p:txStyles>
    <p:titleStyle>
      <a:lvl1pPr algn="l" defTabSz="914400" rtl="0" eaLnBrk="1" latinLnBrk="0" hangingPunct="1">
        <a:spcBef>
          <a:spcPct val="0"/>
        </a:spcBef>
        <a:buNone/>
        <a:defRPr sz="2400" b="1" kern="1200">
          <a:solidFill>
            <a:srgbClr val="0AAD88"/>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19A9C5-52BF-F84D-A94B-A728BCB51A2B}"/>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8DE08A8C-08F2-4724-94C4-C3ECE83C97F8}" type="datetime1">
              <a:rPr lang="en-US" smtClean="0"/>
              <a:t>11/11/2025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Tree>
    <p:extLst>
      <p:ext uri="{BB962C8B-B14F-4D97-AF65-F5344CB8AC3E}">
        <p14:creationId xmlns:p14="http://schemas.microsoft.com/office/powerpoint/2010/main" val="2616035853"/>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821" r:id="rId4"/>
    <p:sldLayoutId id="2147483822" r:id="rId5"/>
    <p:sldLayoutId id="2147483784" r:id="rId6"/>
    <p:sldLayoutId id="2147483785" r:id="rId7"/>
    <p:sldLayoutId id="2147483787" r:id="rId8"/>
    <p:sldLayoutId id="2147483812" r:id="rId9"/>
    <p:sldLayoutId id="2147483788" r:id="rId10"/>
  </p:sldLayoutIdLst>
  <p:hf hdr="0" ftr="0" dt="0"/>
  <p:txStyles>
    <p:titleStyle>
      <a:lvl1pPr algn="l" defTabSz="914400" rtl="0" eaLnBrk="1" latinLnBrk="0" hangingPunct="1">
        <a:spcBef>
          <a:spcPct val="0"/>
        </a:spcBef>
        <a:buNone/>
        <a:defRPr sz="2400" b="1" kern="1200">
          <a:solidFill>
            <a:srgbClr val="3989C9"/>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2DC6D27-6BC2-DC43-9B42-6982FEEBBA2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9F3336C3-4FA9-4E98-92E0-5752FF7475E7}" type="datetime1">
              <a:rPr lang="en-US" smtClean="0"/>
              <a:t>11/11/2025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spTree>
    <p:extLst>
      <p:ext uri="{BB962C8B-B14F-4D97-AF65-F5344CB8AC3E}">
        <p14:creationId xmlns:p14="http://schemas.microsoft.com/office/powerpoint/2010/main" val="2464309952"/>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823" r:id="rId4"/>
    <p:sldLayoutId id="2147483824" r:id="rId5"/>
    <p:sldLayoutId id="2147483794" r:id="rId6"/>
    <p:sldLayoutId id="2147483796" r:id="rId7"/>
    <p:sldLayoutId id="2147483797" r:id="rId8"/>
    <p:sldLayoutId id="2147483813" r:id="rId9"/>
    <p:sldLayoutId id="2147483798" r:id="rId10"/>
  </p:sldLayoutIdLst>
  <p:hf hdr="0" ftr="0" dt="0"/>
  <p:txStyles>
    <p:titleStyle>
      <a:lvl1pPr algn="l" defTabSz="914400" rtl="0" eaLnBrk="1" latinLnBrk="0" hangingPunct="1">
        <a:spcBef>
          <a:spcPct val="0"/>
        </a:spcBef>
        <a:buNone/>
        <a:defRPr sz="2400" b="1" kern="1200">
          <a:solidFill>
            <a:srgbClr val="FCAF17"/>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7FD2190C-61DB-43C6-9550-36AD9428A4C0}" type="datetime1">
              <a:rPr lang="en-US" smtClean="0"/>
              <a:t>11/11/2025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7" name="Picture 6">
            <a:extLst>
              <a:ext uri="{FF2B5EF4-FFF2-40B4-BE49-F238E27FC236}">
                <a16:creationId xmlns:a16="http://schemas.microsoft.com/office/drawing/2014/main" id="{C91E2860-83AC-7A4B-943A-076630A98A8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Tree>
    <p:extLst>
      <p:ext uri="{BB962C8B-B14F-4D97-AF65-F5344CB8AC3E}">
        <p14:creationId xmlns:p14="http://schemas.microsoft.com/office/powerpoint/2010/main" val="2336893022"/>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25" r:id="rId5"/>
    <p:sldLayoutId id="2147483826" r:id="rId6"/>
    <p:sldLayoutId id="2147483804" r:id="rId7"/>
    <p:sldLayoutId id="2147483806" r:id="rId8"/>
    <p:sldLayoutId id="2147483807" r:id="rId9"/>
    <p:sldLayoutId id="2147483814" r:id="rId10"/>
    <p:sldLayoutId id="2147483808" r:id="rId11"/>
  </p:sldLayoutIdLst>
  <p:hf hdr="0" ftr="0" dt="0"/>
  <p:txStyles>
    <p:titleStyle>
      <a:lvl1pPr algn="l" defTabSz="914400" rtl="0" eaLnBrk="1" latinLnBrk="0" hangingPunct="1">
        <a:spcBef>
          <a:spcPct val="0"/>
        </a:spcBef>
        <a:buNone/>
        <a:defRPr sz="2400" b="1" kern="1200">
          <a:solidFill>
            <a:srgbClr val="929292"/>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5361" y="274641"/>
            <a:ext cx="9601067" cy="563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35360" y="1484784"/>
            <a:ext cx="11516853" cy="4641380"/>
          </a:xfrm>
          <a:prstGeom prst="rect">
            <a:avLst/>
          </a:prstGeom>
        </p:spPr>
        <p:txBody>
          <a:bodyPr vert="horz" lIns="91440" tIns="45720" rIns="91440" bIns="45720" numCol="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a:p>
            <a:pPr lvl="8"/>
            <a:endParaRPr lang="en-US" dirty="0"/>
          </a:p>
        </p:txBody>
      </p:sp>
      <p:sp>
        <p:nvSpPr>
          <p:cNvPr id="4" name="Date Placeholder 3"/>
          <p:cNvSpPr>
            <a:spLocks noGrp="1"/>
          </p:cNvSpPr>
          <p:nvPr>
            <p:ph type="dt" sz="half" idx="2"/>
          </p:nvPr>
        </p:nvSpPr>
        <p:spPr>
          <a:xfrm>
            <a:off x="719403" y="6525348"/>
            <a:ext cx="912101"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fld id="{12B2F91B-FBEB-4C10-8F39-A1DD16D16D8C}" type="datetime1">
              <a:rPr lang="en-US" smtClean="0"/>
              <a:t>11/11/2025</a:t>
            </a:fld>
            <a:endParaRPr lang="en-US" dirty="0"/>
          </a:p>
        </p:txBody>
      </p:sp>
      <p:sp>
        <p:nvSpPr>
          <p:cNvPr id="5" name="Footer Placeholder 4"/>
          <p:cNvSpPr>
            <a:spLocks noGrp="1"/>
          </p:cNvSpPr>
          <p:nvPr>
            <p:ph type="ftr" sz="quarter" idx="3"/>
          </p:nvPr>
        </p:nvSpPr>
        <p:spPr>
          <a:xfrm>
            <a:off x="1547561" y="6525348"/>
            <a:ext cx="8220847" cy="216023"/>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cs typeface="Arial" panose="020B0604020202020204" pitchFamily="34" charset="0"/>
              </a:defRPr>
            </a:lvl1pPr>
          </a:lstStyle>
          <a:p>
            <a:r>
              <a:rPr lang="en-CA"/>
              <a:t>This is the slide footer, which can be edited under Header &amp; Footer, along with slide numbers and date</a:t>
            </a:r>
            <a:endParaRPr lang="en-US" dirty="0"/>
          </a:p>
        </p:txBody>
      </p:sp>
      <p:sp>
        <p:nvSpPr>
          <p:cNvPr id="6" name="Slide Number Placeholder 5"/>
          <p:cNvSpPr>
            <a:spLocks noGrp="1"/>
          </p:cNvSpPr>
          <p:nvPr>
            <p:ph type="sldNum" sz="quarter" idx="4"/>
          </p:nvPr>
        </p:nvSpPr>
        <p:spPr>
          <a:xfrm>
            <a:off x="239351" y="6525348"/>
            <a:ext cx="480053" cy="216023"/>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cs typeface="Arial" panose="020B0604020202020204" pitchFamily="34" charset="0"/>
              </a:defRPr>
            </a:lvl1pPr>
          </a:lstStyle>
          <a:p>
            <a:fld id="{9B7CDB38-6350-4CC9-AB0E-B9078CE1CE4B}" type="slidenum">
              <a:rPr lang="en-US" smtClean="0"/>
              <a:pPr/>
              <a:t>‹#›</a:t>
            </a:fld>
            <a:endParaRPr lang="en-US" dirty="0"/>
          </a:p>
        </p:txBody>
      </p:sp>
      <p:pic>
        <p:nvPicPr>
          <p:cNvPr id="7" name="Picture 6">
            <a:extLst>
              <a:ext uri="{FF2B5EF4-FFF2-40B4-BE49-F238E27FC236}">
                <a16:creationId xmlns:a16="http://schemas.microsoft.com/office/drawing/2014/main" id="{A9BA3B90-0677-3D47-A75A-7CA89423C637}"/>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381170" y="6512874"/>
            <a:ext cx="1440161" cy="228497"/>
          </a:xfrm>
          <a:prstGeom prst="rect">
            <a:avLst/>
          </a:prstGeom>
        </p:spPr>
      </p:pic>
    </p:spTree>
    <p:extLst>
      <p:ext uri="{BB962C8B-B14F-4D97-AF65-F5344CB8AC3E}">
        <p14:creationId xmlns:p14="http://schemas.microsoft.com/office/powerpoint/2010/main" val="1562372141"/>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5" r:id="rId7"/>
    <p:sldLayoutId id="2147483836" r:id="rId8"/>
    <p:sldLayoutId id="2147483837" r:id="rId9"/>
    <p:sldLayoutId id="2147483838" r:id="rId10"/>
  </p:sldLayoutIdLst>
  <p:hf hdr="0" ftr="0" dt="0"/>
  <p:txStyles>
    <p:titleStyle>
      <a:lvl1pPr algn="l" defTabSz="914400" rtl="0" eaLnBrk="1" latinLnBrk="0" hangingPunct="1">
        <a:spcBef>
          <a:spcPct val="0"/>
        </a:spcBef>
        <a:buNone/>
        <a:defRPr sz="2400" b="1" kern="1200">
          <a:solidFill>
            <a:srgbClr val="EACC1B"/>
          </a:solidFill>
          <a:latin typeface="Arial" panose="020B0604020202020204" pitchFamily="34" charset="0"/>
          <a:ea typeface="+mj-ea"/>
          <a:cs typeface="Arial" panose="020B0604020202020204" pitchFamily="34" charset="0"/>
        </a:defRPr>
      </a:lvl1pPr>
    </p:titleStyle>
    <p:bodyStyle>
      <a:lvl1pPr marL="177800" indent="-177800" algn="l" defTabSz="914400" rtl="0" eaLnBrk="1" latinLnBrk="0" hangingPunct="1">
        <a:spcBef>
          <a:spcPct val="20000"/>
        </a:spcBef>
        <a:spcAft>
          <a:spcPts val="600"/>
        </a:spcAft>
        <a:buSzPct val="80000"/>
        <a:buFont typeface="Arial" pitchFamily="34" charset="0"/>
        <a:buChar char="•"/>
        <a:defRPr sz="1500" kern="1200">
          <a:solidFill>
            <a:schemeClr val="tx1">
              <a:lumMod val="85000"/>
              <a:lumOff val="15000"/>
            </a:schemeClr>
          </a:solidFill>
          <a:latin typeface="Arial" panose="020B0604020202020204" pitchFamily="34" charset="0"/>
          <a:ea typeface="+mn-ea"/>
          <a:cs typeface="Arial" panose="020B0604020202020204" pitchFamily="34" charset="0"/>
        </a:defRPr>
      </a:lvl1pPr>
      <a:lvl2pPr marL="627063" indent="-1698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2pPr>
      <a:lvl3pPr marL="1074738" indent="-160338"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3pPr>
      <a:lvl4pPr marL="1524000" indent="-152400"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4pPr>
      <a:lvl5pPr marL="1973263" indent="-144463" algn="l" defTabSz="914400" rtl="0" eaLnBrk="1" latinLnBrk="0" hangingPunct="1">
        <a:spcBef>
          <a:spcPct val="20000"/>
        </a:spcBef>
        <a:spcAft>
          <a:spcPts val="600"/>
        </a:spcAft>
        <a:buSzPct val="80000"/>
        <a:buFont typeface="Arial" pitchFamily="34" charset="0"/>
        <a:buChar char="•"/>
        <a:defRPr sz="1300" kern="1200">
          <a:solidFill>
            <a:schemeClr val="tx1">
              <a:lumMod val="85000"/>
              <a:lumOff val="15000"/>
            </a:schemeClr>
          </a:solidFill>
          <a:latin typeface="Arial" panose="020B0604020202020204" pitchFamily="34" charset="0"/>
          <a:ea typeface="+mn-ea"/>
          <a:cs typeface="Arial" panose="020B0604020202020204" pitchFamily="34" charset="0"/>
        </a:defRPr>
      </a:lvl5pPr>
      <a:lvl6pPr marL="24209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6pPr>
      <a:lvl7pPr marL="2870200" indent="-127000" algn="l" defTabSz="914400" rtl="0" eaLnBrk="1" latinLnBrk="0" hangingPunct="1">
        <a:spcBef>
          <a:spcPct val="20000"/>
        </a:spcBef>
        <a:spcAft>
          <a:spcPts val="600"/>
        </a:spcAft>
        <a:buSzPct val="80000"/>
        <a:buFont typeface="Arial" pitchFamily="34" charset="0"/>
        <a:buChar char="•"/>
        <a:tabLst/>
        <a:defRPr sz="1300" kern="1200">
          <a:solidFill>
            <a:schemeClr val="tx1"/>
          </a:solidFill>
          <a:latin typeface="Arial" panose="020B0604020202020204" pitchFamily="34" charset="0"/>
          <a:ea typeface="+mn-ea"/>
          <a:cs typeface="Arial" panose="020B0604020202020204" pitchFamily="34" charset="0"/>
        </a:defRPr>
      </a:lvl7pPr>
      <a:lvl8pPr marL="3319463" indent="-119063" algn="l" defTabSz="914400" rtl="0" eaLnBrk="1" latinLnBrk="0" hangingPunct="1">
        <a:spcBef>
          <a:spcPct val="20000"/>
        </a:spcBef>
        <a:spcAft>
          <a:spcPts val="600"/>
        </a:spcAft>
        <a:buSzPct val="80000"/>
        <a:buFont typeface="Arial" pitchFamily="34" charset="0"/>
        <a:buChar char="•"/>
        <a:defRPr sz="1300" kern="1200" baseline="0">
          <a:solidFill>
            <a:schemeClr val="tx1"/>
          </a:solidFill>
          <a:latin typeface="Arial" panose="020B0604020202020204" pitchFamily="34" charset="0"/>
          <a:ea typeface="+mn-ea"/>
          <a:cs typeface="Arial" panose="020B0604020202020204" pitchFamily="34" charset="0"/>
        </a:defRPr>
      </a:lvl8pPr>
      <a:lvl9pPr marL="3792538" indent="-134938" algn="l" defTabSz="914400" rtl="0" eaLnBrk="1" latinLnBrk="0" hangingPunct="1">
        <a:spcBef>
          <a:spcPct val="20000"/>
        </a:spcBef>
        <a:spcAft>
          <a:spcPts val="600"/>
        </a:spcAft>
        <a:buSzPct val="80000"/>
        <a:buFont typeface="Arial" pitchFamily="34" charset="0"/>
        <a:buChar char="•"/>
        <a:defRPr sz="1300" kern="1200">
          <a:solidFill>
            <a:schemeClr val="tx1"/>
          </a:solidFill>
          <a:latin typeface="Arial" panose="020B0604020202020204" pitchFamily="34" charset="0"/>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1D1A595-0E05-45F7-BECB-ECE6CB55AB36}"/>
              </a:ext>
            </a:extLst>
          </p:cNvPr>
          <p:cNvSpPr>
            <a:spLocks noGrp="1"/>
          </p:cNvSpPr>
          <p:nvPr>
            <p:ph type="ftr" sz="quarter" idx="3"/>
          </p:nvPr>
        </p:nvSpPr>
        <p:spPr>
          <a:xfrm>
            <a:off x="3407834" y="6491288"/>
            <a:ext cx="5281084" cy="366712"/>
          </a:xfrm>
          <a:prstGeom prst="rect">
            <a:avLst/>
          </a:prstGeom>
          <a:noFill/>
        </p:spPr>
        <p:txBody>
          <a:bodyPr/>
          <a:lstStyle>
            <a:lvl1pPr algn="ctr" eaLnBrk="1" hangingPunct="1">
              <a:defRPr sz="1200">
                <a:latin typeface="+mn-lt"/>
              </a:defRPr>
            </a:lvl1pPr>
          </a:lstStyle>
          <a:p>
            <a:pPr>
              <a:defRPr/>
            </a:pPr>
            <a:r>
              <a:rPr lang="en-CA"/>
              <a:t>This is the slide footer, which can be edited under Header &amp; Footer, along with slide numbers and date</a:t>
            </a:r>
            <a:endParaRPr lang="en-CA" dirty="0"/>
          </a:p>
        </p:txBody>
      </p:sp>
    </p:spTree>
    <p:extLst>
      <p:ext uri="{BB962C8B-B14F-4D97-AF65-F5344CB8AC3E}">
        <p14:creationId xmlns:p14="http://schemas.microsoft.com/office/powerpoint/2010/main" val="1477207749"/>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Lst>
  <p:hf hdr="0" ftr="0" dt="0"/>
  <p:txStyles>
    <p:titleStyle>
      <a:lvl1pPr marL="53975" algn="r" rtl="0" eaLnBrk="0" fontAlgn="base" hangingPunct="0">
        <a:spcBef>
          <a:spcPct val="0"/>
        </a:spcBef>
        <a:spcAft>
          <a:spcPct val="0"/>
        </a:spcAft>
        <a:defRPr sz="4600" kern="1200">
          <a:solidFill>
            <a:srgbClr val="6D7442"/>
          </a:solidFill>
          <a:effectLst>
            <a:outerShdw blurRad="38100" dist="25500" dir="5400000" algn="tl" rotWithShape="0">
              <a:srgbClr val="000000">
                <a:satMod val="180000"/>
                <a:alpha val="75000"/>
              </a:srgbClr>
            </a:outerShdw>
          </a:effectLst>
          <a:latin typeface="+mj-lt"/>
          <a:ea typeface="+mj-ea"/>
          <a:cs typeface="+mj-cs"/>
        </a:defRPr>
      </a:lvl1pPr>
      <a:lvl2pPr marL="53975" algn="r" rtl="0" eaLnBrk="0" fontAlgn="base" hangingPunct="0">
        <a:spcBef>
          <a:spcPct val="0"/>
        </a:spcBef>
        <a:spcAft>
          <a:spcPct val="0"/>
        </a:spcAft>
        <a:defRPr sz="4600">
          <a:solidFill>
            <a:srgbClr val="6D7442"/>
          </a:solidFill>
          <a:latin typeface="Rockwell" pitchFamily="18" charset="0"/>
        </a:defRPr>
      </a:lvl2pPr>
      <a:lvl3pPr marL="53975" algn="r" rtl="0" eaLnBrk="0" fontAlgn="base" hangingPunct="0">
        <a:spcBef>
          <a:spcPct val="0"/>
        </a:spcBef>
        <a:spcAft>
          <a:spcPct val="0"/>
        </a:spcAft>
        <a:defRPr sz="4600">
          <a:solidFill>
            <a:srgbClr val="6D7442"/>
          </a:solidFill>
          <a:latin typeface="Rockwell" pitchFamily="18" charset="0"/>
        </a:defRPr>
      </a:lvl3pPr>
      <a:lvl4pPr marL="53975" algn="r" rtl="0" eaLnBrk="0" fontAlgn="base" hangingPunct="0">
        <a:spcBef>
          <a:spcPct val="0"/>
        </a:spcBef>
        <a:spcAft>
          <a:spcPct val="0"/>
        </a:spcAft>
        <a:defRPr sz="4600">
          <a:solidFill>
            <a:srgbClr val="6D7442"/>
          </a:solidFill>
          <a:latin typeface="Rockwell" pitchFamily="18" charset="0"/>
        </a:defRPr>
      </a:lvl4pPr>
      <a:lvl5pPr marL="53975" algn="r" rtl="0" eaLnBrk="0" fontAlgn="base" hangingPunct="0">
        <a:spcBef>
          <a:spcPct val="0"/>
        </a:spcBef>
        <a:spcAft>
          <a:spcPct val="0"/>
        </a:spcAft>
        <a:defRPr sz="4600">
          <a:solidFill>
            <a:srgbClr val="6D7442"/>
          </a:solidFill>
          <a:latin typeface="Rockwell" pitchFamily="18" charset="0"/>
        </a:defRPr>
      </a:lvl5pPr>
      <a:lvl6pPr marL="511175" algn="r" rtl="0" fontAlgn="base">
        <a:spcBef>
          <a:spcPct val="0"/>
        </a:spcBef>
        <a:spcAft>
          <a:spcPct val="0"/>
        </a:spcAft>
        <a:defRPr sz="4600">
          <a:solidFill>
            <a:srgbClr val="6D7442"/>
          </a:solidFill>
          <a:latin typeface="Rockwell" pitchFamily="18" charset="0"/>
        </a:defRPr>
      </a:lvl6pPr>
      <a:lvl7pPr marL="968375" algn="r" rtl="0" fontAlgn="base">
        <a:spcBef>
          <a:spcPct val="0"/>
        </a:spcBef>
        <a:spcAft>
          <a:spcPct val="0"/>
        </a:spcAft>
        <a:defRPr sz="4600">
          <a:solidFill>
            <a:srgbClr val="6D7442"/>
          </a:solidFill>
          <a:latin typeface="Rockwell" pitchFamily="18" charset="0"/>
        </a:defRPr>
      </a:lvl7pPr>
      <a:lvl8pPr marL="1425575" algn="r" rtl="0" fontAlgn="base">
        <a:spcBef>
          <a:spcPct val="0"/>
        </a:spcBef>
        <a:spcAft>
          <a:spcPct val="0"/>
        </a:spcAft>
        <a:defRPr sz="4600">
          <a:solidFill>
            <a:srgbClr val="6D7442"/>
          </a:solidFill>
          <a:latin typeface="Rockwell" pitchFamily="18" charset="0"/>
        </a:defRPr>
      </a:lvl8pPr>
      <a:lvl9pPr marL="1882775" algn="r" rtl="0" fontAlgn="base">
        <a:spcBef>
          <a:spcPct val="0"/>
        </a:spcBef>
        <a:spcAft>
          <a:spcPct val="0"/>
        </a:spcAft>
        <a:defRPr sz="4600">
          <a:solidFill>
            <a:srgbClr val="6D7442"/>
          </a:solidFill>
          <a:latin typeface="Rockwell" pitchFamily="18" charset="0"/>
        </a:defRPr>
      </a:lvl9pPr>
      <a:extLst/>
    </p:titleStyle>
    <p:bodyStyle>
      <a:lvl1pPr marL="292100" indent="-292100" algn="l" rtl="0" eaLnBrk="0" fontAlgn="base" hangingPunct="0">
        <a:spcBef>
          <a:spcPct val="0"/>
        </a:spcBef>
        <a:spcAft>
          <a:spcPct val="0"/>
        </a:spcAft>
        <a:buClr>
          <a:schemeClr val="accent1"/>
        </a:buClr>
        <a:buSzPct val="70000"/>
        <a:buFont typeface="Wingdings 2" panose="05020102010507070707" pitchFamily="18" charset="2"/>
        <a:buChar char=""/>
        <a:defRPr sz="3200" kern="1200">
          <a:solidFill>
            <a:schemeClr val="tx1"/>
          </a:solidFill>
          <a:latin typeface="+mn-lt"/>
          <a:ea typeface="+mn-ea"/>
          <a:cs typeface="+mn-cs"/>
        </a:defRPr>
      </a:lvl1pPr>
      <a:lvl2pPr marL="639763" indent="-228600" algn="l" rtl="0" eaLnBrk="0" fontAlgn="base" hangingPunct="0">
        <a:spcBef>
          <a:spcPts val="400"/>
        </a:spcBef>
        <a:spcAft>
          <a:spcPct val="0"/>
        </a:spcAft>
        <a:buClr>
          <a:schemeClr val="accent2"/>
        </a:buClr>
        <a:buSzPct val="90000"/>
        <a:defRPr sz="2600" kern="1200">
          <a:solidFill>
            <a:schemeClr val="tx1"/>
          </a:solidFill>
          <a:latin typeface="+mn-lt"/>
          <a:ea typeface="+mn-ea"/>
          <a:cs typeface="+mn-cs"/>
        </a:defRPr>
      </a:lvl2pPr>
      <a:lvl3pPr marL="822325" indent="-190500" algn="l" rtl="0" eaLnBrk="0" fontAlgn="base" hangingPunct="0">
        <a:spcBef>
          <a:spcPts val="400"/>
        </a:spcBef>
        <a:spcAft>
          <a:spcPct val="0"/>
        </a:spcAft>
        <a:buClr>
          <a:srgbClr val="A8CDD7"/>
        </a:buClr>
        <a:buSzPct val="100000"/>
        <a:buFont typeface="Wingdings 2" panose="05020102010507070707" pitchFamily="18" charset="2"/>
        <a:buChar char=""/>
        <a:defRPr sz="2300" kern="1200">
          <a:solidFill>
            <a:schemeClr val="tx1"/>
          </a:solidFill>
          <a:latin typeface="+mn-lt"/>
          <a:ea typeface="+mn-ea"/>
          <a:cs typeface="+mn-cs"/>
        </a:defRPr>
      </a:lvl3pPr>
      <a:lvl4pPr marL="1004888" indent="-182563" algn="l" rtl="0" eaLnBrk="0" fontAlgn="base" hangingPunct="0">
        <a:spcBef>
          <a:spcPts val="400"/>
        </a:spcBef>
        <a:spcAft>
          <a:spcPct val="0"/>
        </a:spcAft>
        <a:buClr>
          <a:srgbClr val="A8CDD7"/>
        </a:buClr>
        <a:buSzPct val="100000"/>
        <a:buFont typeface="Wingdings 2" panose="05020102010507070707" pitchFamily="18" charset="2"/>
        <a:buChar char=""/>
        <a:defRPr sz="2000" kern="1200">
          <a:solidFill>
            <a:schemeClr val="tx1"/>
          </a:solidFill>
          <a:latin typeface="+mn-lt"/>
          <a:ea typeface="+mn-ea"/>
          <a:cs typeface="+mn-cs"/>
        </a:defRPr>
      </a:lvl4pPr>
      <a:lvl5pPr marL="1187450" indent="-182563" algn="l" rtl="0" eaLnBrk="0" fontAlgn="base" hangingPunct="0">
        <a:spcBef>
          <a:spcPts val="400"/>
        </a:spcBef>
        <a:spcAft>
          <a:spcPct val="0"/>
        </a:spcAft>
        <a:buClr>
          <a:srgbClr val="A8CDD7"/>
        </a:buClr>
        <a:buSzPct val="100000"/>
        <a:buFont typeface="Wingdings 2" panose="05020102010507070707" pitchFamily="18" charset="2"/>
        <a:buChar char=""/>
        <a:defRPr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7.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9.emf"/><Relationship Id="rId5" Type="http://schemas.openxmlformats.org/officeDocument/2006/relationships/oleObject" Target="../embeddings/oleObject3.bin"/><Relationship Id="rId4" Type="http://schemas.openxmlformats.org/officeDocument/2006/relationships/image" Target="../media/image18.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1.emf"/><Relationship Id="rId5" Type="http://schemas.openxmlformats.org/officeDocument/2006/relationships/oleObject" Target="../embeddings/oleObject5.bin"/><Relationship Id="rId4" Type="http://schemas.openxmlformats.org/officeDocument/2006/relationships/image" Target="../media/image20.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hyperlink" Target="http://www.youtube.com/watch?v=GNF793Inghg"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7.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9.emf"/><Relationship Id="rId5" Type="http://schemas.openxmlformats.org/officeDocument/2006/relationships/oleObject" Target="../embeddings/oleObject8.bin"/><Relationship Id="rId4" Type="http://schemas.openxmlformats.org/officeDocument/2006/relationships/image" Target="../media/image28.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31.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32.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33.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34.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35.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36.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37.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38.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39.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40.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41.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42.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43.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44.e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45.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46.emf"/></Relationships>
</file>

<file path=ppt/slides/_rels/slide48.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50.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51.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52.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53.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54.emf"/></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55.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56.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57.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58.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59.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60.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351" y="3284984"/>
            <a:ext cx="11041225" cy="2376261"/>
          </a:xfrm>
        </p:spPr>
        <p:txBody>
          <a:bodyPr>
            <a:normAutofit fontScale="90000"/>
          </a:bodyPr>
          <a:lstStyle/>
          <a:p>
            <a:br>
              <a:rPr lang="en-CA" dirty="0"/>
            </a:br>
            <a:br>
              <a:rPr lang="en-CA" dirty="0"/>
            </a:br>
            <a:br>
              <a:rPr lang="en-CA" dirty="0"/>
            </a:br>
            <a:br>
              <a:rPr lang="en-CA" dirty="0"/>
            </a:br>
            <a:r>
              <a:rPr lang="en-CA" dirty="0"/>
              <a:t>RSM222</a:t>
            </a:r>
            <a:br>
              <a:rPr lang="en-CA" dirty="0"/>
            </a:br>
            <a:r>
              <a:rPr lang="en-CA" sz="3900" dirty="0"/>
              <a:t>Management Accounting 1</a:t>
            </a:r>
            <a:br>
              <a:rPr lang="en-CA" sz="3900" dirty="0"/>
            </a:br>
            <a:br>
              <a:rPr lang="en-CA" sz="3900" dirty="0"/>
            </a:br>
            <a:r>
              <a:rPr lang="en-CA" sz="3100" dirty="0"/>
              <a:t>Class 10: Relevant Costs for Decision Making</a:t>
            </a:r>
            <a:br>
              <a:rPr lang="en-CA" sz="3900" dirty="0"/>
            </a:br>
            <a:endParaRPr lang="en-CA" sz="3900" dirty="0"/>
          </a:p>
        </p:txBody>
      </p:sp>
      <p:sp>
        <p:nvSpPr>
          <p:cNvPr id="3" name="Subtitle 2"/>
          <p:cNvSpPr>
            <a:spLocks noGrp="1"/>
          </p:cNvSpPr>
          <p:nvPr>
            <p:ph type="body" idx="1"/>
          </p:nvPr>
        </p:nvSpPr>
        <p:spPr>
          <a:xfrm>
            <a:off x="261764" y="6093296"/>
            <a:ext cx="10363200" cy="504056"/>
          </a:xfrm>
        </p:spPr>
        <p:txBody>
          <a:bodyPr>
            <a:normAutofit/>
          </a:bodyPr>
          <a:lstStyle/>
          <a:p>
            <a:r>
              <a:rPr lang="en-CA" dirty="0"/>
              <a:t>Elisa Zuliani</a:t>
            </a:r>
          </a:p>
        </p:txBody>
      </p:sp>
      <p:sp>
        <p:nvSpPr>
          <p:cNvPr id="4" name="Slide Number Placeholder 3">
            <a:extLst>
              <a:ext uri="{FF2B5EF4-FFF2-40B4-BE49-F238E27FC236}">
                <a16:creationId xmlns:a16="http://schemas.microsoft.com/office/drawing/2014/main" id="{6A052327-40D4-DB86-08A7-3C044CEB8366}"/>
              </a:ext>
            </a:extLst>
          </p:cNvPr>
          <p:cNvSpPr>
            <a:spLocks noGrp="1"/>
          </p:cNvSpPr>
          <p:nvPr>
            <p:ph type="sldNum" sz="quarter" idx="12"/>
          </p:nvPr>
        </p:nvSpPr>
        <p:spPr/>
        <p:txBody>
          <a:bodyPr/>
          <a:lstStyle/>
          <a:p>
            <a:fld id="{9B7CDB38-6350-4CC9-AB0E-B9078CE1CE4B}" type="slidenum">
              <a:rPr lang="en-US" smtClean="0"/>
              <a:pPr/>
              <a:t>1</a:t>
            </a:fld>
            <a:endParaRPr lang="en-US" dirty="0"/>
          </a:p>
        </p:txBody>
      </p:sp>
    </p:spTree>
    <p:extLst>
      <p:ext uri="{BB962C8B-B14F-4D97-AF65-F5344CB8AC3E}">
        <p14:creationId xmlns:p14="http://schemas.microsoft.com/office/powerpoint/2010/main" val="3869622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2</a:t>
            </a:fld>
            <a:endParaRPr spc="-25" dirty="0"/>
          </a:p>
        </p:txBody>
      </p:sp>
      <p:sp>
        <p:nvSpPr>
          <p:cNvPr id="4" name="object 4"/>
          <p:cNvSpPr txBox="1"/>
          <p:nvPr/>
        </p:nvSpPr>
        <p:spPr>
          <a:xfrm>
            <a:off x="440432" y="5517232"/>
            <a:ext cx="10972800" cy="769620"/>
          </a:xfrm>
          <a:prstGeom prst="rect">
            <a:avLst/>
          </a:prstGeom>
          <a:ln w="38100">
            <a:solidFill>
              <a:srgbClr val="0070C0"/>
            </a:solidFill>
          </a:ln>
        </p:spPr>
        <p:txBody>
          <a:bodyPr vert="horz" wrap="square" lIns="0" tIns="37465" rIns="0" bIns="0" rtlCol="0">
            <a:spAutoFit/>
          </a:bodyPr>
          <a:lstStyle/>
          <a:p>
            <a:pPr marR="3175" algn="ctr">
              <a:lnSpc>
                <a:spcPct val="100000"/>
              </a:lnSpc>
              <a:spcBef>
                <a:spcPts val="295"/>
              </a:spcBef>
            </a:pPr>
            <a:r>
              <a:rPr sz="2200" dirty="0">
                <a:latin typeface="Arial MT"/>
                <a:cs typeface="Arial MT"/>
              </a:rPr>
              <a:t>Relevant</a:t>
            </a:r>
            <a:r>
              <a:rPr sz="2200" spc="-55" dirty="0">
                <a:latin typeface="Arial MT"/>
                <a:cs typeface="Arial MT"/>
              </a:rPr>
              <a:t> </a:t>
            </a:r>
            <a:r>
              <a:rPr sz="2200" dirty="0">
                <a:latin typeface="Arial MT"/>
                <a:cs typeface="Arial MT"/>
              </a:rPr>
              <a:t>costing</a:t>
            </a:r>
            <a:r>
              <a:rPr sz="2200" spc="-70" dirty="0">
                <a:latin typeface="Arial MT"/>
                <a:cs typeface="Arial MT"/>
              </a:rPr>
              <a:t> </a:t>
            </a:r>
            <a:r>
              <a:rPr sz="2200" dirty="0">
                <a:latin typeface="Arial MT"/>
                <a:cs typeface="Arial MT"/>
              </a:rPr>
              <a:t>is</a:t>
            </a:r>
            <a:r>
              <a:rPr sz="2200" spc="-60" dirty="0">
                <a:latin typeface="Arial MT"/>
                <a:cs typeface="Arial MT"/>
              </a:rPr>
              <a:t> </a:t>
            </a:r>
            <a:r>
              <a:rPr sz="2200" dirty="0">
                <a:latin typeface="Arial MT"/>
                <a:cs typeface="Arial MT"/>
              </a:rPr>
              <a:t>an</a:t>
            </a:r>
            <a:r>
              <a:rPr sz="2200" spc="-60" dirty="0">
                <a:latin typeface="Arial MT"/>
                <a:cs typeface="Arial MT"/>
              </a:rPr>
              <a:t> </a:t>
            </a:r>
            <a:r>
              <a:rPr sz="2200" dirty="0">
                <a:latin typeface="Arial MT"/>
                <a:cs typeface="Arial MT"/>
              </a:rPr>
              <a:t>overall</a:t>
            </a:r>
            <a:r>
              <a:rPr sz="2200" spc="-55" dirty="0">
                <a:latin typeface="Arial MT"/>
                <a:cs typeface="Arial MT"/>
              </a:rPr>
              <a:t> </a:t>
            </a:r>
            <a:r>
              <a:rPr sz="2200" dirty="0">
                <a:latin typeface="Arial MT"/>
                <a:cs typeface="Arial MT"/>
              </a:rPr>
              <a:t>concept</a:t>
            </a:r>
            <a:r>
              <a:rPr sz="2200" spc="-70" dirty="0">
                <a:latin typeface="Arial MT"/>
                <a:cs typeface="Arial MT"/>
              </a:rPr>
              <a:t> </a:t>
            </a:r>
            <a:r>
              <a:rPr sz="2200" dirty="0">
                <a:latin typeface="Arial MT"/>
                <a:cs typeface="Arial MT"/>
              </a:rPr>
              <a:t>rather</a:t>
            </a:r>
            <a:r>
              <a:rPr sz="2200" spc="-40" dirty="0">
                <a:latin typeface="Arial MT"/>
                <a:cs typeface="Arial MT"/>
              </a:rPr>
              <a:t> </a:t>
            </a:r>
            <a:r>
              <a:rPr sz="2200" dirty="0">
                <a:latin typeface="Arial MT"/>
                <a:cs typeface="Arial MT"/>
              </a:rPr>
              <a:t>than</a:t>
            </a:r>
            <a:r>
              <a:rPr sz="2200" spc="-65" dirty="0">
                <a:latin typeface="Arial MT"/>
                <a:cs typeface="Arial MT"/>
              </a:rPr>
              <a:t> </a:t>
            </a:r>
            <a:r>
              <a:rPr sz="2200" dirty="0">
                <a:latin typeface="Arial MT"/>
                <a:cs typeface="Arial MT"/>
              </a:rPr>
              <a:t>a</a:t>
            </a:r>
            <a:r>
              <a:rPr sz="2200" spc="-65" dirty="0">
                <a:latin typeface="Arial MT"/>
                <a:cs typeface="Arial MT"/>
              </a:rPr>
              <a:t> </a:t>
            </a:r>
            <a:r>
              <a:rPr sz="2200" dirty="0">
                <a:latin typeface="Arial MT"/>
                <a:cs typeface="Arial MT"/>
              </a:rPr>
              <a:t>specific</a:t>
            </a:r>
            <a:r>
              <a:rPr sz="2200" spc="-80" dirty="0">
                <a:latin typeface="Arial MT"/>
                <a:cs typeface="Arial MT"/>
              </a:rPr>
              <a:t> </a:t>
            </a:r>
            <a:r>
              <a:rPr sz="2200" dirty="0">
                <a:latin typeface="Arial MT"/>
                <a:cs typeface="Arial MT"/>
              </a:rPr>
              <a:t>method</a:t>
            </a:r>
            <a:r>
              <a:rPr sz="2200" spc="-40" dirty="0">
                <a:latin typeface="Arial MT"/>
                <a:cs typeface="Arial MT"/>
              </a:rPr>
              <a:t> </a:t>
            </a:r>
            <a:r>
              <a:rPr sz="2200" dirty="0">
                <a:latin typeface="Arial MT"/>
                <a:cs typeface="Arial MT"/>
              </a:rPr>
              <a:t>to</a:t>
            </a:r>
            <a:r>
              <a:rPr sz="2200" spc="-65" dirty="0">
                <a:latin typeface="Arial MT"/>
                <a:cs typeface="Arial MT"/>
              </a:rPr>
              <a:t> </a:t>
            </a:r>
            <a:r>
              <a:rPr sz="2200" spc="-20" dirty="0">
                <a:latin typeface="Arial MT"/>
                <a:cs typeface="Arial MT"/>
              </a:rPr>
              <a:t>apply.</a:t>
            </a:r>
            <a:r>
              <a:rPr sz="2200" spc="-55" dirty="0">
                <a:latin typeface="Arial MT"/>
                <a:cs typeface="Arial MT"/>
              </a:rPr>
              <a:t> </a:t>
            </a:r>
            <a:r>
              <a:rPr sz="2200" spc="-25" dirty="0">
                <a:latin typeface="Arial MT"/>
                <a:cs typeface="Arial MT"/>
              </a:rPr>
              <a:t>It</a:t>
            </a:r>
            <a:endParaRPr sz="2200">
              <a:latin typeface="Arial MT"/>
              <a:cs typeface="Arial MT"/>
            </a:endParaRPr>
          </a:p>
          <a:p>
            <a:pPr algn="ctr">
              <a:lnSpc>
                <a:spcPct val="100000"/>
              </a:lnSpc>
            </a:pPr>
            <a:r>
              <a:rPr sz="2200" dirty="0">
                <a:latin typeface="Arial MT"/>
                <a:cs typeface="Arial MT"/>
              </a:rPr>
              <a:t>provides</a:t>
            </a:r>
            <a:r>
              <a:rPr sz="2200" spc="-65" dirty="0">
                <a:latin typeface="Arial MT"/>
                <a:cs typeface="Arial MT"/>
              </a:rPr>
              <a:t> </a:t>
            </a:r>
            <a:r>
              <a:rPr sz="2200" dirty="0">
                <a:latin typeface="Arial MT"/>
                <a:cs typeface="Arial MT"/>
              </a:rPr>
              <a:t>managers</a:t>
            </a:r>
            <a:r>
              <a:rPr sz="2200" spc="-50" dirty="0">
                <a:latin typeface="Arial MT"/>
                <a:cs typeface="Arial MT"/>
              </a:rPr>
              <a:t> </a:t>
            </a:r>
            <a:r>
              <a:rPr sz="2200" dirty="0">
                <a:latin typeface="Arial MT"/>
                <a:cs typeface="Arial MT"/>
              </a:rPr>
              <a:t>with</a:t>
            </a:r>
            <a:r>
              <a:rPr sz="2200" spc="-80" dirty="0">
                <a:latin typeface="Arial MT"/>
                <a:cs typeface="Arial MT"/>
              </a:rPr>
              <a:t> </a:t>
            </a:r>
            <a:r>
              <a:rPr sz="2200" dirty="0">
                <a:latin typeface="Arial MT"/>
                <a:cs typeface="Arial MT"/>
              </a:rPr>
              <a:t>a</a:t>
            </a:r>
            <a:r>
              <a:rPr sz="2200" spc="-75" dirty="0">
                <a:latin typeface="Arial MT"/>
                <a:cs typeface="Arial MT"/>
              </a:rPr>
              <a:t> </a:t>
            </a:r>
            <a:r>
              <a:rPr sz="2200" dirty="0">
                <a:latin typeface="Arial MT"/>
                <a:cs typeface="Arial MT"/>
              </a:rPr>
              <a:t>tangible</a:t>
            </a:r>
            <a:r>
              <a:rPr sz="2200" spc="-85" dirty="0">
                <a:latin typeface="Arial MT"/>
                <a:cs typeface="Arial MT"/>
              </a:rPr>
              <a:t> </a:t>
            </a:r>
            <a:r>
              <a:rPr sz="2200" dirty="0">
                <a:latin typeface="Arial MT"/>
                <a:cs typeface="Arial MT"/>
              </a:rPr>
              <a:t>approach</a:t>
            </a:r>
            <a:r>
              <a:rPr sz="2200" spc="-65" dirty="0">
                <a:latin typeface="Arial MT"/>
                <a:cs typeface="Arial MT"/>
              </a:rPr>
              <a:t> </a:t>
            </a:r>
            <a:r>
              <a:rPr sz="2200" dirty="0">
                <a:latin typeface="Arial MT"/>
                <a:cs typeface="Arial MT"/>
              </a:rPr>
              <a:t>to</a:t>
            </a:r>
            <a:r>
              <a:rPr sz="2200" spc="-75" dirty="0">
                <a:latin typeface="Arial MT"/>
                <a:cs typeface="Arial MT"/>
              </a:rPr>
              <a:t> </a:t>
            </a:r>
            <a:r>
              <a:rPr sz="2200" dirty="0">
                <a:latin typeface="Arial MT"/>
                <a:cs typeface="Arial MT"/>
              </a:rPr>
              <a:t>making</a:t>
            </a:r>
            <a:r>
              <a:rPr sz="2200" spc="-70" dirty="0">
                <a:latin typeface="Arial MT"/>
                <a:cs typeface="Arial MT"/>
              </a:rPr>
              <a:t> </a:t>
            </a:r>
            <a:r>
              <a:rPr sz="2200" spc="-10" dirty="0">
                <a:latin typeface="Arial MT"/>
                <a:cs typeface="Arial MT"/>
              </a:rPr>
              <a:t>decisions.</a:t>
            </a:r>
            <a:endParaRPr sz="2200">
              <a:latin typeface="Arial MT"/>
              <a:cs typeface="Arial MT"/>
            </a:endParaRPr>
          </a:p>
        </p:txBody>
      </p:sp>
      <p:sp>
        <p:nvSpPr>
          <p:cNvPr id="8" name="Subtitle 7">
            <a:extLst>
              <a:ext uri="{FF2B5EF4-FFF2-40B4-BE49-F238E27FC236}">
                <a16:creationId xmlns:a16="http://schemas.microsoft.com/office/drawing/2014/main" id="{5BE3B676-C052-B49D-3FE3-AE37898AFEB9}"/>
              </a:ext>
            </a:extLst>
          </p:cNvPr>
          <p:cNvSpPr>
            <a:spLocks noGrp="1"/>
          </p:cNvSpPr>
          <p:nvPr>
            <p:ph type="subTitle" idx="1"/>
          </p:nvPr>
        </p:nvSpPr>
        <p:spPr/>
        <p:txBody>
          <a:bodyPr/>
          <a:lstStyle/>
          <a:p>
            <a:r>
              <a:rPr lang="en-CA" dirty="0"/>
              <a:t>Learning Objectives  </a:t>
            </a:r>
          </a:p>
        </p:txBody>
      </p:sp>
      <p:sp>
        <p:nvSpPr>
          <p:cNvPr id="9" name="object 2">
            <a:extLst>
              <a:ext uri="{FF2B5EF4-FFF2-40B4-BE49-F238E27FC236}">
                <a16:creationId xmlns:a16="http://schemas.microsoft.com/office/drawing/2014/main" id="{EF93CAC5-8E8C-FA8D-C814-0C7C7DB765AF}"/>
              </a:ext>
            </a:extLst>
          </p:cNvPr>
          <p:cNvSpPr txBox="1">
            <a:spLocks/>
          </p:cNvSpPr>
          <p:nvPr/>
        </p:nvSpPr>
        <p:spPr>
          <a:xfrm>
            <a:off x="440432" y="379858"/>
            <a:ext cx="10480104" cy="5007140"/>
          </a:xfrm>
          <a:prstGeom prst="rect">
            <a:avLst/>
          </a:prstGeom>
        </p:spPr>
        <p:txBody>
          <a:bodyPr vert="horz" wrap="square" lIns="0" tIns="155575" rIns="0" bIns="0" numCol="1" rtlCol="0" anchor="ctr">
            <a:sp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pPr marL="943610" indent="-514984">
              <a:spcBef>
                <a:spcPts val="1225"/>
              </a:spcBef>
              <a:buSzPct val="79545"/>
              <a:buFont typeface="Arial" pitchFamily="34" charset="0"/>
              <a:buAutoNum type="arabicPeriod"/>
              <a:tabLst>
                <a:tab pos="944244" algn="l"/>
              </a:tabLst>
            </a:pPr>
            <a:r>
              <a:rPr lang="en-CA" sz="2400" b="0" dirty="0">
                <a:solidFill>
                  <a:schemeClr val="tx1"/>
                </a:solidFill>
              </a:rPr>
              <a:t>Describe</a:t>
            </a:r>
            <a:r>
              <a:rPr lang="en-CA" sz="2400" b="0" spc="-85" dirty="0">
                <a:solidFill>
                  <a:schemeClr val="tx1"/>
                </a:solidFill>
              </a:rPr>
              <a:t> </a:t>
            </a:r>
            <a:r>
              <a:rPr lang="en-CA" sz="2400" b="0" spc="-10" dirty="0">
                <a:solidFill>
                  <a:schemeClr val="tx1"/>
                </a:solidFill>
              </a:rPr>
              <a:t>management’s</a:t>
            </a:r>
            <a:r>
              <a:rPr lang="en-CA" sz="2400" b="0" spc="-60" dirty="0">
                <a:solidFill>
                  <a:schemeClr val="tx1"/>
                </a:solidFill>
              </a:rPr>
              <a:t> </a:t>
            </a:r>
            <a:r>
              <a:rPr lang="en-CA" sz="2400" b="0" spc="-10" dirty="0">
                <a:solidFill>
                  <a:schemeClr val="tx1"/>
                </a:solidFill>
              </a:rPr>
              <a:t>decision-</a:t>
            </a:r>
            <a:r>
              <a:rPr lang="en-CA" sz="2400" b="0" dirty="0">
                <a:solidFill>
                  <a:schemeClr val="tx1"/>
                </a:solidFill>
              </a:rPr>
              <a:t>making</a:t>
            </a:r>
            <a:r>
              <a:rPr lang="en-CA" sz="2400" b="0" spc="-80" dirty="0">
                <a:solidFill>
                  <a:schemeClr val="tx1"/>
                </a:solidFill>
              </a:rPr>
              <a:t> </a:t>
            </a:r>
            <a:r>
              <a:rPr lang="en-CA" sz="2400" b="0" dirty="0">
                <a:solidFill>
                  <a:schemeClr val="tx1"/>
                </a:solidFill>
              </a:rPr>
              <a:t>process</a:t>
            </a:r>
            <a:r>
              <a:rPr lang="en-CA" sz="2400" b="0" spc="-75" dirty="0">
                <a:solidFill>
                  <a:schemeClr val="tx1"/>
                </a:solidFill>
              </a:rPr>
              <a:t> </a:t>
            </a:r>
            <a:r>
              <a:rPr lang="en-CA" sz="2400" b="0" dirty="0">
                <a:solidFill>
                  <a:schemeClr val="tx1"/>
                </a:solidFill>
              </a:rPr>
              <a:t>and</a:t>
            </a:r>
            <a:r>
              <a:rPr lang="en-CA" sz="2400" b="0" spc="-85" dirty="0">
                <a:solidFill>
                  <a:schemeClr val="tx1"/>
                </a:solidFill>
              </a:rPr>
              <a:t> </a:t>
            </a:r>
            <a:r>
              <a:rPr lang="en-CA" sz="2400" b="0" dirty="0">
                <a:solidFill>
                  <a:schemeClr val="tx1"/>
                </a:solidFill>
              </a:rPr>
              <a:t>incremental</a:t>
            </a:r>
            <a:r>
              <a:rPr lang="en-CA" sz="2400" b="0" spc="-70" dirty="0">
                <a:solidFill>
                  <a:schemeClr val="tx1"/>
                </a:solidFill>
              </a:rPr>
              <a:t> </a:t>
            </a:r>
            <a:r>
              <a:rPr lang="en-CA" sz="2400" b="0" spc="-10" dirty="0">
                <a:solidFill>
                  <a:schemeClr val="tx1"/>
                </a:solidFill>
              </a:rPr>
              <a:t>analysis.</a:t>
            </a:r>
          </a:p>
          <a:p>
            <a:pPr marL="943610" indent="-514984">
              <a:spcBef>
                <a:spcPts val="1130"/>
              </a:spcBef>
              <a:buSzPct val="79545"/>
              <a:buFont typeface="Arial" pitchFamily="34" charset="0"/>
              <a:buAutoNum type="arabicPeriod"/>
              <a:tabLst>
                <a:tab pos="944244" algn="l"/>
              </a:tabLst>
            </a:pPr>
            <a:r>
              <a:rPr lang="en-CA" sz="2400" b="0" dirty="0">
                <a:solidFill>
                  <a:schemeClr val="tx1"/>
                </a:solidFill>
              </a:rPr>
              <a:t>Analyze</a:t>
            </a:r>
            <a:r>
              <a:rPr lang="en-CA" sz="2400" b="0" spc="-60" dirty="0">
                <a:solidFill>
                  <a:schemeClr val="tx1"/>
                </a:solidFill>
              </a:rPr>
              <a:t> </a:t>
            </a:r>
            <a:r>
              <a:rPr lang="en-CA" sz="2400" b="0" dirty="0">
                <a:solidFill>
                  <a:schemeClr val="tx1"/>
                </a:solidFill>
              </a:rPr>
              <a:t>the</a:t>
            </a:r>
            <a:r>
              <a:rPr lang="en-CA" sz="2400" b="0" spc="-55" dirty="0">
                <a:solidFill>
                  <a:schemeClr val="tx1"/>
                </a:solidFill>
              </a:rPr>
              <a:t> </a:t>
            </a:r>
            <a:r>
              <a:rPr lang="en-CA" sz="2400" b="0" dirty="0">
                <a:solidFill>
                  <a:schemeClr val="tx1"/>
                </a:solidFill>
              </a:rPr>
              <a:t>relevant</a:t>
            </a:r>
            <a:r>
              <a:rPr lang="en-CA" sz="2400" b="0" spc="-30" dirty="0">
                <a:solidFill>
                  <a:schemeClr val="tx1"/>
                </a:solidFill>
              </a:rPr>
              <a:t> </a:t>
            </a:r>
            <a:r>
              <a:rPr lang="en-CA" sz="2400" b="0" dirty="0">
                <a:solidFill>
                  <a:schemeClr val="tx1"/>
                </a:solidFill>
              </a:rPr>
              <a:t>costs</a:t>
            </a:r>
            <a:r>
              <a:rPr lang="en-CA" sz="2400" b="0" spc="-60" dirty="0">
                <a:solidFill>
                  <a:schemeClr val="tx1"/>
                </a:solidFill>
              </a:rPr>
              <a:t> in the following scenarios:</a:t>
            </a:r>
          </a:p>
          <a:p>
            <a:pPr marL="1400810" lvl="1" indent="-514984" algn="l">
              <a:spcBef>
                <a:spcPts val="1130"/>
              </a:spcBef>
              <a:buSzPct val="79545"/>
              <a:buFont typeface="Arial" panose="020B0604020202020204" pitchFamily="34" charset="0"/>
              <a:buChar char="•"/>
              <a:tabLst>
                <a:tab pos="944244" algn="l"/>
              </a:tabLst>
            </a:pPr>
            <a:r>
              <a:rPr lang="en-CA" sz="2400" spc="-10" dirty="0">
                <a:solidFill>
                  <a:schemeClr val="tx1"/>
                </a:solidFill>
              </a:rPr>
              <a:t>repairing, retaining, or replacing equipment</a:t>
            </a:r>
            <a:endParaRPr lang="en-CA" sz="2400" b="0" dirty="0">
              <a:solidFill>
                <a:schemeClr val="tx1"/>
              </a:solidFill>
            </a:endParaRPr>
          </a:p>
          <a:p>
            <a:pPr marL="1400810" lvl="1" indent="-514984" algn="l">
              <a:spcBef>
                <a:spcPts val="1130"/>
              </a:spcBef>
              <a:buSzPct val="79545"/>
              <a:buFont typeface="Arial" panose="020B0604020202020204" pitchFamily="34" charset="0"/>
              <a:buChar char="•"/>
              <a:tabLst>
                <a:tab pos="944244" algn="l"/>
              </a:tabLst>
            </a:pPr>
            <a:r>
              <a:rPr lang="en-CA" sz="2400" b="0" dirty="0">
                <a:solidFill>
                  <a:schemeClr val="tx1"/>
                </a:solidFill>
              </a:rPr>
              <a:t>deciding</a:t>
            </a:r>
            <a:r>
              <a:rPr lang="en-CA" sz="2400" b="0" spc="-70" dirty="0">
                <a:solidFill>
                  <a:schemeClr val="tx1"/>
                </a:solidFill>
              </a:rPr>
              <a:t> </a:t>
            </a:r>
            <a:r>
              <a:rPr lang="en-CA" sz="2400" b="0" dirty="0">
                <a:solidFill>
                  <a:schemeClr val="tx1"/>
                </a:solidFill>
              </a:rPr>
              <a:t>whether</a:t>
            </a:r>
            <a:r>
              <a:rPr lang="en-CA" sz="2400" b="0" spc="-65" dirty="0">
                <a:solidFill>
                  <a:schemeClr val="tx1"/>
                </a:solidFill>
              </a:rPr>
              <a:t> </a:t>
            </a:r>
            <a:r>
              <a:rPr lang="en-CA" sz="2400" b="0" dirty="0">
                <a:solidFill>
                  <a:schemeClr val="tx1"/>
                </a:solidFill>
              </a:rPr>
              <a:t>to</a:t>
            </a:r>
            <a:r>
              <a:rPr lang="en-CA" sz="2400" b="0" spc="-45" dirty="0">
                <a:solidFill>
                  <a:schemeClr val="tx1"/>
                </a:solidFill>
              </a:rPr>
              <a:t> </a:t>
            </a:r>
            <a:r>
              <a:rPr lang="en-CA" sz="2400" b="0" dirty="0">
                <a:solidFill>
                  <a:schemeClr val="tx1"/>
                </a:solidFill>
              </a:rPr>
              <a:t>eliminate</a:t>
            </a:r>
            <a:r>
              <a:rPr lang="en-CA" sz="2400" b="0" spc="-60" dirty="0">
                <a:solidFill>
                  <a:schemeClr val="tx1"/>
                </a:solidFill>
              </a:rPr>
              <a:t> </a:t>
            </a:r>
            <a:r>
              <a:rPr lang="en-CA" sz="2400" b="0" dirty="0">
                <a:solidFill>
                  <a:schemeClr val="tx1"/>
                </a:solidFill>
              </a:rPr>
              <a:t>an</a:t>
            </a:r>
            <a:r>
              <a:rPr lang="en-CA" sz="2400" b="0" spc="-65" dirty="0">
                <a:solidFill>
                  <a:schemeClr val="tx1"/>
                </a:solidFill>
              </a:rPr>
              <a:t> </a:t>
            </a:r>
            <a:r>
              <a:rPr lang="en-CA" sz="2400" b="0" dirty="0">
                <a:solidFill>
                  <a:schemeClr val="tx1"/>
                </a:solidFill>
              </a:rPr>
              <a:t>unprofitable</a:t>
            </a:r>
            <a:r>
              <a:rPr lang="en-CA" sz="2400" b="0" spc="-75" dirty="0">
                <a:solidFill>
                  <a:schemeClr val="tx1"/>
                </a:solidFill>
              </a:rPr>
              <a:t> </a:t>
            </a:r>
            <a:r>
              <a:rPr lang="en-CA" sz="2400" b="0" spc="-10" dirty="0">
                <a:solidFill>
                  <a:schemeClr val="tx1"/>
                </a:solidFill>
              </a:rPr>
              <a:t>segment </a:t>
            </a:r>
          </a:p>
          <a:p>
            <a:pPr marL="1400810" lvl="1" indent="-514984" algn="l">
              <a:spcBef>
                <a:spcPts val="1130"/>
              </a:spcBef>
              <a:buSzPct val="79545"/>
              <a:buFont typeface="Arial" panose="020B0604020202020204" pitchFamily="34" charset="0"/>
              <a:buChar char="•"/>
              <a:tabLst>
                <a:tab pos="944244" algn="l"/>
              </a:tabLst>
            </a:pPr>
            <a:r>
              <a:rPr lang="en-CA" sz="2400" spc="-20" dirty="0">
                <a:solidFill>
                  <a:schemeClr val="tx1"/>
                </a:solidFill>
              </a:rPr>
              <a:t>make-</a:t>
            </a:r>
            <a:r>
              <a:rPr lang="en-CA" sz="2400" spc="-10" dirty="0">
                <a:solidFill>
                  <a:schemeClr val="tx1"/>
                </a:solidFill>
              </a:rPr>
              <a:t>or-</a:t>
            </a:r>
            <a:r>
              <a:rPr lang="en-CA" sz="2400" dirty="0">
                <a:solidFill>
                  <a:schemeClr val="tx1"/>
                </a:solidFill>
              </a:rPr>
              <a:t>buy</a:t>
            </a:r>
            <a:r>
              <a:rPr lang="en-CA" sz="2400" spc="-15" dirty="0">
                <a:solidFill>
                  <a:schemeClr val="tx1"/>
                </a:solidFill>
              </a:rPr>
              <a:t> </a:t>
            </a:r>
            <a:r>
              <a:rPr lang="en-CA" sz="2400" spc="-10" dirty="0">
                <a:solidFill>
                  <a:schemeClr val="tx1"/>
                </a:solidFill>
              </a:rPr>
              <a:t>decision</a:t>
            </a:r>
          </a:p>
          <a:p>
            <a:pPr marL="1400810" lvl="1" indent="-514984" algn="l">
              <a:spcBef>
                <a:spcPts val="1130"/>
              </a:spcBef>
              <a:buSzPct val="79545"/>
              <a:buFont typeface="Arial" panose="020B0604020202020204" pitchFamily="34" charset="0"/>
              <a:buChar char="•"/>
              <a:tabLst>
                <a:tab pos="944244" algn="l"/>
              </a:tabLst>
            </a:pPr>
            <a:r>
              <a:rPr lang="en-CA" sz="2400" spc="-10" dirty="0">
                <a:solidFill>
                  <a:schemeClr val="tx1"/>
                </a:solidFill>
              </a:rPr>
              <a:t>Special order</a:t>
            </a:r>
          </a:p>
          <a:p>
            <a:pPr marL="1400810" lvl="1" indent="-514984" algn="l">
              <a:spcBef>
                <a:spcPts val="1130"/>
              </a:spcBef>
              <a:buSzPct val="79545"/>
              <a:buFont typeface="Arial" panose="020B0604020202020204" pitchFamily="34" charset="0"/>
              <a:buChar char="•"/>
              <a:tabLst>
                <a:tab pos="944244" algn="l"/>
              </a:tabLst>
            </a:pPr>
            <a:r>
              <a:rPr lang="en-CA" sz="2400" spc="-10" dirty="0">
                <a:solidFill>
                  <a:schemeClr val="tx1"/>
                </a:solidFill>
              </a:rPr>
              <a:t>Sell or process materials further</a:t>
            </a:r>
            <a:r>
              <a:rPr lang="en-CA" sz="2400" b="0" spc="-10" dirty="0">
                <a:solidFill>
                  <a:schemeClr val="tx1"/>
                </a:solidFill>
              </a:rPr>
              <a:t>.</a:t>
            </a:r>
            <a:endParaRPr lang="en-CA" sz="2400" spc="-10" dirty="0">
              <a:solidFill>
                <a:schemeClr val="tx1"/>
              </a:solidFill>
            </a:endParaRPr>
          </a:p>
          <a:p>
            <a:pPr marL="943610" indent="-514984">
              <a:spcBef>
                <a:spcPts val="1130"/>
              </a:spcBef>
              <a:buSzPct val="79545"/>
              <a:buFont typeface="+mj-lt"/>
              <a:buAutoNum type="arabicPeriod"/>
              <a:tabLst>
                <a:tab pos="944244" algn="l"/>
              </a:tabLst>
            </a:pPr>
            <a:r>
              <a:rPr lang="en-CA" sz="2400" b="0" dirty="0">
                <a:solidFill>
                  <a:schemeClr val="tx1"/>
                </a:solidFill>
              </a:rPr>
              <a:t>Utilization of Constrained Resource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8"/>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3</a:t>
            </a:fld>
            <a:endParaRPr spc="-25" dirty="0"/>
          </a:p>
        </p:txBody>
      </p:sp>
      <p:sp>
        <p:nvSpPr>
          <p:cNvPr id="19" name="Subtitle 18">
            <a:extLst>
              <a:ext uri="{FF2B5EF4-FFF2-40B4-BE49-F238E27FC236}">
                <a16:creationId xmlns:a16="http://schemas.microsoft.com/office/drawing/2014/main" id="{3A42F04C-EF92-3B16-6CED-C28DCA099BCB}"/>
              </a:ext>
            </a:extLst>
          </p:cNvPr>
          <p:cNvSpPr>
            <a:spLocks noGrp="1"/>
          </p:cNvSpPr>
          <p:nvPr>
            <p:ph type="subTitle" idx="1"/>
          </p:nvPr>
        </p:nvSpPr>
        <p:spPr/>
        <p:txBody>
          <a:bodyPr/>
          <a:lstStyle/>
          <a:p>
            <a:r>
              <a:rPr lang="en-CA" dirty="0"/>
              <a:t>Let’s think about a “Relevant” </a:t>
            </a:r>
            <a:r>
              <a:rPr lang="en-CA" dirty="0" err="1"/>
              <a:t>Deicsion</a:t>
            </a:r>
            <a:r>
              <a:rPr lang="en-CA" dirty="0"/>
              <a:t> </a:t>
            </a:r>
          </a:p>
        </p:txBody>
      </p:sp>
      <p:grpSp>
        <p:nvGrpSpPr>
          <p:cNvPr id="3" name="object 3"/>
          <p:cNvGrpSpPr/>
          <p:nvPr/>
        </p:nvGrpSpPr>
        <p:grpSpPr>
          <a:xfrm>
            <a:off x="2397505" y="1737360"/>
            <a:ext cx="7399020" cy="2011045"/>
            <a:chOff x="2397505" y="1737360"/>
            <a:chExt cx="7399020" cy="2011045"/>
          </a:xfrm>
        </p:grpSpPr>
        <p:sp>
          <p:nvSpPr>
            <p:cNvPr id="4" name="object 4"/>
            <p:cNvSpPr/>
            <p:nvPr/>
          </p:nvSpPr>
          <p:spPr>
            <a:xfrm>
              <a:off x="2410205" y="2879598"/>
              <a:ext cx="7373620" cy="855980"/>
            </a:xfrm>
            <a:custGeom>
              <a:avLst/>
              <a:gdLst/>
              <a:ahLst/>
              <a:cxnLst/>
              <a:rect l="l" t="t" r="r" b="b"/>
              <a:pathLst>
                <a:path w="7373620" h="855979">
                  <a:moveTo>
                    <a:pt x="3686555" y="0"/>
                  </a:moveTo>
                  <a:lnTo>
                    <a:pt x="3686555" y="696087"/>
                  </a:lnTo>
                  <a:lnTo>
                    <a:pt x="7373112" y="696087"/>
                  </a:lnTo>
                  <a:lnTo>
                    <a:pt x="7373112" y="855979"/>
                  </a:lnTo>
                </a:path>
                <a:path w="7373620" h="855979">
                  <a:moveTo>
                    <a:pt x="3686555" y="0"/>
                  </a:moveTo>
                  <a:lnTo>
                    <a:pt x="3686555" y="696087"/>
                  </a:lnTo>
                  <a:lnTo>
                    <a:pt x="5529834" y="696087"/>
                  </a:lnTo>
                  <a:lnTo>
                    <a:pt x="5529834" y="855979"/>
                  </a:lnTo>
                </a:path>
                <a:path w="7373620" h="855979">
                  <a:moveTo>
                    <a:pt x="3686555" y="0"/>
                  </a:moveTo>
                  <a:lnTo>
                    <a:pt x="3686555" y="855979"/>
                  </a:lnTo>
                </a:path>
                <a:path w="7373620" h="855979">
                  <a:moveTo>
                    <a:pt x="3685794" y="0"/>
                  </a:moveTo>
                  <a:lnTo>
                    <a:pt x="3685794" y="696087"/>
                  </a:lnTo>
                  <a:lnTo>
                    <a:pt x="1842516" y="696087"/>
                  </a:lnTo>
                  <a:lnTo>
                    <a:pt x="1842516" y="855979"/>
                  </a:lnTo>
                </a:path>
                <a:path w="7373620" h="855979">
                  <a:moveTo>
                    <a:pt x="3686555" y="0"/>
                  </a:moveTo>
                  <a:lnTo>
                    <a:pt x="3686555" y="696087"/>
                  </a:lnTo>
                  <a:lnTo>
                    <a:pt x="0" y="696087"/>
                  </a:lnTo>
                  <a:lnTo>
                    <a:pt x="0" y="855979"/>
                  </a:lnTo>
                </a:path>
              </a:pathLst>
            </a:custGeom>
            <a:ln w="25400">
              <a:solidFill>
                <a:srgbClr val="929292"/>
              </a:solidFill>
            </a:ln>
          </p:spPr>
          <p:txBody>
            <a:bodyPr wrap="square" lIns="0" tIns="0" rIns="0" bIns="0" rtlCol="0"/>
            <a:lstStyle/>
            <a:p>
              <a:endParaRPr/>
            </a:p>
          </p:txBody>
        </p:sp>
        <p:pic>
          <p:nvPicPr>
            <p:cNvPr id="5" name="object 5"/>
            <p:cNvPicPr/>
            <p:nvPr/>
          </p:nvPicPr>
          <p:blipFill>
            <a:blip r:embed="rId2" cstate="print"/>
            <a:stretch>
              <a:fillRect/>
            </a:stretch>
          </p:blipFill>
          <p:spPr>
            <a:xfrm>
              <a:off x="4988051" y="1737360"/>
              <a:ext cx="2213609" cy="1212341"/>
            </a:xfrm>
            <a:prstGeom prst="rect">
              <a:avLst/>
            </a:prstGeom>
            <a:solidFill>
              <a:schemeClr val="accent1">
                <a:lumMod val="20000"/>
                <a:lumOff val="80000"/>
              </a:schemeClr>
            </a:solidFill>
          </p:spPr>
        </p:pic>
      </p:grpSp>
      <p:sp>
        <p:nvSpPr>
          <p:cNvPr id="6" name="object 6"/>
          <p:cNvSpPr txBox="1"/>
          <p:nvPr/>
        </p:nvSpPr>
        <p:spPr>
          <a:xfrm>
            <a:off x="5356352" y="1907794"/>
            <a:ext cx="1478280" cy="765175"/>
          </a:xfrm>
          <a:prstGeom prst="rect">
            <a:avLst/>
          </a:prstGeom>
        </p:spPr>
        <p:txBody>
          <a:bodyPr vert="horz" wrap="square" lIns="0" tIns="68580" rIns="0" bIns="0" rtlCol="0">
            <a:spAutoFit/>
          </a:bodyPr>
          <a:lstStyle/>
          <a:p>
            <a:pPr marL="103505" marR="5080" indent="-91440">
              <a:lnSpc>
                <a:spcPts val="2700"/>
              </a:lnSpc>
              <a:spcBef>
                <a:spcPts val="540"/>
              </a:spcBef>
            </a:pPr>
            <a:r>
              <a:rPr sz="2600" spc="-10" dirty="0">
                <a:solidFill>
                  <a:srgbClr val="FFFFFF"/>
                </a:solidFill>
                <a:latin typeface="Arial MT"/>
                <a:cs typeface="Arial MT"/>
              </a:rPr>
              <a:t>University Decision</a:t>
            </a:r>
            <a:endParaRPr sz="2600" dirty="0">
              <a:latin typeface="Arial MT"/>
              <a:cs typeface="Arial MT"/>
            </a:endParaRPr>
          </a:p>
        </p:txBody>
      </p:sp>
      <p:pic>
        <p:nvPicPr>
          <p:cNvPr id="7" name="object 7"/>
          <p:cNvPicPr/>
          <p:nvPr/>
        </p:nvPicPr>
        <p:blipFill>
          <a:blip r:embed="rId3" cstate="print"/>
          <a:stretch>
            <a:fillRect/>
          </a:stretch>
        </p:blipFill>
        <p:spPr>
          <a:xfrm>
            <a:off x="1597152" y="3706355"/>
            <a:ext cx="1622298" cy="860310"/>
          </a:xfrm>
          <a:prstGeom prst="rect">
            <a:avLst/>
          </a:prstGeom>
        </p:spPr>
      </p:pic>
      <p:sp>
        <p:nvSpPr>
          <p:cNvPr id="8" name="object 8"/>
          <p:cNvSpPr txBox="1"/>
          <p:nvPr/>
        </p:nvSpPr>
        <p:spPr>
          <a:xfrm>
            <a:off x="1948942" y="3872865"/>
            <a:ext cx="919480" cy="422275"/>
          </a:xfrm>
          <a:prstGeom prst="rect">
            <a:avLst/>
          </a:prstGeom>
        </p:spPr>
        <p:txBody>
          <a:bodyPr vert="horz" wrap="square" lIns="0" tIns="12700" rIns="0" bIns="0" rtlCol="0">
            <a:spAutoFit/>
          </a:bodyPr>
          <a:lstStyle/>
          <a:p>
            <a:pPr marL="12700">
              <a:lnSpc>
                <a:spcPct val="100000"/>
              </a:lnSpc>
              <a:spcBef>
                <a:spcPts val="100"/>
              </a:spcBef>
            </a:pPr>
            <a:r>
              <a:rPr sz="2600" dirty="0">
                <a:solidFill>
                  <a:srgbClr val="FFFFFF"/>
                </a:solidFill>
                <a:latin typeface="Arial MT"/>
                <a:cs typeface="Arial MT"/>
              </a:rPr>
              <a:t>U</a:t>
            </a:r>
            <a:r>
              <a:rPr sz="2600" spc="-15" dirty="0">
                <a:solidFill>
                  <a:srgbClr val="FFFFFF"/>
                </a:solidFill>
                <a:latin typeface="Arial MT"/>
                <a:cs typeface="Arial MT"/>
              </a:rPr>
              <a:t> </a:t>
            </a:r>
            <a:r>
              <a:rPr sz="2600" dirty="0">
                <a:solidFill>
                  <a:srgbClr val="FFFFFF"/>
                </a:solidFill>
                <a:latin typeface="Arial MT"/>
                <a:cs typeface="Arial MT"/>
              </a:rPr>
              <a:t>of</a:t>
            </a:r>
            <a:r>
              <a:rPr sz="2600" spc="-65" dirty="0">
                <a:solidFill>
                  <a:srgbClr val="FFFFFF"/>
                </a:solidFill>
                <a:latin typeface="Arial MT"/>
                <a:cs typeface="Arial MT"/>
              </a:rPr>
              <a:t> </a:t>
            </a:r>
            <a:r>
              <a:rPr sz="2600" spc="-50" dirty="0">
                <a:solidFill>
                  <a:srgbClr val="FFFFFF"/>
                </a:solidFill>
                <a:latin typeface="Arial MT"/>
                <a:cs typeface="Arial MT"/>
              </a:rPr>
              <a:t>T</a:t>
            </a:r>
            <a:endParaRPr sz="2600">
              <a:latin typeface="Arial MT"/>
              <a:cs typeface="Arial MT"/>
            </a:endParaRPr>
          </a:p>
        </p:txBody>
      </p:sp>
      <p:pic>
        <p:nvPicPr>
          <p:cNvPr id="9" name="object 9"/>
          <p:cNvPicPr/>
          <p:nvPr/>
        </p:nvPicPr>
        <p:blipFill>
          <a:blip r:embed="rId4" cstate="print"/>
          <a:stretch>
            <a:fillRect/>
          </a:stretch>
        </p:blipFill>
        <p:spPr>
          <a:xfrm>
            <a:off x="3404615" y="3706355"/>
            <a:ext cx="1693926" cy="860310"/>
          </a:xfrm>
          <a:prstGeom prst="rect">
            <a:avLst/>
          </a:prstGeom>
        </p:spPr>
      </p:pic>
      <p:sp>
        <p:nvSpPr>
          <p:cNvPr id="10" name="object 10"/>
          <p:cNvSpPr txBox="1"/>
          <p:nvPr/>
        </p:nvSpPr>
        <p:spPr>
          <a:xfrm>
            <a:off x="3626358" y="3872865"/>
            <a:ext cx="1252220" cy="422275"/>
          </a:xfrm>
          <a:prstGeom prst="rect">
            <a:avLst/>
          </a:prstGeom>
        </p:spPr>
        <p:txBody>
          <a:bodyPr vert="horz" wrap="square" lIns="0" tIns="12700" rIns="0" bIns="0" rtlCol="0">
            <a:spAutoFit/>
          </a:bodyPr>
          <a:lstStyle/>
          <a:p>
            <a:pPr marL="12700">
              <a:lnSpc>
                <a:spcPct val="100000"/>
              </a:lnSpc>
              <a:spcBef>
                <a:spcPts val="100"/>
              </a:spcBef>
            </a:pPr>
            <a:r>
              <a:rPr sz="2600" spc="-10" dirty="0">
                <a:solidFill>
                  <a:srgbClr val="FFFFFF"/>
                </a:solidFill>
                <a:latin typeface="Arial MT"/>
                <a:cs typeface="Arial MT"/>
              </a:rPr>
              <a:t>Queen’s</a:t>
            </a:r>
            <a:endParaRPr sz="2600">
              <a:latin typeface="Arial MT"/>
              <a:cs typeface="Arial MT"/>
            </a:endParaRPr>
          </a:p>
        </p:txBody>
      </p:sp>
      <p:pic>
        <p:nvPicPr>
          <p:cNvPr id="11" name="object 11"/>
          <p:cNvPicPr/>
          <p:nvPr/>
        </p:nvPicPr>
        <p:blipFill>
          <a:blip r:embed="rId5" cstate="print"/>
          <a:stretch>
            <a:fillRect/>
          </a:stretch>
        </p:blipFill>
        <p:spPr>
          <a:xfrm>
            <a:off x="5135879" y="3706355"/>
            <a:ext cx="1917953" cy="860310"/>
          </a:xfrm>
          <a:prstGeom prst="rect">
            <a:avLst/>
          </a:prstGeom>
        </p:spPr>
      </p:pic>
      <p:sp>
        <p:nvSpPr>
          <p:cNvPr id="12" name="object 12"/>
          <p:cNvSpPr txBox="1"/>
          <p:nvPr/>
        </p:nvSpPr>
        <p:spPr>
          <a:xfrm>
            <a:off x="5357240" y="3872865"/>
            <a:ext cx="1478915" cy="422275"/>
          </a:xfrm>
          <a:prstGeom prst="rect">
            <a:avLst/>
          </a:prstGeom>
        </p:spPr>
        <p:txBody>
          <a:bodyPr vert="horz" wrap="square" lIns="0" tIns="12700" rIns="0" bIns="0" rtlCol="0">
            <a:spAutoFit/>
          </a:bodyPr>
          <a:lstStyle/>
          <a:p>
            <a:pPr marL="12700">
              <a:lnSpc>
                <a:spcPct val="100000"/>
              </a:lnSpc>
              <a:spcBef>
                <a:spcPts val="100"/>
              </a:spcBef>
            </a:pPr>
            <a:r>
              <a:rPr sz="2600" spc="-10" dirty="0">
                <a:solidFill>
                  <a:srgbClr val="FFFFFF"/>
                </a:solidFill>
                <a:latin typeface="Arial MT"/>
                <a:cs typeface="Arial MT"/>
              </a:rPr>
              <a:t>McMaster</a:t>
            </a:r>
            <a:endParaRPr sz="2600">
              <a:latin typeface="Arial MT"/>
              <a:cs typeface="Arial MT"/>
            </a:endParaRPr>
          </a:p>
        </p:txBody>
      </p:sp>
      <p:pic>
        <p:nvPicPr>
          <p:cNvPr id="13" name="object 13"/>
          <p:cNvPicPr/>
          <p:nvPr/>
        </p:nvPicPr>
        <p:blipFill>
          <a:blip r:embed="rId6" cstate="print"/>
          <a:stretch>
            <a:fillRect/>
          </a:stretch>
        </p:blipFill>
        <p:spPr>
          <a:xfrm>
            <a:off x="7091171" y="3706355"/>
            <a:ext cx="1692402" cy="860310"/>
          </a:xfrm>
          <a:prstGeom prst="rect">
            <a:avLst/>
          </a:prstGeom>
        </p:spPr>
      </p:pic>
      <p:sp>
        <p:nvSpPr>
          <p:cNvPr id="14" name="object 14"/>
          <p:cNvSpPr txBox="1"/>
          <p:nvPr/>
        </p:nvSpPr>
        <p:spPr>
          <a:xfrm>
            <a:off x="7313421" y="3872865"/>
            <a:ext cx="1251585" cy="422275"/>
          </a:xfrm>
          <a:prstGeom prst="rect">
            <a:avLst/>
          </a:prstGeom>
        </p:spPr>
        <p:txBody>
          <a:bodyPr vert="horz" wrap="square" lIns="0" tIns="12700" rIns="0" bIns="0" rtlCol="0">
            <a:spAutoFit/>
          </a:bodyPr>
          <a:lstStyle/>
          <a:p>
            <a:pPr marL="12700">
              <a:lnSpc>
                <a:spcPct val="100000"/>
              </a:lnSpc>
              <a:spcBef>
                <a:spcPts val="100"/>
              </a:spcBef>
            </a:pPr>
            <a:r>
              <a:rPr sz="2600" spc="-10" dirty="0">
                <a:solidFill>
                  <a:srgbClr val="FFFFFF"/>
                </a:solidFill>
                <a:latin typeface="Arial MT"/>
                <a:cs typeface="Arial MT"/>
              </a:rPr>
              <a:t>Western</a:t>
            </a:r>
            <a:endParaRPr sz="2600">
              <a:latin typeface="Arial MT"/>
              <a:cs typeface="Arial MT"/>
            </a:endParaRPr>
          </a:p>
        </p:txBody>
      </p:sp>
      <p:pic>
        <p:nvPicPr>
          <p:cNvPr id="15" name="object 15"/>
          <p:cNvPicPr/>
          <p:nvPr/>
        </p:nvPicPr>
        <p:blipFill>
          <a:blip r:embed="rId7" cstate="print"/>
          <a:stretch>
            <a:fillRect/>
          </a:stretch>
        </p:blipFill>
        <p:spPr>
          <a:xfrm>
            <a:off x="8970264" y="3706355"/>
            <a:ext cx="1622298" cy="860310"/>
          </a:xfrm>
          <a:prstGeom prst="rect">
            <a:avLst/>
          </a:prstGeom>
        </p:spPr>
      </p:pic>
      <p:sp>
        <p:nvSpPr>
          <p:cNvPr id="16" name="object 16"/>
          <p:cNvSpPr txBox="1"/>
          <p:nvPr/>
        </p:nvSpPr>
        <p:spPr>
          <a:xfrm>
            <a:off x="9236202" y="3872865"/>
            <a:ext cx="1092835" cy="422275"/>
          </a:xfrm>
          <a:prstGeom prst="rect">
            <a:avLst/>
          </a:prstGeom>
        </p:spPr>
        <p:txBody>
          <a:bodyPr vert="horz" wrap="square" lIns="0" tIns="12700" rIns="0" bIns="0" rtlCol="0">
            <a:spAutoFit/>
          </a:bodyPr>
          <a:lstStyle/>
          <a:p>
            <a:pPr marL="12700">
              <a:lnSpc>
                <a:spcPct val="100000"/>
              </a:lnSpc>
              <a:spcBef>
                <a:spcPts val="100"/>
              </a:spcBef>
            </a:pPr>
            <a:r>
              <a:rPr sz="2600" spc="-10" dirty="0">
                <a:solidFill>
                  <a:srgbClr val="FFFFFF"/>
                </a:solidFill>
                <a:latin typeface="Arial MT"/>
                <a:cs typeface="Arial MT"/>
              </a:rPr>
              <a:t>Guelph</a:t>
            </a:r>
            <a:endParaRPr sz="2600">
              <a:latin typeface="Arial MT"/>
              <a:cs typeface="Arial MT"/>
            </a:endParaRPr>
          </a:p>
        </p:txBody>
      </p:sp>
      <p:sp>
        <p:nvSpPr>
          <p:cNvPr id="17" name="object 17"/>
          <p:cNvSpPr txBox="1"/>
          <p:nvPr/>
        </p:nvSpPr>
        <p:spPr>
          <a:xfrm>
            <a:off x="610362" y="5223509"/>
            <a:ext cx="10972800" cy="462280"/>
          </a:xfrm>
          <a:prstGeom prst="rect">
            <a:avLst/>
          </a:prstGeom>
          <a:ln w="25400">
            <a:solidFill>
              <a:srgbClr val="0070C0"/>
            </a:solidFill>
          </a:ln>
        </p:spPr>
        <p:txBody>
          <a:bodyPr vert="horz" wrap="square" lIns="0" tIns="38100" rIns="0" bIns="0" rtlCol="0">
            <a:spAutoFit/>
          </a:bodyPr>
          <a:lstStyle/>
          <a:p>
            <a:pPr algn="ctr">
              <a:lnSpc>
                <a:spcPct val="100000"/>
              </a:lnSpc>
              <a:spcBef>
                <a:spcPts val="300"/>
              </a:spcBef>
            </a:pPr>
            <a:r>
              <a:rPr sz="2400" dirty="0">
                <a:latin typeface="Arial MT"/>
                <a:cs typeface="Arial MT"/>
              </a:rPr>
              <a:t>What</a:t>
            </a:r>
            <a:r>
              <a:rPr sz="2400" spc="-40" dirty="0">
                <a:latin typeface="Arial MT"/>
                <a:cs typeface="Arial MT"/>
              </a:rPr>
              <a:t> </a:t>
            </a:r>
            <a:r>
              <a:rPr sz="2400" dirty="0">
                <a:latin typeface="Arial MT"/>
                <a:cs typeface="Arial MT"/>
              </a:rPr>
              <a:t>made</a:t>
            </a:r>
            <a:r>
              <a:rPr sz="2400" spc="-40" dirty="0">
                <a:latin typeface="Arial MT"/>
                <a:cs typeface="Arial MT"/>
              </a:rPr>
              <a:t> </a:t>
            </a:r>
            <a:r>
              <a:rPr sz="2400" dirty="0">
                <a:latin typeface="Arial MT"/>
                <a:cs typeface="Arial MT"/>
              </a:rPr>
              <a:t>you</a:t>
            </a:r>
            <a:r>
              <a:rPr sz="2400" spc="-40" dirty="0">
                <a:latin typeface="Arial MT"/>
                <a:cs typeface="Arial MT"/>
              </a:rPr>
              <a:t> </a:t>
            </a:r>
            <a:r>
              <a:rPr sz="2400" dirty="0">
                <a:latin typeface="Arial MT"/>
                <a:cs typeface="Arial MT"/>
              </a:rPr>
              <a:t>choose</a:t>
            </a:r>
            <a:r>
              <a:rPr sz="2400" spc="-30" dirty="0">
                <a:latin typeface="Arial MT"/>
                <a:cs typeface="Arial MT"/>
              </a:rPr>
              <a:t> </a:t>
            </a:r>
            <a:r>
              <a:rPr sz="2400" dirty="0">
                <a:latin typeface="Arial MT"/>
                <a:cs typeface="Arial MT"/>
              </a:rPr>
              <a:t>U</a:t>
            </a:r>
            <a:r>
              <a:rPr sz="2400" spc="-35" dirty="0">
                <a:latin typeface="Arial MT"/>
                <a:cs typeface="Arial MT"/>
              </a:rPr>
              <a:t> </a:t>
            </a:r>
            <a:r>
              <a:rPr sz="2400" dirty="0">
                <a:latin typeface="Arial MT"/>
                <a:cs typeface="Arial MT"/>
              </a:rPr>
              <a:t>of</a:t>
            </a:r>
            <a:r>
              <a:rPr sz="2400" spc="-70" dirty="0">
                <a:latin typeface="Arial MT"/>
                <a:cs typeface="Arial MT"/>
              </a:rPr>
              <a:t> </a:t>
            </a:r>
            <a:r>
              <a:rPr sz="2400" dirty="0">
                <a:latin typeface="Arial MT"/>
                <a:cs typeface="Arial MT"/>
              </a:rPr>
              <a:t>T?</a:t>
            </a:r>
            <a:r>
              <a:rPr sz="2400" spc="-45" dirty="0">
                <a:latin typeface="Arial MT"/>
                <a:cs typeface="Arial MT"/>
              </a:rPr>
              <a:t> </a:t>
            </a:r>
            <a:r>
              <a:rPr sz="2400" spc="-10" dirty="0">
                <a:latin typeface="Arial MT"/>
                <a:cs typeface="Arial MT"/>
              </a:rPr>
              <a:t>Rotman?</a:t>
            </a:r>
            <a:endParaRPr sz="24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object 36"/>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4</a:t>
            </a:fld>
            <a:endParaRPr spc="-25" dirty="0"/>
          </a:p>
        </p:txBody>
      </p:sp>
      <p:sp>
        <p:nvSpPr>
          <p:cNvPr id="37" name="Subtitle 36">
            <a:extLst>
              <a:ext uri="{FF2B5EF4-FFF2-40B4-BE49-F238E27FC236}">
                <a16:creationId xmlns:a16="http://schemas.microsoft.com/office/drawing/2014/main" id="{8DF721C9-5436-156F-8E09-7E45872580CD}"/>
              </a:ext>
            </a:extLst>
          </p:cNvPr>
          <p:cNvSpPr>
            <a:spLocks noGrp="1"/>
          </p:cNvSpPr>
          <p:nvPr>
            <p:ph type="subTitle" idx="1"/>
          </p:nvPr>
        </p:nvSpPr>
        <p:spPr/>
        <p:txBody>
          <a:bodyPr/>
          <a:lstStyle/>
          <a:p>
            <a:r>
              <a:rPr lang="en-CA" dirty="0"/>
              <a:t>The Decision- Making Process</a:t>
            </a:r>
          </a:p>
        </p:txBody>
      </p:sp>
      <p:sp>
        <p:nvSpPr>
          <p:cNvPr id="3" name="object 3"/>
          <p:cNvSpPr txBox="1"/>
          <p:nvPr/>
        </p:nvSpPr>
        <p:spPr>
          <a:xfrm>
            <a:off x="6282690" y="4941570"/>
            <a:ext cx="5430520" cy="832485"/>
          </a:xfrm>
          <a:prstGeom prst="rect">
            <a:avLst/>
          </a:prstGeom>
          <a:ln w="38100">
            <a:solidFill>
              <a:srgbClr val="0070C0"/>
            </a:solidFill>
          </a:ln>
        </p:spPr>
        <p:txBody>
          <a:bodyPr vert="horz" wrap="square" lIns="0" tIns="38735" rIns="0" bIns="0" rtlCol="0">
            <a:spAutoFit/>
          </a:bodyPr>
          <a:lstStyle/>
          <a:p>
            <a:pPr marL="1927225" marR="708660" indent="-1213485">
              <a:lnSpc>
                <a:spcPct val="100000"/>
              </a:lnSpc>
              <a:spcBef>
                <a:spcPts val="305"/>
              </a:spcBef>
            </a:pPr>
            <a:r>
              <a:rPr sz="2400" dirty="0">
                <a:latin typeface="Arial MT"/>
                <a:cs typeface="Arial MT"/>
              </a:rPr>
              <a:t>How</a:t>
            </a:r>
            <a:r>
              <a:rPr sz="2400" spc="-60" dirty="0">
                <a:latin typeface="Arial MT"/>
                <a:cs typeface="Arial MT"/>
              </a:rPr>
              <a:t> </a:t>
            </a:r>
            <a:r>
              <a:rPr sz="2400" dirty="0">
                <a:latin typeface="Arial MT"/>
                <a:cs typeface="Arial MT"/>
              </a:rPr>
              <a:t>can</a:t>
            </a:r>
            <a:r>
              <a:rPr sz="2400" spc="-60" dirty="0">
                <a:latin typeface="Arial MT"/>
                <a:cs typeface="Arial MT"/>
              </a:rPr>
              <a:t> </a:t>
            </a:r>
            <a:r>
              <a:rPr sz="2400" dirty="0">
                <a:latin typeface="Arial MT"/>
                <a:cs typeface="Arial MT"/>
              </a:rPr>
              <a:t>you</a:t>
            </a:r>
            <a:r>
              <a:rPr sz="2400" spc="-55" dirty="0">
                <a:latin typeface="Arial MT"/>
                <a:cs typeface="Arial MT"/>
              </a:rPr>
              <a:t> </a:t>
            </a:r>
            <a:r>
              <a:rPr sz="2400" dirty="0">
                <a:latin typeface="Arial MT"/>
                <a:cs typeface="Arial MT"/>
              </a:rPr>
              <a:t>choose</a:t>
            </a:r>
            <a:r>
              <a:rPr sz="2400" spc="-65" dirty="0">
                <a:latin typeface="Arial MT"/>
                <a:cs typeface="Arial MT"/>
              </a:rPr>
              <a:t> </a:t>
            </a:r>
            <a:r>
              <a:rPr sz="2400" dirty="0">
                <a:latin typeface="Arial MT"/>
                <a:cs typeface="Arial MT"/>
              </a:rPr>
              <a:t>the</a:t>
            </a:r>
            <a:r>
              <a:rPr sz="2400" spc="-60" dirty="0">
                <a:latin typeface="Arial MT"/>
                <a:cs typeface="Arial MT"/>
              </a:rPr>
              <a:t> </a:t>
            </a:r>
            <a:r>
              <a:rPr sz="2400" spc="-20" dirty="0">
                <a:latin typeface="Arial MT"/>
                <a:cs typeface="Arial MT"/>
              </a:rPr>
              <a:t>best </a:t>
            </a:r>
            <a:r>
              <a:rPr sz="2400" spc="-10" dirty="0">
                <a:latin typeface="Arial MT"/>
                <a:cs typeface="Arial MT"/>
              </a:rPr>
              <a:t>alternative?</a:t>
            </a:r>
            <a:endParaRPr sz="2400" dirty="0">
              <a:latin typeface="Arial MT"/>
              <a:cs typeface="Arial MT"/>
            </a:endParaRPr>
          </a:p>
        </p:txBody>
      </p:sp>
      <p:sp>
        <p:nvSpPr>
          <p:cNvPr id="5" name="object 5"/>
          <p:cNvSpPr/>
          <p:nvPr/>
        </p:nvSpPr>
        <p:spPr>
          <a:xfrm>
            <a:off x="6726668" y="2254656"/>
            <a:ext cx="4253230" cy="1093731"/>
          </a:xfrm>
          <a:custGeom>
            <a:avLst/>
            <a:gdLst/>
            <a:ahLst/>
            <a:cxnLst/>
            <a:rect l="l" t="t" r="r" b="b"/>
            <a:pathLst>
              <a:path w="4253230" h="246379">
                <a:moveTo>
                  <a:pt x="2125979" y="0"/>
                </a:moveTo>
                <a:lnTo>
                  <a:pt x="2125979" y="123062"/>
                </a:lnTo>
                <a:lnTo>
                  <a:pt x="4252976" y="123062"/>
                </a:lnTo>
                <a:lnTo>
                  <a:pt x="4252976" y="246125"/>
                </a:lnTo>
              </a:path>
              <a:path w="4253230" h="246379">
                <a:moveTo>
                  <a:pt x="2125979" y="0"/>
                </a:moveTo>
                <a:lnTo>
                  <a:pt x="2125979" y="123062"/>
                </a:lnTo>
                <a:lnTo>
                  <a:pt x="2835021" y="123062"/>
                </a:lnTo>
                <a:lnTo>
                  <a:pt x="2835021" y="246125"/>
                </a:lnTo>
              </a:path>
              <a:path w="4253230" h="246379">
                <a:moveTo>
                  <a:pt x="2126360" y="0"/>
                </a:moveTo>
                <a:lnTo>
                  <a:pt x="2126360" y="123062"/>
                </a:lnTo>
                <a:lnTo>
                  <a:pt x="1417319" y="123062"/>
                </a:lnTo>
                <a:lnTo>
                  <a:pt x="1417319" y="246125"/>
                </a:lnTo>
              </a:path>
              <a:path w="4253230" h="246379">
                <a:moveTo>
                  <a:pt x="2126996" y="0"/>
                </a:moveTo>
                <a:lnTo>
                  <a:pt x="2126996" y="123062"/>
                </a:lnTo>
                <a:lnTo>
                  <a:pt x="0" y="123062"/>
                </a:lnTo>
                <a:lnTo>
                  <a:pt x="0" y="246125"/>
                </a:lnTo>
              </a:path>
            </a:pathLst>
          </a:custGeom>
          <a:ln w="38100">
            <a:solidFill>
              <a:schemeClr val="tx1"/>
            </a:solidFill>
          </a:ln>
        </p:spPr>
        <p:txBody>
          <a:bodyPr wrap="square" lIns="0" tIns="0" rIns="0" bIns="0" rtlCol="0"/>
          <a:lstStyle/>
          <a:p>
            <a:endParaRPr/>
          </a:p>
        </p:txBody>
      </p:sp>
      <p:sp>
        <p:nvSpPr>
          <p:cNvPr id="9" name="object 9"/>
          <p:cNvSpPr txBox="1"/>
          <p:nvPr/>
        </p:nvSpPr>
        <p:spPr>
          <a:xfrm>
            <a:off x="7968208" y="1447742"/>
            <a:ext cx="1770151" cy="1112996"/>
          </a:xfrm>
          <a:prstGeom prst="rect">
            <a:avLst/>
          </a:prstGeom>
          <a:solidFill>
            <a:srgbClr val="929292"/>
          </a:solidFill>
        </p:spPr>
        <p:txBody>
          <a:bodyPr vert="horz" wrap="square" lIns="0" tIns="55244" rIns="0" bIns="0" rtlCol="0">
            <a:spAutoFit/>
          </a:bodyPr>
          <a:lstStyle/>
          <a:p>
            <a:pPr marL="135255" marR="127000" indent="-2540" algn="ctr">
              <a:lnSpc>
                <a:spcPct val="86400"/>
              </a:lnSpc>
              <a:spcBef>
                <a:spcPts val="434"/>
              </a:spcBef>
            </a:pPr>
            <a:r>
              <a:rPr sz="1900" dirty="0">
                <a:solidFill>
                  <a:srgbClr val="FFFFFF"/>
                </a:solidFill>
                <a:latin typeface="Arial MT"/>
                <a:cs typeface="Arial MT"/>
              </a:rPr>
              <a:t>Manager</a:t>
            </a:r>
            <a:r>
              <a:rPr sz="1900" spc="-100" dirty="0">
                <a:solidFill>
                  <a:srgbClr val="FFFFFF"/>
                </a:solidFill>
                <a:latin typeface="Arial MT"/>
                <a:cs typeface="Arial MT"/>
              </a:rPr>
              <a:t> </a:t>
            </a:r>
            <a:r>
              <a:rPr sz="1900" spc="-25" dirty="0">
                <a:solidFill>
                  <a:srgbClr val="FFFFFF"/>
                </a:solidFill>
                <a:latin typeface="Arial MT"/>
                <a:cs typeface="Arial MT"/>
              </a:rPr>
              <a:t>is </a:t>
            </a:r>
            <a:r>
              <a:rPr sz="1900" dirty="0">
                <a:solidFill>
                  <a:srgbClr val="FFFFFF"/>
                </a:solidFill>
                <a:latin typeface="Arial MT"/>
                <a:cs typeface="Arial MT"/>
              </a:rPr>
              <a:t>Faced</a:t>
            </a:r>
            <a:r>
              <a:rPr sz="1900" spc="-70" dirty="0">
                <a:solidFill>
                  <a:srgbClr val="FFFFFF"/>
                </a:solidFill>
                <a:latin typeface="Arial MT"/>
                <a:cs typeface="Arial MT"/>
              </a:rPr>
              <a:t> </a:t>
            </a:r>
            <a:r>
              <a:rPr sz="1900" dirty="0">
                <a:solidFill>
                  <a:srgbClr val="FFFFFF"/>
                </a:solidFill>
                <a:latin typeface="Arial MT"/>
                <a:cs typeface="Arial MT"/>
              </a:rPr>
              <a:t>with</a:t>
            </a:r>
            <a:r>
              <a:rPr sz="1900" spc="-45" dirty="0">
                <a:solidFill>
                  <a:srgbClr val="FFFFFF"/>
                </a:solidFill>
                <a:latin typeface="Arial MT"/>
                <a:cs typeface="Arial MT"/>
              </a:rPr>
              <a:t> </a:t>
            </a:r>
            <a:r>
              <a:rPr sz="1900" spc="-50" dirty="0">
                <a:solidFill>
                  <a:srgbClr val="FFFFFF"/>
                </a:solidFill>
                <a:latin typeface="Arial MT"/>
                <a:cs typeface="Arial MT"/>
              </a:rPr>
              <a:t>a </a:t>
            </a:r>
            <a:r>
              <a:rPr sz="1900" spc="-10" dirty="0">
                <a:solidFill>
                  <a:srgbClr val="FFFFFF"/>
                </a:solidFill>
                <a:latin typeface="Arial MT"/>
                <a:cs typeface="Arial MT"/>
              </a:rPr>
              <a:t>Problem</a:t>
            </a:r>
            <a:endParaRPr lang="en-CA" sz="1900" spc="-10" dirty="0">
              <a:solidFill>
                <a:srgbClr val="FFFFFF"/>
              </a:solidFill>
              <a:latin typeface="Arial MT"/>
              <a:cs typeface="Arial MT"/>
            </a:endParaRPr>
          </a:p>
          <a:p>
            <a:pPr marL="135255" marR="127000" indent="-2540" algn="ctr">
              <a:lnSpc>
                <a:spcPct val="86400"/>
              </a:lnSpc>
              <a:spcBef>
                <a:spcPts val="434"/>
              </a:spcBef>
            </a:pPr>
            <a:endParaRPr sz="1900" dirty="0">
              <a:latin typeface="Arial MT"/>
              <a:cs typeface="Arial MT"/>
            </a:endParaRPr>
          </a:p>
        </p:txBody>
      </p:sp>
      <p:sp>
        <p:nvSpPr>
          <p:cNvPr id="14" name="object 14"/>
          <p:cNvSpPr txBox="1"/>
          <p:nvPr/>
        </p:nvSpPr>
        <p:spPr>
          <a:xfrm>
            <a:off x="6268314" y="3348387"/>
            <a:ext cx="1181735" cy="867545"/>
          </a:xfrm>
          <a:prstGeom prst="rect">
            <a:avLst/>
          </a:prstGeom>
          <a:solidFill>
            <a:srgbClr val="929292"/>
          </a:solidFill>
        </p:spPr>
        <p:txBody>
          <a:bodyPr vert="horz" wrap="square" lIns="0" tIns="46355" rIns="0" bIns="0" rtlCol="0">
            <a:spAutoFit/>
          </a:bodyPr>
          <a:lstStyle/>
          <a:p>
            <a:pPr marL="523875" marR="12700" indent="-501650">
              <a:lnSpc>
                <a:spcPts val="1970"/>
              </a:lnSpc>
              <a:spcBef>
                <a:spcPts val="365"/>
              </a:spcBef>
            </a:pPr>
            <a:endParaRPr lang="en-CA" sz="1900" spc="-10" dirty="0">
              <a:solidFill>
                <a:srgbClr val="FFFFFF"/>
              </a:solidFill>
              <a:latin typeface="Arial MT"/>
              <a:cs typeface="Arial MT"/>
            </a:endParaRPr>
          </a:p>
          <a:p>
            <a:pPr marL="523875" marR="12700" indent="-501650">
              <a:lnSpc>
                <a:spcPts val="1970"/>
              </a:lnSpc>
              <a:spcBef>
                <a:spcPts val="365"/>
              </a:spcBef>
            </a:pPr>
            <a:r>
              <a:rPr sz="1900" spc="-10" dirty="0">
                <a:solidFill>
                  <a:srgbClr val="FFFFFF"/>
                </a:solidFill>
                <a:latin typeface="Arial MT"/>
                <a:cs typeface="Arial MT"/>
              </a:rPr>
              <a:t>Alternative </a:t>
            </a:r>
            <a:r>
              <a:rPr sz="1900" spc="-50" dirty="0">
                <a:solidFill>
                  <a:srgbClr val="FFFFFF"/>
                </a:solidFill>
                <a:latin typeface="Arial MT"/>
                <a:cs typeface="Arial MT"/>
              </a:rPr>
              <a:t>1</a:t>
            </a:r>
            <a:endParaRPr sz="1900" dirty="0">
              <a:latin typeface="Arial MT"/>
              <a:cs typeface="Arial MT"/>
            </a:endParaRPr>
          </a:p>
        </p:txBody>
      </p:sp>
      <p:sp>
        <p:nvSpPr>
          <p:cNvPr id="19" name="object 19"/>
          <p:cNvSpPr txBox="1"/>
          <p:nvPr/>
        </p:nvSpPr>
        <p:spPr>
          <a:xfrm>
            <a:off x="7704674" y="3368924"/>
            <a:ext cx="1181735" cy="867545"/>
          </a:xfrm>
          <a:prstGeom prst="rect">
            <a:avLst/>
          </a:prstGeom>
          <a:solidFill>
            <a:srgbClr val="929292"/>
          </a:solidFill>
        </p:spPr>
        <p:txBody>
          <a:bodyPr vert="horz" wrap="square" lIns="0" tIns="46355" rIns="0" bIns="0" rtlCol="0">
            <a:spAutoFit/>
          </a:bodyPr>
          <a:lstStyle/>
          <a:p>
            <a:pPr marL="523240" marR="13335" indent="-501650">
              <a:lnSpc>
                <a:spcPts val="1970"/>
              </a:lnSpc>
              <a:spcBef>
                <a:spcPts val="365"/>
              </a:spcBef>
            </a:pPr>
            <a:endParaRPr lang="en-CA" sz="1900" spc="-10" dirty="0">
              <a:solidFill>
                <a:srgbClr val="FFFFFF"/>
              </a:solidFill>
              <a:latin typeface="Arial MT"/>
              <a:cs typeface="Arial MT"/>
            </a:endParaRPr>
          </a:p>
          <a:p>
            <a:pPr marL="523240" marR="13335" indent="-501650">
              <a:lnSpc>
                <a:spcPts val="1970"/>
              </a:lnSpc>
              <a:spcBef>
                <a:spcPts val="365"/>
              </a:spcBef>
            </a:pPr>
            <a:r>
              <a:rPr sz="1900" spc="-10" dirty="0">
                <a:solidFill>
                  <a:srgbClr val="FFFFFF"/>
                </a:solidFill>
                <a:latin typeface="Arial MT"/>
                <a:cs typeface="Arial MT"/>
              </a:rPr>
              <a:t>Alternative </a:t>
            </a:r>
            <a:r>
              <a:rPr sz="1900" spc="-50" dirty="0">
                <a:solidFill>
                  <a:srgbClr val="FFFFFF"/>
                </a:solidFill>
                <a:latin typeface="Arial MT"/>
                <a:cs typeface="Arial MT"/>
              </a:rPr>
              <a:t>2</a:t>
            </a:r>
            <a:endParaRPr sz="1900" dirty="0">
              <a:latin typeface="Arial MT"/>
              <a:cs typeface="Arial MT"/>
            </a:endParaRPr>
          </a:p>
        </p:txBody>
      </p:sp>
      <p:sp>
        <p:nvSpPr>
          <p:cNvPr id="24" name="object 24"/>
          <p:cNvSpPr txBox="1"/>
          <p:nvPr/>
        </p:nvSpPr>
        <p:spPr>
          <a:xfrm>
            <a:off x="9121664" y="3368925"/>
            <a:ext cx="1181735" cy="867545"/>
          </a:xfrm>
          <a:prstGeom prst="rect">
            <a:avLst/>
          </a:prstGeom>
          <a:solidFill>
            <a:srgbClr val="929292"/>
          </a:solidFill>
        </p:spPr>
        <p:txBody>
          <a:bodyPr vert="horz" wrap="square" lIns="0" tIns="46355" rIns="0" bIns="0" rtlCol="0">
            <a:spAutoFit/>
          </a:bodyPr>
          <a:lstStyle/>
          <a:p>
            <a:pPr marL="523875" marR="12065" indent="-501650">
              <a:lnSpc>
                <a:spcPts val="1970"/>
              </a:lnSpc>
              <a:spcBef>
                <a:spcPts val="365"/>
              </a:spcBef>
            </a:pPr>
            <a:endParaRPr lang="en-CA" sz="1900" spc="-10" dirty="0">
              <a:solidFill>
                <a:srgbClr val="FFFFFF"/>
              </a:solidFill>
              <a:latin typeface="Arial MT"/>
              <a:cs typeface="Arial MT"/>
            </a:endParaRPr>
          </a:p>
          <a:p>
            <a:pPr marL="523875" marR="12065" indent="-501650">
              <a:lnSpc>
                <a:spcPts val="1970"/>
              </a:lnSpc>
              <a:spcBef>
                <a:spcPts val="365"/>
              </a:spcBef>
            </a:pPr>
            <a:r>
              <a:rPr sz="1900" spc="-10" dirty="0">
                <a:solidFill>
                  <a:srgbClr val="FFFFFF"/>
                </a:solidFill>
                <a:latin typeface="Arial MT"/>
                <a:cs typeface="Arial MT"/>
              </a:rPr>
              <a:t>Alternative </a:t>
            </a:r>
            <a:r>
              <a:rPr sz="1900" spc="-50" dirty="0">
                <a:solidFill>
                  <a:srgbClr val="FFFFFF"/>
                </a:solidFill>
                <a:latin typeface="Arial MT"/>
                <a:cs typeface="Arial MT"/>
              </a:rPr>
              <a:t>3</a:t>
            </a:r>
            <a:endParaRPr sz="1900" dirty="0">
              <a:latin typeface="Arial MT"/>
              <a:cs typeface="Arial MT"/>
            </a:endParaRPr>
          </a:p>
        </p:txBody>
      </p:sp>
      <p:sp>
        <p:nvSpPr>
          <p:cNvPr id="30" name="object 30"/>
          <p:cNvSpPr txBox="1"/>
          <p:nvPr/>
        </p:nvSpPr>
        <p:spPr>
          <a:xfrm>
            <a:off x="10533697" y="3668648"/>
            <a:ext cx="1181735" cy="314960"/>
          </a:xfrm>
          <a:prstGeom prst="rect">
            <a:avLst/>
          </a:prstGeom>
        </p:spPr>
        <p:txBody>
          <a:bodyPr vert="horz" wrap="square" lIns="0" tIns="12065" rIns="0" bIns="0" rtlCol="0">
            <a:spAutoFit/>
          </a:bodyPr>
          <a:lstStyle/>
          <a:p>
            <a:pPr marL="382905">
              <a:lnSpc>
                <a:spcPct val="100000"/>
              </a:lnSpc>
              <a:spcBef>
                <a:spcPts val="95"/>
              </a:spcBef>
            </a:pPr>
            <a:r>
              <a:rPr sz="1900" spc="-20" dirty="0">
                <a:solidFill>
                  <a:srgbClr val="FFFFFF"/>
                </a:solidFill>
                <a:latin typeface="Arial MT"/>
                <a:cs typeface="Arial MT"/>
              </a:rPr>
              <a:t>Etc.</a:t>
            </a:r>
            <a:endParaRPr sz="1900" dirty="0">
              <a:latin typeface="Arial MT"/>
              <a:cs typeface="Arial MT"/>
            </a:endParaRPr>
          </a:p>
        </p:txBody>
      </p:sp>
      <p:sp>
        <p:nvSpPr>
          <p:cNvPr id="31" name="object 31"/>
          <p:cNvSpPr txBox="1"/>
          <p:nvPr/>
        </p:nvSpPr>
        <p:spPr>
          <a:xfrm>
            <a:off x="682893" y="942635"/>
            <a:ext cx="4613275" cy="5118709"/>
          </a:xfrm>
          <a:prstGeom prst="rect">
            <a:avLst/>
          </a:prstGeom>
        </p:spPr>
        <p:txBody>
          <a:bodyPr vert="horz" wrap="square" lIns="0" tIns="12065" rIns="0" bIns="0" rtlCol="0">
            <a:spAutoFit/>
          </a:bodyPr>
          <a:lstStyle/>
          <a:p>
            <a:pPr marL="469265" marR="191770" indent="-457200">
              <a:lnSpc>
                <a:spcPct val="100000"/>
              </a:lnSpc>
              <a:spcBef>
                <a:spcPts val="95"/>
              </a:spcBef>
              <a:buSzPct val="79545"/>
              <a:buFont typeface="+mj-lt"/>
              <a:buAutoNum type="arabicPeriod"/>
              <a:tabLst>
                <a:tab pos="527685" algn="l"/>
              </a:tabLst>
            </a:pPr>
            <a:r>
              <a:rPr sz="2400" dirty="0">
                <a:latin typeface="Arial MT"/>
                <a:cs typeface="Arial MT"/>
              </a:rPr>
              <a:t>Identify</a:t>
            </a:r>
            <a:r>
              <a:rPr sz="2400" spc="-65" dirty="0">
                <a:latin typeface="Arial MT"/>
                <a:cs typeface="Arial MT"/>
              </a:rPr>
              <a:t> </a:t>
            </a:r>
            <a:r>
              <a:rPr sz="2400" dirty="0">
                <a:latin typeface="Arial MT"/>
                <a:cs typeface="Arial MT"/>
              </a:rPr>
              <a:t>the</a:t>
            </a:r>
            <a:r>
              <a:rPr sz="2400" spc="-65" dirty="0">
                <a:latin typeface="Arial MT"/>
                <a:cs typeface="Arial MT"/>
              </a:rPr>
              <a:t> </a:t>
            </a:r>
            <a:r>
              <a:rPr sz="2400" dirty="0">
                <a:latin typeface="Arial MT"/>
                <a:cs typeface="Arial MT"/>
              </a:rPr>
              <a:t>problem</a:t>
            </a:r>
            <a:r>
              <a:rPr sz="2400" spc="-45" dirty="0">
                <a:latin typeface="Arial MT"/>
                <a:cs typeface="Arial MT"/>
              </a:rPr>
              <a:t> </a:t>
            </a:r>
            <a:r>
              <a:rPr sz="2400" dirty="0">
                <a:latin typeface="Arial MT"/>
                <a:cs typeface="Arial MT"/>
              </a:rPr>
              <a:t>and</a:t>
            </a:r>
            <a:r>
              <a:rPr sz="2400" spc="-60" dirty="0">
                <a:latin typeface="Arial MT"/>
                <a:cs typeface="Arial MT"/>
              </a:rPr>
              <a:t> </a:t>
            </a:r>
            <a:r>
              <a:rPr sz="2400" spc="-10" dirty="0">
                <a:latin typeface="Arial MT"/>
                <a:cs typeface="Arial MT"/>
              </a:rPr>
              <a:t>assign responsibility</a:t>
            </a:r>
            <a:endParaRPr sz="2400" dirty="0">
              <a:latin typeface="Arial MT"/>
              <a:cs typeface="Arial MT"/>
            </a:endParaRPr>
          </a:p>
          <a:p>
            <a:pPr marL="469901" indent="-457200">
              <a:lnSpc>
                <a:spcPct val="100000"/>
              </a:lnSpc>
              <a:spcBef>
                <a:spcPts val="1125"/>
              </a:spcBef>
              <a:buSzPct val="79545"/>
              <a:buFont typeface="+mj-lt"/>
              <a:buAutoNum type="arabicPeriod"/>
              <a:tabLst>
                <a:tab pos="527685" algn="l"/>
              </a:tabLst>
            </a:pPr>
            <a:r>
              <a:rPr sz="2400" dirty="0">
                <a:latin typeface="Arial MT"/>
                <a:cs typeface="Arial MT"/>
              </a:rPr>
              <a:t>Determine</a:t>
            </a:r>
            <a:r>
              <a:rPr sz="2400" spc="-85" dirty="0">
                <a:latin typeface="Arial MT"/>
                <a:cs typeface="Arial MT"/>
              </a:rPr>
              <a:t> </a:t>
            </a:r>
            <a:r>
              <a:rPr sz="2400" dirty="0">
                <a:latin typeface="Arial MT"/>
                <a:cs typeface="Arial MT"/>
              </a:rPr>
              <a:t>and</a:t>
            </a:r>
            <a:r>
              <a:rPr sz="2400" spc="-105" dirty="0">
                <a:latin typeface="Arial MT"/>
                <a:cs typeface="Arial MT"/>
              </a:rPr>
              <a:t> </a:t>
            </a:r>
            <a:r>
              <a:rPr sz="2400" dirty="0">
                <a:latin typeface="Arial MT"/>
                <a:cs typeface="Arial MT"/>
              </a:rPr>
              <a:t>evaluate</a:t>
            </a:r>
            <a:r>
              <a:rPr sz="2400" spc="-85" dirty="0">
                <a:latin typeface="Arial MT"/>
                <a:cs typeface="Arial MT"/>
              </a:rPr>
              <a:t> </a:t>
            </a:r>
            <a:r>
              <a:rPr sz="2400" spc="-10" dirty="0">
                <a:latin typeface="Arial MT"/>
                <a:cs typeface="Arial MT"/>
              </a:rPr>
              <a:t>possible</a:t>
            </a:r>
            <a:r>
              <a:rPr lang="en-CA" sz="2400" spc="-10" dirty="0">
                <a:latin typeface="Arial MT"/>
                <a:cs typeface="Arial MT"/>
              </a:rPr>
              <a:t> </a:t>
            </a:r>
            <a:r>
              <a:rPr sz="2400" dirty="0">
                <a:latin typeface="Arial MT"/>
                <a:cs typeface="Arial MT"/>
              </a:rPr>
              <a:t>courses</a:t>
            </a:r>
            <a:r>
              <a:rPr sz="2400" spc="-45" dirty="0">
                <a:latin typeface="Arial MT"/>
                <a:cs typeface="Arial MT"/>
              </a:rPr>
              <a:t> </a:t>
            </a:r>
            <a:r>
              <a:rPr sz="2400" dirty="0">
                <a:latin typeface="Arial MT"/>
                <a:cs typeface="Arial MT"/>
              </a:rPr>
              <a:t>of</a:t>
            </a:r>
            <a:r>
              <a:rPr sz="2400" spc="-45" dirty="0">
                <a:latin typeface="Arial MT"/>
                <a:cs typeface="Arial MT"/>
              </a:rPr>
              <a:t> </a:t>
            </a:r>
            <a:r>
              <a:rPr sz="2400" spc="-10" dirty="0">
                <a:latin typeface="Arial MT"/>
                <a:cs typeface="Arial MT"/>
              </a:rPr>
              <a:t>action</a:t>
            </a:r>
            <a:endParaRPr lang="en-CA" sz="2400" spc="-10" dirty="0">
              <a:latin typeface="Arial MT"/>
              <a:cs typeface="Arial MT"/>
            </a:endParaRPr>
          </a:p>
          <a:p>
            <a:pPr marL="927101" lvl="1" indent="-457200">
              <a:spcBef>
                <a:spcPts val="1125"/>
              </a:spcBef>
              <a:buSzPct val="79545"/>
              <a:buFont typeface="Arial" panose="020B0604020202020204" pitchFamily="34" charset="0"/>
              <a:buChar char="•"/>
              <a:tabLst>
                <a:tab pos="527685" algn="l"/>
              </a:tabLst>
            </a:pPr>
            <a:r>
              <a:rPr lang="en-CA" sz="2400" dirty="0">
                <a:latin typeface="Arial MT"/>
                <a:cs typeface="Arial MT"/>
              </a:rPr>
              <a:t>Collect</a:t>
            </a:r>
            <a:r>
              <a:rPr lang="en-CA" sz="2400" spc="-70" dirty="0">
                <a:latin typeface="Arial MT"/>
                <a:cs typeface="Arial MT"/>
              </a:rPr>
              <a:t> </a:t>
            </a:r>
            <a:r>
              <a:rPr lang="en-CA" sz="2400" dirty="0">
                <a:latin typeface="Arial MT"/>
                <a:cs typeface="Arial MT"/>
              </a:rPr>
              <a:t>and</a:t>
            </a:r>
            <a:r>
              <a:rPr lang="en-CA" sz="2400" spc="-40" dirty="0">
                <a:latin typeface="Arial MT"/>
                <a:cs typeface="Arial MT"/>
              </a:rPr>
              <a:t> </a:t>
            </a:r>
            <a:r>
              <a:rPr lang="en-CA" sz="2400" dirty="0">
                <a:latin typeface="Arial MT"/>
                <a:cs typeface="Arial MT"/>
              </a:rPr>
              <a:t>verify</a:t>
            </a:r>
            <a:r>
              <a:rPr lang="en-CA" sz="2400" spc="-55" dirty="0">
                <a:latin typeface="Arial MT"/>
                <a:cs typeface="Arial MT"/>
              </a:rPr>
              <a:t> </a:t>
            </a:r>
            <a:r>
              <a:rPr lang="en-CA" sz="2400" spc="-10" dirty="0">
                <a:latin typeface="Arial MT"/>
                <a:cs typeface="Arial MT"/>
              </a:rPr>
              <a:t>relevant information</a:t>
            </a:r>
          </a:p>
          <a:p>
            <a:pPr marL="984885" indent="-457200">
              <a:spcBef>
                <a:spcPts val="5"/>
              </a:spcBef>
              <a:buFont typeface="+mj-lt"/>
              <a:buAutoNum type="arabicPeriod"/>
            </a:pPr>
            <a:endParaRPr lang="en-CA" sz="2400" spc="-10" dirty="0">
              <a:latin typeface="Arial MT"/>
              <a:cs typeface="Arial MT"/>
            </a:endParaRPr>
          </a:p>
          <a:p>
            <a:pPr marL="469901" indent="-457200">
              <a:spcBef>
                <a:spcPts val="1125"/>
              </a:spcBef>
              <a:buSzPct val="79545"/>
              <a:buFont typeface="+mj-lt"/>
              <a:buAutoNum type="arabicPeriod"/>
              <a:tabLst>
                <a:tab pos="527685" algn="l"/>
              </a:tabLst>
            </a:pPr>
            <a:r>
              <a:rPr lang="en-CA" sz="2400" dirty="0">
                <a:latin typeface="Arial MT"/>
              </a:rPr>
              <a:t>Make a decision</a:t>
            </a:r>
          </a:p>
          <a:p>
            <a:pPr marL="927101" lvl="1" indent="-457200">
              <a:spcBef>
                <a:spcPts val="1125"/>
              </a:spcBef>
              <a:buSzPct val="79545"/>
              <a:buFont typeface="Arial" panose="020B0604020202020204" pitchFamily="34" charset="0"/>
              <a:buChar char="•"/>
              <a:tabLst>
                <a:tab pos="527685" algn="l"/>
              </a:tabLst>
            </a:pPr>
            <a:r>
              <a:rPr lang="en-CA" sz="2400" dirty="0">
                <a:latin typeface="Arial MT"/>
                <a:cs typeface="Arial MT"/>
              </a:rPr>
              <a:t>Consider</a:t>
            </a:r>
            <a:r>
              <a:rPr lang="en-CA" sz="2400" spc="-80" dirty="0">
                <a:latin typeface="Arial MT"/>
                <a:cs typeface="Arial MT"/>
              </a:rPr>
              <a:t> </a:t>
            </a:r>
            <a:r>
              <a:rPr lang="en-CA" sz="2400" dirty="0">
                <a:latin typeface="Arial MT"/>
                <a:cs typeface="Arial MT"/>
              </a:rPr>
              <a:t>financial</a:t>
            </a:r>
            <a:r>
              <a:rPr lang="en-CA" sz="2400" spc="-75" dirty="0">
                <a:latin typeface="Arial MT"/>
                <a:cs typeface="Arial MT"/>
              </a:rPr>
              <a:t> </a:t>
            </a:r>
            <a:r>
              <a:rPr lang="en-CA" sz="2400" dirty="0">
                <a:latin typeface="Arial MT"/>
                <a:cs typeface="Arial MT"/>
              </a:rPr>
              <a:t>and</a:t>
            </a:r>
            <a:r>
              <a:rPr lang="en-CA" sz="2400" spc="-65" dirty="0">
                <a:latin typeface="Arial MT"/>
                <a:cs typeface="Arial MT"/>
              </a:rPr>
              <a:t> </a:t>
            </a:r>
            <a:r>
              <a:rPr lang="en-CA" sz="2400" spc="-20" dirty="0">
                <a:latin typeface="Arial MT"/>
                <a:cs typeface="Arial MT"/>
              </a:rPr>
              <a:t>non- </a:t>
            </a:r>
            <a:r>
              <a:rPr lang="en-CA" sz="2400" dirty="0">
                <a:latin typeface="Arial MT"/>
                <a:cs typeface="Arial MT"/>
              </a:rPr>
              <a:t>financial</a:t>
            </a:r>
            <a:r>
              <a:rPr lang="en-CA" sz="2400" spc="-90" dirty="0">
                <a:latin typeface="Arial MT"/>
                <a:cs typeface="Arial MT"/>
              </a:rPr>
              <a:t> </a:t>
            </a:r>
            <a:r>
              <a:rPr lang="en-CA" sz="2400" spc="-10" dirty="0">
                <a:latin typeface="Arial MT"/>
                <a:cs typeface="Arial MT"/>
              </a:rPr>
              <a:t>information</a:t>
            </a:r>
          </a:p>
          <a:p>
            <a:pPr marL="469901" indent="-457200">
              <a:spcBef>
                <a:spcPts val="1125"/>
              </a:spcBef>
              <a:buSzPct val="79545"/>
              <a:buFont typeface="+mj-lt"/>
              <a:buAutoNum type="arabicPeriod"/>
              <a:tabLst>
                <a:tab pos="527685" algn="l"/>
              </a:tabLst>
            </a:pPr>
            <a:r>
              <a:rPr lang="en-CA" sz="2400" dirty="0">
                <a:latin typeface="Arial MT"/>
                <a:cs typeface="Arial MT"/>
              </a:rPr>
              <a:t>Review</a:t>
            </a:r>
            <a:r>
              <a:rPr lang="en-CA" sz="2400" spc="-50" dirty="0">
                <a:latin typeface="Arial MT"/>
                <a:cs typeface="Arial MT"/>
              </a:rPr>
              <a:t> </a:t>
            </a:r>
            <a:r>
              <a:rPr lang="en-CA" sz="2400" dirty="0">
                <a:latin typeface="Arial MT"/>
                <a:cs typeface="Arial MT"/>
              </a:rPr>
              <a:t>results</a:t>
            </a:r>
            <a:r>
              <a:rPr lang="en-CA" sz="2400" spc="-50" dirty="0">
                <a:latin typeface="Arial MT"/>
                <a:cs typeface="Arial MT"/>
              </a:rPr>
              <a:t> </a:t>
            </a:r>
            <a:r>
              <a:rPr lang="en-CA" sz="2400" dirty="0">
                <a:latin typeface="Arial MT"/>
                <a:cs typeface="Arial MT"/>
              </a:rPr>
              <a:t>of</a:t>
            </a:r>
            <a:r>
              <a:rPr lang="en-CA" sz="2400" spc="-55" dirty="0">
                <a:latin typeface="Arial MT"/>
                <a:cs typeface="Arial MT"/>
              </a:rPr>
              <a:t> </a:t>
            </a:r>
            <a:r>
              <a:rPr lang="en-CA" sz="2400" dirty="0">
                <a:latin typeface="Arial MT"/>
                <a:cs typeface="Arial MT"/>
              </a:rPr>
              <a:t>the</a:t>
            </a:r>
            <a:r>
              <a:rPr lang="en-CA" sz="2400" spc="-60" dirty="0">
                <a:latin typeface="Arial MT"/>
                <a:cs typeface="Arial MT"/>
              </a:rPr>
              <a:t> </a:t>
            </a:r>
            <a:r>
              <a:rPr lang="en-CA" sz="2400" spc="-10" dirty="0">
                <a:latin typeface="Arial MT"/>
                <a:cs typeface="Arial MT"/>
              </a:rPr>
              <a:t>decision</a:t>
            </a:r>
            <a:endParaRPr lang="en-CA" sz="2400" dirty="0">
              <a:latin typeface="Arial MT"/>
              <a:cs typeface="Arial MT"/>
            </a:endParaRPr>
          </a:p>
          <a:p>
            <a:pPr marL="527685">
              <a:lnSpc>
                <a:spcPct val="100000"/>
              </a:lnSpc>
              <a:spcBef>
                <a:spcPts val="5"/>
              </a:spcBef>
            </a:pPr>
            <a:endParaRPr lang="en-CA" sz="2200" spc="-10" dirty="0">
              <a:latin typeface="Arial MT"/>
              <a:cs typeface="Arial MT"/>
            </a:endParaRPr>
          </a:p>
        </p:txBody>
      </p:sp>
      <p:sp>
        <p:nvSpPr>
          <p:cNvPr id="35" name="object 35"/>
          <p:cNvSpPr/>
          <p:nvPr/>
        </p:nvSpPr>
        <p:spPr>
          <a:xfrm>
            <a:off x="1076016" y="2652996"/>
            <a:ext cx="4162425" cy="848994"/>
          </a:xfrm>
          <a:custGeom>
            <a:avLst/>
            <a:gdLst/>
            <a:ahLst/>
            <a:cxnLst/>
            <a:rect l="l" t="t" r="r" b="b"/>
            <a:pathLst>
              <a:path w="4162425" h="848995">
                <a:moveTo>
                  <a:pt x="0" y="848868"/>
                </a:moveTo>
                <a:lnTo>
                  <a:pt x="4162044" y="848868"/>
                </a:lnTo>
                <a:lnTo>
                  <a:pt x="4162044" y="0"/>
                </a:lnTo>
                <a:lnTo>
                  <a:pt x="0" y="0"/>
                </a:lnTo>
                <a:lnTo>
                  <a:pt x="0" y="848868"/>
                </a:lnTo>
                <a:close/>
              </a:path>
            </a:pathLst>
          </a:custGeom>
          <a:ln w="25400">
            <a:solidFill>
              <a:srgbClr val="0070C0"/>
            </a:solidFill>
            <a:prstDash val="sysDash"/>
          </a:ln>
        </p:spPr>
        <p:txBody>
          <a:bodyPr wrap="square" lIns="0" tIns="0" rIns="0" bIns="0" rtlCol="0"/>
          <a:lstStyle/>
          <a:p>
            <a:endParaRPr/>
          </a:p>
        </p:txBody>
      </p:sp>
      <p:sp>
        <p:nvSpPr>
          <p:cNvPr id="46" name="object 24">
            <a:extLst>
              <a:ext uri="{FF2B5EF4-FFF2-40B4-BE49-F238E27FC236}">
                <a16:creationId xmlns:a16="http://schemas.microsoft.com/office/drawing/2014/main" id="{BE087B57-1F6C-0D6B-EE8B-2E3334B9D9C2}"/>
              </a:ext>
            </a:extLst>
          </p:cNvPr>
          <p:cNvSpPr txBox="1"/>
          <p:nvPr/>
        </p:nvSpPr>
        <p:spPr>
          <a:xfrm>
            <a:off x="10525116" y="3348387"/>
            <a:ext cx="1181735" cy="918841"/>
          </a:xfrm>
          <a:prstGeom prst="rect">
            <a:avLst/>
          </a:prstGeom>
          <a:solidFill>
            <a:srgbClr val="929292"/>
          </a:solidFill>
        </p:spPr>
        <p:txBody>
          <a:bodyPr vert="horz" wrap="square" lIns="0" tIns="46355" rIns="0" bIns="0" rtlCol="0">
            <a:spAutoFit/>
          </a:bodyPr>
          <a:lstStyle/>
          <a:p>
            <a:pPr marL="523875" marR="12065" indent="-501650" algn="ctr">
              <a:lnSpc>
                <a:spcPts val="1970"/>
              </a:lnSpc>
              <a:spcBef>
                <a:spcPts val="365"/>
              </a:spcBef>
            </a:pPr>
            <a:endParaRPr lang="en-CA" sz="1900" spc="-10" dirty="0">
              <a:solidFill>
                <a:srgbClr val="FFFFFF"/>
              </a:solidFill>
              <a:latin typeface="Arial MT"/>
              <a:cs typeface="Arial MT"/>
            </a:endParaRPr>
          </a:p>
          <a:p>
            <a:pPr marL="523875" marR="12065" indent="-501650" algn="ctr">
              <a:lnSpc>
                <a:spcPts val="1970"/>
              </a:lnSpc>
              <a:spcBef>
                <a:spcPts val="365"/>
              </a:spcBef>
            </a:pPr>
            <a:r>
              <a:rPr lang="en-CA" sz="1900" spc="-10" dirty="0">
                <a:solidFill>
                  <a:srgbClr val="FFFFFF"/>
                </a:solidFill>
                <a:latin typeface="Arial MT"/>
                <a:cs typeface="Arial MT"/>
              </a:rPr>
              <a:t>Etc.</a:t>
            </a:r>
          </a:p>
          <a:p>
            <a:pPr marL="523875" marR="12065" indent="-501650">
              <a:lnSpc>
                <a:spcPts val="1970"/>
              </a:lnSpc>
              <a:spcBef>
                <a:spcPts val="365"/>
              </a:spcBef>
            </a:pPr>
            <a:endParaRPr sz="1900" dirty="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9296" y="659623"/>
            <a:ext cx="10909212" cy="2192908"/>
          </a:xfrm>
          <a:prstGeom prst="rect">
            <a:avLst/>
          </a:prstGeom>
        </p:spPr>
        <p:txBody>
          <a:bodyPr vert="horz" wrap="square" lIns="0" tIns="12700" rIns="0" bIns="0" rtlCol="0">
            <a:spAutoFit/>
          </a:bodyPr>
          <a:lstStyle/>
          <a:p>
            <a:pPr marL="12700">
              <a:lnSpc>
                <a:spcPct val="100000"/>
              </a:lnSpc>
              <a:spcBef>
                <a:spcPts val="100"/>
              </a:spcBef>
            </a:pPr>
            <a:r>
              <a:rPr sz="2400" b="1" dirty="0">
                <a:latin typeface="Arial"/>
                <a:cs typeface="Arial"/>
              </a:rPr>
              <a:t>Imagine</a:t>
            </a:r>
            <a:r>
              <a:rPr sz="2400" b="1" spc="-35" dirty="0">
                <a:latin typeface="Arial"/>
                <a:cs typeface="Arial"/>
              </a:rPr>
              <a:t> </a:t>
            </a:r>
            <a:r>
              <a:rPr sz="2400" b="1" dirty="0">
                <a:latin typeface="Arial"/>
                <a:cs typeface="Arial"/>
              </a:rPr>
              <a:t>if</a:t>
            </a:r>
            <a:r>
              <a:rPr sz="2400" b="1" spc="-10" dirty="0">
                <a:latin typeface="Arial"/>
                <a:cs typeface="Arial"/>
              </a:rPr>
              <a:t> </a:t>
            </a:r>
            <a:r>
              <a:rPr sz="2400" b="1" dirty="0">
                <a:latin typeface="Arial"/>
                <a:cs typeface="Arial"/>
              </a:rPr>
              <a:t>you</a:t>
            </a:r>
            <a:r>
              <a:rPr sz="2400" b="1" spc="-10" dirty="0">
                <a:latin typeface="Arial"/>
                <a:cs typeface="Arial"/>
              </a:rPr>
              <a:t> </a:t>
            </a:r>
            <a:r>
              <a:rPr sz="2400" b="1" dirty="0">
                <a:latin typeface="Arial"/>
                <a:cs typeface="Arial"/>
              </a:rPr>
              <a:t>had</a:t>
            </a:r>
            <a:r>
              <a:rPr sz="2400" b="1" spc="-30" dirty="0">
                <a:latin typeface="Arial"/>
                <a:cs typeface="Arial"/>
              </a:rPr>
              <a:t> </a:t>
            </a:r>
            <a:r>
              <a:rPr sz="2400" b="1" dirty="0">
                <a:latin typeface="Arial"/>
                <a:cs typeface="Arial"/>
              </a:rPr>
              <a:t>to</a:t>
            </a:r>
            <a:r>
              <a:rPr sz="2400" b="1" spc="-10" dirty="0">
                <a:latin typeface="Arial"/>
                <a:cs typeface="Arial"/>
              </a:rPr>
              <a:t> </a:t>
            </a:r>
            <a:r>
              <a:rPr sz="2400" b="1" dirty="0">
                <a:latin typeface="Arial"/>
                <a:cs typeface="Arial"/>
              </a:rPr>
              <a:t>prepare</a:t>
            </a:r>
            <a:r>
              <a:rPr sz="2400" b="1" spc="-25" dirty="0">
                <a:latin typeface="Arial"/>
                <a:cs typeface="Arial"/>
              </a:rPr>
              <a:t> </a:t>
            </a:r>
            <a:r>
              <a:rPr sz="2400" b="1" dirty="0">
                <a:latin typeface="Arial"/>
                <a:cs typeface="Arial"/>
              </a:rPr>
              <a:t>a</a:t>
            </a:r>
            <a:r>
              <a:rPr sz="2400" b="1" spc="-15" dirty="0">
                <a:latin typeface="Arial"/>
                <a:cs typeface="Arial"/>
              </a:rPr>
              <a:t> </a:t>
            </a:r>
            <a:r>
              <a:rPr sz="2400" b="1" dirty="0">
                <a:latin typeface="Arial"/>
                <a:cs typeface="Arial"/>
              </a:rPr>
              <a:t>Full</a:t>
            </a:r>
            <a:r>
              <a:rPr sz="2400" b="1" spc="-20" dirty="0">
                <a:latin typeface="Arial"/>
                <a:cs typeface="Arial"/>
              </a:rPr>
              <a:t> </a:t>
            </a:r>
            <a:r>
              <a:rPr sz="2400" b="1" spc="-10" dirty="0">
                <a:latin typeface="Arial"/>
                <a:cs typeface="Arial"/>
              </a:rPr>
              <a:t>Pro-</a:t>
            </a:r>
            <a:r>
              <a:rPr sz="2400" b="1" dirty="0">
                <a:latin typeface="Arial"/>
                <a:cs typeface="Arial"/>
              </a:rPr>
              <a:t>Forma</a:t>
            </a:r>
            <a:r>
              <a:rPr sz="2400" b="1" spc="-15" dirty="0">
                <a:latin typeface="Arial"/>
                <a:cs typeface="Arial"/>
              </a:rPr>
              <a:t> </a:t>
            </a:r>
            <a:r>
              <a:rPr sz="2400" b="1" dirty="0">
                <a:latin typeface="Arial"/>
                <a:cs typeface="Arial"/>
              </a:rPr>
              <a:t>for</a:t>
            </a:r>
            <a:r>
              <a:rPr sz="2400" b="1" spc="-25" dirty="0">
                <a:latin typeface="Arial"/>
                <a:cs typeface="Arial"/>
              </a:rPr>
              <a:t> </a:t>
            </a:r>
            <a:r>
              <a:rPr sz="2400" b="1" dirty="0">
                <a:latin typeface="Arial"/>
                <a:cs typeface="Arial"/>
              </a:rPr>
              <a:t>each</a:t>
            </a:r>
            <a:r>
              <a:rPr sz="2400" b="1" spc="-10" dirty="0">
                <a:latin typeface="Arial"/>
                <a:cs typeface="Arial"/>
              </a:rPr>
              <a:t> alternative…</a:t>
            </a:r>
            <a:endParaRPr lang="en-CA" sz="2400" spc="-10" dirty="0">
              <a:latin typeface="Arial"/>
              <a:cs typeface="Arial"/>
            </a:endParaRPr>
          </a:p>
          <a:p>
            <a:pPr marL="12700">
              <a:lnSpc>
                <a:spcPct val="100000"/>
              </a:lnSpc>
              <a:spcBef>
                <a:spcPts val="100"/>
              </a:spcBef>
            </a:pPr>
            <a:endParaRPr lang="en-CA" sz="2400" b="1" u="sng" dirty="0">
              <a:uFill>
                <a:solidFill>
                  <a:srgbClr val="000000"/>
                </a:solidFill>
              </a:uFill>
              <a:latin typeface="Arial"/>
              <a:cs typeface="Arial"/>
            </a:endParaRPr>
          </a:p>
          <a:p>
            <a:pPr marL="12700">
              <a:lnSpc>
                <a:spcPct val="100000"/>
              </a:lnSpc>
              <a:spcBef>
                <a:spcPts val="100"/>
              </a:spcBef>
            </a:pPr>
            <a:r>
              <a:rPr sz="2400" b="1" u="sng" dirty="0">
                <a:uFill>
                  <a:solidFill>
                    <a:srgbClr val="000000"/>
                  </a:solidFill>
                </a:uFill>
                <a:latin typeface="Arial"/>
                <a:cs typeface="Arial"/>
              </a:rPr>
              <a:t>Effective,</a:t>
            </a:r>
            <a:r>
              <a:rPr sz="2400" b="1" u="sng" spc="-60" dirty="0">
                <a:uFill>
                  <a:solidFill>
                    <a:srgbClr val="000000"/>
                  </a:solidFill>
                </a:uFill>
                <a:latin typeface="Arial"/>
                <a:cs typeface="Arial"/>
              </a:rPr>
              <a:t> </a:t>
            </a:r>
            <a:r>
              <a:rPr sz="2400" b="1" u="sng" dirty="0">
                <a:uFill>
                  <a:solidFill>
                    <a:srgbClr val="000000"/>
                  </a:solidFill>
                </a:uFill>
                <a:latin typeface="Arial"/>
                <a:cs typeface="Arial"/>
              </a:rPr>
              <a:t>Timely</a:t>
            </a:r>
            <a:r>
              <a:rPr sz="2400" b="1" u="sng" spc="-65" dirty="0">
                <a:uFill>
                  <a:solidFill>
                    <a:srgbClr val="000000"/>
                  </a:solidFill>
                </a:uFill>
                <a:latin typeface="Arial"/>
                <a:cs typeface="Arial"/>
              </a:rPr>
              <a:t> </a:t>
            </a:r>
            <a:r>
              <a:rPr sz="2400" b="1" u="sng" dirty="0">
                <a:uFill>
                  <a:solidFill>
                    <a:srgbClr val="000000"/>
                  </a:solidFill>
                </a:uFill>
                <a:latin typeface="Arial"/>
                <a:cs typeface="Arial"/>
              </a:rPr>
              <a:t>Decision</a:t>
            </a:r>
            <a:r>
              <a:rPr sz="2400" b="1" u="sng" spc="-55" dirty="0">
                <a:uFill>
                  <a:solidFill>
                    <a:srgbClr val="000000"/>
                  </a:solidFill>
                </a:uFill>
                <a:latin typeface="Arial"/>
                <a:cs typeface="Arial"/>
              </a:rPr>
              <a:t> </a:t>
            </a:r>
            <a:r>
              <a:rPr sz="2400" b="1" u="sng" spc="-10" dirty="0">
                <a:uFill>
                  <a:solidFill>
                    <a:srgbClr val="000000"/>
                  </a:solidFill>
                </a:uFill>
                <a:latin typeface="Arial"/>
                <a:cs typeface="Arial"/>
              </a:rPr>
              <a:t>Making</a:t>
            </a:r>
            <a:endParaRPr sz="2400" dirty="0">
              <a:latin typeface="Arial"/>
              <a:cs typeface="Arial"/>
            </a:endParaRPr>
          </a:p>
          <a:p>
            <a:pPr marL="919480" indent="-457200">
              <a:lnSpc>
                <a:spcPct val="100000"/>
              </a:lnSpc>
              <a:spcBef>
                <a:spcPts val="1180"/>
              </a:spcBef>
              <a:buSzPct val="79166"/>
              <a:buAutoNum type="arabicPeriod"/>
              <a:tabLst>
                <a:tab pos="919480" algn="l"/>
              </a:tabLst>
            </a:pPr>
            <a:r>
              <a:rPr sz="2400" dirty="0">
                <a:latin typeface="Arial MT"/>
                <a:cs typeface="Arial MT"/>
              </a:rPr>
              <a:t>Irrelevant</a:t>
            </a:r>
            <a:r>
              <a:rPr sz="2400" spc="-70" dirty="0">
                <a:latin typeface="Arial MT"/>
                <a:cs typeface="Arial MT"/>
              </a:rPr>
              <a:t> </a:t>
            </a:r>
            <a:r>
              <a:rPr sz="2400" dirty="0">
                <a:latin typeface="Arial MT"/>
                <a:cs typeface="Arial MT"/>
              </a:rPr>
              <a:t>costs</a:t>
            </a:r>
            <a:r>
              <a:rPr sz="2400" spc="-95" dirty="0">
                <a:latin typeface="Arial MT"/>
                <a:cs typeface="Arial MT"/>
              </a:rPr>
              <a:t> </a:t>
            </a:r>
            <a:r>
              <a:rPr sz="2400" dirty="0">
                <a:latin typeface="Arial MT"/>
                <a:cs typeface="Arial MT"/>
              </a:rPr>
              <a:t>usually</a:t>
            </a:r>
            <a:r>
              <a:rPr sz="2400" spc="-45" dirty="0">
                <a:latin typeface="Arial MT"/>
                <a:cs typeface="Arial MT"/>
              </a:rPr>
              <a:t> </a:t>
            </a:r>
            <a:r>
              <a:rPr sz="2400" dirty="0">
                <a:latin typeface="Arial MT"/>
                <a:cs typeface="Arial MT"/>
              </a:rPr>
              <a:t>outnumber</a:t>
            </a:r>
            <a:r>
              <a:rPr sz="2400" spc="-75" dirty="0">
                <a:latin typeface="Arial MT"/>
                <a:cs typeface="Arial MT"/>
              </a:rPr>
              <a:t> </a:t>
            </a:r>
            <a:r>
              <a:rPr sz="2400" dirty="0">
                <a:latin typeface="Arial MT"/>
                <a:cs typeface="Arial MT"/>
              </a:rPr>
              <a:t>the</a:t>
            </a:r>
            <a:r>
              <a:rPr sz="2400" spc="-90" dirty="0">
                <a:latin typeface="Arial MT"/>
                <a:cs typeface="Arial MT"/>
              </a:rPr>
              <a:t> </a:t>
            </a:r>
            <a:r>
              <a:rPr sz="2400" dirty="0">
                <a:latin typeface="Arial MT"/>
                <a:cs typeface="Arial MT"/>
              </a:rPr>
              <a:t>relevant</a:t>
            </a:r>
            <a:r>
              <a:rPr sz="2400" spc="-60" dirty="0">
                <a:latin typeface="Arial MT"/>
                <a:cs typeface="Arial MT"/>
              </a:rPr>
              <a:t> </a:t>
            </a:r>
            <a:r>
              <a:rPr sz="2400" spc="-10" dirty="0">
                <a:latin typeface="Arial MT"/>
                <a:cs typeface="Arial MT"/>
              </a:rPr>
              <a:t>costs.</a:t>
            </a:r>
            <a:endParaRPr sz="2400" dirty="0">
              <a:latin typeface="Arial MT"/>
              <a:cs typeface="Arial MT"/>
            </a:endParaRPr>
          </a:p>
          <a:p>
            <a:pPr marL="1367155" lvl="1" indent="-457200">
              <a:lnSpc>
                <a:spcPct val="100000"/>
              </a:lnSpc>
              <a:spcBef>
                <a:spcPts val="1175"/>
              </a:spcBef>
              <a:buSzPct val="79166"/>
              <a:buChar char="•"/>
              <a:tabLst>
                <a:tab pos="1367155" algn="l"/>
              </a:tabLst>
            </a:pPr>
            <a:r>
              <a:rPr sz="2400" dirty="0">
                <a:latin typeface="Arial MT"/>
                <a:cs typeface="Arial MT"/>
              </a:rPr>
              <a:t>Focusing</a:t>
            </a:r>
            <a:r>
              <a:rPr sz="2400" spc="-50" dirty="0">
                <a:latin typeface="Arial MT"/>
                <a:cs typeface="Arial MT"/>
              </a:rPr>
              <a:t> </a:t>
            </a:r>
            <a:r>
              <a:rPr sz="2400" dirty="0">
                <a:latin typeface="Arial MT"/>
                <a:cs typeface="Arial MT"/>
              </a:rPr>
              <a:t>on</a:t>
            </a:r>
            <a:r>
              <a:rPr sz="2400" spc="-60" dirty="0">
                <a:latin typeface="Arial MT"/>
                <a:cs typeface="Arial MT"/>
              </a:rPr>
              <a:t> </a:t>
            </a:r>
            <a:r>
              <a:rPr sz="2400" dirty="0">
                <a:latin typeface="Arial MT"/>
                <a:cs typeface="Arial MT"/>
              </a:rPr>
              <a:t>relevant</a:t>
            </a:r>
            <a:r>
              <a:rPr sz="2400" spc="-45" dirty="0">
                <a:latin typeface="Arial MT"/>
                <a:cs typeface="Arial MT"/>
              </a:rPr>
              <a:t> </a:t>
            </a:r>
            <a:r>
              <a:rPr sz="2400" dirty="0">
                <a:latin typeface="Arial MT"/>
                <a:cs typeface="Arial MT"/>
              </a:rPr>
              <a:t>costs</a:t>
            </a:r>
            <a:r>
              <a:rPr sz="2400" spc="-85" dirty="0">
                <a:latin typeface="Arial MT"/>
                <a:cs typeface="Arial MT"/>
              </a:rPr>
              <a:t> </a:t>
            </a:r>
            <a:r>
              <a:rPr sz="2400" dirty="0">
                <a:latin typeface="Arial MT"/>
                <a:cs typeface="Arial MT"/>
              </a:rPr>
              <a:t>simply</a:t>
            </a:r>
            <a:r>
              <a:rPr sz="2400" spc="-50" dirty="0">
                <a:latin typeface="Arial MT"/>
                <a:cs typeface="Arial MT"/>
              </a:rPr>
              <a:t> </a:t>
            </a:r>
            <a:r>
              <a:rPr sz="2400" dirty="0">
                <a:latin typeface="Arial MT"/>
                <a:cs typeface="Arial MT"/>
              </a:rPr>
              <a:t>takes</a:t>
            </a:r>
            <a:r>
              <a:rPr sz="2400" spc="-65" dirty="0">
                <a:latin typeface="Arial MT"/>
                <a:cs typeface="Arial MT"/>
              </a:rPr>
              <a:t> </a:t>
            </a:r>
            <a:r>
              <a:rPr sz="2400" dirty="0">
                <a:latin typeface="Arial MT"/>
                <a:cs typeface="Arial MT"/>
              </a:rPr>
              <a:t>less</a:t>
            </a:r>
            <a:r>
              <a:rPr sz="2400" spc="-65" dirty="0">
                <a:latin typeface="Arial MT"/>
                <a:cs typeface="Arial MT"/>
              </a:rPr>
              <a:t> </a:t>
            </a:r>
            <a:r>
              <a:rPr sz="2400" dirty="0">
                <a:latin typeface="Arial MT"/>
                <a:cs typeface="Arial MT"/>
              </a:rPr>
              <a:t>time</a:t>
            </a:r>
            <a:r>
              <a:rPr sz="2400" spc="-70" dirty="0">
                <a:latin typeface="Arial MT"/>
                <a:cs typeface="Arial MT"/>
              </a:rPr>
              <a:t> </a:t>
            </a:r>
            <a:r>
              <a:rPr sz="2400" dirty="0">
                <a:latin typeface="Arial MT"/>
                <a:cs typeface="Arial MT"/>
              </a:rPr>
              <a:t>and</a:t>
            </a:r>
            <a:r>
              <a:rPr sz="2400" spc="-60" dirty="0">
                <a:latin typeface="Arial MT"/>
                <a:cs typeface="Arial MT"/>
              </a:rPr>
              <a:t> </a:t>
            </a:r>
            <a:r>
              <a:rPr sz="2400" spc="-10" dirty="0">
                <a:latin typeface="Arial MT"/>
                <a:cs typeface="Arial MT"/>
              </a:rPr>
              <a:t>effort.</a:t>
            </a:r>
            <a:endParaRPr sz="2400" dirty="0">
              <a:latin typeface="Arial MT"/>
              <a:cs typeface="Arial MT"/>
            </a:endParaRPr>
          </a:p>
        </p:txBody>
      </p:sp>
      <p:sp>
        <p:nvSpPr>
          <p:cNvPr id="8" name="object 8"/>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5</a:t>
            </a:fld>
            <a:endParaRPr spc="-25" dirty="0"/>
          </a:p>
        </p:txBody>
      </p:sp>
      <p:sp>
        <p:nvSpPr>
          <p:cNvPr id="9" name="Subtitle 8">
            <a:extLst>
              <a:ext uri="{FF2B5EF4-FFF2-40B4-BE49-F238E27FC236}">
                <a16:creationId xmlns:a16="http://schemas.microsoft.com/office/drawing/2014/main" id="{D0DBAF4D-26FC-F186-530D-CB8412B4F979}"/>
              </a:ext>
            </a:extLst>
          </p:cNvPr>
          <p:cNvSpPr>
            <a:spLocks noGrp="1"/>
          </p:cNvSpPr>
          <p:nvPr>
            <p:ph type="subTitle" idx="1"/>
          </p:nvPr>
        </p:nvSpPr>
        <p:spPr/>
        <p:txBody>
          <a:bodyPr/>
          <a:lstStyle/>
          <a:p>
            <a:r>
              <a:rPr lang="en-CA" dirty="0"/>
              <a:t>Why is this “Relevant”?</a:t>
            </a:r>
          </a:p>
        </p:txBody>
      </p:sp>
      <p:sp>
        <p:nvSpPr>
          <p:cNvPr id="3" name="object 3"/>
          <p:cNvSpPr txBox="1"/>
          <p:nvPr/>
        </p:nvSpPr>
        <p:spPr>
          <a:xfrm>
            <a:off x="1128522" y="3033522"/>
            <a:ext cx="5039995" cy="547370"/>
          </a:xfrm>
          <a:prstGeom prst="rect">
            <a:avLst/>
          </a:prstGeom>
          <a:ln w="41275">
            <a:solidFill>
              <a:srgbClr val="ED037C"/>
            </a:solidFill>
          </a:ln>
        </p:spPr>
        <p:txBody>
          <a:bodyPr vert="horz" wrap="square" lIns="0" tIns="70485" rIns="0" bIns="0" rtlCol="0">
            <a:spAutoFit/>
          </a:bodyPr>
          <a:lstStyle/>
          <a:p>
            <a:pPr marL="652780" indent="-457200">
              <a:lnSpc>
                <a:spcPct val="100000"/>
              </a:lnSpc>
              <a:spcBef>
                <a:spcPts val="555"/>
              </a:spcBef>
              <a:buSzPct val="79166"/>
              <a:buChar char="•"/>
              <a:tabLst>
                <a:tab pos="652780" algn="l"/>
              </a:tabLst>
            </a:pPr>
            <a:r>
              <a:rPr sz="2400" dirty="0">
                <a:latin typeface="Arial MT"/>
                <a:cs typeface="Arial MT"/>
              </a:rPr>
              <a:t>Information</a:t>
            </a:r>
            <a:r>
              <a:rPr sz="2400" spc="-110" dirty="0">
                <a:latin typeface="Arial MT"/>
                <a:cs typeface="Arial MT"/>
              </a:rPr>
              <a:t> </a:t>
            </a:r>
            <a:r>
              <a:rPr sz="2400" dirty="0">
                <a:latin typeface="Arial MT"/>
                <a:cs typeface="Arial MT"/>
              </a:rPr>
              <a:t>generation</a:t>
            </a:r>
            <a:r>
              <a:rPr sz="2400" spc="-80" dirty="0">
                <a:latin typeface="Arial MT"/>
                <a:cs typeface="Arial MT"/>
              </a:rPr>
              <a:t> </a:t>
            </a:r>
            <a:r>
              <a:rPr sz="2400" dirty="0">
                <a:latin typeface="Arial MT"/>
                <a:cs typeface="Arial MT"/>
              </a:rPr>
              <a:t>is</a:t>
            </a:r>
            <a:r>
              <a:rPr sz="2400" spc="-95" dirty="0">
                <a:latin typeface="Arial MT"/>
                <a:cs typeface="Arial MT"/>
              </a:rPr>
              <a:t> </a:t>
            </a:r>
            <a:r>
              <a:rPr sz="2400" spc="-10" dirty="0">
                <a:latin typeface="Arial MT"/>
                <a:cs typeface="Arial MT"/>
              </a:rPr>
              <a:t>costly</a:t>
            </a:r>
            <a:endParaRPr sz="2400" dirty="0">
              <a:latin typeface="Arial MT"/>
              <a:cs typeface="Arial MT"/>
            </a:endParaRPr>
          </a:p>
        </p:txBody>
      </p:sp>
      <p:sp>
        <p:nvSpPr>
          <p:cNvPr id="4" name="object 4"/>
          <p:cNvSpPr txBox="1"/>
          <p:nvPr/>
        </p:nvSpPr>
        <p:spPr>
          <a:xfrm>
            <a:off x="863904" y="3607054"/>
            <a:ext cx="10561955" cy="756920"/>
          </a:xfrm>
          <a:prstGeom prst="rect">
            <a:avLst/>
          </a:prstGeom>
        </p:spPr>
        <p:txBody>
          <a:bodyPr vert="horz" wrap="square" lIns="0" tIns="12700" rIns="0" bIns="0" rtlCol="0">
            <a:spAutoFit/>
          </a:bodyPr>
          <a:lstStyle/>
          <a:p>
            <a:pPr marL="469265" marR="5080" indent="-457200">
              <a:lnSpc>
                <a:spcPct val="100000"/>
              </a:lnSpc>
              <a:spcBef>
                <a:spcPts val="100"/>
              </a:spcBef>
              <a:tabLst>
                <a:tab pos="469265" algn="l"/>
              </a:tabLst>
            </a:pPr>
            <a:r>
              <a:rPr sz="1900" spc="-25" dirty="0">
                <a:latin typeface="Arial MT"/>
                <a:cs typeface="Arial MT"/>
              </a:rPr>
              <a:t>2.</a:t>
            </a:r>
            <a:r>
              <a:rPr sz="1900" dirty="0">
                <a:latin typeface="Arial MT"/>
                <a:cs typeface="Arial MT"/>
              </a:rPr>
              <a:t>	</a:t>
            </a:r>
            <a:r>
              <a:rPr sz="2400" dirty="0">
                <a:latin typeface="Arial MT"/>
                <a:cs typeface="Arial MT"/>
              </a:rPr>
              <a:t>Irrelevant</a:t>
            </a:r>
            <a:r>
              <a:rPr sz="2400" spc="-45" dirty="0">
                <a:latin typeface="Arial MT"/>
                <a:cs typeface="Arial MT"/>
              </a:rPr>
              <a:t> </a:t>
            </a:r>
            <a:r>
              <a:rPr sz="2400" dirty="0">
                <a:latin typeface="Arial MT"/>
                <a:cs typeface="Arial MT"/>
              </a:rPr>
              <a:t>costs</a:t>
            </a:r>
            <a:r>
              <a:rPr sz="2400" spc="-65" dirty="0">
                <a:latin typeface="Arial MT"/>
                <a:cs typeface="Arial MT"/>
              </a:rPr>
              <a:t> </a:t>
            </a:r>
            <a:r>
              <a:rPr sz="2400" dirty="0">
                <a:latin typeface="Arial MT"/>
                <a:cs typeface="Arial MT"/>
              </a:rPr>
              <a:t>together</a:t>
            </a:r>
            <a:r>
              <a:rPr sz="2400" spc="-45" dirty="0">
                <a:latin typeface="Arial MT"/>
                <a:cs typeface="Arial MT"/>
              </a:rPr>
              <a:t> </a:t>
            </a:r>
            <a:r>
              <a:rPr sz="2400" dirty="0">
                <a:latin typeface="Arial MT"/>
                <a:cs typeface="Arial MT"/>
              </a:rPr>
              <a:t>with</a:t>
            </a:r>
            <a:r>
              <a:rPr sz="2400" spc="-35" dirty="0">
                <a:latin typeface="Arial MT"/>
                <a:cs typeface="Arial MT"/>
              </a:rPr>
              <a:t> </a:t>
            </a:r>
            <a:r>
              <a:rPr sz="2400" dirty="0">
                <a:latin typeface="Arial MT"/>
                <a:cs typeface="Arial MT"/>
              </a:rPr>
              <a:t>relevant</a:t>
            </a:r>
            <a:r>
              <a:rPr sz="2400" spc="-40" dirty="0">
                <a:latin typeface="Arial MT"/>
                <a:cs typeface="Arial MT"/>
              </a:rPr>
              <a:t> </a:t>
            </a:r>
            <a:r>
              <a:rPr sz="2400" dirty="0">
                <a:latin typeface="Arial MT"/>
                <a:cs typeface="Arial MT"/>
              </a:rPr>
              <a:t>costs</a:t>
            </a:r>
            <a:r>
              <a:rPr sz="2400" spc="-50" dirty="0">
                <a:latin typeface="Arial MT"/>
                <a:cs typeface="Arial MT"/>
              </a:rPr>
              <a:t> </a:t>
            </a:r>
            <a:r>
              <a:rPr sz="2400" dirty="0">
                <a:latin typeface="Arial MT"/>
                <a:cs typeface="Arial MT"/>
              </a:rPr>
              <a:t>may</a:t>
            </a:r>
            <a:r>
              <a:rPr sz="2400" spc="-55" dirty="0">
                <a:latin typeface="Arial MT"/>
                <a:cs typeface="Arial MT"/>
              </a:rPr>
              <a:t> </a:t>
            </a:r>
            <a:r>
              <a:rPr sz="2400" dirty="0">
                <a:latin typeface="Arial MT"/>
                <a:cs typeface="Arial MT"/>
              </a:rPr>
              <a:t>draw</a:t>
            </a:r>
            <a:r>
              <a:rPr sz="2400" spc="-45" dirty="0">
                <a:latin typeface="Arial MT"/>
                <a:cs typeface="Arial MT"/>
              </a:rPr>
              <a:t> </a:t>
            </a:r>
            <a:r>
              <a:rPr sz="2400" dirty="0">
                <a:latin typeface="Arial MT"/>
                <a:cs typeface="Arial MT"/>
              </a:rPr>
              <a:t>the</a:t>
            </a:r>
            <a:r>
              <a:rPr sz="2400" spc="-45" dirty="0">
                <a:latin typeface="Arial MT"/>
                <a:cs typeface="Arial MT"/>
              </a:rPr>
              <a:t> </a:t>
            </a:r>
            <a:r>
              <a:rPr sz="2400" spc="-20" dirty="0">
                <a:latin typeface="Arial MT"/>
                <a:cs typeface="Arial MT"/>
              </a:rPr>
              <a:t>decision-</a:t>
            </a:r>
            <a:r>
              <a:rPr sz="2400" spc="-10" dirty="0">
                <a:latin typeface="Arial MT"/>
                <a:cs typeface="Arial MT"/>
              </a:rPr>
              <a:t>makers </a:t>
            </a:r>
            <a:r>
              <a:rPr sz="2400" dirty="0">
                <a:latin typeface="Arial MT"/>
                <a:cs typeface="Arial MT"/>
              </a:rPr>
              <a:t>attention</a:t>
            </a:r>
            <a:r>
              <a:rPr sz="2400" spc="-65" dirty="0">
                <a:latin typeface="Arial MT"/>
                <a:cs typeface="Arial MT"/>
              </a:rPr>
              <a:t> </a:t>
            </a:r>
            <a:r>
              <a:rPr sz="2400" dirty="0">
                <a:latin typeface="Arial MT"/>
                <a:cs typeface="Arial MT"/>
              </a:rPr>
              <a:t>away</a:t>
            </a:r>
            <a:r>
              <a:rPr sz="2400" spc="-60" dirty="0">
                <a:latin typeface="Arial MT"/>
                <a:cs typeface="Arial MT"/>
              </a:rPr>
              <a:t> </a:t>
            </a:r>
            <a:r>
              <a:rPr sz="2400" dirty="0">
                <a:latin typeface="Arial MT"/>
                <a:cs typeface="Arial MT"/>
              </a:rPr>
              <a:t>from</a:t>
            </a:r>
            <a:r>
              <a:rPr sz="2400" spc="-80" dirty="0">
                <a:latin typeface="Arial MT"/>
                <a:cs typeface="Arial MT"/>
              </a:rPr>
              <a:t> </a:t>
            </a:r>
            <a:r>
              <a:rPr sz="2400" dirty="0">
                <a:latin typeface="Arial MT"/>
                <a:cs typeface="Arial MT"/>
              </a:rPr>
              <a:t>the</a:t>
            </a:r>
            <a:r>
              <a:rPr sz="2400" spc="-65" dirty="0">
                <a:latin typeface="Arial MT"/>
                <a:cs typeface="Arial MT"/>
              </a:rPr>
              <a:t> </a:t>
            </a:r>
            <a:r>
              <a:rPr sz="2400" dirty="0">
                <a:latin typeface="Arial MT"/>
                <a:cs typeface="Arial MT"/>
              </a:rPr>
              <a:t>critical</a:t>
            </a:r>
            <a:r>
              <a:rPr sz="2400" spc="-55" dirty="0">
                <a:latin typeface="Arial MT"/>
                <a:cs typeface="Arial MT"/>
              </a:rPr>
              <a:t> </a:t>
            </a:r>
            <a:r>
              <a:rPr sz="2400" spc="-10" dirty="0">
                <a:latin typeface="Arial MT"/>
                <a:cs typeface="Arial MT"/>
              </a:rPr>
              <a:t>data.</a:t>
            </a:r>
            <a:endParaRPr sz="2400">
              <a:latin typeface="Arial MT"/>
              <a:cs typeface="Arial MT"/>
            </a:endParaRPr>
          </a:p>
        </p:txBody>
      </p:sp>
      <p:sp>
        <p:nvSpPr>
          <p:cNvPr id="5" name="object 5"/>
          <p:cNvSpPr txBox="1"/>
          <p:nvPr/>
        </p:nvSpPr>
        <p:spPr>
          <a:xfrm>
            <a:off x="1128522" y="4402073"/>
            <a:ext cx="5760720" cy="547370"/>
          </a:xfrm>
          <a:prstGeom prst="rect">
            <a:avLst/>
          </a:prstGeom>
          <a:ln w="38100">
            <a:solidFill>
              <a:srgbClr val="ED037C"/>
            </a:solidFill>
          </a:ln>
        </p:spPr>
        <p:txBody>
          <a:bodyPr vert="horz" wrap="square" lIns="0" tIns="98425" rIns="0" bIns="0" rtlCol="0">
            <a:spAutoFit/>
          </a:bodyPr>
          <a:lstStyle/>
          <a:p>
            <a:pPr marL="652780" indent="-457200">
              <a:lnSpc>
                <a:spcPct val="100000"/>
              </a:lnSpc>
              <a:spcBef>
                <a:spcPts val="775"/>
              </a:spcBef>
              <a:buSzPct val="79166"/>
              <a:buChar char="•"/>
              <a:tabLst>
                <a:tab pos="652780" algn="l"/>
              </a:tabLst>
            </a:pPr>
            <a:r>
              <a:rPr sz="2400" dirty="0">
                <a:latin typeface="Arial MT"/>
                <a:cs typeface="Arial MT"/>
              </a:rPr>
              <a:t>Individuals</a:t>
            </a:r>
            <a:r>
              <a:rPr sz="2400" spc="-100" dirty="0">
                <a:latin typeface="Arial MT"/>
                <a:cs typeface="Arial MT"/>
              </a:rPr>
              <a:t> </a:t>
            </a:r>
            <a:r>
              <a:rPr sz="2400" dirty="0">
                <a:latin typeface="Arial MT"/>
                <a:cs typeface="Arial MT"/>
              </a:rPr>
              <a:t>face</a:t>
            </a:r>
            <a:r>
              <a:rPr sz="2400" spc="-125" dirty="0">
                <a:latin typeface="Arial MT"/>
                <a:cs typeface="Arial MT"/>
              </a:rPr>
              <a:t> </a:t>
            </a:r>
            <a:r>
              <a:rPr sz="2400" dirty="0">
                <a:latin typeface="Arial MT"/>
                <a:cs typeface="Arial MT"/>
              </a:rPr>
              <a:t>information</a:t>
            </a:r>
            <a:r>
              <a:rPr sz="2400" spc="-120" dirty="0">
                <a:latin typeface="Arial MT"/>
                <a:cs typeface="Arial MT"/>
              </a:rPr>
              <a:t> </a:t>
            </a:r>
            <a:r>
              <a:rPr sz="2400" spc="-10" dirty="0">
                <a:latin typeface="Arial MT"/>
                <a:cs typeface="Arial MT"/>
              </a:rPr>
              <a:t>overload</a:t>
            </a:r>
            <a:endParaRPr sz="2400">
              <a:latin typeface="Arial MT"/>
              <a:cs typeface="Arial MT"/>
            </a:endParaRPr>
          </a:p>
        </p:txBody>
      </p:sp>
      <p:sp>
        <p:nvSpPr>
          <p:cNvPr id="7" name="object 7"/>
          <p:cNvSpPr txBox="1"/>
          <p:nvPr/>
        </p:nvSpPr>
        <p:spPr>
          <a:xfrm>
            <a:off x="480822" y="5157978"/>
            <a:ext cx="10972800" cy="830580"/>
          </a:xfrm>
          <a:prstGeom prst="rect">
            <a:avLst/>
          </a:prstGeom>
          <a:ln w="47625">
            <a:solidFill>
              <a:srgbClr val="0070C0"/>
            </a:solidFill>
          </a:ln>
        </p:spPr>
        <p:txBody>
          <a:bodyPr vert="horz" wrap="square" lIns="0" tIns="38100" rIns="0" bIns="0" rtlCol="0">
            <a:spAutoFit/>
          </a:bodyPr>
          <a:lstStyle/>
          <a:p>
            <a:pPr algn="ctr">
              <a:lnSpc>
                <a:spcPct val="100000"/>
              </a:lnSpc>
              <a:spcBef>
                <a:spcPts val="300"/>
              </a:spcBef>
            </a:pPr>
            <a:r>
              <a:rPr sz="2400" dirty="0">
                <a:latin typeface="Arial MT"/>
                <a:cs typeface="Arial MT"/>
              </a:rPr>
              <a:t>The</a:t>
            </a:r>
            <a:r>
              <a:rPr sz="2400" spc="-60" dirty="0">
                <a:latin typeface="Arial MT"/>
                <a:cs typeface="Arial MT"/>
              </a:rPr>
              <a:t> </a:t>
            </a:r>
            <a:r>
              <a:rPr sz="2400" dirty="0">
                <a:latin typeface="Arial MT"/>
                <a:cs typeface="Arial MT"/>
              </a:rPr>
              <a:t>concept</a:t>
            </a:r>
            <a:r>
              <a:rPr sz="2400" spc="-55" dirty="0">
                <a:latin typeface="Arial MT"/>
                <a:cs typeface="Arial MT"/>
              </a:rPr>
              <a:t> </a:t>
            </a:r>
            <a:r>
              <a:rPr sz="2400" dirty="0">
                <a:latin typeface="Arial MT"/>
                <a:cs typeface="Arial MT"/>
              </a:rPr>
              <a:t>of</a:t>
            </a:r>
            <a:r>
              <a:rPr sz="2400" spc="-65" dirty="0">
                <a:latin typeface="Arial MT"/>
                <a:cs typeface="Arial MT"/>
              </a:rPr>
              <a:t> </a:t>
            </a:r>
            <a:r>
              <a:rPr sz="2400" dirty="0">
                <a:latin typeface="Arial MT"/>
                <a:cs typeface="Arial MT"/>
              </a:rPr>
              <a:t>relevant</a:t>
            </a:r>
            <a:r>
              <a:rPr sz="2400" spc="-45" dirty="0">
                <a:latin typeface="Arial MT"/>
                <a:cs typeface="Arial MT"/>
              </a:rPr>
              <a:t> </a:t>
            </a:r>
            <a:r>
              <a:rPr sz="2400" dirty="0">
                <a:latin typeface="Arial MT"/>
                <a:cs typeface="Arial MT"/>
              </a:rPr>
              <a:t>costs</a:t>
            </a:r>
            <a:r>
              <a:rPr sz="2400" spc="-60" dirty="0">
                <a:latin typeface="Arial MT"/>
                <a:cs typeface="Arial MT"/>
              </a:rPr>
              <a:t> </a:t>
            </a:r>
            <a:r>
              <a:rPr sz="2400" u="sng" dirty="0">
                <a:uFill>
                  <a:solidFill>
                    <a:srgbClr val="000000"/>
                  </a:solidFill>
                </a:uFill>
                <a:latin typeface="Arial MT"/>
                <a:cs typeface="Arial MT"/>
              </a:rPr>
              <a:t>eliminates</a:t>
            </a:r>
            <a:r>
              <a:rPr sz="2400" u="sng" spc="-35" dirty="0">
                <a:uFill>
                  <a:solidFill>
                    <a:srgbClr val="000000"/>
                  </a:solidFill>
                </a:uFill>
                <a:latin typeface="Arial MT"/>
                <a:cs typeface="Arial MT"/>
              </a:rPr>
              <a:t> </a:t>
            </a:r>
            <a:r>
              <a:rPr sz="2400" u="sng" dirty="0">
                <a:uFill>
                  <a:solidFill>
                    <a:srgbClr val="000000"/>
                  </a:solidFill>
                </a:uFill>
                <a:latin typeface="Arial MT"/>
                <a:cs typeface="Arial MT"/>
              </a:rPr>
              <a:t>unnecessary</a:t>
            </a:r>
            <a:r>
              <a:rPr sz="2400" u="sng" spc="-35" dirty="0">
                <a:uFill>
                  <a:solidFill>
                    <a:srgbClr val="000000"/>
                  </a:solidFill>
                </a:uFill>
                <a:latin typeface="Arial MT"/>
                <a:cs typeface="Arial MT"/>
              </a:rPr>
              <a:t> </a:t>
            </a:r>
            <a:r>
              <a:rPr sz="2400" u="sng" dirty="0">
                <a:uFill>
                  <a:solidFill>
                    <a:srgbClr val="000000"/>
                  </a:solidFill>
                </a:uFill>
                <a:latin typeface="Arial MT"/>
                <a:cs typeface="Arial MT"/>
              </a:rPr>
              <a:t>d</a:t>
            </a:r>
            <a:r>
              <a:rPr sz="2400" dirty="0">
                <a:latin typeface="Arial MT"/>
                <a:cs typeface="Arial MT"/>
              </a:rPr>
              <a:t>ata</a:t>
            </a:r>
            <a:r>
              <a:rPr sz="2400" spc="-75" dirty="0">
                <a:latin typeface="Arial MT"/>
                <a:cs typeface="Arial MT"/>
              </a:rPr>
              <a:t> </a:t>
            </a:r>
            <a:r>
              <a:rPr sz="2400" dirty="0">
                <a:latin typeface="Arial MT"/>
                <a:cs typeface="Arial MT"/>
              </a:rPr>
              <a:t>that</a:t>
            </a:r>
            <a:r>
              <a:rPr sz="2400" spc="-55" dirty="0">
                <a:latin typeface="Arial MT"/>
                <a:cs typeface="Arial MT"/>
              </a:rPr>
              <a:t> </a:t>
            </a:r>
            <a:r>
              <a:rPr sz="2400" spc="-10" dirty="0">
                <a:latin typeface="Arial MT"/>
                <a:cs typeface="Arial MT"/>
              </a:rPr>
              <a:t>could</a:t>
            </a:r>
            <a:endParaRPr sz="2400">
              <a:latin typeface="Arial MT"/>
              <a:cs typeface="Arial MT"/>
            </a:endParaRPr>
          </a:p>
          <a:p>
            <a:pPr algn="ctr">
              <a:lnSpc>
                <a:spcPct val="100000"/>
              </a:lnSpc>
            </a:pPr>
            <a:r>
              <a:rPr sz="2400" dirty="0">
                <a:latin typeface="Arial MT"/>
                <a:cs typeface="Arial MT"/>
              </a:rPr>
              <a:t>complicate</a:t>
            </a:r>
            <a:r>
              <a:rPr sz="2400" spc="-80" dirty="0">
                <a:latin typeface="Arial MT"/>
                <a:cs typeface="Arial MT"/>
              </a:rPr>
              <a:t> </a:t>
            </a:r>
            <a:r>
              <a:rPr sz="2400" dirty="0">
                <a:latin typeface="Arial MT"/>
                <a:cs typeface="Arial MT"/>
              </a:rPr>
              <a:t>the</a:t>
            </a:r>
            <a:r>
              <a:rPr sz="2400" spc="-85" dirty="0">
                <a:latin typeface="Arial MT"/>
                <a:cs typeface="Arial MT"/>
              </a:rPr>
              <a:t> </a:t>
            </a:r>
            <a:r>
              <a:rPr sz="2400" spc="-20" dirty="0">
                <a:latin typeface="Arial MT"/>
                <a:cs typeface="Arial MT"/>
              </a:rPr>
              <a:t>decision-</a:t>
            </a:r>
            <a:r>
              <a:rPr sz="2400" dirty="0">
                <a:latin typeface="Arial MT"/>
                <a:cs typeface="Arial MT"/>
              </a:rPr>
              <a:t>making</a:t>
            </a:r>
            <a:r>
              <a:rPr sz="2400" spc="-50" dirty="0">
                <a:latin typeface="Arial MT"/>
                <a:cs typeface="Arial MT"/>
              </a:rPr>
              <a:t> </a:t>
            </a:r>
            <a:r>
              <a:rPr sz="2400" spc="-10" dirty="0">
                <a:latin typeface="Arial MT"/>
                <a:cs typeface="Arial MT"/>
              </a:rPr>
              <a:t>process.</a:t>
            </a:r>
            <a:endParaRPr sz="2400">
              <a:latin typeface="Arial MT"/>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bject 19"/>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6</a:t>
            </a:fld>
            <a:endParaRPr spc="-25" dirty="0"/>
          </a:p>
        </p:txBody>
      </p:sp>
      <p:sp>
        <p:nvSpPr>
          <p:cNvPr id="20" name="Subtitle 19">
            <a:extLst>
              <a:ext uri="{FF2B5EF4-FFF2-40B4-BE49-F238E27FC236}">
                <a16:creationId xmlns:a16="http://schemas.microsoft.com/office/drawing/2014/main" id="{02A9C166-9D3A-A7A2-9DBC-32AC7D811FBF}"/>
              </a:ext>
            </a:extLst>
          </p:cNvPr>
          <p:cNvSpPr>
            <a:spLocks noGrp="1"/>
          </p:cNvSpPr>
          <p:nvPr>
            <p:ph type="subTitle" idx="1"/>
          </p:nvPr>
        </p:nvSpPr>
        <p:spPr/>
        <p:txBody>
          <a:bodyPr/>
          <a:lstStyle/>
          <a:p>
            <a:r>
              <a:rPr lang="en-CA" dirty="0"/>
              <a:t>Where does Management Accounting fit ?</a:t>
            </a:r>
          </a:p>
        </p:txBody>
      </p:sp>
      <p:sp>
        <p:nvSpPr>
          <p:cNvPr id="3" name="object 3"/>
          <p:cNvSpPr txBox="1"/>
          <p:nvPr/>
        </p:nvSpPr>
        <p:spPr>
          <a:xfrm>
            <a:off x="191344" y="901776"/>
            <a:ext cx="10972799"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What</a:t>
            </a:r>
            <a:r>
              <a:rPr sz="2000" b="1" spc="-45" dirty="0">
                <a:latin typeface="Arial"/>
                <a:cs typeface="Arial"/>
              </a:rPr>
              <a:t> </a:t>
            </a:r>
            <a:r>
              <a:rPr sz="2000" b="1" dirty="0">
                <a:latin typeface="Arial"/>
                <a:cs typeface="Arial"/>
              </a:rPr>
              <a:t>is</a:t>
            </a:r>
            <a:r>
              <a:rPr sz="2000" b="1" spc="-30" dirty="0">
                <a:latin typeface="Arial"/>
                <a:cs typeface="Arial"/>
              </a:rPr>
              <a:t> </a:t>
            </a:r>
            <a:r>
              <a:rPr sz="2000" b="1" dirty="0">
                <a:latin typeface="Arial"/>
                <a:cs typeface="Arial"/>
              </a:rPr>
              <a:t>the</a:t>
            </a:r>
            <a:r>
              <a:rPr sz="2000" b="1" spc="-35" dirty="0">
                <a:latin typeface="Arial"/>
                <a:cs typeface="Arial"/>
              </a:rPr>
              <a:t> </a:t>
            </a:r>
            <a:r>
              <a:rPr sz="2000" b="1" dirty="0">
                <a:latin typeface="Arial"/>
                <a:cs typeface="Arial"/>
              </a:rPr>
              <a:t>purpose</a:t>
            </a:r>
            <a:r>
              <a:rPr sz="2000" b="1" spc="-45" dirty="0">
                <a:latin typeface="Arial"/>
                <a:cs typeface="Arial"/>
              </a:rPr>
              <a:t> </a:t>
            </a:r>
            <a:r>
              <a:rPr sz="2000" b="1" dirty="0">
                <a:latin typeface="Arial"/>
                <a:cs typeface="Arial"/>
              </a:rPr>
              <a:t>of</a:t>
            </a:r>
            <a:r>
              <a:rPr sz="2000" b="1" spc="-35" dirty="0">
                <a:latin typeface="Arial"/>
                <a:cs typeface="Arial"/>
              </a:rPr>
              <a:t> </a:t>
            </a:r>
            <a:r>
              <a:rPr sz="2000" b="1" dirty="0">
                <a:latin typeface="Arial"/>
                <a:cs typeface="Arial"/>
              </a:rPr>
              <a:t>MGT</a:t>
            </a:r>
            <a:r>
              <a:rPr sz="2000" b="1" spc="-90" dirty="0">
                <a:latin typeface="Arial"/>
                <a:cs typeface="Arial"/>
              </a:rPr>
              <a:t> </a:t>
            </a:r>
            <a:r>
              <a:rPr sz="2000" b="1" dirty="0">
                <a:latin typeface="Arial"/>
                <a:cs typeface="Arial"/>
              </a:rPr>
              <a:t>Accounting?</a:t>
            </a:r>
            <a:r>
              <a:rPr sz="2000" b="1" spc="-5" dirty="0">
                <a:latin typeface="Arial"/>
                <a:cs typeface="Arial"/>
              </a:rPr>
              <a:t> </a:t>
            </a:r>
            <a:r>
              <a:rPr sz="2000" b="1" dirty="0">
                <a:latin typeface="Arial"/>
                <a:cs typeface="Arial"/>
              </a:rPr>
              <a:t>(How</a:t>
            </a:r>
            <a:r>
              <a:rPr sz="2000" b="1" spc="-40" dirty="0">
                <a:latin typeface="Arial"/>
                <a:cs typeface="Arial"/>
              </a:rPr>
              <a:t> </a:t>
            </a:r>
            <a:r>
              <a:rPr sz="2000" b="1" dirty="0">
                <a:latin typeface="Arial"/>
                <a:cs typeface="Arial"/>
              </a:rPr>
              <a:t>many</a:t>
            </a:r>
            <a:r>
              <a:rPr sz="2000" b="1" spc="-20" dirty="0">
                <a:latin typeface="Arial"/>
                <a:cs typeface="Arial"/>
              </a:rPr>
              <a:t> </a:t>
            </a:r>
            <a:r>
              <a:rPr sz="2000" b="1" dirty="0">
                <a:latin typeface="Arial"/>
                <a:cs typeface="Arial"/>
              </a:rPr>
              <a:t>times</a:t>
            </a:r>
            <a:r>
              <a:rPr sz="2000" b="1" spc="-45" dirty="0">
                <a:latin typeface="Arial"/>
                <a:cs typeface="Arial"/>
              </a:rPr>
              <a:t> </a:t>
            </a:r>
            <a:r>
              <a:rPr sz="2000" b="1" dirty="0">
                <a:latin typeface="Arial"/>
                <a:cs typeface="Arial"/>
              </a:rPr>
              <a:t>have I</a:t>
            </a:r>
            <a:r>
              <a:rPr sz="2000" b="1" spc="-30" dirty="0">
                <a:latin typeface="Arial"/>
                <a:cs typeface="Arial"/>
              </a:rPr>
              <a:t> </a:t>
            </a:r>
            <a:r>
              <a:rPr sz="2000" b="1" dirty="0">
                <a:latin typeface="Arial"/>
                <a:cs typeface="Arial"/>
              </a:rPr>
              <a:t>asked</a:t>
            </a:r>
            <a:r>
              <a:rPr sz="2000" b="1" spc="-30" dirty="0">
                <a:latin typeface="Arial"/>
                <a:cs typeface="Arial"/>
              </a:rPr>
              <a:t> </a:t>
            </a:r>
            <a:r>
              <a:rPr sz="2000" b="1" dirty="0">
                <a:latin typeface="Arial"/>
                <a:cs typeface="Arial"/>
              </a:rPr>
              <a:t>this</a:t>
            </a:r>
            <a:r>
              <a:rPr sz="2000" b="1" spc="-30" dirty="0">
                <a:latin typeface="Arial"/>
                <a:cs typeface="Arial"/>
              </a:rPr>
              <a:t> </a:t>
            </a:r>
            <a:r>
              <a:rPr sz="2000" b="1" spc="-10" dirty="0">
                <a:latin typeface="Arial"/>
                <a:cs typeface="Arial"/>
              </a:rPr>
              <a:t>question…)</a:t>
            </a:r>
            <a:endParaRPr sz="2000" dirty="0">
              <a:latin typeface="Arial"/>
              <a:cs typeface="Arial"/>
            </a:endParaRPr>
          </a:p>
        </p:txBody>
      </p:sp>
      <p:sp>
        <p:nvSpPr>
          <p:cNvPr id="4" name="object 4"/>
          <p:cNvSpPr txBox="1"/>
          <p:nvPr/>
        </p:nvSpPr>
        <p:spPr>
          <a:xfrm>
            <a:off x="480822" y="5157978"/>
            <a:ext cx="10972800" cy="830580"/>
          </a:xfrm>
          <a:prstGeom prst="rect">
            <a:avLst/>
          </a:prstGeom>
          <a:ln w="38100">
            <a:solidFill>
              <a:srgbClr val="0070C0"/>
            </a:solidFill>
          </a:ln>
        </p:spPr>
        <p:txBody>
          <a:bodyPr vert="horz" wrap="square" lIns="0" tIns="38100" rIns="0" bIns="0" rtlCol="0">
            <a:spAutoFit/>
          </a:bodyPr>
          <a:lstStyle/>
          <a:p>
            <a:pPr marL="370840">
              <a:lnSpc>
                <a:spcPct val="100000"/>
              </a:lnSpc>
              <a:spcBef>
                <a:spcPts val="300"/>
              </a:spcBef>
            </a:pPr>
            <a:r>
              <a:rPr sz="2400" dirty="0">
                <a:latin typeface="Arial MT"/>
                <a:cs typeface="Arial MT"/>
              </a:rPr>
              <a:t>The</a:t>
            </a:r>
            <a:r>
              <a:rPr sz="2400" spc="-100" dirty="0">
                <a:latin typeface="Arial MT"/>
                <a:cs typeface="Arial MT"/>
              </a:rPr>
              <a:t> </a:t>
            </a:r>
            <a:r>
              <a:rPr sz="2400" dirty="0">
                <a:latin typeface="Arial MT"/>
                <a:cs typeface="Arial MT"/>
              </a:rPr>
              <a:t>managerial</a:t>
            </a:r>
            <a:r>
              <a:rPr sz="2400" spc="-70" dirty="0">
                <a:latin typeface="Arial MT"/>
                <a:cs typeface="Arial MT"/>
              </a:rPr>
              <a:t> </a:t>
            </a:r>
            <a:r>
              <a:rPr sz="2400" dirty="0">
                <a:latin typeface="Arial MT"/>
                <a:cs typeface="Arial MT"/>
              </a:rPr>
              <a:t>accountant</a:t>
            </a:r>
            <a:r>
              <a:rPr sz="2400" spc="-95" dirty="0">
                <a:latin typeface="Arial MT"/>
                <a:cs typeface="Arial MT"/>
              </a:rPr>
              <a:t> </a:t>
            </a:r>
            <a:r>
              <a:rPr sz="2400" dirty="0">
                <a:latin typeface="Arial MT"/>
                <a:cs typeface="Arial MT"/>
              </a:rPr>
              <a:t>is</a:t>
            </a:r>
            <a:r>
              <a:rPr sz="2400" spc="-100" dirty="0">
                <a:latin typeface="Arial MT"/>
                <a:cs typeface="Arial MT"/>
              </a:rPr>
              <a:t> </a:t>
            </a:r>
            <a:r>
              <a:rPr sz="2400" dirty="0">
                <a:latin typeface="Arial MT"/>
                <a:cs typeface="Arial MT"/>
              </a:rPr>
              <a:t>responsible</a:t>
            </a:r>
            <a:r>
              <a:rPr sz="2400" spc="-70" dirty="0">
                <a:latin typeface="Arial MT"/>
                <a:cs typeface="Arial MT"/>
              </a:rPr>
              <a:t> </a:t>
            </a:r>
            <a:r>
              <a:rPr sz="2400" dirty="0">
                <a:latin typeface="Arial MT"/>
                <a:cs typeface="Arial MT"/>
              </a:rPr>
              <a:t>for</a:t>
            </a:r>
            <a:r>
              <a:rPr sz="2400" spc="-95" dirty="0">
                <a:latin typeface="Arial MT"/>
                <a:cs typeface="Arial MT"/>
              </a:rPr>
              <a:t> </a:t>
            </a:r>
            <a:r>
              <a:rPr sz="2400" dirty="0">
                <a:latin typeface="Arial MT"/>
                <a:cs typeface="Arial MT"/>
              </a:rPr>
              <a:t>designing</a:t>
            </a:r>
            <a:r>
              <a:rPr sz="2400" spc="-65" dirty="0">
                <a:latin typeface="Arial MT"/>
                <a:cs typeface="Arial MT"/>
              </a:rPr>
              <a:t> </a:t>
            </a:r>
            <a:r>
              <a:rPr sz="2400" dirty="0">
                <a:latin typeface="Arial MT"/>
                <a:cs typeface="Arial MT"/>
              </a:rPr>
              <a:t>and</a:t>
            </a:r>
            <a:r>
              <a:rPr sz="2400" spc="-95" dirty="0">
                <a:latin typeface="Arial MT"/>
                <a:cs typeface="Arial MT"/>
              </a:rPr>
              <a:t> </a:t>
            </a:r>
            <a:r>
              <a:rPr sz="2400" dirty="0">
                <a:latin typeface="Arial MT"/>
                <a:cs typeface="Arial MT"/>
              </a:rPr>
              <a:t>maintaining</a:t>
            </a:r>
            <a:r>
              <a:rPr sz="2400" spc="-70" dirty="0">
                <a:latin typeface="Arial MT"/>
                <a:cs typeface="Arial MT"/>
              </a:rPr>
              <a:t> </a:t>
            </a:r>
            <a:r>
              <a:rPr sz="2400" spc="-25" dirty="0">
                <a:latin typeface="Arial MT"/>
                <a:cs typeface="Arial MT"/>
              </a:rPr>
              <a:t>the</a:t>
            </a:r>
            <a:endParaRPr sz="2400">
              <a:latin typeface="Arial MT"/>
              <a:cs typeface="Arial MT"/>
            </a:endParaRPr>
          </a:p>
          <a:p>
            <a:pPr marL="433070">
              <a:lnSpc>
                <a:spcPct val="100000"/>
              </a:lnSpc>
            </a:pPr>
            <a:r>
              <a:rPr sz="2400" dirty="0">
                <a:latin typeface="Arial MT"/>
                <a:cs typeface="Arial MT"/>
              </a:rPr>
              <a:t>accounting</a:t>
            </a:r>
            <a:r>
              <a:rPr sz="2400" spc="-45" dirty="0">
                <a:latin typeface="Arial MT"/>
                <a:cs typeface="Arial MT"/>
              </a:rPr>
              <a:t> </a:t>
            </a:r>
            <a:r>
              <a:rPr sz="2400" dirty="0">
                <a:latin typeface="Arial MT"/>
                <a:cs typeface="Arial MT"/>
              </a:rPr>
              <a:t>system</a:t>
            </a:r>
            <a:r>
              <a:rPr sz="2400" spc="-60" dirty="0">
                <a:latin typeface="Arial MT"/>
                <a:cs typeface="Arial MT"/>
              </a:rPr>
              <a:t> </a:t>
            </a:r>
            <a:r>
              <a:rPr sz="2400" dirty="0">
                <a:latin typeface="Arial MT"/>
                <a:cs typeface="Arial MT"/>
              </a:rPr>
              <a:t>that</a:t>
            </a:r>
            <a:r>
              <a:rPr sz="2400" spc="-75" dirty="0">
                <a:latin typeface="Arial MT"/>
                <a:cs typeface="Arial MT"/>
              </a:rPr>
              <a:t> </a:t>
            </a:r>
            <a:r>
              <a:rPr sz="2400" dirty="0">
                <a:latin typeface="Arial MT"/>
                <a:cs typeface="Arial MT"/>
              </a:rPr>
              <a:t>will</a:t>
            </a:r>
            <a:r>
              <a:rPr sz="2400" spc="-50" dirty="0">
                <a:latin typeface="Arial MT"/>
                <a:cs typeface="Arial MT"/>
              </a:rPr>
              <a:t> </a:t>
            </a:r>
            <a:r>
              <a:rPr sz="2400" dirty="0">
                <a:latin typeface="Arial MT"/>
                <a:cs typeface="Arial MT"/>
              </a:rPr>
              <a:t>deliver</a:t>
            </a:r>
            <a:r>
              <a:rPr sz="2400" spc="-35" dirty="0">
                <a:latin typeface="Arial MT"/>
                <a:cs typeface="Arial MT"/>
              </a:rPr>
              <a:t> </a:t>
            </a:r>
            <a:r>
              <a:rPr sz="2400" dirty="0">
                <a:latin typeface="Arial MT"/>
                <a:cs typeface="Arial MT"/>
              </a:rPr>
              <a:t>relevant</a:t>
            </a:r>
            <a:r>
              <a:rPr sz="2400" spc="-50" dirty="0">
                <a:latin typeface="Arial MT"/>
                <a:cs typeface="Arial MT"/>
              </a:rPr>
              <a:t> </a:t>
            </a:r>
            <a:r>
              <a:rPr sz="2400" dirty="0">
                <a:latin typeface="Arial MT"/>
                <a:cs typeface="Arial MT"/>
              </a:rPr>
              <a:t>information</a:t>
            </a:r>
            <a:r>
              <a:rPr sz="2400" spc="-50" dirty="0">
                <a:latin typeface="Arial MT"/>
                <a:cs typeface="Arial MT"/>
              </a:rPr>
              <a:t> </a:t>
            </a:r>
            <a:r>
              <a:rPr sz="2400" dirty="0">
                <a:latin typeface="Arial MT"/>
                <a:cs typeface="Arial MT"/>
              </a:rPr>
              <a:t>to</a:t>
            </a:r>
            <a:r>
              <a:rPr sz="2400" spc="-65" dirty="0">
                <a:latin typeface="Arial MT"/>
                <a:cs typeface="Arial MT"/>
              </a:rPr>
              <a:t> </a:t>
            </a:r>
            <a:r>
              <a:rPr sz="2400" spc="-20" dirty="0">
                <a:latin typeface="Arial MT"/>
                <a:cs typeface="Arial MT"/>
              </a:rPr>
              <a:t>decision-</a:t>
            </a:r>
            <a:r>
              <a:rPr sz="2400" spc="-10" dirty="0">
                <a:latin typeface="Arial MT"/>
                <a:cs typeface="Arial MT"/>
              </a:rPr>
              <a:t>makers.</a:t>
            </a:r>
            <a:endParaRPr sz="2400">
              <a:latin typeface="Arial MT"/>
              <a:cs typeface="Arial MT"/>
            </a:endParaRPr>
          </a:p>
        </p:txBody>
      </p:sp>
      <p:grpSp>
        <p:nvGrpSpPr>
          <p:cNvPr id="5" name="object 5"/>
          <p:cNvGrpSpPr/>
          <p:nvPr/>
        </p:nvGrpSpPr>
        <p:grpSpPr>
          <a:xfrm>
            <a:off x="1819910" y="1493519"/>
            <a:ext cx="8164195" cy="3298190"/>
            <a:chOff x="1819910" y="1493519"/>
            <a:chExt cx="8164195" cy="3298190"/>
          </a:xfrm>
        </p:grpSpPr>
        <p:sp>
          <p:nvSpPr>
            <p:cNvPr id="6" name="object 6"/>
            <p:cNvSpPr/>
            <p:nvPr/>
          </p:nvSpPr>
          <p:spPr>
            <a:xfrm>
              <a:off x="2208276" y="1493519"/>
              <a:ext cx="7775575" cy="3298190"/>
            </a:xfrm>
            <a:custGeom>
              <a:avLst/>
              <a:gdLst/>
              <a:ahLst/>
              <a:cxnLst/>
              <a:rect l="l" t="t" r="r" b="b"/>
              <a:pathLst>
                <a:path w="7775575" h="3298190">
                  <a:moveTo>
                    <a:pt x="6126480" y="0"/>
                  </a:moveTo>
                  <a:lnTo>
                    <a:pt x="6126480" y="824483"/>
                  </a:lnTo>
                  <a:lnTo>
                    <a:pt x="0" y="824483"/>
                  </a:lnTo>
                  <a:lnTo>
                    <a:pt x="0" y="2473452"/>
                  </a:lnTo>
                  <a:lnTo>
                    <a:pt x="6126480" y="2473452"/>
                  </a:lnTo>
                  <a:lnTo>
                    <a:pt x="6126480" y="3297935"/>
                  </a:lnTo>
                  <a:lnTo>
                    <a:pt x="7775448" y="1648967"/>
                  </a:lnTo>
                  <a:lnTo>
                    <a:pt x="6126480" y="0"/>
                  </a:lnTo>
                  <a:close/>
                </a:path>
              </a:pathLst>
            </a:custGeom>
            <a:solidFill>
              <a:srgbClr val="CACACA"/>
            </a:solidFill>
          </p:spPr>
          <p:txBody>
            <a:bodyPr wrap="square" lIns="0" tIns="0" rIns="0" bIns="0" rtlCol="0"/>
            <a:lstStyle/>
            <a:p>
              <a:endParaRPr/>
            </a:p>
          </p:txBody>
        </p:sp>
        <p:sp>
          <p:nvSpPr>
            <p:cNvPr id="7" name="object 7"/>
            <p:cNvSpPr/>
            <p:nvPr/>
          </p:nvSpPr>
          <p:spPr>
            <a:xfrm>
              <a:off x="1832610" y="2483358"/>
              <a:ext cx="2745105" cy="1320165"/>
            </a:xfrm>
            <a:custGeom>
              <a:avLst/>
              <a:gdLst/>
              <a:ahLst/>
              <a:cxnLst/>
              <a:rect l="l" t="t" r="r" b="b"/>
              <a:pathLst>
                <a:path w="2745104" h="1320164">
                  <a:moveTo>
                    <a:pt x="2524760" y="0"/>
                  </a:moveTo>
                  <a:lnTo>
                    <a:pt x="219963" y="0"/>
                  </a:lnTo>
                  <a:lnTo>
                    <a:pt x="175617" y="4466"/>
                  </a:lnTo>
                  <a:lnTo>
                    <a:pt x="134320" y="17277"/>
                  </a:lnTo>
                  <a:lnTo>
                    <a:pt x="96955" y="37551"/>
                  </a:lnTo>
                  <a:lnTo>
                    <a:pt x="64404" y="64404"/>
                  </a:lnTo>
                  <a:lnTo>
                    <a:pt x="37551" y="96955"/>
                  </a:lnTo>
                  <a:lnTo>
                    <a:pt x="17277" y="134320"/>
                  </a:lnTo>
                  <a:lnTo>
                    <a:pt x="4466" y="175617"/>
                  </a:lnTo>
                  <a:lnTo>
                    <a:pt x="0" y="219963"/>
                  </a:lnTo>
                  <a:lnTo>
                    <a:pt x="0" y="1099819"/>
                  </a:lnTo>
                  <a:lnTo>
                    <a:pt x="4466" y="1144166"/>
                  </a:lnTo>
                  <a:lnTo>
                    <a:pt x="17277" y="1185463"/>
                  </a:lnTo>
                  <a:lnTo>
                    <a:pt x="37551" y="1222828"/>
                  </a:lnTo>
                  <a:lnTo>
                    <a:pt x="64404" y="1255379"/>
                  </a:lnTo>
                  <a:lnTo>
                    <a:pt x="96955" y="1282232"/>
                  </a:lnTo>
                  <a:lnTo>
                    <a:pt x="134320" y="1302506"/>
                  </a:lnTo>
                  <a:lnTo>
                    <a:pt x="175617" y="1315317"/>
                  </a:lnTo>
                  <a:lnTo>
                    <a:pt x="219963" y="1319783"/>
                  </a:lnTo>
                  <a:lnTo>
                    <a:pt x="2524760" y="1319783"/>
                  </a:lnTo>
                  <a:lnTo>
                    <a:pt x="2569106" y="1315317"/>
                  </a:lnTo>
                  <a:lnTo>
                    <a:pt x="2610403" y="1302506"/>
                  </a:lnTo>
                  <a:lnTo>
                    <a:pt x="2647768" y="1282232"/>
                  </a:lnTo>
                  <a:lnTo>
                    <a:pt x="2680319" y="1255379"/>
                  </a:lnTo>
                  <a:lnTo>
                    <a:pt x="2707172" y="1222828"/>
                  </a:lnTo>
                  <a:lnTo>
                    <a:pt x="2727446" y="1185463"/>
                  </a:lnTo>
                  <a:lnTo>
                    <a:pt x="2740257" y="1144166"/>
                  </a:lnTo>
                  <a:lnTo>
                    <a:pt x="2744724" y="1099819"/>
                  </a:lnTo>
                  <a:lnTo>
                    <a:pt x="2744724" y="219963"/>
                  </a:lnTo>
                  <a:lnTo>
                    <a:pt x="2740257" y="175617"/>
                  </a:lnTo>
                  <a:lnTo>
                    <a:pt x="2727446" y="134320"/>
                  </a:lnTo>
                  <a:lnTo>
                    <a:pt x="2707172" y="96955"/>
                  </a:lnTo>
                  <a:lnTo>
                    <a:pt x="2680319" y="64404"/>
                  </a:lnTo>
                  <a:lnTo>
                    <a:pt x="2647768" y="37551"/>
                  </a:lnTo>
                  <a:lnTo>
                    <a:pt x="2610403" y="17277"/>
                  </a:lnTo>
                  <a:lnTo>
                    <a:pt x="2569106" y="4466"/>
                  </a:lnTo>
                  <a:lnTo>
                    <a:pt x="2524760" y="0"/>
                  </a:lnTo>
                  <a:close/>
                </a:path>
              </a:pathLst>
            </a:custGeom>
            <a:solidFill>
              <a:srgbClr val="FFFFFF"/>
            </a:solidFill>
          </p:spPr>
          <p:txBody>
            <a:bodyPr wrap="square" lIns="0" tIns="0" rIns="0" bIns="0" rtlCol="0"/>
            <a:lstStyle/>
            <a:p>
              <a:endParaRPr/>
            </a:p>
          </p:txBody>
        </p:sp>
        <p:sp>
          <p:nvSpPr>
            <p:cNvPr id="8" name="object 8"/>
            <p:cNvSpPr/>
            <p:nvPr/>
          </p:nvSpPr>
          <p:spPr>
            <a:xfrm>
              <a:off x="1832610" y="2483358"/>
              <a:ext cx="2745105" cy="1320165"/>
            </a:xfrm>
            <a:custGeom>
              <a:avLst/>
              <a:gdLst/>
              <a:ahLst/>
              <a:cxnLst/>
              <a:rect l="l" t="t" r="r" b="b"/>
              <a:pathLst>
                <a:path w="2745104" h="1320164">
                  <a:moveTo>
                    <a:pt x="0" y="219963"/>
                  </a:moveTo>
                  <a:lnTo>
                    <a:pt x="4466" y="175617"/>
                  </a:lnTo>
                  <a:lnTo>
                    <a:pt x="17277" y="134320"/>
                  </a:lnTo>
                  <a:lnTo>
                    <a:pt x="37551" y="96955"/>
                  </a:lnTo>
                  <a:lnTo>
                    <a:pt x="64404" y="64404"/>
                  </a:lnTo>
                  <a:lnTo>
                    <a:pt x="96955" y="37551"/>
                  </a:lnTo>
                  <a:lnTo>
                    <a:pt x="134320" y="17277"/>
                  </a:lnTo>
                  <a:lnTo>
                    <a:pt x="175617" y="4466"/>
                  </a:lnTo>
                  <a:lnTo>
                    <a:pt x="219963" y="0"/>
                  </a:lnTo>
                  <a:lnTo>
                    <a:pt x="2524760" y="0"/>
                  </a:lnTo>
                  <a:lnTo>
                    <a:pt x="2569106" y="4466"/>
                  </a:lnTo>
                  <a:lnTo>
                    <a:pt x="2610403" y="17277"/>
                  </a:lnTo>
                  <a:lnTo>
                    <a:pt x="2647768" y="37551"/>
                  </a:lnTo>
                  <a:lnTo>
                    <a:pt x="2680319" y="64404"/>
                  </a:lnTo>
                  <a:lnTo>
                    <a:pt x="2707172" y="96955"/>
                  </a:lnTo>
                  <a:lnTo>
                    <a:pt x="2727446" y="134320"/>
                  </a:lnTo>
                  <a:lnTo>
                    <a:pt x="2740257" y="175617"/>
                  </a:lnTo>
                  <a:lnTo>
                    <a:pt x="2744724" y="219963"/>
                  </a:lnTo>
                  <a:lnTo>
                    <a:pt x="2744724" y="1099819"/>
                  </a:lnTo>
                  <a:lnTo>
                    <a:pt x="2740257" y="1144166"/>
                  </a:lnTo>
                  <a:lnTo>
                    <a:pt x="2727446" y="1185463"/>
                  </a:lnTo>
                  <a:lnTo>
                    <a:pt x="2707172" y="1222828"/>
                  </a:lnTo>
                  <a:lnTo>
                    <a:pt x="2680319" y="1255379"/>
                  </a:lnTo>
                  <a:lnTo>
                    <a:pt x="2647768" y="1282232"/>
                  </a:lnTo>
                  <a:lnTo>
                    <a:pt x="2610403" y="1302506"/>
                  </a:lnTo>
                  <a:lnTo>
                    <a:pt x="2569106" y="1315317"/>
                  </a:lnTo>
                  <a:lnTo>
                    <a:pt x="2524760" y="1319783"/>
                  </a:lnTo>
                  <a:lnTo>
                    <a:pt x="219963" y="1319783"/>
                  </a:lnTo>
                  <a:lnTo>
                    <a:pt x="175617" y="1315317"/>
                  </a:lnTo>
                  <a:lnTo>
                    <a:pt x="134320" y="1302506"/>
                  </a:lnTo>
                  <a:lnTo>
                    <a:pt x="96955" y="1282232"/>
                  </a:lnTo>
                  <a:lnTo>
                    <a:pt x="64404" y="1255379"/>
                  </a:lnTo>
                  <a:lnTo>
                    <a:pt x="37551" y="1222828"/>
                  </a:lnTo>
                  <a:lnTo>
                    <a:pt x="17277" y="1185463"/>
                  </a:lnTo>
                  <a:lnTo>
                    <a:pt x="4466" y="1144166"/>
                  </a:lnTo>
                  <a:lnTo>
                    <a:pt x="0" y="1099819"/>
                  </a:lnTo>
                  <a:lnTo>
                    <a:pt x="0" y="219963"/>
                  </a:lnTo>
                  <a:close/>
                </a:path>
              </a:pathLst>
            </a:custGeom>
            <a:ln w="25400">
              <a:solidFill>
                <a:srgbClr val="929292"/>
              </a:solidFill>
            </a:ln>
          </p:spPr>
          <p:txBody>
            <a:bodyPr wrap="square" lIns="0" tIns="0" rIns="0" bIns="0" rtlCol="0"/>
            <a:lstStyle/>
            <a:p>
              <a:endParaRPr/>
            </a:p>
          </p:txBody>
        </p:sp>
      </p:grpSp>
      <p:sp>
        <p:nvSpPr>
          <p:cNvPr id="9" name="object 9"/>
          <p:cNvSpPr txBox="1"/>
          <p:nvPr/>
        </p:nvSpPr>
        <p:spPr>
          <a:xfrm>
            <a:off x="2096261" y="2675000"/>
            <a:ext cx="2215515" cy="899794"/>
          </a:xfrm>
          <a:prstGeom prst="rect">
            <a:avLst/>
          </a:prstGeom>
        </p:spPr>
        <p:txBody>
          <a:bodyPr vert="horz" wrap="square" lIns="0" tIns="46355" rIns="0" bIns="0" rtlCol="0">
            <a:spAutoFit/>
          </a:bodyPr>
          <a:lstStyle/>
          <a:p>
            <a:pPr marL="12700" marR="5080" indent="635" algn="ctr">
              <a:lnSpc>
                <a:spcPts val="1660"/>
              </a:lnSpc>
              <a:spcBef>
                <a:spcPts val="365"/>
              </a:spcBef>
            </a:pPr>
            <a:r>
              <a:rPr sz="1600" spc="-10" dirty="0">
                <a:latin typeface="Arial MT"/>
                <a:cs typeface="Arial MT"/>
              </a:rPr>
              <a:t>Managerial</a:t>
            </a:r>
            <a:r>
              <a:rPr sz="1600" spc="-70" dirty="0">
                <a:latin typeface="Arial MT"/>
                <a:cs typeface="Arial MT"/>
              </a:rPr>
              <a:t> </a:t>
            </a:r>
            <a:r>
              <a:rPr sz="1600" spc="-10" dirty="0">
                <a:latin typeface="Arial MT"/>
                <a:cs typeface="Arial MT"/>
              </a:rPr>
              <a:t>Accountant </a:t>
            </a:r>
            <a:r>
              <a:rPr sz="1600" dirty="0">
                <a:latin typeface="Arial MT"/>
                <a:cs typeface="Arial MT"/>
              </a:rPr>
              <a:t>designs</a:t>
            </a:r>
            <a:r>
              <a:rPr sz="1600" spc="-25" dirty="0">
                <a:latin typeface="Arial MT"/>
                <a:cs typeface="Arial MT"/>
              </a:rPr>
              <a:t> </a:t>
            </a:r>
            <a:r>
              <a:rPr sz="1600" dirty="0">
                <a:latin typeface="Arial MT"/>
                <a:cs typeface="Arial MT"/>
              </a:rPr>
              <a:t>and</a:t>
            </a:r>
            <a:r>
              <a:rPr sz="1600" spc="-30" dirty="0">
                <a:latin typeface="Arial MT"/>
                <a:cs typeface="Arial MT"/>
              </a:rPr>
              <a:t> </a:t>
            </a:r>
            <a:r>
              <a:rPr sz="1600" spc="-10" dirty="0">
                <a:latin typeface="Arial MT"/>
                <a:cs typeface="Arial MT"/>
              </a:rPr>
              <a:t>implements </a:t>
            </a:r>
            <a:r>
              <a:rPr sz="1600" dirty="0">
                <a:latin typeface="Arial MT"/>
                <a:cs typeface="Arial MT"/>
              </a:rPr>
              <a:t>accounting</a:t>
            </a:r>
            <a:r>
              <a:rPr sz="1600" spc="-85" dirty="0">
                <a:latin typeface="Arial MT"/>
                <a:cs typeface="Arial MT"/>
              </a:rPr>
              <a:t> </a:t>
            </a:r>
            <a:r>
              <a:rPr sz="1600" spc="-10" dirty="0">
                <a:latin typeface="Arial MT"/>
                <a:cs typeface="Arial MT"/>
              </a:rPr>
              <a:t>information system</a:t>
            </a:r>
            <a:endParaRPr sz="1600">
              <a:latin typeface="Arial MT"/>
              <a:cs typeface="Arial MT"/>
            </a:endParaRPr>
          </a:p>
        </p:txBody>
      </p:sp>
      <p:grpSp>
        <p:nvGrpSpPr>
          <p:cNvPr id="10" name="object 10"/>
          <p:cNvGrpSpPr/>
          <p:nvPr/>
        </p:nvGrpSpPr>
        <p:grpSpPr>
          <a:xfrm>
            <a:off x="4712461" y="2470657"/>
            <a:ext cx="2768600" cy="1345565"/>
            <a:chOff x="4712461" y="2470657"/>
            <a:chExt cx="2768600" cy="1345565"/>
          </a:xfrm>
        </p:grpSpPr>
        <p:sp>
          <p:nvSpPr>
            <p:cNvPr id="11" name="object 11"/>
            <p:cNvSpPr/>
            <p:nvPr/>
          </p:nvSpPr>
          <p:spPr>
            <a:xfrm>
              <a:off x="4725161" y="2483357"/>
              <a:ext cx="2743200" cy="1320165"/>
            </a:xfrm>
            <a:custGeom>
              <a:avLst/>
              <a:gdLst/>
              <a:ahLst/>
              <a:cxnLst/>
              <a:rect l="l" t="t" r="r" b="b"/>
              <a:pathLst>
                <a:path w="2743200" h="1320164">
                  <a:moveTo>
                    <a:pt x="2523236" y="0"/>
                  </a:moveTo>
                  <a:lnTo>
                    <a:pt x="219963" y="0"/>
                  </a:lnTo>
                  <a:lnTo>
                    <a:pt x="175617" y="4466"/>
                  </a:lnTo>
                  <a:lnTo>
                    <a:pt x="134320" y="17277"/>
                  </a:lnTo>
                  <a:lnTo>
                    <a:pt x="96955" y="37551"/>
                  </a:lnTo>
                  <a:lnTo>
                    <a:pt x="64404" y="64404"/>
                  </a:lnTo>
                  <a:lnTo>
                    <a:pt x="37551" y="96955"/>
                  </a:lnTo>
                  <a:lnTo>
                    <a:pt x="17277" y="134320"/>
                  </a:lnTo>
                  <a:lnTo>
                    <a:pt x="4466" y="175617"/>
                  </a:lnTo>
                  <a:lnTo>
                    <a:pt x="0" y="219963"/>
                  </a:lnTo>
                  <a:lnTo>
                    <a:pt x="0" y="1099819"/>
                  </a:lnTo>
                  <a:lnTo>
                    <a:pt x="4466" y="1144166"/>
                  </a:lnTo>
                  <a:lnTo>
                    <a:pt x="17277" y="1185463"/>
                  </a:lnTo>
                  <a:lnTo>
                    <a:pt x="37551" y="1222828"/>
                  </a:lnTo>
                  <a:lnTo>
                    <a:pt x="64404" y="1255379"/>
                  </a:lnTo>
                  <a:lnTo>
                    <a:pt x="96955" y="1282232"/>
                  </a:lnTo>
                  <a:lnTo>
                    <a:pt x="134320" y="1302506"/>
                  </a:lnTo>
                  <a:lnTo>
                    <a:pt x="175617" y="1315317"/>
                  </a:lnTo>
                  <a:lnTo>
                    <a:pt x="219963" y="1319783"/>
                  </a:lnTo>
                  <a:lnTo>
                    <a:pt x="2523236" y="1319783"/>
                  </a:lnTo>
                  <a:lnTo>
                    <a:pt x="2567582" y="1315317"/>
                  </a:lnTo>
                  <a:lnTo>
                    <a:pt x="2608879" y="1302506"/>
                  </a:lnTo>
                  <a:lnTo>
                    <a:pt x="2646244" y="1282232"/>
                  </a:lnTo>
                  <a:lnTo>
                    <a:pt x="2678795" y="1255379"/>
                  </a:lnTo>
                  <a:lnTo>
                    <a:pt x="2705648" y="1222828"/>
                  </a:lnTo>
                  <a:lnTo>
                    <a:pt x="2725922" y="1185463"/>
                  </a:lnTo>
                  <a:lnTo>
                    <a:pt x="2738733" y="1144166"/>
                  </a:lnTo>
                  <a:lnTo>
                    <a:pt x="2743199" y="1099819"/>
                  </a:lnTo>
                  <a:lnTo>
                    <a:pt x="2743199" y="219963"/>
                  </a:lnTo>
                  <a:lnTo>
                    <a:pt x="2738733" y="175617"/>
                  </a:lnTo>
                  <a:lnTo>
                    <a:pt x="2725922" y="134320"/>
                  </a:lnTo>
                  <a:lnTo>
                    <a:pt x="2705648" y="96955"/>
                  </a:lnTo>
                  <a:lnTo>
                    <a:pt x="2678795" y="64404"/>
                  </a:lnTo>
                  <a:lnTo>
                    <a:pt x="2646244" y="37551"/>
                  </a:lnTo>
                  <a:lnTo>
                    <a:pt x="2608879" y="17277"/>
                  </a:lnTo>
                  <a:lnTo>
                    <a:pt x="2567582" y="4466"/>
                  </a:lnTo>
                  <a:lnTo>
                    <a:pt x="2523236" y="0"/>
                  </a:lnTo>
                  <a:close/>
                </a:path>
              </a:pathLst>
            </a:custGeom>
            <a:solidFill>
              <a:srgbClr val="FFFFFF"/>
            </a:solidFill>
          </p:spPr>
          <p:txBody>
            <a:bodyPr wrap="square" lIns="0" tIns="0" rIns="0" bIns="0" rtlCol="0"/>
            <a:lstStyle/>
            <a:p>
              <a:endParaRPr/>
            </a:p>
          </p:txBody>
        </p:sp>
        <p:sp>
          <p:nvSpPr>
            <p:cNvPr id="12" name="object 12"/>
            <p:cNvSpPr/>
            <p:nvPr/>
          </p:nvSpPr>
          <p:spPr>
            <a:xfrm>
              <a:off x="4725161" y="2483357"/>
              <a:ext cx="2743200" cy="1320165"/>
            </a:xfrm>
            <a:custGeom>
              <a:avLst/>
              <a:gdLst/>
              <a:ahLst/>
              <a:cxnLst/>
              <a:rect l="l" t="t" r="r" b="b"/>
              <a:pathLst>
                <a:path w="2743200" h="1320164">
                  <a:moveTo>
                    <a:pt x="0" y="219963"/>
                  </a:moveTo>
                  <a:lnTo>
                    <a:pt x="4466" y="175617"/>
                  </a:lnTo>
                  <a:lnTo>
                    <a:pt x="17277" y="134320"/>
                  </a:lnTo>
                  <a:lnTo>
                    <a:pt x="37551" y="96955"/>
                  </a:lnTo>
                  <a:lnTo>
                    <a:pt x="64404" y="64404"/>
                  </a:lnTo>
                  <a:lnTo>
                    <a:pt x="96955" y="37551"/>
                  </a:lnTo>
                  <a:lnTo>
                    <a:pt x="134320" y="17277"/>
                  </a:lnTo>
                  <a:lnTo>
                    <a:pt x="175617" y="4466"/>
                  </a:lnTo>
                  <a:lnTo>
                    <a:pt x="219963" y="0"/>
                  </a:lnTo>
                  <a:lnTo>
                    <a:pt x="2523236" y="0"/>
                  </a:lnTo>
                  <a:lnTo>
                    <a:pt x="2567582" y="4466"/>
                  </a:lnTo>
                  <a:lnTo>
                    <a:pt x="2608879" y="17277"/>
                  </a:lnTo>
                  <a:lnTo>
                    <a:pt x="2646244" y="37551"/>
                  </a:lnTo>
                  <a:lnTo>
                    <a:pt x="2678795" y="64404"/>
                  </a:lnTo>
                  <a:lnTo>
                    <a:pt x="2705648" y="96955"/>
                  </a:lnTo>
                  <a:lnTo>
                    <a:pt x="2725922" y="134320"/>
                  </a:lnTo>
                  <a:lnTo>
                    <a:pt x="2738733" y="175617"/>
                  </a:lnTo>
                  <a:lnTo>
                    <a:pt x="2743199" y="219963"/>
                  </a:lnTo>
                  <a:lnTo>
                    <a:pt x="2743199" y="1099819"/>
                  </a:lnTo>
                  <a:lnTo>
                    <a:pt x="2738733" y="1144166"/>
                  </a:lnTo>
                  <a:lnTo>
                    <a:pt x="2725922" y="1185463"/>
                  </a:lnTo>
                  <a:lnTo>
                    <a:pt x="2705648" y="1222828"/>
                  </a:lnTo>
                  <a:lnTo>
                    <a:pt x="2678795" y="1255379"/>
                  </a:lnTo>
                  <a:lnTo>
                    <a:pt x="2646244" y="1282232"/>
                  </a:lnTo>
                  <a:lnTo>
                    <a:pt x="2608879" y="1302506"/>
                  </a:lnTo>
                  <a:lnTo>
                    <a:pt x="2567582" y="1315317"/>
                  </a:lnTo>
                  <a:lnTo>
                    <a:pt x="2523236" y="1319783"/>
                  </a:lnTo>
                  <a:lnTo>
                    <a:pt x="219963" y="1319783"/>
                  </a:lnTo>
                  <a:lnTo>
                    <a:pt x="175617" y="1315317"/>
                  </a:lnTo>
                  <a:lnTo>
                    <a:pt x="134320" y="1302506"/>
                  </a:lnTo>
                  <a:lnTo>
                    <a:pt x="96955" y="1282232"/>
                  </a:lnTo>
                  <a:lnTo>
                    <a:pt x="64404" y="1255379"/>
                  </a:lnTo>
                  <a:lnTo>
                    <a:pt x="37551" y="1222828"/>
                  </a:lnTo>
                  <a:lnTo>
                    <a:pt x="17277" y="1185463"/>
                  </a:lnTo>
                  <a:lnTo>
                    <a:pt x="4466" y="1144166"/>
                  </a:lnTo>
                  <a:lnTo>
                    <a:pt x="0" y="1099819"/>
                  </a:lnTo>
                  <a:lnTo>
                    <a:pt x="0" y="219963"/>
                  </a:lnTo>
                  <a:close/>
                </a:path>
              </a:pathLst>
            </a:custGeom>
            <a:ln w="25400">
              <a:solidFill>
                <a:srgbClr val="929292"/>
              </a:solidFill>
            </a:ln>
          </p:spPr>
          <p:txBody>
            <a:bodyPr wrap="square" lIns="0" tIns="0" rIns="0" bIns="0" rtlCol="0"/>
            <a:lstStyle/>
            <a:p>
              <a:endParaRPr/>
            </a:p>
          </p:txBody>
        </p:sp>
      </p:grpSp>
      <p:sp>
        <p:nvSpPr>
          <p:cNvPr id="13" name="object 13"/>
          <p:cNvSpPr txBox="1"/>
          <p:nvPr/>
        </p:nvSpPr>
        <p:spPr>
          <a:xfrm>
            <a:off x="4878451" y="2569844"/>
            <a:ext cx="2437130" cy="1109980"/>
          </a:xfrm>
          <a:prstGeom prst="rect">
            <a:avLst/>
          </a:prstGeom>
        </p:spPr>
        <p:txBody>
          <a:bodyPr vert="horz" wrap="square" lIns="0" tIns="46355" rIns="0" bIns="0" rtlCol="0">
            <a:spAutoFit/>
          </a:bodyPr>
          <a:lstStyle/>
          <a:p>
            <a:pPr marL="12700" marR="5080" indent="-2540" algn="ctr">
              <a:lnSpc>
                <a:spcPts val="1660"/>
              </a:lnSpc>
              <a:spcBef>
                <a:spcPts val="365"/>
              </a:spcBef>
            </a:pPr>
            <a:r>
              <a:rPr sz="1600" dirty="0">
                <a:latin typeface="Arial MT"/>
                <a:cs typeface="Arial MT"/>
              </a:rPr>
              <a:t>Relevant</a:t>
            </a:r>
            <a:r>
              <a:rPr sz="1600" spc="-80" dirty="0">
                <a:latin typeface="Arial MT"/>
                <a:cs typeface="Arial MT"/>
              </a:rPr>
              <a:t> </a:t>
            </a:r>
            <a:r>
              <a:rPr sz="1600" dirty="0">
                <a:latin typeface="Arial MT"/>
                <a:cs typeface="Arial MT"/>
              </a:rPr>
              <a:t>Information</a:t>
            </a:r>
            <a:r>
              <a:rPr sz="1600" spc="-70" dirty="0">
                <a:latin typeface="Arial MT"/>
                <a:cs typeface="Arial MT"/>
              </a:rPr>
              <a:t> </a:t>
            </a:r>
            <a:r>
              <a:rPr sz="1600" spc="-25" dirty="0">
                <a:latin typeface="Arial MT"/>
                <a:cs typeface="Arial MT"/>
              </a:rPr>
              <a:t>is </a:t>
            </a:r>
            <a:r>
              <a:rPr sz="1600" b="1" u="sng" dirty="0">
                <a:uFill>
                  <a:solidFill>
                    <a:srgbClr val="000000"/>
                  </a:solidFill>
                </a:uFill>
                <a:latin typeface="Arial"/>
                <a:cs typeface="Arial"/>
              </a:rPr>
              <a:t>provided</a:t>
            </a:r>
            <a:r>
              <a:rPr sz="1600" b="1" u="sng" spc="-30" dirty="0">
                <a:uFill>
                  <a:solidFill>
                    <a:srgbClr val="000000"/>
                  </a:solidFill>
                </a:uFill>
                <a:latin typeface="Arial"/>
                <a:cs typeface="Arial"/>
              </a:rPr>
              <a:t> </a:t>
            </a:r>
            <a:r>
              <a:rPr sz="1600" b="1" u="sng" dirty="0">
                <a:uFill>
                  <a:solidFill>
                    <a:srgbClr val="000000"/>
                  </a:solidFill>
                </a:uFill>
                <a:latin typeface="Arial"/>
                <a:cs typeface="Arial"/>
              </a:rPr>
              <a:t>to</a:t>
            </a:r>
            <a:r>
              <a:rPr sz="1600" b="1" u="sng" spc="-65" dirty="0">
                <a:uFill>
                  <a:solidFill>
                    <a:srgbClr val="000000"/>
                  </a:solidFill>
                </a:uFill>
                <a:latin typeface="Arial"/>
                <a:cs typeface="Arial"/>
              </a:rPr>
              <a:t> </a:t>
            </a:r>
            <a:r>
              <a:rPr sz="1600" b="1" u="sng" spc="-10" dirty="0">
                <a:uFill>
                  <a:solidFill>
                    <a:srgbClr val="000000"/>
                  </a:solidFill>
                </a:uFill>
                <a:latin typeface="Arial"/>
                <a:cs typeface="Arial"/>
              </a:rPr>
              <a:t>management</a:t>
            </a:r>
            <a:r>
              <a:rPr sz="1600" b="1" spc="-10" dirty="0">
                <a:latin typeface="Arial"/>
                <a:cs typeface="Arial"/>
              </a:rPr>
              <a:t> </a:t>
            </a:r>
            <a:r>
              <a:rPr sz="1600" dirty="0">
                <a:latin typeface="Arial MT"/>
                <a:cs typeface="Arial MT"/>
              </a:rPr>
              <a:t>to</a:t>
            </a:r>
            <a:r>
              <a:rPr sz="1600" spc="-30" dirty="0">
                <a:latin typeface="Arial MT"/>
                <a:cs typeface="Arial MT"/>
              </a:rPr>
              <a:t> </a:t>
            </a:r>
            <a:r>
              <a:rPr sz="1600" dirty="0">
                <a:latin typeface="Arial MT"/>
                <a:cs typeface="Arial MT"/>
              </a:rPr>
              <a:t>make</a:t>
            </a:r>
            <a:r>
              <a:rPr sz="1600" spc="-25" dirty="0">
                <a:latin typeface="Arial MT"/>
                <a:cs typeface="Arial MT"/>
              </a:rPr>
              <a:t> </a:t>
            </a:r>
            <a:r>
              <a:rPr sz="1600" spc="-10" dirty="0">
                <a:latin typeface="Arial MT"/>
                <a:cs typeface="Arial MT"/>
              </a:rPr>
              <a:t>production, </a:t>
            </a:r>
            <a:r>
              <a:rPr sz="1600" dirty="0">
                <a:latin typeface="Arial MT"/>
                <a:cs typeface="Arial MT"/>
              </a:rPr>
              <a:t>marketing,</a:t>
            </a:r>
            <a:r>
              <a:rPr sz="1600" spc="-65" dirty="0">
                <a:latin typeface="Arial MT"/>
                <a:cs typeface="Arial MT"/>
              </a:rPr>
              <a:t> </a:t>
            </a:r>
            <a:r>
              <a:rPr sz="1600" dirty="0">
                <a:latin typeface="Arial MT"/>
                <a:cs typeface="Arial MT"/>
              </a:rPr>
              <a:t>finance,</a:t>
            </a:r>
            <a:r>
              <a:rPr sz="1600" spc="-75" dirty="0">
                <a:latin typeface="Arial MT"/>
                <a:cs typeface="Arial MT"/>
              </a:rPr>
              <a:t> </a:t>
            </a:r>
            <a:r>
              <a:rPr sz="1600" spc="-25" dirty="0">
                <a:latin typeface="Arial MT"/>
                <a:cs typeface="Arial MT"/>
              </a:rPr>
              <a:t>and </a:t>
            </a:r>
            <a:r>
              <a:rPr sz="1600" dirty="0">
                <a:latin typeface="Arial MT"/>
                <a:cs typeface="Arial MT"/>
              </a:rPr>
              <a:t>other</a:t>
            </a:r>
            <a:r>
              <a:rPr sz="1600" spc="-40" dirty="0">
                <a:latin typeface="Arial MT"/>
                <a:cs typeface="Arial MT"/>
              </a:rPr>
              <a:t> </a:t>
            </a:r>
            <a:r>
              <a:rPr sz="1600" spc="-10" dirty="0">
                <a:latin typeface="Arial MT"/>
                <a:cs typeface="Arial MT"/>
              </a:rPr>
              <a:t>decisions</a:t>
            </a:r>
            <a:endParaRPr sz="1600">
              <a:latin typeface="Arial MT"/>
              <a:cs typeface="Arial MT"/>
            </a:endParaRPr>
          </a:p>
        </p:txBody>
      </p:sp>
      <p:grpSp>
        <p:nvGrpSpPr>
          <p:cNvPr id="14" name="object 14"/>
          <p:cNvGrpSpPr/>
          <p:nvPr/>
        </p:nvGrpSpPr>
        <p:grpSpPr>
          <a:xfrm>
            <a:off x="7603490" y="2470657"/>
            <a:ext cx="2770505" cy="1345565"/>
            <a:chOff x="7603490" y="2470657"/>
            <a:chExt cx="2770505" cy="1345565"/>
          </a:xfrm>
        </p:grpSpPr>
        <p:sp>
          <p:nvSpPr>
            <p:cNvPr id="15" name="object 15"/>
            <p:cNvSpPr/>
            <p:nvPr/>
          </p:nvSpPr>
          <p:spPr>
            <a:xfrm>
              <a:off x="7616190" y="2483357"/>
              <a:ext cx="2745105" cy="1320165"/>
            </a:xfrm>
            <a:custGeom>
              <a:avLst/>
              <a:gdLst/>
              <a:ahLst/>
              <a:cxnLst/>
              <a:rect l="l" t="t" r="r" b="b"/>
              <a:pathLst>
                <a:path w="2745104" h="1320164">
                  <a:moveTo>
                    <a:pt x="2524759" y="0"/>
                  </a:moveTo>
                  <a:lnTo>
                    <a:pt x="219963" y="0"/>
                  </a:lnTo>
                  <a:lnTo>
                    <a:pt x="175617" y="4466"/>
                  </a:lnTo>
                  <a:lnTo>
                    <a:pt x="134320" y="17277"/>
                  </a:lnTo>
                  <a:lnTo>
                    <a:pt x="96955" y="37551"/>
                  </a:lnTo>
                  <a:lnTo>
                    <a:pt x="64404" y="64404"/>
                  </a:lnTo>
                  <a:lnTo>
                    <a:pt x="37551" y="96955"/>
                  </a:lnTo>
                  <a:lnTo>
                    <a:pt x="17277" y="134320"/>
                  </a:lnTo>
                  <a:lnTo>
                    <a:pt x="4466" y="175617"/>
                  </a:lnTo>
                  <a:lnTo>
                    <a:pt x="0" y="219963"/>
                  </a:lnTo>
                  <a:lnTo>
                    <a:pt x="0" y="1099819"/>
                  </a:lnTo>
                  <a:lnTo>
                    <a:pt x="4466" y="1144166"/>
                  </a:lnTo>
                  <a:lnTo>
                    <a:pt x="17277" y="1185463"/>
                  </a:lnTo>
                  <a:lnTo>
                    <a:pt x="37551" y="1222828"/>
                  </a:lnTo>
                  <a:lnTo>
                    <a:pt x="64404" y="1255379"/>
                  </a:lnTo>
                  <a:lnTo>
                    <a:pt x="96955" y="1282232"/>
                  </a:lnTo>
                  <a:lnTo>
                    <a:pt x="134320" y="1302506"/>
                  </a:lnTo>
                  <a:lnTo>
                    <a:pt x="175617" y="1315317"/>
                  </a:lnTo>
                  <a:lnTo>
                    <a:pt x="219963" y="1319783"/>
                  </a:lnTo>
                  <a:lnTo>
                    <a:pt x="2524759" y="1319783"/>
                  </a:lnTo>
                  <a:lnTo>
                    <a:pt x="2569106" y="1315317"/>
                  </a:lnTo>
                  <a:lnTo>
                    <a:pt x="2610403" y="1302506"/>
                  </a:lnTo>
                  <a:lnTo>
                    <a:pt x="2647768" y="1282232"/>
                  </a:lnTo>
                  <a:lnTo>
                    <a:pt x="2680319" y="1255379"/>
                  </a:lnTo>
                  <a:lnTo>
                    <a:pt x="2707172" y="1222828"/>
                  </a:lnTo>
                  <a:lnTo>
                    <a:pt x="2727446" y="1185463"/>
                  </a:lnTo>
                  <a:lnTo>
                    <a:pt x="2740257" y="1144166"/>
                  </a:lnTo>
                  <a:lnTo>
                    <a:pt x="2744724" y="1099819"/>
                  </a:lnTo>
                  <a:lnTo>
                    <a:pt x="2744724" y="219963"/>
                  </a:lnTo>
                  <a:lnTo>
                    <a:pt x="2740257" y="175617"/>
                  </a:lnTo>
                  <a:lnTo>
                    <a:pt x="2727446" y="134320"/>
                  </a:lnTo>
                  <a:lnTo>
                    <a:pt x="2707172" y="96955"/>
                  </a:lnTo>
                  <a:lnTo>
                    <a:pt x="2680319" y="64404"/>
                  </a:lnTo>
                  <a:lnTo>
                    <a:pt x="2647768" y="37551"/>
                  </a:lnTo>
                  <a:lnTo>
                    <a:pt x="2610403" y="17277"/>
                  </a:lnTo>
                  <a:lnTo>
                    <a:pt x="2569106" y="4466"/>
                  </a:lnTo>
                  <a:lnTo>
                    <a:pt x="2524759" y="0"/>
                  </a:lnTo>
                  <a:close/>
                </a:path>
              </a:pathLst>
            </a:custGeom>
            <a:solidFill>
              <a:srgbClr val="FFFFFF"/>
            </a:solidFill>
          </p:spPr>
          <p:txBody>
            <a:bodyPr wrap="square" lIns="0" tIns="0" rIns="0" bIns="0" rtlCol="0"/>
            <a:lstStyle/>
            <a:p>
              <a:endParaRPr/>
            </a:p>
          </p:txBody>
        </p:sp>
        <p:sp>
          <p:nvSpPr>
            <p:cNvPr id="16" name="object 16"/>
            <p:cNvSpPr/>
            <p:nvPr/>
          </p:nvSpPr>
          <p:spPr>
            <a:xfrm>
              <a:off x="7616190" y="2483357"/>
              <a:ext cx="2745105" cy="1320165"/>
            </a:xfrm>
            <a:custGeom>
              <a:avLst/>
              <a:gdLst/>
              <a:ahLst/>
              <a:cxnLst/>
              <a:rect l="l" t="t" r="r" b="b"/>
              <a:pathLst>
                <a:path w="2745104" h="1320164">
                  <a:moveTo>
                    <a:pt x="0" y="219963"/>
                  </a:moveTo>
                  <a:lnTo>
                    <a:pt x="4466" y="175617"/>
                  </a:lnTo>
                  <a:lnTo>
                    <a:pt x="17277" y="134320"/>
                  </a:lnTo>
                  <a:lnTo>
                    <a:pt x="37551" y="96955"/>
                  </a:lnTo>
                  <a:lnTo>
                    <a:pt x="64404" y="64404"/>
                  </a:lnTo>
                  <a:lnTo>
                    <a:pt x="96955" y="37551"/>
                  </a:lnTo>
                  <a:lnTo>
                    <a:pt x="134320" y="17277"/>
                  </a:lnTo>
                  <a:lnTo>
                    <a:pt x="175617" y="4466"/>
                  </a:lnTo>
                  <a:lnTo>
                    <a:pt x="219963" y="0"/>
                  </a:lnTo>
                  <a:lnTo>
                    <a:pt x="2524759" y="0"/>
                  </a:lnTo>
                  <a:lnTo>
                    <a:pt x="2569106" y="4466"/>
                  </a:lnTo>
                  <a:lnTo>
                    <a:pt x="2610403" y="17277"/>
                  </a:lnTo>
                  <a:lnTo>
                    <a:pt x="2647768" y="37551"/>
                  </a:lnTo>
                  <a:lnTo>
                    <a:pt x="2680319" y="64404"/>
                  </a:lnTo>
                  <a:lnTo>
                    <a:pt x="2707172" y="96955"/>
                  </a:lnTo>
                  <a:lnTo>
                    <a:pt x="2727446" y="134320"/>
                  </a:lnTo>
                  <a:lnTo>
                    <a:pt x="2740257" y="175617"/>
                  </a:lnTo>
                  <a:lnTo>
                    <a:pt x="2744724" y="219963"/>
                  </a:lnTo>
                  <a:lnTo>
                    <a:pt x="2744724" y="1099819"/>
                  </a:lnTo>
                  <a:lnTo>
                    <a:pt x="2740257" y="1144166"/>
                  </a:lnTo>
                  <a:lnTo>
                    <a:pt x="2727446" y="1185463"/>
                  </a:lnTo>
                  <a:lnTo>
                    <a:pt x="2707172" y="1222828"/>
                  </a:lnTo>
                  <a:lnTo>
                    <a:pt x="2680319" y="1255379"/>
                  </a:lnTo>
                  <a:lnTo>
                    <a:pt x="2647768" y="1282232"/>
                  </a:lnTo>
                  <a:lnTo>
                    <a:pt x="2610403" y="1302506"/>
                  </a:lnTo>
                  <a:lnTo>
                    <a:pt x="2569106" y="1315317"/>
                  </a:lnTo>
                  <a:lnTo>
                    <a:pt x="2524759" y="1319783"/>
                  </a:lnTo>
                  <a:lnTo>
                    <a:pt x="219963" y="1319783"/>
                  </a:lnTo>
                  <a:lnTo>
                    <a:pt x="175617" y="1315317"/>
                  </a:lnTo>
                  <a:lnTo>
                    <a:pt x="134320" y="1302506"/>
                  </a:lnTo>
                  <a:lnTo>
                    <a:pt x="96955" y="1282232"/>
                  </a:lnTo>
                  <a:lnTo>
                    <a:pt x="64404" y="1255379"/>
                  </a:lnTo>
                  <a:lnTo>
                    <a:pt x="37551" y="1222828"/>
                  </a:lnTo>
                  <a:lnTo>
                    <a:pt x="17277" y="1185463"/>
                  </a:lnTo>
                  <a:lnTo>
                    <a:pt x="4466" y="1144166"/>
                  </a:lnTo>
                  <a:lnTo>
                    <a:pt x="0" y="1099819"/>
                  </a:lnTo>
                  <a:lnTo>
                    <a:pt x="0" y="219963"/>
                  </a:lnTo>
                  <a:close/>
                </a:path>
              </a:pathLst>
            </a:custGeom>
            <a:ln w="25400">
              <a:solidFill>
                <a:srgbClr val="929292"/>
              </a:solidFill>
            </a:ln>
          </p:spPr>
          <p:txBody>
            <a:bodyPr wrap="square" lIns="0" tIns="0" rIns="0" bIns="0" rtlCol="0"/>
            <a:lstStyle/>
            <a:p>
              <a:endParaRPr/>
            </a:p>
          </p:txBody>
        </p:sp>
      </p:grpSp>
      <p:sp>
        <p:nvSpPr>
          <p:cNvPr id="17" name="object 17"/>
          <p:cNvSpPr txBox="1"/>
          <p:nvPr/>
        </p:nvSpPr>
        <p:spPr>
          <a:xfrm>
            <a:off x="8201659" y="2990468"/>
            <a:ext cx="1570990" cy="269240"/>
          </a:xfrm>
          <a:prstGeom prst="rect">
            <a:avLst/>
          </a:prstGeom>
        </p:spPr>
        <p:txBody>
          <a:bodyPr vert="horz" wrap="square" lIns="0" tIns="12065" rIns="0" bIns="0" rtlCol="0">
            <a:spAutoFit/>
          </a:bodyPr>
          <a:lstStyle/>
          <a:p>
            <a:pPr marL="12700">
              <a:lnSpc>
                <a:spcPct val="100000"/>
              </a:lnSpc>
              <a:spcBef>
                <a:spcPts val="95"/>
              </a:spcBef>
            </a:pPr>
            <a:r>
              <a:rPr sz="1600" dirty="0">
                <a:latin typeface="Arial MT"/>
                <a:cs typeface="Arial MT"/>
              </a:rPr>
              <a:t>Decision</a:t>
            </a:r>
            <a:r>
              <a:rPr sz="1600" spc="-25" dirty="0">
                <a:latin typeface="Arial MT"/>
                <a:cs typeface="Arial MT"/>
              </a:rPr>
              <a:t> </a:t>
            </a:r>
            <a:r>
              <a:rPr sz="1600" dirty="0">
                <a:latin typeface="Arial MT"/>
                <a:cs typeface="Arial MT"/>
              </a:rPr>
              <a:t>is</a:t>
            </a:r>
            <a:r>
              <a:rPr sz="1600" spc="-5" dirty="0">
                <a:latin typeface="Arial MT"/>
                <a:cs typeface="Arial MT"/>
              </a:rPr>
              <a:t> </a:t>
            </a:r>
            <a:r>
              <a:rPr sz="1600" spc="-20" dirty="0">
                <a:latin typeface="Arial MT"/>
                <a:cs typeface="Arial MT"/>
              </a:rPr>
              <a:t>Made</a:t>
            </a:r>
            <a:endParaRPr sz="1600">
              <a:latin typeface="Arial MT"/>
              <a:cs typeface="Arial MT"/>
            </a:endParaRPr>
          </a:p>
        </p:txBody>
      </p:sp>
      <p:sp>
        <p:nvSpPr>
          <p:cNvPr id="18" name="object 18"/>
          <p:cNvSpPr/>
          <p:nvPr/>
        </p:nvSpPr>
        <p:spPr>
          <a:xfrm>
            <a:off x="1704594" y="2103882"/>
            <a:ext cx="5832475" cy="2045335"/>
          </a:xfrm>
          <a:custGeom>
            <a:avLst/>
            <a:gdLst/>
            <a:ahLst/>
            <a:cxnLst/>
            <a:rect l="l" t="t" r="r" b="b"/>
            <a:pathLst>
              <a:path w="5832475" h="2045335">
                <a:moveTo>
                  <a:pt x="0" y="2045208"/>
                </a:moveTo>
                <a:lnTo>
                  <a:pt x="5832348" y="2045208"/>
                </a:lnTo>
                <a:lnTo>
                  <a:pt x="5832348" y="0"/>
                </a:lnTo>
                <a:lnTo>
                  <a:pt x="0" y="0"/>
                </a:lnTo>
                <a:lnTo>
                  <a:pt x="0" y="2045208"/>
                </a:lnTo>
                <a:close/>
              </a:path>
            </a:pathLst>
          </a:custGeom>
          <a:ln w="38100">
            <a:solidFill>
              <a:srgbClr val="0070C0"/>
            </a:solidFill>
            <a:prstDash val="sysDash"/>
          </a:ln>
        </p:spPr>
        <p:txBody>
          <a:bodyPr wrap="square" lIns="0" tIns="0" rIns="0" bIns="0" rtlCol="0"/>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bject 19"/>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7</a:t>
            </a:fld>
            <a:endParaRPr spc="-25" dirty="0"/>
          </a:p>
        </p:txBody>
      </p:sp>
      <p:sp>
        <p:nvSpPr>
          <p:cNvPr id="20" name="Subtitle 19">
            <a:extLst>
              <a:ext uri="{FF2B5EF4-FFF2-40B4-BE49-F238E27FC236}">
                <a16:creationId xmlns:a16="http://schemas.microsoft.com/office/drawing/2014/main" id="{88496059-8539-0C8C-B385-5CED02C9EB24}"/>
              </a:ext>
            </a:extLst>
          </p:cNvPr>
          <p:cNvSpPr>
            <a:spLocks noGrp="1"/>
          </p:cNvSpPr>
          <p:nvPr>
            <p:ph type="subTitle" idx="1"/>
          </p:nvPr>
        </p:nvSpPr>
        <p:spPr/>
        <p:txBody>
          <a:bodyPr/>
          <a:lstStyle/>
          <a:p>
            <a:r>
              <a:rPr lang="en-CA" dirty="0"/>
              <a:t>Terminology</a:t>
            </a:r>
          </a:p>
        </p:txBody>
      </p:sp>
      <p:sp>
        <p:nvSpPr>
          <p:cNvPr id="3" name="object 3"/>
          <p:cNvSpPr txBox="1"/>
          <p:nvPr/>
        </p:nvSpPr>
        <p:spPr>
          <a:xfrm>
            <a:off x="480822" y="5488685"/>
            <a:ext cx="10972800" cy="462280"/>
          </a:xfrm>
          <a:prstGeom prst="rect">
            <a:avLst/>
          </a:prstGeom>
          <a:ln w="38100">
            <a:solidFill>
              <a:srgbClr val="0070C0"/>
            </a:solidFill>
          </a:ln>
        </p:spPr>
        <p:txBody>
          <a:bodyPr vert="horz" wrap="square" lIns="0" tIns="38100" rIns="0" bIns="0" rtlCol="0">
            <a:spAutoFit/>
          </a:bodyPr>
          <a:lstStyle/>
          <a:p>
            <a:pPr algn="ctr">
              <a:lnSpc>
                <a:spcPct val="100000"/>
              </a:lnSpc>
              <a:spcBef>
                <a:spcPts val="300"/>
              </a:spcBef>
            </a:pPr>
            <a:r>
              <a:rPr sz="2400" dirty="0">
                <a:latin typeface="Arial MT"/>
                <a:cs typeface="Arial MT"/>
              </a:rPr>
              <a:t>A</a:t>
            </a:r>
            <a:r>
              <a:rPr sz="2400" spc="-160" dirty="0">
                <a:latin typeface="Arial MT"/>
                <a:cs typeface="Arial MT"/>
              </a:rPr>
              <a:t> </a:t>
            </a:r>
            <a:r>
              <a:rPr sz="2400" dirty="0">
                <a:latin typeface="Arial MT"/>
                <a:cs typeface="Arial MT"/>
              </a:rPr>
              <a:t>relevant</a:t>
            </a:r>
            <a:r>
              <a:rPr sz="2400" spc="-15" dirty="0">
                <a:latin typeface="Arial MT"/>
                <a:cs typeface="Arial MT"/>
              </a:rPr>
              <a:t> </a:t>
            </a:r>
            <a:r>
              <a:rPr sz="2400" dirty="0">
                <a:latin typeface="Arial MT"/>
                <a:cs typeface="Arial MT"/>
              </a:rPr>
              <a:t>cost</a:t>
            </a:r>
            <a:r>
              <a:rPr sz="2400" spc="-25" dirty="0">
                <a:latin typeface="Arial MT"/>
                <a:cs typeface="Arial MT"/>
              </a:rPr>
              <a:t> </a:t>
            </a:r>
            <a:r>
              <a:rPr sz="2400" dirty="0">
                <a:latin typeface="Arial MT"/>
                <a:cs typeface="Arial MT"/>
              </a:rPr>
              <a:t>is</a:t>
            </a:r>
            <a:r>
              <a:rPr sz="2400" spc="-20" dirty="0">
                <a:latin typeface="Arial MT"/>
                <a:cs typeface="Arial MT"/>
              </a:rPr>
              <a:t> </a:t>
            </a:r>
            <a:r>
              <a:rPr sz="2400" dirty="0">
                <a:latin typeface="Arial MT"/>
                <a:cs typeface="Arial MT"/>
              </a:rPr>
              <a:t>a</a:t>
            </a:r>
            <a:r>
              <a:rPr sz="2400" spc="-25" dirty="0">
                <a:latin typeface="Arial MT"/>
                <a:cs typeface="Arial MT"/>
              </a:rPr>
              <a:t> </a:t>
            </a:r>
            <a:r>
              <a:rPr sz="2400" dirty="0">
                <a:latin typeface="Arial MT"/>
                <a:cs typeface="Arial MT"/>
              </a:rPr>
              <a:t>cost</a:t>
            </a:r>
            <a:r>
              <a:rPr sz="2400" spc="-25" dirty="0">
                <a:latin typeface="Arial MT"/>
                <a:cs typeface="Arial MT"/>
              </a:rPr>
              <a:t> </a:t>
            </a:r>
            <a:r>
              <a:rPr sz="2400" dirty="0">
                <a:latin typeface="Arial MT"/>
                <a:cs typeface="Arial MT"/>
              </a:rPr>
              <a:t>that</a:t>
            </a:r>
            <a:r>
              <a:rPr sz="2400" spc="-40" dirty="0">
                <a:latin typeface="Arial MT"/>
                <a:cs typeface="Arial MT"/>
              </a:rPr>
              <a:t> </a:t>
            </a:r>
            <a:r>
              <a:rPr sz="2400" b="1" u="sng" dirty="0">
                <a:uFill>
                  <a:solidFill>
                    <a:srgbClr val="000000"/>
                  </a:solidFill>
                </a:uFill>
                <a:latin typeface="Arial"/>
                <a:cs typeface="Arial"/>
              </a:rPr>
              <a:t>differs</a:t>
            </a:r>
            <a:r>
              <a:rPr sz="2400" b="1" u="sng" spc="-25" dirty="0">
                <a:uFill>
                  <a:solidFill>
                    <a:srgbClr val="000000"/>
                  </a:solidFill>
                </a:uFill>
                <a:latin typeface="Arial"/>
                <a:cs typeface="Arial"/>
              </a:rPr>
              <a:t> </a:t>
            </a:r>
            <a:r>
              <a:rPr sz="2400" b="1" u="sng" dirty="0">
                <a:uFill>
                  <a:solidFill>
                    <a:srgbClr val="000000"/>
                  </a:solidFill>
                </a:uFill>
                <a:latin typeface="Arial"/>
                <a:cs typeface="Arial"/>
              </a:rPr>
              <a:t>between</a:t>
            </a:r>
            <a:r>
              <a:rPr sz="2400" b="1" u="sng" spc="-65" dirty="0">
                <a:uFill>
                  <a:solidFill>
                    <a:srgbClr val="000000"/>
                  </a:solidFill>
                </a:uFill>
                <a:latin typeface="Arial"/>
                <a:cs typeface="Arial"/>
              </a:rPr>
              <a:t> </a:t>
            </a:r>
            <a:r>
              <a:rPr sz="2400" b="1" u="sng" spc="-10" dirty="0">
                <a:uFill>
                  <a:solidFill>
                    <a:srgbClr val="000000"/>
                  </a:solidFill>
                </a:uFill>
                <a:latin typeface="Arial"/>
                <a:cs typeface="Arial"/>
              </a:rPr>
              <a:t>alternatives</a:t>
            </a:r>
            <a:r>
              <a:rPr sz="2400" spc="-10" dirty="0">
                <a:latin typeface="Arial MT"/>
                <a:cs typeface="Arial MT"/>
              </a:rPr>
              <a:t>.</a:t>
            </a:r>
            <a:endParaRPr sz="2400">
              <a:latin typeface="Arial MT"/>
              <a:cs typeface="Arial MT"/>
            </a:endParaRPr>
          </a:p>
        </p:txBody>
      </p:sp>
      <p:grpSp>
        <p:nvGrpSpPr>
          <p:cNvPr id="4" name="object 4"/>
          <p:cNvGrpSpPr/>
          <p:nvPr/>
        </p:nvGrpSpPr>
        <p:grpSpPr>
          <a:xfrm>
            <a:off x="9287161" y="1711235"/>
            <a:ext cx="1701164" cy="968375"/>
            <a:chOff x="9287161" y="1711235"/>
            <a:chExt cx="1701164" cy="968375"/>
          </a:xfrm>
        </p:grpSpPr>
        <p:pic>
          <p:nvPicPr>
            <p:cNvPr id="5" name="object 5"/>
            <p:cNvPicPr/>
            <p:nvPr/>
          </p:nvPicPr>
          <p:blipFill>
            <a:blip r:embed="rId2" cstate="print"/>
            <a:stretch>
              <a:fillRect/>
            </a:stretch>
          </p:blipFill>
          <p:spPr>
            <a:xfrm>
              <a:off x="9287161" y="1711235"/>
              <a:ext cx="1701022" cy="962064"/>
            </a:xfrm>
            <a:prstGeom prst="rect">
              <a:avLst/>
            </a:prstGeom>
          </p:spPr>
        </p:pic>
        <p:sp>
          <p:nvSpPr>
            <p:cNvPr id="6" name="object 6"/>
            <p:cNvSpPr/>
            <p:nvPr/>
          </p:nvSpPr>
          <p:spPr>
            <a:xfrm>
              <a:off x="9322308" y="1770887"/>
              <a:ext cx="1638300" cy="904240"/>
            </a:xfrm>
            <a:custGeom>
              <a:avLst/>
              <a:gdLst/>
              <a:ahLst/>
              <a:cxnLst/>
              <a:rect l="l" t="t" r="r" b="b"/>
              <a:pathLst>
                <a:path w="1638300" h="904239">
                  <a:moveTo>
                    <a:pt x="1638300" y="677799"/>
                  </a:moveTo>
                  <a:lnTo>
                    <a:pt x="451866" y="677799"/>
                  </a:lnTo>
                  <a:lnTo>
                    <a:pt x="451866" y="903732"/>
                  </a:lnTo>
                  <a:lnTo>
                    <a:pt x="0" y="451865"/>
                  </a:lnTo>
                  <a:lnTo>
                    <a:pt x="451866" y="0"/>
                  </a:lnTo>
                  <a:lnTo>
                    <a:pt x="451866" y="225933"/>
                  </a:lnTo>
                  <a:lnTo>
                    <a:pt x="1638300" y="225933"/>
                  </a:lnTo>
                  <a:lnTo>
                    <a:pt x="1412367" y="451865"/>
                  </a:lnTo>
                  <a:lnTo>
                    <a:pt x="1638300" y="677799"/>
                  </a:lnTo>
                  <a:close/>
                </a:path>
              </a:pathLst>
            </a:custGeom>
            <a:ln w="9525">
              <a:solidFill>
                <a:srgbClr val="929292"/>
              </a:solidFill>
            </a:ln>
          </p:spPr>
          <p:txBody>
            <a:bodyPr wrap="square" lIns="0" tIns="0" rIns="0" bIns="0" rtlCol="0"/>
            <a:lstStyle/>
            <a:p>
              <a:endParaRPr/>
            </a:p>
          </p:txBody>
        </p:sp>
      </p:grpSp>
      <p:sp>
        <p:nvSpPr>
          <p:cNvPr id="7" name="object 7"/>
          <p:cNvSpPr txBox="1"/>
          <p:nvPr/>
        </p:nvSpPr>
        <p:spPr>
          <a:xfrm>
            <a:off x="3688207" y="1803908"/>
            <a:ext cx="5067300" cy="848994"/>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Arial MT"/>
                <a:cs typeface="Arial MT"/>
              </a:rPr>
              <a:t>Can</a:t>
            </a:r>
            <a:r>
              <a:rPr sz="1800" spc="-25" dirty="0">
                <a:latin typeface="Arial MT"/>
                <a:cs typeface="Arial MT"/>
              </a:rPr>
              <a:t> </a:t>
            </a:r>
            <a:r>
              <a:rPr sz="1800" dirty="0">
                <a:latin typeface="Arial MT"/>
                <a:cs typeface="Arial MT"/>
              </a:rPr>
              <a:t>be</a:t>
            </a:r>
            <a:r>
              <a:rPr sz="1800" spc="-35" dirty="0">
                <a:latin typeface="Arial MT"/>
                <a:cs typeface="Arial MT"/>
              </a:rPr>
              <a:t> </a:t>
            </a:r>
            <a:r>
              <a:rPr sz="1800" dirty="0">
                <a:latin typeface="Arial MT"/>
                <a:cs typeface="Arial MT"/>
              </a:rPr>
              <a:t>eliminated</a:t>
            </a:r>
            <a:r>
              <a:rPr sz="1800" spc="-10" dirty="0">
                <a:latin typeface="Arial MT"/>
                <a:cs typeface="Arial MT"/>
              </a:rPr>
              <a:t> </a:t>
            </a:r>
            <a:r>
              <a:rPr sz="1800" dirty="0">
                <a:latin typeface="Arial MT"/>
                <a:cs typeface="Arial MT"/>
              </a:rPr>
              <a:t>(costs)</a:t>
            </a:r>
            <a:r>
              <a:rPr sz="1800" spc="-25" dirty="0">
                <a:latin typeface="Arial MT"/>
                <a:cs typeface="Arial MT"/>
              </a:rPr>
              <a:t> </a:t>
            </a:r>
            <a:r>
              <a:rPr sz="1800" dirty="0">
                <a:latin typeface="Arial MT"/>
                <a:cs typeface="Arial MT"/>
              </a:rPr>
              <a:t>or</a:t>
            </a:r>
            <a:r>
              <a:rPr sz="1800" spc="-25" dirty="0">
                <a:latin typeface="Arial MT"/>
                <a:cs typeface="Arial MT"/>
              </a:rPr>
              <a:t> </a:t>
            </a:r>
            <a:r>
              <a:rPr sz="1800" dirty="0">
                <a:latin typeface="Arial MT"/>
                <a:cs typeface="Arial MT"/>
              </a:rPr>
              <a:t>received</a:t>
            </a:r>
            <a:r>
              <a:rPr sz="1800" spc="-25" dirty="0">
                <a:latin typeface="Arial MT"/>
                <a:cs typeface="Arial MT"/>
              </a:rPr>
              <a:t> </a:t>
            </a:r>
            <a:r>
              <a:rPr sz="1800" dirty="0">
                <a:latin typeface="Arial MT"/>
                <a:cs typeface="Arial MT"/>
              </a:rPr>
              <a:t>(benefits)</a:t>
            </a:r>
            <a:r>
              <a:rPr sz="1800" spc="-10" dirty="0">
                <a:latin typeface="Arial MT"/>
                <a:cs typeface="Arial MT"/>
              </a:rPr>
              <a:t> </a:t>
            </a:r>
            <a:r>
              <a:rPr sz="1800" spc="-25" dirty="0">
                <a:latin typeface="Arial MT"/>
                <a:cs typeface="Arial MT"/>
              </a:rPr>
              <a:t>in </a:t>
            </a:r>
            <a:r>
              <a:rPr sz="1800" dirty="0">
                <a:latin typeface="Arial MT"/>
                <a:cs typeface="Arial MT"/>
              </a:rPr>
              <a:t>whole</a:t>
            </a:r>
            <a:r>
              <a:rPr sz="1800" spc="-10" dirty="0">
                <a:latin typeface="Arial MT"/>
                <a:cs typeface="Arial MT"/>
              </a:rPr>
              <a:t> </a:t>
            </a:r>
            <a:r>
              <a:rPr sz="1800" dirty="0">
                <a:latin typeface="Arial MT"/>
                <a:cs typeface="Arial MT"/>
              </a:rPr>
              <a:t>or</a:t>
            </a:r>
            <a:r>
              <a:rPr sz="1800" spc="-35"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part</a:t>
            </a:r>
            <a:r>
              <a:rPr sz="1800" spc="-30" dirty="0">
                <a:latin typeface="Arial MT"/>
                <a:cs typeface="Arial MT"/>
              </a:rPr>
              <a:t> </a:t>
            </a:r>
            <a:r>
              <a:rPr sz="1800" dirty="0">
                <a:latin typeface="Arial MT"/>
                <a:cs typeface="Arial MT"/>
              </a:rPr>
              <a:t>by</a:t>
            </a:r>
            <a:r>
              <a:rPr sz="1800" spc="-35" dirty="0">
                <a:latin typeface="Arial MT"/>
                <a:cs typeface="Arial MT"/>
              </a:rPr>
              <a:t> </a:t>
            </a:r>
            <a:r>
              <a:rPr sz="1800" dirty="0">
                <a:latin typeface="Arial MT"/>
                <a:cs typeface="Arial MT"/>
              </a:rPr>
              <a:t>choosing</a:t>
            </a:r>
            <a:r>
              <a:rPr sz="1800" spc="-25" dirty="0">
                <a:latin typeface="Arial MT"/>
                <a:cs typeface="Arial MT"/>
              </a:rPr>
              <a:t> </a:t>
            </a:r>
            <a:r>
              <a:rPr sz="1800" dirty="0">
                <a:latin typeface="Arial MT"/>
                <a:cs typeface="Arial MT"/>
              </a:rPr>
              <a:t>one</a:t>
            </a:r>
            <a:r>
              <a:rPr sz="1800" spc="-30" dirty="0">
                <a:latin typeface="Arial MT"/>
                <a:cs typeface="Arial MT"/>
              </a:rPr>
              <a:t> </a:t>
            </a:r>
            <a:r>
              <a:rPr sz="1800" dirty="0">
                <a:latin typeface="Arial MT"/>
                <a:cs typeface="Arial MT"/>
              </a:rPr>
              <a:t>alternative</a:t>
            </a:r>
            <a:r>
              <a:rPr sz="1800" spc="-30" dirty="0">
                <a:latin typeface="Arial MT"/>
                <a:cs typeface="Arial MT"/>
              </a:rPr>
              <a:t> </a:t>
            </a:r>
            <a:r>
              <a:rPr sz="1800" spc="-20" dirty="0">
                <a:latin typeface="Arial MT"/>
                <a:cs typeface="Arial MT"/>
              </a:rPr>
              <a:t>over </a:t>
            </a:r>
            <a:r>
              <a:rPr sz="1800" spc="-10" dirty="0">
                <a:latin typeface="Arial MT"/>
                <a:cs typeface="Arial MT"/>
              </a:rPr>
              <a:t>another.</a:t>
            </a:r>
            <a:endParaRPr sz="1800">
              <a:latin typeface="Arial MT"/>
              <a:cs typeface="Arial MT"/>
            </a:endParaRPr>
          </a:p>
        </p:txBody>
      </p:sp>
      <p:sp>
        <p:nvSpPr>
          <p:cNvPr id="8" name="object 8"/>
          <p:cNvSpPr txBox="1"/>
          <p:nvPr/>
        </p:nvSpPr>
        <p:spPr>
          <a:xfrm>
            <a:off x="3721353" y="3168141"/>
            <a:ext cx="4699000" cy="57404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Arial MT"/>
                <a:cs typeface="Arial MT"/>
              </a:rPr>
              <a:t>All</a:t>
            </a:r>
            <a:r>
              <a:rPr sz="1800" spc="-30" dirty="0">
                <a:latin typeface="Arial MT"/>
                <a:cs typeface="Arial MT"/>
              </a:rPr>
              <a:t> </a:t>
            </a:r>
            <a:r>
              <a:rPr sz="1800" dirty="0">
                <a:latin typeface="Arial MT"/>
                <a:cs typeface="Arial MT"/>
              </a:rPr>
              <a:t>past</a:t>
            </a:r>
            <a:r>
              <a:rPr sz="1800" spc="-15" dirty="0">
                <a:latin typeface="Arial MT"/>
                <a:cs typeface="Arial MT"/>
              </a:rPr>
              <a:t> </a:t>
            </a:r>
            <a:r>
              <a:rPr sz="1800" dirty="0">
                <a:latin typeface="Arial MT"/>
                <a:cs typeface="Arial MT"/>
              </a:rPr>
              <a:t>costs</a:t>
            </a:r>
            <a:r>
              <a:rPr sz="1800" spc="-20" dirty="0">
                <a:latin typeface="Arial MT"/>
                <a:cs typeface="Arial MT"/>
              </a:rPr>
              <a:t> </a:t>
            </a:r>
            <a:r>
              <a:rPr sz="1800" dirty="0">
                <a:latin typeface="Arial MT"/>
                <a:cs typeface="Arial MT"/>
              </a:rPr>
              <a:t>that</a:t>
            </a:r>
            <a:r>
              <a:rPr sz="1800" spc="-10" dirty="0">
                <a:latin typeface="Arial MT"/>
                <a:cs typeface="Arial MT"/>
              </a:rPr>
              <a:t> </a:t>
            </a:r>
            <a:r>
              <a:rPr sz="1800" b="1" u="sng" dirty="0">
                <a:uFill>
                  <a:solidFill>
                    <a:srgbClr val="000000"/>
                  </a:solidFill>
                </a:uFill>
                <a:latin typeface="Arial"/>
                <a:cs typeface="Arial"/>
              </a:rPr>
              <a:t>cannot</a:t>
            </a:r>
            <a:r>
              <a:rPr sz="1800" b="1" u="sng" spc="-20" dirty="0">
                <a:uFill>
                  <a:solidFill>
                    <a:srgbClr val="000000"/>
                  </a:solidFill>
                </a:uFill>
                <a:latin typeface="Arial"/>
                <a:cs typeface="Arial"/>
              </a:rPr>
              <a:t> </a:t>
            </a:r>
            <a:r>
              <a:rPr sz="1800" b="1" u="sng" dirty="0">
                <a:uFill>
                  <a:solidFill>
                    <a:srgbClr val="000000"/>
                  </a:solidFill>
                </a:uFill>
                <a:latin typeface="Arial"/>
                <a:cs typeface="Arial"/>
              </a:rPr>
              <a:t>be</a:t>
            </a:r>
            <a:r>
              <a:rPr sz="1800" b="1" u="sng" spc="-20" dirty="0">
                <a:uFill>
                  <a:solidFill>
                    <a:srgbClr val="000000"/>
                  </a:solidFill>
                </a:uFill>
                <a:latin typeface="Arial"/>
                <a:cs typeface="Arial"/>
              </a:rPr>
              <a:t> </a:t>
            </a:r>
            <a:r>
              <a:rPr sz="1800" b="1" u="sng" dirty="0">
                <a:uFill>
                  <a:solidFill>
                    <a:srgbClr val="000000"/>
                  </a:solidFill>
                </a:uFill>
                <a:latin typeface="Arial"/>
                <a:cs typeface="Arial"/>
              </a:rPr>
              <a:t>changed</a:t>
            </a:r>
            <a:r>
              <a:rPr sz="1800" b="1" u="sng" spc="-30" dirty="0">
                <a:uFill>
                  <a:solidFill>
                    <a:srgbClr val="000000"/>
                  </a:solidFill>
                </a:uFill>
                <a:latin typeface="Arial"/>
                <a:cs typeface="Arial"/>
              </a:rPr>
              <a:t> </a:t>
            </a:r>
            <a:r>
              <a:rPr sz="1800" dirty="0">
                <a:latin typeface="Arial MT"/>
                <a:cs typeface="Arial MT"/>
              </a:rPr>
              <a:t>by</a:t>
            </a:r>
            <a:r>
              <a:rPr sz="1800" spc="-25" dirty="0">
                <a:latin typeface="Arial MT"/>
                <a:cs typeface="Arial MT"/>
              </a:rPr>
              <a:t> any </a:t>
            </a:r>
            <a:r>
              <a:rPr sz="1800" dirty="0">
                <a:latin typeface="Arial MT"/>
                <a:cs typeface="Arial MT"/>
              </a:rPr>
              <a:t>decision</a:t>
            </a:r>
            <a:r>
              <a:rPr sz="1800" spc="-5" dirty="0">
                <a:latin typeface="Arial MT"/>
                <a:cs typeface="Arial MT"/>
              </a:rPr>
              <a:t> </a:t>
            </a:r>
            <a:r>
              <a:rPr sz="1800" dirty="0">
                <a:latin typeface="Arial MT"/>
                <a:cs typeface="Arial MT"/>
              </a:rPr>
              <a:t>made</a:t>
            </a:r>
            <a:r>
              <a:rPr sz="1800" spc="-20" dirty="0">
                <a:latin typeface="Arial MT"/>
                <a:cs typeface="Arial MT"/>
              </a:rPr>
              <a:t> </a:t>
            </a:r>
            <a:r>
              <a:rPr sz="1800" dirty="0">
                <a:latin typeface="Arial MT"/>
                <a:cs typeface="Arial MT"/>
              </a:rPr>
              <a:t>now</a:t>
            </a:r>
            <a:r>
              <a:rPr sz="1800" spc="-15" dirty="0">
                <a:latin typeface="Arial MT"/>
                <a:cs typeface="Arial MT"/>
              </a:rPr>
              <a:t> </a:t>
            </a:r>
            <a:r>
              <a:rPr sz="1800" dirty="0">
                <a:latin typeface="Arial MT"/>
                <a:cs typeface="Arial MT"/>
              </a:rPr>
              <a:t>or</a:t>
            </a:r>
            <a:r>
              <a:rPr sz="1800" spc="-15"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the</a:t>
            </a:r>
            <a:r>
              <a:rPr sz="1800" spc="-30" dirty="0">
                <a:latin typeface="Arial MT"/>
                <a:cs typeface="Arial MT"/>
              </a:rPr>
              <a:t> </a:t>
            </a:r>
            <a:r>
              <a:rPr sz="1800" spc="-10" dirty="0">
                <a:latin typeface="Arial MT"/>
                <a:cs typeface="Arial MT"/>
              </a:rPr>
              <a:t>future.</a:t>
            </a:r>
            <a:endParaRPr sz="1800">
              <a:latin typeface="Arial MT"/>
              <a:cs typeface="Arial MT"/>
            </a:endParaRPr>
          </a:p>
        </p:txBody>
      </p:sp>
      <p:sp>
        <p:nvSpPr>
          <p:cNvPr id="9" name="object 9"/>
          <p:cNvSpPr txBox="1"/>
          <p:nvPr/>
        </p:nvSpPr>
        <p:spPr>
          <a:xfrm>
            <a:off x="3721353" y="4413250"/>
            <a:ext cx="4434205" cy="57404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Future</a:t>
            </a:r>
            <a:r>
              <a:rPr sz="1800" spc="-40" dirty="0">
                <a:latin typeface="Arial MT"/>
                <a:cs typeface="Arial MT"/>
              </a:rPr>
              <a:t> </a:t>
            </a:r>
            <a:r>
              <a:rPr sz="1800" dirty="0">
                <a:latin typeface="Arial MT"/>
                <a:cs typeface="Arial MT"/>
              </a:rPr>
              <a:t>costs</a:t>
            </a:r>
            <a:r>
              <a:rPr sz="1800" spc="-20" dirty="0">
                <a:latin typeface="Arial MT"/>
                <a:cs typeface="Arial MT"/>
              </a:rPr>
              <a:t> </a:t>
            </a:r>
            <a:r>
              <a:rPr sz="1800" dirty="0">
                <a:latin typeface="Arial MT"/>
                <a:cs typeface="Arial MT"/>
              </a:rPr>
              <a:t>and</a:t>
            </a:r>
            <a:r>
              <a:rPr sz="1800" spc="-20" dirty="0">
                <a:latin typeface="Arial MT"/>
                <a:cs typeface="Arial MT"/>
              </a:rPr>
              <a:t> </a:t>
            </a:r>
            <a:r>
              <a:rPr sz="1800" dirty="0">
                <a:latin typeface="Arial MT"/>
                <a:cs typeface="Arial MT"/>
              </a:rPr>
              <a:t>benefits</a:t>
            </a:r>
            <a:r>
              <a:rPr sz="1800" spc="-5" dirty="0">
                <a:latin typeface="Arial MT"/>
                <a:cs typeface="Arial MT"/>
              </a:rPr>
              <a:t> </a:t>
            </a:r>
            <a:r>
              <a:rPr sz="1800" dirty="0">
                <a:latin typeface="Arial MT"/>
                <a:cs typeface="Arial MT"/>
              </a:rPr>
              <a:t>that</a:t>
            </a:r>
            <a:r>
              <a:rPr sz="1800" spc="-5" dirty="0">
                <a:latin typeface="Arial MT"/>
                <a:cs typeface="Arial MT"/>
              </a:rPr>
              <a:t> </a:t>
            </a:r>
            <a:r>
              <a:rPr sz="1800" b="1" u="sng" dirty="0">
                <a:uFill>
                  <a:solidFill>
                    <a:srgbClr val="000000"/>
                  </a:solidFill>
                </a:uFill>
                <a:latin typeface="Arial"/>
                <a:cs typeface="Arial"/>
              </a:rPr>
              <a:t>do</a:t>
            </a:r>
            <a:r>
              <a:rPr sz="1800" b="1" u="sng" spc="-25" dirty="0">
                <a:uFill>
                  <a:solidFill>
                    <a:srgbClr val="000000"/>
                  </a:solidFill>
                </a:uFill>
                <a:latin typeface="Arial"/>
                <a:cs typeface="Arial"/>
              </a:rPr>
              <a:t> </a:t>
            </a:r>
            <a:r>
              <a:rPr sz="1800" b="1" u="sng" dirty="0">
                <a:uFill>
                  <a:solidFill>
                    <a:srgbClr val="000000"/>
                  </a:solidFill>
                </a:uFill>
                <a:latin typeface="Arial"/>
                <a:cs typeface="Arial"/>
              </a:rPr>
              <a:t>not</a:t>
            </a:r>
            <a:r>
              <a:rPr sz="1800" b="1" u="sng" spc="-25" dirty="0">
                <a:uFill>
                  <a:solidFill>
                    <a:srgbClr val="000000"/>
                  </a:solidFill>
                </a:uFill>
                <a:latin typeface="Arial"/>
                <a:cs typeface="Arial"/>
              </a:rPr>
              <a:t> </a:t>
            </a:r>
            <a:r>
              <a:rPr sz="1800" b="1" u="sng" spc="-10" dirty="0">
                <a:uFill>
                  <a:solidFill>
                    <a:srgbClr val="000000"/>
                  </a:solidFill>
                </a:uFill>
                <a:latin typeface="Arial"/>
                <a:cs typeface="Arial"/>
              </a:rPr>
              <a:t>differ</a:t>
            </a:r>
            <a:endParaRPr sz="1800" dirty="0">
              <a:latin typeface="Arial"/>
              <a:cs typeface="Arial"/>
            </a:endParaRPr>
          </a:p>
          <a:p>
            <a:pPr marL="12700">
              <a:lnSpc>
                <a:spcPct val="100000"/>
              </a:lnSpc>
            </a:pPr>
            <a:r>
              <a:rPr sz="1800" dirty="0">
                <a:latin typeface="Arial MT"/>
                <a:cs typeface="Arial MT"/>
              </a:rPr>
              <a:t>between</a:t>
            </a:r>
            <a:r>
              <a:rPr sz="1800" spc="-30" dirty="0">
                <a:latin typeface="Arial MT"/>
                <a:cs typeface="Arial MT"/>
              </a:rPr>
              <a:t> </a:t>
            </a:r>
            <a:r>
              <a:rPr sz="1800" spc="-10" dirty="0">
                <a:latin typeface="Arial MT"/>
                <a:cs typeface="Arial MT"/>
              </a:rPr>
              <a:t>alternatives.</a:t>
            </a:r>
            <a:endParaRPr sz="1800" dirty="0">
              <a:latin typeface="Arial MT"/>
              <a:cs typeface="Arial MT"/>
            </a:endParaRPr>
          </a:p>
        </p:txBody>
      </p:sp>
      <p:sp>
        <p:nvSpPr>
          <p:cNvPr id="10" name="object 10"/>
          <p:cNvSpPr/>
          <p:nvPr/>
        </p:nvSpPr>
        <p:spPr>
          <a:xfrm>
            <a:off x="1068706" y="1721232"/>
            <a:ext cx="2304415" cy="1009015"/>
          </a:xfrm>
          <a:custGeom>
            <a:avLst/>
            <a:gdLst/>
            <a:ahLst/>
            <a:cxnLst/>
            <a:rect l="l" t="t" r="r" b="b"/>
            <a:pathLst>
              <a:path w="2304415" h="1009014">
                <a:moveTo>
                  <a:pt x="0" y="168147"/>
                </a:moveTo>
                <a:lnTo>
                  <a:pt x="6006" y="123457"/>
                </a:lnTo>
                <a:lnTo>
                  <a:pt x="22957" y="83293"/>
                </a:lnTo>
                <a:lnTo>
                  <a:pt x="49250" y="49260"/>
                </a:lnTo>
                <a:lnTo>
                  <a:pt x="83281" y="22963"/>
                </a:lnTo>
                <a:lnTo>
                  <a:pt x="123448" y="6008"/>
                </a:lnTo>
                <a:lnTo>
                  <a:pt x="168148" y="0"/>
                </a:lnTo>
                <a:lnTo>
                  <a:pt x="2136140" y="0"/>
                </a:lnTo>
                <a:lnTo>
                  <a:pt x="2180830" y="6008"/>
                </a:lnTo>
                <a:lnTo>
                  <a:pt x="2220994" y="22963"/>
                </a:lnTo>
                <a:lnTo>
                  <a:pt x="2255027" y="49260"/>
                </a:lnTo>
                <a:lnTo>
                  <a:pt x="2281324" y="83293"/>
                </a:lnTo>
                <a:lnTo>
                  <a:pt x="2298279" y="123457"/>
                </a:lnTo>
                <a:lnTo>
                  <a:pt x="2304288" y="168147"/>
                </a:lnTo>
                <a:lnTo>
                  <a:pt x="2304288" y="840739"/>
                </a:lnTo>
                <a:lnTo>
                  <a:pt x="2298279" y="885430"/>
                </a:lnTo>
                <a:lnTo>
                  <a:pt x="2281324" y="925594"/>
                </a:lnTo>
                <a:lnTo>
                  <a:pt x="2255027" y="959627"/>
                </a:lnTo>
                <a:lnTo>
                  <a:pt x="2220994" y="985924"/>
                </a:lnTo>
                <a:lnTo>
                  <a:pt x="2180830" y="1002879"/>
                </a:lnTo>
                <a:lnTo>
                  <a:pt x="2136140" y="1008888"/>
                </a:lnTo>
                <a:lnTo>
                  <a:pt x="168148" y="1008888"/>
                </a:lnTo>
                <a:lnTo>
                  <a:pt x="123448" y="1002879"/>
                </a:lnTo>
                <a:lnTo>
                  <a:pt x="83281" y="985924"/>
                </a:lnTo>
                <a:lnTo>
                  <a:pt x="49250" y="959627"/>
                </a:lnTo>
                <a:lnTo>
                  <a:pt x="22957" y="925594"/>
                </a:lnTo>
                <a:lnTo>
                  <a:pt x="6006" y="885430"/>
                </a:lnTo>
                <a:lnTo>
                  <a:pt x="0" y="840739"/>
                </a:lnTo>
                <a:lnTo>
                  <a:pt x="0" y="168147"/>
                </a:lnTo>
                <a:close/>
              </a:path>
            </a:pathLst>
          </a:custGeom>
          <a:ln w="28574">
            <a:solidFill>
              <a:srgbClr val="ED037C"/>
            </a:solidFill>
          </a:ln>
        </p:spPr>
        <p:txBody>
          <a:bodyPr wrap="square" lIns="0" tIns="0" rIns="0" bIns="0" rtlCol="0"/>
          <a:lstStyle/>
          <a:p>
            <a:endParaRPr/>
          </a:p>
        </p:txBody>
      </p:sp>
      <p:sp>
        <p:nvSpPr>
          <p:cNvPr id="11" name="object 11"/>
          <p:cNvSpPr txBox="1"/>
          <p:nvPr/>
        </p:nvSpPr>
        <p:spPr>
          <a:xfrm>
            <a:off x="1202842" y="1797811"/>
            <a:ext cx="1998980" cy="848360"/>
          </a:xfrm>
          <a:prstGeom prst="rect">
            <a:avLst/>
          </a:prstGeom>
        </p:spPr>
        <p:txBody>
          <a:bodyPr vert="horz" wrap="square" lIns="0" tIns="12700" rIns="0" bIns="0" rtlCol="0">
            <a:spAutoFit/>
          </a:bodyPr>
          <a:lstStyle/>
          <a:p>
            <a:pPr marL="12065" marR="5080" indent="-635" algn="ctr">
              <a:lnSpc>
                <a:spcPct val="100000"/>
              </a:lnSpc>
              <a:spcBef>
                <a:spcPts val="100"/>
              </a:spcBef>
            </a:pPr>
            <a:r>
              <a:rPr sz="1800" spc="-10" dirty="0">
                <a:latin typeface="Arial MT"/>
                <a:cs typeface="Arial MT"/>
              </a:rPr>
              <a:t>AVOIDABLE</a:t>
            </a:r>
            <a:r>
              <a:rPr sz="1800" spc="-60" dirty="0">
                <a:latin typeface="Arial MT"/>
                <a:cs typeface="Arial MT"/>
              </a:rPr>
              <a:t> </a:t>
            </a:r>
            <a:r>
              <a:rPr sz="1800" spc="-50" dirty="0">
                <a:latin typeface="Arial MT"/>
                <a:cs typeface="Arial MT"/>
              </a:rPr>
              <a:t>/ </a:t>
            </a:r>
            <a:r>
              <a:rPr sz="1800" spc="-10" dirty="0">
                <a:latin typeface="Arial MT"/>
                <a:cs typeface="Arial MT"/>
              </a:rPr>
              <a:t>DIFFERENTIAL COSTS/BENEFITS</a:t>
            </a:r>
            <a:endParaRPr sz="1800">
              <a:latin typeface="Arial MT"/>
              <a:cs typeface="Arial MT"/>
            </a:endParaRPr>
          </a:p>
        </p:txBody>
      </p:sp>
      <p:sp>
        <p:nvSpPr>
          <p:cNvPr id="12" name="object 12"/>
          <p:cNvSpPr/>
          <p:nvPr/>
        </p:nvSpPr>
        <p:spPr>
          <a:xfrm>
            <a:off x="1050797" y="3018282"/>
            <a:ext cx="2304415" cy="935990"/>
          </a:xfrm>
          <a:custGeom>
            <a:avLst/>
            <a:gdLst/>
            <a:ahLst/>
            <a:cxnLst/>
            <a:rect l="l" t="t" r="r" b="b"/>
            <a:pathLst>
              <a:path w="2304415" h="935989">
                <a:moveTo>
                  <a:pt x="0" y="155955"/>
                </a:moveTo>
                <a:lnTo>
                  <a:pt x="7950" y="106671"/>
                </a:lnTo>
                <a:lnTo>
                  <a:pt x="30090" y="63861"/>
                </a:lnTo>
                <a:lnTo>
                  <a:pt x="63850" y="30097"/>
                </a:lnTo>
                <a:lnTo>
                  <a:pt x="106662" y="7953"/>
                </a:lnTo>
                <a:lnTo>
                  <a:pt x="155956" y="0"/>
                </a:lnTo>
                <a:lnTo>
                  <a:pt x="2148332" y="0"/>
                </a:lnTo>
                <a:lnTo>
                  <a:pt x="2197616" y="7953"/>
                </a:lnTo>
                <a:lnTo>
                  <a:pt x="2240426" y="30097"/>
                </a:lnTo>
                <a:lnTo>
                  <a:pt x="2274190" y="63861"/>
                </a:lnTo>
                <a:lnTo>
                  <a:pt x="2296334" y="106671"/>
                </a:lnTo>
                <a:lnTo>
                  <a:pt x="2304288" y="155955"/>
                </a:lnTo>
                <a:lnTo>
                  <a:pt x="2304288" y="779779"/>
                </a:lnTo>
                <a:lnTo>
                  <a:pt x="2296334" y="829064"/>
                </a:lnTo>
                <a:lnTo>
                  <a:pt x="2274190" y="871874"/>
                </a:lnTo>
                <a:lnTo>
                  <a:pt x="2240426" y="905638"/>
                </a:lnTo>
                <a:lnTo>
                  <a:pt x="2197616" y="927782"/>
                </a:lnTo>
                <a:lnTo>
                  <a:pt x="2148332" y="935735"/>
                </a:lnTo>
                <a:lnTo>
                  <a:pt x="155956" y="935735"/>
                </a:lnTo>
                <a:lnTo>
                  <a:pt x="106662" y="927782"/>
                </a:lnTo>
                <a:lnTo>
                  <a:pt x="63850" y="905638"/>
                </a:lnTo>
                <a:lnTo>
                  <a:pt x="30090" y="871874"/>
                </a:lnTo>
                <a:lnTo>
                  <a:pt x="7950" y="829064"/>
                </a:lnTo>
                <a:lnTo>
                  <a:pt x="0" y="779779"/>
                </a:lnTo>
                <a:lnTo>
                  <a:pt x="0" y="155955"/>
                </a:lnTo>
                <a:close/>
              </a:path>
            </a:pathLst>
          </a:custGeom>
          <a:ln w="28575">
            <a:solidFill>
              <a:srgbClr val="ED037C"/>
            </a:solidFill>
          </a:ln>
        </p:spPr>
        <p:txBody>
          <a:bodyPr wrap="square" lIns="0" tIns="0" rIns="0" bIns="0" rtlCol="0"/>
          <a:lstStyle/>
          <a:p>
            <a:endParaRPr/>
          </a:p>
        </p:txBody>
      </p:sp>
      <p:sp>
        <p:nvSpPr>
          <p:cNvPr id="13" name="object 13"/>
          <p:cNvSpPr txBox="1"/>
          <p:nvPr/>
        </p:nvSpPr>
        <p:spPr>
          <a:xfrm>
            <a:off x="1793875" y="3192907"/>
            <a:ext cx="815975" cy="574675"/>
          </a:xfrm>
          <a:prstGeom prst="rect">
            <a:avLst/>
          </a:prstGeom>
        </p:spPr>
        <p:txBody>
          <a:bodyPr vert="horz" wrap="square" lIns="0" tIns="12700" rIns="0" bIns="0" rtlCol="0">
            <a:spAutoFit/>
          </a:bodyPr>
          <a:lstStyle/>
          <a:p>
            <a:pPr marL="90170">
              <a:lnSpc>
                <a:spcPct val="100000"/>
              </a:lnSpc>
              <a:spcBef>
                <a:spcPts val="100"/>
              </a:spcBef>
            </a:pPr>
            <a:r>
              <a:rPr sz="1800" spc="-20" dirty="0">
                <a:latin typeface="Arial MT"/>
                <a:cs typeface="Arial MT"/>
              </a:rPr>
              <a:t>SUNK</a:t>
            </a:r>
            <a:endParaRPr sz="1800">
              <a:latin typeface="Arial MT"/>
              <a:cs typeface="Arial MT"/>
            </a:endParaRPr>
          </a:p>
          <a:p>
            <a:pPr marL="12700">
              <a:lnSpc>
                <a:spcPct val="100000"/>
              </a:lnSpc>
            </a:pPr>
            <a:r>
              <a:rPr sz="1800" spc="-10" dirty="0">
                <a:latin typeface="Arial MT"/>
                <a:cs typeface="Arial MT"/>
              </a:rPr>
              <a:t>COSTS</a:t>
            </a:r>
            <a:endParaRPr sz="1800">
              <a:latin typeface="Arial MT"/>
              <a:cs typeface="Arial MT"/>
            </a:endParaRPr>
          </a:p>
        </p:txBody>
      </p:sp>
      <p:sp>
        <p:nvSpPr>
          <p:cNvPr id="14" name="object 14"/>
          <p:cNvSpPr/>
          <p:nvPr/>
        </p:nvSpPr>
        <p:spPr>
          <a:xfrm>
            <a:off x="1050797" y="4263390"/>
            <a:ext cx="2296795" cy="937260"/>
          </a:xfrm>
          <a:custGeom>
            <a:avLst/>
            <a:gdLst/>
            <a:ahLst/>
            <a:cxnLst/>
            <a:rect l="l" t="t" r="r" b="b"/>
            <a:pathLst>
              <a:path w="2296795" h="937260">
                <a:moveTo>
                  <a:pt x="0" y="156210"/>
                </a:moveTo>
                <a:lnTo>
                  <a:pt x="7963" y="106850"/>
                </a:lnTo>
                <a:lnTo>
                  <a:pt x="30139" y="63971"/>
                </a:lnTo>
                <a:lnTo>
                  <a:pt x="63954" y="30150"/>
                </a:lnTo>
                <a:lnTo>
                  <a:pt x="106836" y="7967"/>
                </a:lnTo>
                <a:lnTo>
                  <a:pt x="156210" y="0"/>
                </a:lnTo>
                <a:lnTo>
                  <a:pt x="2140458" y="0"/>
                </a:lnTo>
                <a:lnTo>
                  <a:pt x="2189817" y="7967"/>
                </a:lnTo>
                <a:lnTo>
                  <a:pt x="2232696" y="30150"/>
                </a:lnTo>
                <a:lnTo>
                  <a:pt x="2266517" y="63971"/>
                </a:lnTo>
                <a:lnTo>
                  <a:pt x="2288700" y="106850"/>
                </a:lnTo>
                <a:lnTo>
                  <a:pt x="2296667" y="156210"/>
                </a:lnTo>
                <a:lnTo>
                  <a:pt x="2296667" y="781050"/>
                </a:lnTo>
                <a:lnTo>
                  <a:pt x="2288700" y="830409"/>
                </a:lnTo>
                <a:lnTo>
                  <a:pt x="2266517" y="873288"/>
                </a:lnTo>
                <a:lnTo>
                  <a:pt x="2232696" y="907109"/>
                </a:lnTo>
                <a:lnTo>
                  <a:pt x="2189817" y="929292"/>
                </a:lnTo>
                <a:lnTo>
                  <a:pt x="2140458" y="937260"/>
                </a:lnTo>
                <a:lnTo>
                  <a:pt x="156210" y="937260"/>
                </a:lnTo>
                <a:lnTo>
                  <a:pt x="106836" y="929292"/>
                </a:lnTo>
                <a:lnTo>
                  <a:pt x="63954" y="907109"/>
                </a:lnTo>
                <a:lnTo>
                  <a:pt x="30139" y="873288"/>
                </a:lnTo>
                <a:lnTo>
                  <a:pt x="7963" y="830409"/>
                </a:lnTo>
                <a:lnTo>
                  <a:pt x="0" y="781050"/>
                </a:lnTo>
                <a:lnTo>
                  <a:pt x="0" y="156210"/>
                </a:lnTo>
                <a:close/>
              </a:path>
            </a:pathLst>
          </a:custGeom>
          <a:ln w="28575">
            <a:solidFill>
              <a:srgbClr val="ED037C"/>
            </a:solidFill>
          </a:ln>
        </p:spPr>
        <p:txBody>
          <a:bodyPr wrap="square" lIns="0" tIns="0" rIns="0" bIns="0" rtlCol="0"/>
          <a:lstStyle/>
          <a:p>
            <a:endParaRPr/>
          </a:p>
        </p:txBody>
      </p:sp>
      <p:sp>
        <p:nvSpPr>
          <p:cNvPr id="15" name="object 15"/>
          <p:cNvSpPr txBox="1"/>
          <p:nvPr/>
        </p:nvSpPr>
        <p:spPr>
          <a:xfrm>
            <a:off x="1254353" y="4301744"/>
            <a:ext cx="1889760" cy="848994"/>
          </a:xfrm>
          <a:prstGeom prst="rect">
            <a:avLst/>
          </a:prstGeom>
        </p:spPr>
        <p:txBody>
          <a:bodyPr vert="horz" wrap="square" lIns="0" tIns="12700" rIns="0" bIns="0" rtlCol="0">
            <a:spAutoFit/>
          </a:bodyPr>
          <a:lstStyle/>
          <a:p>
            <a:pPr marL="12700" marR="5080" algn="ctr">
              <a:lnSpc>
                <a:spcPct val="100000"/>
              </a:lnSpc>
              <a:spcBef>
                <a:spcPts val="100"/>
              </a:spcBef>
            </a:pPr>
            <a:r>
              <a:rPr sz="1800" spc="-20" dirty="0">
                <a:latin typeface="Arial MT"/>
                <a:cs typeface="Arial MT"/>
              </a:rPr>
              <a:t>NON-AVOIDABLE </a:t>
            </a:r>
            <a:r>
              <a:rPr sz="1800" spc="-10" dirty="0">
                <a:latin typeface="Arial MT"/>
                <a:cs typeface="Arial MT"/>
              </a:rPr>
              <a:t>COSTS</a:t>
            </a:r>
            <a:endParaRPr sz="1800">
              <a:latin typeface="Arial MT"/>
              <a:cs typeface="Arial MT"/>
            </a:endParaRPr>
          </a:p>
          <a:p>
            <a:pPr algn="ctr">
              <a:lnSpc>
                <a:spcPct val="100000"/>
              </a:lnSpc>
            </a:pPr>
            <a:r>
              <a:rPr sz="1800" spc="-10" dirty="0">
                <a:latin typeface="Arial MT"/>
                <a:cs typeface="Arial MT"/>
              </a:rPr>
              <a:t>/BENEFITS</a:t>
            </a:r>
            <a:endParaRPr sz="1800">
              <a:latin typeface="Arial MT"/>
              <a:cs typeface="Arial MT"/>
            </a:endParaRPr>
          </a:p>
        </p:txBody>
      </p:sp>
      <p:sp>
        <p:nvSpPr>
          <p:cNvPr id="16" name="object 16"/>
          <p:cNvSpPr txBox="1"/>
          <p:nvPr/>
        </p:nvSpPr>
        <p:spPr>
          <a:xfrm>
            <a:off x="9519284" y="2065782"/>
            <a:ext cx="121412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MT"/>
                <a:cs typeface="Arial MT"/>
              </a:rPr>
              <a:t>RELEVANT</a:t>
            </a:r>
            <a:endParaRPr sz="1800">
              <a:latin typeface="Arial MT"/>
              <a:cs typeface="Arial MT"/>
            </a:endParaRPr>
          </a:p>
        </p:txBody>
      </p:sp>
      <p:sp>
        <p:nvSpPr>
          <p:cNvPr id="17" name="object 17"/>
          <p:cNvSpPr/>
          <p:nvPr/>
        </p:nvSpPr>
        <p:spPr>
          <a:xfrm>
            <a:off x="834389" y="1584197"/>
            <a:ext cx="10441305" cy="1271270"/>
          </a:xfrm>
          <a:custGeom>
            <a:avLst/>
            <a:gdLst/>
            <a:ahLst/>
            <a:cxnLst/>
            <a:rect l="l" t="t" r="r" b="b"/>
            <a:pathLst>
              <a:path w="10441305" h="1271270">
                <a:moveTo>
                  <a:pt x="0" y="1271015"/>
                </a:moveTo>
                <a:lnTo>
                  <a:pt x="10440924" y="1271015"/>
                </a:lnTo>
                <a:lnTo>
                  <a:pt x="10440924" y="0"/>
                </a:lnTo>
                <a:lnTo>
                  <a:pt x="0" y="0"/>
                </a:lnTo>
                <a:lnTo>
                  <a:pt x="0" y="1271015"/>
                </a:lnTo>
                <a:close/>
              </a:path>
            </a:pathLst>
          </a:custGeom>
          <a:ln w="25400">
            <a:solidFill>
              <a:srgbClr val="0070C0"/>
            </a:solidFill>
          </a:ln>
        </p:spPr>
        <p:txBody>
          <a:bodyPr wrap="square" lIns="0" tIns="0" rIns="0" bIns="0" rtlCol="0"/>
          <a:lstStyle/>
          <a:p>
            <a:endParaRPr/>
          </a:p>
        </p:txBody>
      </p:sp>
      <p:sp>
        <p:nvSpPr>
          <p:cNvPr id="18" name="object 18"/>
          <p:cNvSpPr txBox="1"/>
          <p:nvPr/>
        </p:nvSpPr>
        <p:spPr>
          <a:xfrm>
            <a:off x="8544306" y="3617214"/>
            <a:ext cx="2816860" cy="769620"/>
          </a:xfrm>
          <a:prstGeom prst="rect">
            <a:avLst/>
          </a:prstGeom>
          <a:ln w="38100">
            <a:solidFill>
              <a:srgbClr val="0070C0"/>
            </a:solidFill>
          </a:ln>
        </p:spPr>
        <p:txBody>
          <a:bodyPr vert="horz" wrap="square" lIns="0" tIns="36830" rIns="0" bIns="0" rtlCol="0">
            <a:spAutoFit/>
          </a:bodyPr>
          <a:lstStyle/>
          <a:p>
            <a:pPr marL="431165">
              <a:lnSpc>
                <a:spcPct val="100000"/>
              </a:lnSpc>
              <a:spcBef>
                <a:spcPts val="290"/>
              </a:spcBef>
            </a:pPr>
            <a:r>
              <a:rPr sz="2200" dirty="0">
                <a:latin typeface="Arial MT"/>
                <a:cs typeface="Arial MT"/>
              </a:rPr>
              <a:t>Are</a:t>
            </a:r>
            <a:r>
              <a:rPr sz="2200" spc="-50" dirty="0">
                <a:latin typeface="Arial MT"/>
                <a:cs typeface="Arial MT"/>
              </a:rPr>
              <a:t> </a:t>
            </a:r>
            <a:r>
              <a:rPr sz="2200" spc="-10" dirty="0">
                <a:latin typeface="Arial MT"/>
                <a:cs typeface="Arial MT"/>
              </a:rPr>
              <a:t>Opportunity</a:t>
            </a:r>
            <a:endParaRPr sz="2200">
              <a:latin typeface="Arial MT"/>
              <a:cs typeface="Arial MT"/>
            </a:endParaRPr>
          </a:p>
          <a:p>
            <a:pPr marL="437515">
              <a:lnSpc>
                <a:spcPct val="100000"/>
              </a:lnSpc>
            </a:pPr>
            <a:r>
              <a:rPr sz="2200" dirty="0">
                <a:latin typeface="Arial MT"/>
                <a:cs typeface="Arial MT"/>
              </a:rPr>
              <a:t>Costs</a:t>
            </a:r>
            <a:r>
              <a:rPr sz="2200" spc="-55" dirty="0">
                <a:latin typeface="Arial MT"/>
                <a:cs typeface="Arial MT"/>
              </a:rPr>
              <a:t> </a:t>
            </a:r>
            <a:r>
              <a:rPr sz="2200" spc="-10" dirty="0">
                <a:latin typeface="Arial MT"/>
                <a:cs typeface="Arial MT"/>
              </a:rPr>
              <a:t>relevant?</a:t>
            </a:r>
            <a:endParaRPr sz="220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6547" y="523790"/>
            <a:ext cx="10801350" cy="4843634"/>
          </a:xfrm>
          <a:prstGeom prst="rect">
            <a:avLst/>
          </a:prstGeom>
        </p:spPr>
        <p:txBody>
          <a:bodyPr vert="horz" wrap="square" lIns="0" tIns="138430" rIns="0" bIns="0" rtlCol="0">
            <a:spAutoFit/>
          </a:bodyPr>
          <a:lstStyle/>
          <a:p>
            <a:pPr marL="12700">
              <a:lnSpc>
                <a:spcPct val="100000"/>
              </a:lnSpc>
              <a:spcBef>
                <a:spcPts val="1090"/>
              </a:spcBef>
            </a:pPr>
            <a:r>
              <a:rPr sz="2400" spc="-110" dirty="0">
                <a:latin typeface="Arial" panose="020B0604020202020204" pitchFamily="34" charset="0"/>
                <a:cs typeface="Arial" panose="020B0604020202020204" pitchFamily="34" charset="0"/>
              </a:rPr>
              <a:t>To</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affect</a:t>
            </a:r>
            <a:r>
              <a:rPr sz="2400" spc="-5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a:t>
            </a:r>
            <a:r>
              <a:rPr sz="2400" spc="-2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decision</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a:t>
            </a:r>
            <a:r>
              <a:rPr sz="2400" spc="-2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cost/benefit</a:t>
            </a:r>
            <a:r>
              <a:rPr sz="2400" spc="-5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must</a:t>
            </a:r>
            <a:r>
              <a:rPr sz="2400" spc="-55" dirty="0">
                <a:latin typeface="Arial" panose="020B0604020202020204" pitchFamily="34" charset="0"/>
                <a:cs typeface="Arial" panose="020B0604020202020204" pitchFamily="34" charset="0"/>
              </a:rPr>
              <a:t> </a:t>
            </a:r>
            <a:r>
              <a:rPr sz="2400" spc="-25" dirty="0">
                <a:latin typeface="Arial" panose="020B0604020202020204" pitchFamily="34" charset="0"/>
                <a:cs typeface="Arial" panose="020B0604020202020204" pitchFamily="34" charset="0"/>
              </a:rPr>
              <a:t>be:</a:t>
            </a:r>
            <a:endParaRPr sz="2400" dirty="0">
              <a:latin typeface="Arial" panose="020B0604020202020204" pitchFamily="34" charset="0"/>
              <a:cs typeface="Arial" panose="020B0604020202020204" pitchFamily="34" charset="0"/>
            </a:endParaRPr>
          </a:p>
          <a:p>
            <a:pPr marL="927100" indent="-457200">
              <a:lnSpc>
                <a:spcPct val="100000"/>
              </a:lnSpc>
              <a:spcBef>
                <a:spcPts val="994"/>
              </a:spcBef>
              <a:buSzPct val="80000"/>
              <a:buAutoNum type="arabicPeriod"/>
              <a:tabLst>
                <a:tab pos="927100" algn="l"/>
              </a:tabLst>
            </a:pPr>
            <a:r>
              <a:rPr sz="2400" b="1" u="sng" dirty="0">
                <a:uFill>
                  <a:solidFill>
                    <a:srgbClr val="000000"/>
                  </a:solidFill>
                </a:uFill>
                <a:latin typeface="Arial" panose="020B0604020202020204" pitchFamily="34" charset="0"/>
                <a:cs typeface="Arial" panose="020B0604020202020204" pitchFamily="34" charset="0"/>
              </a:rPr>
              <a:t>Future</a:t>
            </a:r>
            <a:r>
              <a:rPr sz="2400" b="1" u="sng" spc="-45" dirty="0">
                <a:uFill>
                  <a:solidFill>
                    <a:srgbClr val="000000"/>
                  </a:solidFill>
                </a:uFill>
                <a:latin typeface="Arial" panose="020B0604020202020204" pitchFamily="34" charset="0"/>
                <a:cs typeface="Arial" panose="020B0604020202020204" pitchFamily="34" charset="0"/>
              </a:rPr>
              <a:t> </a:t>
            </a:r>
            <a:r>
              <a:rPr sz="2400" b="1" u="sng" spc="-10" dirty="0">
                <a:uFill>
                  <a:solidFill>
                    <a:srgbClr val="000000"/>
                  </a:solidFill>
                </a:uFill>
                <a:latin typeface="Arial" panose="020B0604020202020204" pitchFamily="34" charset="0"/>
                <a:cs typeface="Arial" panose="020B0604020202020204" pitchFamily="34" charset="0"/>
              </a:rPr>
              <a:t>Oriented</a:t>
            </a:r>
            <a:endParaRPr sz="2400" dirty="0">
              <a:latin typeface="Arial" panose="020B0604020202020204" pitchFamily="34" charset="0"/>
              <a:cs typeface="Arial" panose="020B0604020202020204" pitchFamily="34" charset="0"/>
            </a:endParaRPr>
          </a:p>
          <a:p>
            <a:pPr marL="1375410" marR="304800" lvl="1" indent="-457200">
              <a:lnSpc>
                <a:spcPct val="100000"/>
              </a:lnSpc>
              <a:spcBef>
                <a:spcPts val="805"/>
              </a:spcBef>
              <a:buSzPct val="80000"/>
              <a:buChar char="•"/>
              <a:tabLst>
                <a:tab pos="1375410" algn="l"/>
              </a:tabLst>
            </a:pPr>
            <a:r>
              <a:rPr sz="2400" dirty="0">
                <a:latin typeface="Arial" panose="020B0604020202020204" pitchFamily="34" charset="0"/>
                <a:cs typeface="Arial" panose="020B0604020202020204" pitchFamily="34" charset="0"/>
              </a:rPr>
              <a:t>Past</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costs</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are</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irrelevant,</a:t>
            </a:r>
            <a:r>
              <a:rPr sz="2400" spc="-5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as</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we</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cannot</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affect</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them</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by</a:t>
            </a:r>
            <a:r>
              <a:rPr sz="2400" spc="-2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current</a:t>
            </a:r>
            <a:r>
              <a:rPr sz="2400" spc="-6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decisions,</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and</a:t>
            </a:r>
            <a:r>
              <a:rPr sz="2400" spc="-25" dirty="0">
                <a:latin typeface="Arial" panose="020B0604020202020204" pitchFamily="34" charset="0"/>
                <a:cs typeface="Arial" panose="020B0604020202020204" pitchFamily="34" charset="0"/>
              </a:rPr>
              <a:t> </a:t>
            </a:r>
            <a:r>
              <a:rPr sz="2400" spc="-20" dirty="0">
                <a:latin typeface="Arial" panose="020B0604020202020204" pitchFamily="34" charset="0"/>
                <a:cs typeface="Arial" panose="020B0604020202020204" pitchFamily="34" charset="0"/>
              </a:rPr>
              <a:t>they </a:t>
            </a:r>
            <a:r>
              <a:rPr sz="2400" dirty="0">
                <a:latin typeface="Arial" panose="020B0604020202020204" pitchFamily="34" charset="0"/>
                <a:cs typeface="Arial" panose="020B0604020202020204" pitchFamily="34" charset="0"/>
              </a:rPr>
              <a:t>are</a:t>
            </a:r>
            <a:r>
              <a:rPr sz="2400" spc="-4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common</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to</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all</a:t>
            </a:r>
            <a:r>
              <a:rPr sz="2400" spc="-1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alternatives</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that</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we</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may</a:t>
            </a:r>
            <a:r>
              <a:rPr sz="2400" spc="-40" dirty="0">
                <a:latin typeface="Arial" panose="020B0604020202020204" pitchFamily="34" charset="0"/>
                <a:cs typeface="Arial" panose="020B0604020202020204" pitchFamily="34" charset="0"/>
              </a:rPr>
              <a:t> </a:t>
            </a:r>
            <a:r>
              <a:rPr sz="2400" spc="-10" dirty="0">
                <a:latin typeface="Arial" panose="020B0604020202020204" pitchFamily="34" charset="0"/>
                <a:cs typeface="Arial" panose="020B0604020202020204" pitchFamily="34" charset="0"/>
              </a:rPr>
              <a:t>choose.</a:t>
            </a:r>
            <a:endParaRPr sz="2400" dirty="0">
              <a:latin typeface="Arial" panose="020B0604020202020204" pitchFamily="34" charset="0"/>
              <a:cs typeface="Arial" panose="020B0604020202020204" pitchFamily="34" charset="0"/>
            </a:endParaRPr>
          </a:p>
          <a:p>
            <a:pPr marL="927100" indent="-457200">
              <a:lnSpc>
                <a:spcPct val="100000"/>
              </a:lnSpc>
              <a:spcBef>
                <a:spcPts val="805"/>
              </a:spcBef>
              <a:buSzPct val="80000"/>
              <a:buAutoNum type="arabicPeriod"/>
              <a:tabLst>
                <a:tab pos="927100" algn="l"/>
              </a:tabLst>
            </a:pPr>
            <a:r>
              <a:rPr sz="2400" b="1" u="sng" spc="-10" dirty="0">
                <a:uFill>
                  <a:solidFill>
                    <a:srgbClr val="000000"/>
                  </a:solidFill>
                </a:uFill>
                <a:latin typeface="Arial" panose="020B0604020202020204" pitchFamily="34" charset="0"/>
                <a:cs typeface="Arial" panose="020B0604020202020204" pitchFamily="34" charset="0"/>
              </a:rPr>
              <a:t>Incremental</a:t>
            </a:r>
            <a:endParaRPr sz="2400" dirty="0">
              <a:latin typeface="Arial" panose="020B0604020202020204" pitchFamily="34" charset="0"/>
              <a:cs typeface="Arial" panose="020B0604020202020204" pitchFamily="34" charset="0"/>
            </a:endParaRPr>
          </a:p>
          <a:p>
            <a:pPr marL="1374775" lvl="1" indent="-456565">
              <a:lnSpc>
                <a:spcPct val="100000"/>
              </a:lnSpc>
              <a:spcBef>
                <a:spcPts val="795"/>
              </a:spcBef>
              <a:buSzPct val="80000"/>
              <a:buChar char="•"/>
              <a:tabLst>
                <a:tab pos="1374775" algn="l"/>
              </a:tabLst>
            </a:pPr>
            <a:r>
              <a:rPr sz="2400" dirty="0">
                <a:latin typeface="Arial" panose="020B0604020202020204" pitchFamily="34" charset="0"/>
                <a:cs typeface="Arial" panose="020B0604020202020204" pitchFamily="34" charset="0"/>
              </a:rPr>
              <a:t>Must</a:t>
            </a:r>
            <a:r>
              <a:rPr sz="2400" spc="-4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be</a:t>
            </a:r>
            <a:r>
              <a:rPr sz="2400" spc="-2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incurred,</a:t>
            </a:r>
            <a:r>
              <a:rPr sz="2400" spc="-4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earned,</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or</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avoided</a:t>
            </a:r>
            <a:r>
              <a:rPr sz="2400" spc="-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as</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result</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of</a:t>
            </a:r>
            <a:r>
              <a:rPr sz="2400" spc="-10" dirty="0">
                <a:latin typeface="Arial" panose="020B0604020202020204" pitchFamily="34" charset="0"/>
                <a:cs typeface="Arial" panose="020B0604020202020204" pitchFamily="34" charset="0"/>
              </a:rPr>
              <a:t> </a:t>
            </a:r>
            <a:r>
              <a:rPr sz="2400" u="sng" dirty="0">
                <a:uFill>
                  <a:solidFill>
                    <a:srgbClr val="000000"/>
                  </a:solidFill>
                </a:uFill>
                <a:latin typeface="Arial" panose="020B0604020202020204" pitchFamily="34" charset="0"/>
                <a:cs typeface="Arial" panose="020B0604020202020204" pitchFamily="34" charset="0"/>
              </a:rPr>
              <a:t>making</a:t>
            </a:r>
            <a:r>
              <a:rPr sz="2400" u="sng" spc="-30" dirty="0">
                <a:uFill>
                  <a:solidFill>
                    <a:srgbClr val="000000"/>
                  </a:solidFill>
                </a:uFill>
                <a:latin typeface="Arial" panose="020B0604020202020204" pitchFamily="34" charset="0"/>
                <a:cs typeface="Arial" panose="020B0604020202020204" pitchFamily="34" charset="0"/>
              </a:rPr>
              <a:t> </a:t>
            </a:r>
            <a:r>
              <a:rPr sz="2400" u="sng" dirty="0">
                <a:uFill>
                  <a:solidFill>
                    <a:srgbClr val="000000"/>
                  </a:solidFill>
                </a:uFill>
                <a:latin typeface="Arial" panose="020B0604020202020204" pitchFamily="34" charset="0"/>
                <a:cs typeface="Arial" panose="020B0604020202020204" pitchFamily="34" charset="0"/>
              </a:rPr>
              <a:t>a</a:t>
            </a:r>
            <a:r>
              <a:rPr sz="2400" u="sng" spc="-25" dirty="0">
                <a:uFill>
                  <a:solidFill>
                    <a:srgbClr val="000000"/>
                  </a:solidFill>
                </a:uFill>
                <a:latin typeface="Arial" panose="020B0604020202020204" pitchFamily="34" charset="0"/>
                <a:cs typeface="Arial" panose="020B0604020202020204" pitchFamily="34" charset="0"/>
              </a:rPr>
              <a:t> </a:t>
            </a:r>
            <a:r>
              <a:rPr sz="2400" u="sng" spc="-10" dirty="0">
                <a:uFill>
                  <a:solidFill>
                    <a:srgbClr val="000000"/>
                  </a:solidFill>
                </a:uFill>
                <a:latin typeface="Arial" panose="020B0604020202020204" pitchFamily="34" charset="0"/>
                <a:cs typeface="Arial" panose="020B0604020202020204" pitchFamily="34" charset="0"/>
              </a:rPr>
              <a:t>decision</a:t>
            </a:r>
            <a:r>
              <a:rPr sz="2400" spc="-10" dirty="0">
                <a:latin typeface="Arial" panose="020B0604020202020204" pitchFamily="34" charset="0"/>
                <a:cs typeface="Arial" panose="020B0604020202020204" pitchFamily="34" charset="0"/>
              </a:rPr>
              <a:t>.</a:t>
            </a:r>
            <a:endParaRPr sz="2400" dirty="0">
              <a:latin typeface="Arial" panose="020B0604020202020204" pitchFamily="34" charset="0"/>
              <a:cs typeface="Arial" panose="020B0604020202020204" pitchFamily="34" charset="0"/>
            </a:endParaRPr>
          </a:p>
          <a:p>
            <a:pPr marL="919480" indent="-457200">
              <a:lnSpc>
                <a:spcPct val="100000"/>
              </a:lnSpc>
              <a:spcBef>
                <a:spcPts val="805"/>
              </a:spcBef>
              <a:buSzPct val="80000"/>
              <a:buAutoNum type="arabicPeriod"/>
              <a:tabLst>
                <a:tab pos="919480" algn="l"/>
              </a:tabLst>
            </a:pPr>
            <a:r>
              <a:rPr sz="2400" b="1" u="sng" dirty="0">
                <a:uFill>
                  <a:solidFill>
                    <a:srgbClr val="000000"/>
                  </a:solidFill>
                </a:uFill>
                <a:latin typeface="Arial" panose="020B0604020202020204" pitchFamily="34" charset="0"/>
                <a:cs typeface="Arial" panose="020B0604020202020204" pitchFamily="34" charset="0"/>
              </a:rPr>
              <a:t>Impact</a:t>
            </a:r>
            <a:r>
              <a:rPr sz="2400" b="1" u="sng" spc="-60" dirty="0">
                <a:uFill>
                  <a:solidFill>
                    <a:srgbClr val="000000"/>
                  </a:solidFill>
                </a:uFill>
                <a:latin typeface="Arial" panose="020B0604020202020204" pitchFamily="34" charset="0"/>
                <a:cs typeface="Arial" panose="020B0604020202020204" pitchFamily="34" charset="0"/>
              </a:rPr>
              <a:t> </a:t>
            </a:r>
            <a:r>
              <a:rPr sz="2400" b="1" u="sng" dirty="0">
                <a:uFill>
                  <a:solidFill>
                    <a:srgbClr val="000000"/>
                  </a:solidFill>
                </a:uFill>
                <a:latin typeface="Arial" panose="020B0604020202020204" pitchFamily="34" charset="0"/>
                <a:cs typeface="Arial" panose="020B0604020202020204" pitchFamily="34" charset="0"/>
              </a:rPr>
              <a:t>Cash</a:t>
            </a:r>
            <a:r>
              <a:rPr sz="2400" b="1" u="sng" spc="-45" dirty="0">
                <a:uFill>
                  <a:solidFill>
                    <a:srgbClr val="000000"/>
                  </a:solidFill>
                </a:uFill>
                <a:latin typeface="Arial" panose="020B0604020202020204" pitchFamily="34" charset="0"/>
                <a:cs typeface="Arial" panose="020B0604020202020204" pitchFamily="34" charset="0"/>
              </a:rPr>
              <a:t> </a:t>
            </a:r>
            <a:r>
              <a:rPr sz="2400" b="1" u="sng" spc="-20" dirty="0">
                <a:uFill>
                  <a:solidFill>
                    <a:srgbClr val="000000"/>
                  </a:solidFill>
                </a:uFill>
                <a:latin typeface="Arial" panose="020B0604020202020204" pitchFamily="34" charset="0"/>
                <a:cs typeface="Arial" panose="020B0604020202020204" pitchFamily="34" charset="0"/>
              </a:rPr>
              <a:t>flow</a:t>
            </a:r>
            <a:endParaRPr sz="2400" dirty="0">
              <a:latin typeface="Arial" panose="020B0604020202020204" pitchFamily="34" charset="0"/>
              <a:cs typeface="Arial" panose="020B0604020202020204" pitchFamily="34" charset="0"/>
            </a:endParaRPr>
          </a:p>
          <a:p>
            <a:pPr marL="1367790" marR="5080" lvl="1" indent="-457200">
              <a:lnSpc>
                <a:spcPct val="100000"/>
              </a:lnSpc>
              <a:spcBef>
                <a:spcPts val="805"/>
              </a:spcBef>
              <a:buSzPct val="80000"/>
              <a:buChar char="•"/>
              <a:tabLst>
                <a:tab pos="1367790" algn="l"/>
              </a:tabLst>
            </a:pPr>
            <a:r>
              <a:rPr sz="2400" dirty="0">
                <a:latin typeface="Arial" panose="020B0604020202020204" pitchFamily="34" charset="0"/>
                <a:cs typeface="Arial" panose="020B0604020202020204" pitchFamily="34" charset="0"/>
              </a:rPr>
              <a:t>Expenses</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such</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as</a:t>
            </a:r>
            <a:r>
              <a:rPr sz="2400" spc="-1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depreciation</a:t>
            </a:r>
            <a:r>
              <a:rPr sz="2400" spc="-5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are</a:t>
            </a:r>
            <a:r>
              <a:rPr sz="2400" spc="-1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not</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cash</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flows</a:t>
            </a:r>
            <a:r>
              <a:rPr sz="2400" spc="-1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and</a:t>
            </a:r>
            <a:r>
              <a:rPr sz="2400" spc="-2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are</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therefore</a:t>
            </a:r>
            <a:r>
              <a:rPr sz="2400" spc="-6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not</a:t>
            </a:r>
            <a:r>
              <a:rPr sz="2400" spc="-5" dirty="0">
                <a:latin typeface="Arial" panose="020B0604020202020204" pitchFamily="34" charset="0"/>
                <a:cs typeface="Arial" panose="020B0604020202020204" pitchFamily="34" charset="0"/>
              </a:rPr>
              <a:t> </a:t>
            </a:r>
            <a:r>
              <a:rPr sz="2400" spc="-10" dirty="0">
                <a:latin typeface="Arial" panose="020B0604020202020204" pitchFamily="34" charset="0"/>
                <a:cs typeface="Arial" panose="020B0604020202020204" pitchFamily="34" charset="0"/>
              </a:rPr>
              <a:t>relevant. Similarly,</a:t>
            </a:r>
            <a:r>
              <a:rPr sz="2400" spc="-2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the</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book</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value</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of</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existing</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equipment</a:t>
            </a:r>
            <a:r>
              <a:rPr sz="2400" spc="-5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is</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irrelevant,</a:t>
            </a:r>
            <a:r>
              <a:rPr sz="2400" spc="-5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but</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the</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disposal</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value</a:t>
            </a:r>
            <a:r>
              <a:rPr sz="2400" spc="-25" dirty="0">
                <a:latin typeface="Arial" panose="020B0604020202020204" pitchFamily="34" charset="0"/>
                <a:cs typeface="Arial" panose="020B0604020202020204" pitchFamily="34" charset="0"/>
              </a:rPr>
              <a:t> is </a:t>
            </a:r>
            <a:r>
              <a:rPr sz="2400" spc="-10" dirty="0">
                <a:latin typeface="Arial" panose="020B0604020202020204" pitchFamily="34" charset="0"/>
                <a:cs typeface="Arial" panose="020B0604020202020204" pitchFamily="34" charset="0"/>
              </a:rPr>
              <a:t>relevant.</a:t>
            </a:r>
            <a:endParaRPr sz="2400" dirty="0">
              <a:latin typeface="Arial" panose="020B0604020202020204" pitchFamily="34" charset="0"/>
              <a:cs typeface="Arial" panose="020B0604020202020204" pitchFamily="34" charset="0"/>
            </a:endParaRPr>
          </a:p>
        </p:txBody>
      </p:sp>
      <p:sp>
        <p:nvSpPr>
          <p:cNvPr id="5" name="object 5"/>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8</a:t>
            </a:fld>
            <a:endParaRPr spc="-25" dirty="0"/>
          </a:p>
        </p:txBody>
      </p:sp>
      <p:sp>
        <p:nvSpPr>
          <p:cNvPr id="6" name="Subtitle 5">
            <a:extLst>
              <a:ext uri="{FF2B5EF4-FFF2-40B4-BE49-F238E27FC236}">
                <a16:creationId xmlns:a16="http://schemas.microsoft.com/office/drawing/2014/main" id="{C07E1CF0-FEC2-E18C-D26B-2AAA10B5F46A}"/>
              </a:ext>
            </a:extLst>
          </p:cNvPr>
          <p:cNvSpPr>
            <a:spLocks noGrp="1"/>
          </p:cNvSpPr>
          <p:nvPr>
            <p:ph type="subTitle" idx="1"/>
          </p:nvPr>
        </p:nvSpPr>
        <p:spPr/>
        <p:txBody>
          <a:bodyPr/>
          <a:lstStyle/>
          <a:p>
            <a:r>
              <a:rPr lang="en-CA" dirty="0"/>
              <a:t>What is “Relevant”?</a:t>
            </a:r>
          </a:p>
        </p:txBody>
      </p:sp>
      <p:sp>
        <p:nvSpPr>
          <p:cNvPr id="4" name="object 4"/>
          <p:cNvSpPr txBox="1"/>
          <p:nvPr/>
        </p:nvSpPr>
        <p:spPr>
          <a:xfrm>
            <a:off x="480822" y="5568333"/>
            <a:ext cx="10972800" cy="769620"/>
          </a:xfrm>
          <a:prstGeom prst="rect">
            <a:avLst/>
          </a:prstGeom>
          <a:ln w="38100">
            <a:solidFill>
              <a:srgbClr val="0070C0"/>
            </a:solidFill>
          </a:ln>
        </p:spPr>
        <p:txBody>
          <a:bodyPr vert="horz" wrap="square" lIns="0" tIns="38100" rIns="0" bIns="0" rtlCol="0">
            <a:spAutoFit/>
          </a:bodyPr>
          <a:lstStyle/>
          <a:p>
            <a:pPr marL="3867785" marR="275590" indent="-3592829">
              <a:lnSpc>
                <a:spcPct val="100000"/>
              </a:lnSpc>
              <a:spcBef>
                <a:spcPts val="300"/>
              </a:spcBef>
            </a:pPr>
            <a:r>
              <a:rPr sz="2200" b="1" u="sng" dirty="0">
                <a:uFill>
                  <a:solidFill>
                    <a:srgbClr val="000000"/>
                  </a:solidFill>
                </a:uFill>
                <a:latin typeface="Arial"/>
                <a:cs typeface="Arial"/>
              </a:rPr>
              <a:t>Always</a:t>
            </a:r>
            <a:r>
              <a:rPr sz="2200" b="1" u="sng" spc="-55" dirty="0">
                <a:uFill>
                  <a:solidFill>
                    <a:srgbClr val="000000"/>
                  </a:solidFill>
                </a:uFill>
                <a:latin typeface="Arial"/>
                <a:cs typeface="Arial"/>
              </a:rPr>
              <a:t> </a:t>
            </a:r>
            <a:r>
              <a:rPr sz="2200" b="1" u="sng" dirty="0">
                <a:uFill>
                  <a:solidFill>
                    <a:srgbClr val="000000"/>
                  </a:solidFill>
                </a:uFill>
                <a:latin typeface="Arial"/>
                <a:cs typeface="Arial"/>
              </a:rPr>
              <a:t>consider</a:t>
            </a:r>
            <a:r>
              <a:rPr sz="2200" b="1" u="sng" spc="-45" dirty="0">
                <a:uFill>
                  <a:solidFill>
                    <a:srgbClr val="000000"/>
                  </a:solidFill>
                </a:uFill>
                <a:latin typeface="Arial"/>
                <a:cs typeface="Arial"/>
              </a:rPr>
              <a:t> </a:t>
            </a:r>
            <a:r>
              <a:rPr sz="2200" b="1" u="sng" dirty="0">
                <a:uFill>
                  <a:solidFill>
                    <a:srgbClr val="000000"/>
                  </a:solidFill>
                </a:uFill>
                <a:latin typeface="Arial"/>
                <a:cs typeface="Arial"/>
              </a:rPr>
              <a:t>the</a:t>
            </a:r>
            <a:r>
              <a:rPr sz="2200" b="1" u="sng" spc="-50" dirty="0">
                <a:uFill>
                  <a:solidFill>
                    <a:srgbClr val="000000"/>
                  </a:solidFill>
                </a:uFill>
                <a:latin typeface="Arial"/>
                <a:cs typeface="Arial"/>
              </a:rPr>
              <a:t> </a:t>
            </a:r>
            <a:r>
              <a:rPr sz="2200" b="1" u="sng" dirty="0">
                <a:uFill>
                  <a:solidFill>
                    <a:srgbClr val="000000"/>
                  </a:solidFill>
                </a:uFill>
                <a:latin typeface="Arial"/>
                <a:cs typeface="Arial"/>
              </a:rPr>
              <a:t>context.</a:t>
            </a:r>
            <a:r>
              <a:rPr sz="2200" b="1" spc="-25" dirty="0">
                <a:latin typeface="Arial"/>
                <a:cs typeface="Arial"/>
              </a:rPr>
              <a:t> </a:t>
            </a:r>
            <a:r>
              <a:rPr sz="2200" dirty="0">
                <a:latin typeface="Arial MT"/>
                <a:cs typeface="Arial MT"/>
              </a:rPr>
              <a:t>Costs</a:t>
            </a:r>
            <a:r>
              <a:rPr sz="2200" spc="-60" dirty="0">
                <a:latin typeface="Arial MT"/>
                <a:cs typeface="Arial MT"/>
              </a:rPr>
              <a:t> </a:t>
            </a:r>
            <a:r>
              <a:rPr sz="2200" dirty="0">
                <a:latin typeface="Arial MT"/>
                <a:cs typeface="Arial MT"/>
              </a:rPr>
              <a:t>that</a:t>
            </a:r>
            <a:r>
              <a:rPr sz="2200" spc="-65" dirty="0">
                <a:latin typeface="Arial MT"/>
                <a:cs typeface="Arial MT"/>
              </a:rPr>
              <a:t> </a:t>
            </a:r>
            <a:r>
              <a:rPr sz="2200" dirty="0">
                <a:latin typeface="Arial MT"/>
                <a:cs typeface="Arial MT"/>
              </a:rPr>
              <a:t>are</a:t>
            </a:r>
            <a:r>
              <a:rPr sz="2200" spc="-55" dirty="0">
                <a:latin typeface="Arial MT"/>
                <a:cs typeface="Arial MT"/>
              </a:rPr>
              <a:t> </a:t>
            </a:r>
            <a:r>
              <a:rPr sz="2200" dirty="0">
                <a:latin typeface="Arial MT"/>
                <a:cs typeface="Arial MT"/>
              </a:rPr>
              <a:t>relevant</a:t>
            </a:r>
            <a:r>
              <a:rPr sz="2200" spc="-50" dirty="0">
                <a:latin typeface="Arial MT"/>
                <a:cs typeface="Arial MT"/>
              </a:rPr>
              <a:t> </a:t>
            </a:r>
            <a:r>
              <a:rPr sz="2200" dirty="0">
                <a:latin typeface="Arial MT"/>
                <a:cs typeface="Arial MT"/>
              </a:rPr>
              <a:t>in</a:t>
            </a:r>
            <a:r>
              <a:rPr sz="2200" spc="-65" dirty="0">
                <a:latin typeface="Arial MT"/>
                <a:cs typeface="Arial MT"/>
              </a:rPr>
              <a:t> </a:t>
            </a:r>
            <a:r>
              <a:rPr sz="2200" dirty="0">
                <a:latin typeface="Arial MT"/>
                <a:cs typeface="Arial MT"/>
              </a:rPr>
              <a:t>one</a:t>
            </a:r>
            <a:r>
              <a:rPr sz="2200" spc="-65" dirty="0">
                <a:latin typeface="Arial MT"/>
                <a:cs typeface="Arial MT"/>
              </a:rPr>
              <a:t> </a:t>
            </a:r>
            <a:r>
              <a:rPr sz="2200" dirty="0">
                <a:latin typeface="Arial MT"/>
                <a:cs typeface="Arial MT"/>
              </a:rPr>
              <a:t>decision</a:t>
            </a:r>
            <a:r>
              <a:rPr sz="2200" spc="-70" dirty="0">
                <a:latin typeface="Arial MT"/>
                <a:cs typeface="Arial MT"/>
              </a:rPr>
              <a:t> </a:t>
            </a:r>
            <a:r>
              <a:rPr sz="2200" dirty="0">
                <a:latin typeface="Arial MT"/>
                <a:cs typeface="Arial MT"/>
              </a:rPr>
              <a:t>situation</a:t>
            </a:r>
            <a:r>
              <a:rPr sz="2200" spc="-70" dirty="0">
                <a:latin typeface="Arial MT"/>
                <a:cs typeface="Arial MT"/>
              </a:rPr>
              <a:t> </a:t>
            </a:r>
            <a:r>
              <a:rPr sz="2200" spc="-25" dirty="0">
                <a:latin typeface="Arial MT"/>
                <a:cs typeface="Arial MT"/>
              </a:rPr>
              <a:t>may </a:t>
            </a:r>
            <a:r>
              <a:rPr sz="2200" dirty="0">
                <a:latin typeface="Arial MT"/>
                <a:cs typeface="Arial MT"/>
              </a:rPr>
              <a:t>not</a:t>
            </a:r>
            <a:r>
              <a:rPr sz="2200" spc="-45" dirty="0">
                <a:latin typeface="Arial MT"/>
                <a:cs typeface="Arial MT"/>
              </a:rPr>
              <a:t> </a:t>
            </a:r>
            <a:r>
              <a:rPr sz="2200" dirty="0">
                <a:latin typeface="Arial MT"/>
                <a:cs typeface="Arial MT"/>
              </a:rPr>
              <a:t>be</a:t>
            </a:r>
            <a:r>
              <a:rPr sz="2200" spc="-40" dirty="0">
                <a:latin typeface="Arial MT"/>
                <a:cs typeface="Arial MT"/>
              </a:rPr>
              <a:t> </a:t>
            </a:r>
            <a:r>
              <a:rPr sz="2200" dirty="0">
                <a:latin typeface="Arial MT"/>
                <a:cs typeface="Arial MT"/>
              </a:rPr>
              <a:t>relevant</a:t>
            </a:r>
            <a:r>
              <a:rPr sz="2200" spc="-20" dirty="0">
                <a:latin typeface="Arial MT"/>
                <a:cs typeface="Arial MT"/>
              </a:rPr>
              <a:t> </a:t>
            </a:r>
            <a:r>
              <a:rPr sz="2200" dirty="0">
                <a:latin typeface="Arial MT"/>
                <a:cs typeface="Arial MT"/>
              </a:rPr>
              <a:t>in</a:t>
            </a:r>
            <a:r>
              <a:rPr sz="2200" spc="-50" dirty="0">
                <a:latin typeface="Arial MT"/>
                <a:cs typeface="Arial MT"/>
              </a:rPr>
              <a:t> </a:t>
            </a:r>
            <a:r>
              <a:rPr sz="2200" spc="-10" dirty="0">
                <a:latin typeface="Arial MT"/>
                <a:cs typeface="Arial MT"/>
              </a:rPr>
              <a:t>another.</a:t>
            </a:r>
            <a:endParaRPr sz="2200" dirty="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9BF5B-1A74-5955-EA74-FAD8C3E0C63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C757761-1AA3-7D86-A8C4-4DDA8C03758C}"/>
              </a:ext>
            </a:extLst>
          </p:cNvPr>
          <p:cNvSpPr txBox="1"/>
          <p:nvPr/>
        </p:nvSpPr>
        <p:spPr>
          <a:xfrm>
            <a:off x="566547" y="908720"/>
            <a:ext cx="10801350" cy="3586879"/>
          </a:xfrm>
          <a:prstGeom prst="rect">
            <a:avLst/>
          </a:prstGeom>
        </p:spPr>
        <p:txBody>
          <a:bodyPr vert="horz" wrap="square" lIns="0" tIns="138430" rIns="0" bIns="0" rtlCol="0">
            <a:spAutoFit/>
          </a:bodyPr>
          <a:lstStyle/>
          <a:p>
            <a:pPr>
              <a:buClr>
                <a:srgbClr val="203260"/>
              </a:buClr>
            </a:pPr>
            <a:r>
              <a:rPr lang="en-US" altLang="en-US" sz="2800" dirty="0">
                <a:latin typeface="Arial" panose="020B0604020202020204" pitchFamily="34" charset="0"/>
                <a:cs typeface="Arial" panose="020B0604020202020204" pitchFamily="34" charset="0"/>
              </a:rPr>
              <a:t>To identify the costs and benefits that are relevant in a particular decision situation, these steps should be followed:</a:t>
            </a:r>
          </a:p>
          <a:p>
            <a:pPr marL="971550" lvl="1" indent="-514350">
              <a:spcBef>
                <a:spcPct val="50000"/>
              </a:spcBef>
              <a:buFont typeface="+mj-lt"/>
              <a:buAutoNum type="arabicPeriod"/>
            </a:pPr>
            <a:r>
              <a:rPr lang="en-CA" altLang="en-US" sz="2800" dirty="0">
                <a:latin typeface="Arial" panose="020B0604020202020204" pitchFamily="34" charset="0"/>
                <a:cs typeface="Arial" panose="020B0604020202020204" pitchFamily="34" charset="0"/>
              </a:rPr>
              <a:t>Eliminate costs and benefits that do not differ between alternatives.</a:t>
            </a:r>
          </a:p>
          <a:p>
            <a:pPr marL="971550" lvl="1" indent="-514350">
              <a:spcBef>
                <a:spcPct val="50000"/>
              </a:spcBef>
              <a:buFont typeface="+mj-lt"/>
              <a:buAutoNum type="arabicPeriod"/>
            </a:pPr>
            <a:r>
              <a:rPr lang="en-CA" altLang="en-US" sz="2800" dirty="0">
                <a:latin typeface="Arial" panose="020B0604020202020204" pitchFamily="34" charset="0"/>
                <a:cs typeface="Arial" panose="020B0604020202020204" pitchFamily="34" charset="0"/>
              </a:rPr>
              <a:t>Use the remaining costs and benefits that      differ between alternatives in making the decision.  The costs that remain are the differential, or avoidable, costs.</a:t>
            </a:r>
          </a:p>
        </p:txBody>
      </p:sp>
      <p:sp>
        <p:nvSpPr>
          <p:cNvPr id="5" name="object 5">
            <a:extLst>
              <a:ext uri="{FF2B5EF4-FFF2-40B4-BE49-F238E27FC236}">
                <a16:creationId xmlns:a16="http://schemas.microsoft.com/office/drawing/2014/main" id="{3242FDC6-E9B9-FDD2-FDB8-08EDC6486DE7}"/>
              </a:ext>
            </a:extLst>
          </p:cNvPr>
          <p:cNvSpPr txBox="1">
            <a:spLocks noGrp="1"/>
          </p:cNvSpPr>
          <p:nvPr>
            <p:ph type="sldNum" sz="quarter" idx="12"/>
          </p:nvPr>
        </p:nvSpPr>
        <p:spPr>
          <a:prstGeom prst="rect">
            <a:avLst/>
          </a:prstGeom>
        </p:spPr>
        <p:txBody>
          <a:bodyPr vert="horz" wrap="square" lIns="0" tIns="1905" rIns="0" bIns="0" rtlCol="0">
            <a:spAutoFit/>
          </a:bodyPr>
          <a:lstStyle/>
          <a:p>
            <a:pPr marL="38100" marR="0" lvl="0" indent="0" algn="ctr" defTabSz="914400" rtl="0" eaLnBrk="1" fontAlgn="auto" latinLnBrk="0" hangingPunct="1">
              <a:lnSpc>
                <a:spcPct val="100000"/>
              </a:lnSpc>
              <a:spcBef>
                <a:spcPts val="15"/>
              </a:spcBef>
              <a:spcAft>
                <a:spcPts val="0"/>
              </a:spcAft>
              <a:buClrTx/>
              <a:buSzTx/>
              <a:buFontTx/>
              <a:buNone/>
              <a:tabLst/>
              <a:defRPr/>
            </a:pPr>
            <a:fld id="{81D60167-4931-47E6-BA6A-407CBD079E47}" type="slidenum">
              <a:rPr kumimoji="0" sz="900" b="0" i="0" u="none" strike="noStrike" kern="1200" cap="none" spc="-25" normalizeH="0" baseline="0" noProof="0" dirty="0">
                <a:ln>
                  <a:noFill/>
                </a:ln>
                <a:solidFill>
                  <a:prstClr val="black">
                    <a:tint val="75000"/>
                  </a:prstClr>
                </a:solidFill>
                <a:effectLst/>
                <a:uLnTx/>
                <a:uFillTx/>
                <a:latin typeface="Arial" panose="020B0604020202020204" pitchFamily="34" charset="0"/>
                <a:ea typeface="+mn-ea"/>
                <a:cs typeface="Arial" panose="020B0604020202020204" pitchFamily="34" charset="0"/>
              </a:rPr>
              <a:pPr marL="38100" marR="0" lvl="0" indent="0" algn="ctr" defTabSz="914400" rtl="0" eaLnBrk="1" fontAlgn="auto" latinLnBrk="0" hangingPunct="1">
                <a:lnSpc>
                  <a:spcPct val="100000"/>
                </a:lnSpc>
                <a:spcBef>
                  <a:spcPts val="15"/>
                </a:spcBef>
                <a:spcAft>
                  <a:spcPts val="0"/>
                </a:spcAft>
                <a:buClrTx/>
                <a:buSzTx/>
                <a:buFontTx/>
                <a:buNone/>
                <a:tabLst/>
                <a:defRPr/>
              </a:pPr>
              <a:t>9</a:t>
            </a:fld>
            <a:endParaRPr kumimoji="0" sz="900" b="0" i="0" u="none" strike="noStrike" kern="1200" cap="none" spc="-25" normalizeH="0" baseline="0" noProof="0" dirty="0">
              <a:ln>
                <a:noFill/>
              </a:ln>
              <a:solidFill>
                <a:prstClr val="black">
                  <a:tint val="75000"/>
                </a:prstClr>
              </a:solidFill>
              <a:effectLst/>
              <a:uLnTx/>
              <a:uFillTx/>
              <a:latin typeface="Arial" panose="020B0604020202020204" pitchFamily="34" charset="0"/>
              <a:ea typeface="+mn-ea"/>
              <a:cs typeface="Arial" panose="020B0604020202020204" pitchFamily="34" charset="0"/>
            </a:endParaRPr>
          </a:p>
        </p:txBody>
      </p:sp>
      <p:sp>
        <p:nvSpPr>
          <p:cNvPr id="6" name="Subtitle 5">
            <a:extLst>
              <a:ext uri="{FF2B5EF4-FFF2-40B4-BE49-F238E27FC236}">
                <a16:creationId xmlns:a16="http://schemas.microsoft.com/office/drawing/2014/main" id="{C05F2E29-3C23-620E-C0CD-99E06FB591CD}"/>
              </a:ext>
            </a:extLst>
          </p:cNvPr>
          <p:cNvSpPr>
            <a:spLocks noGrp="1"/>
          </p:cNvSpPr>
          <p:nvPr>
            <p:ph type="subTitle" idx="1"/>
          </p:nvPr>
        </p:nvSpPr>
        <p:spPr/>
        <p:txBody>
          <a:bodyPr/>
          <a:lstStyle/>
          <a:p>
            <a:r>
              <a:rPr lang="en-CA" dirty="0"/>
              <a:t>Relevant Cost Analysis: A Two-Step </a:t>
            </a:r>
            <a:r>
              <a:rPr lang="en-CA" dirty="0" err="1"/>
              <a:t>Proces</a:t>
            </a:r>
            <a:endParaRPr lang="en-CA" dirty="0"/>
          </a:p>
        </p:txBody>
      </p:sp>
    </p:spTree>
    <p:extLst>
      <p:ext uri="{BB962C8B-B14F-4D97-AF65-F5344CB8AC3E}">
        <p14:creationId xmlns:p14="http://schemas.microsoft.com/office/powerpoint/2010/main" val="1393457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72817E1-9DA4-3CDF-9EAA-19EC9542C1C6}"/>
              </a:ext>
            </a:extLst>
          </p:cNvPr>
          <p:cNvSpPr>
            <a:spLocks noGrp="1"/>
          </p:cNvSpPr>
          <p:nvPr>
            <p:ph type="subTitle" idx="1"/>
          </p:nvPr>
        </p:nvSpPr>
        <p:spPr/>
        <p:txBody>
          <a:bodyPr/>
          <a:lstStyle/>
          <a:p>
            <a:r>
              <a:rPr lang="en-CA" dirty="0"/>
              <a:t>Identifying Relevant Costs  </a:t>
            </a:r>
          </a:p>
        </p:txBody>
      </p:sp>
      <p:graphicFrame>
        <p:nvGraphicFramePr>
          <p:cNvPr id="29698" name="Object 2">
            <a:extLst>
              <a:ext uri="{FF2B5EF4-FFF2-40B4-BE49-F238E27FC236}">
                <a16:creationId xmlns:a16="http://schemas.microsoft.com/office/drawing/2014/main" id="{18B40716-8824-46F5-983D-59E8453AAD54}"/>
              </a:ext>
            </a:extLst>
          </p:cNvPr>
          <p:cNvGraphicFramePr>
            <a:graphicFrameLocks noChangeAspect="1"/>
          </p:cNvGraphicFramePr>
          <p:nvPr>
            <p:extLst>
              <p:ext uri="{D42A27DB-BD31-4B8C-83A1-F6EECF244321}">
                <p14:modId xmlns:p14="http://schemas.microsoft.com/office/powerpoint/2010/main" val="2809959183"/>
              </p:ext>
            </p:extLst>
          </p:nvPr>
        </p:nvGraphicFramePr>
        <p:xfrm>
          <a:off x="1797050" y="2387600"/>
          <a:ext cx="8413750" cy="2803525"/>
        </p:xfrm>
        <a:graphic>
          <a:graphicData uri="http://schemas.openxmlformats.org/presentationml/2006/ole">
            <mc:AlternateContent xmlns:mc="http://schemas.openxmlformats.org/markup-compatibility/2006">
              <mc:Choice xmlns:v="urn:schemas-microsoft-com:vml" Requires="v">
                <p:oleObj name="Worksheet" r:id="rId3" imgW="5873999" imgH="1962356" progId="Excel.Sheet.8">
                  <p:embed/>
                </p:oleObj>
              </mc:Choice>
              <mc:Fallback>
                <p:oleObj name="Worksheet" r:id="rId3" imgW="5873999" imgH="1962356" progId="Excel.Sheet.8">
                  <p:embed/>
                  <p:pic>
                    <p:nvPicPr>
                      <p:cNvPr id="29698" name="Object 2">
                        <a:extLst>
                          <a:ext uri="{FF2B5EF4-FFF2-40B4-BE49-F238E27FC236}">
                            <a16:creationId xmlns:a16="http://schemas.microsoft.com/office/drawing/2014/main" id="{18B40716-8824-46F5-983D-59E8453AAD54}"/>
                          </a:ext>
                        </a:extLst>
                      </p:cNvPr>
                      <p:cNvPicPr>
                        <a:picLocks noChangeAspect="1" noChangeArrowheads="1"/>
                      </p:cNvPicPr>
                      <p:nvPr/>
                    </p:nvPicPr>
                    <p:blipFill>
                      <a:blip r:embed="rId4"/>
                      <a:srcRect/>
                      <a:stretch>
                        <a:fillRect/>
                      </a:stretch>
                    </p:blipFill>
                    <p:spPr bwMode="auto">
                      <a:xfrm>
                        <a:off x="1797050" y="2387600"/>
                        <a:ext cx="8413750" cy="2803525"/>
                      </a:xfrm>
                      <a:prstGeom prst="rect">
                        <a:avLst/>
                      </a:prstGeom>
                      <a:noFill/>
                      <a:ln w="12700">
                        <a:solidFill>
                          <a:schemeClr val="tx1"/>
                        </a:solidFill>
                      </a:ln>
                      <a:effectLst/>
                    </p:spPr>
                  </p:pic>
                </p:oleObj>
              </mc:Fallback>
            </mc:AlternateContent>
          </a:graphicData>
        </a:graphic>
      </p:graphicFrame>
      <p:sp>
        <p:nvSpPr>
          <p:cNvPr id="313348" name="Text Box 4">
            <a:extLst>
              <a:ext uri="{FF2B5EF4-FFF2-40B4-BE49-F238E27FC236}">
                <a16:creationId xmlns:a16="http://schemas.microsoft.com/office/drawing/2014/main" id="{DDB2A9E9-6D71-4CAB-9B73-B14FD1E6A053}"/>
              </a:ext>
            </a:extLst>
          </p:cNvPr>
          <p:cNvSpPr txBox="1">
            <a:spLocks noChangeArrowheads="1"/>
          </p:cNvSpPr>
          <p:nvPr/>
        </p:nvSpPr>
        <p:spPr bwMode="auto">
          <a:xfrm>
            <a:off x="1747838" y="956543"/>
            <a:ext cx="8610600" cy="1323439"/>
          </a:xfrm>
          <a:prstGeom prst="rect">
            <a:avLst/>
          </a:prstGeom>
          <a:solidFill>
            <a:srgbClr val="1C3163"/>
          </a:solidFill>
          <a:ln w="9525">
            <a:solidFill>
              <a:srgbClr val="000000"/>
            </a:solidFill>
            <a:miter lim="800000"/>
            <a:headEnd/>
            <a:tailEnd/>
          </a:ln>
          <a:effectLst>
            <a:outerShdw blurRad="63500" dist="38099" dir="2700000" algn="ctr" rotWithShape="0">
              <a:srgbClr val="000000">
                <a:alpha val="74997"/>
              </a:srgbClr>
            </a:outerShdw>
          </a:effectLst>
        </p:spPr>
        <p:txBody>
          <a:bodyPr>
            <a:spAutoFit/>
          </a:bodyPr>
          <a:lstStyle/>
          <a:p>
            <a:pPr algn="ctr" eaLnBrk="1" hangingPunct="1">
              <a:spcBef>
                <a:spcPct val="50000"/>
              </a:spcBef>
              <a:defRPr/>
            </a:pPr>
            <a:r>
              <a:rPr lang="en-CA" sz="2000" dirty="0">
                <a:solidFill>
                  <a:schemeClr val="bg1"/>
                </a:solidFill>
                <a:effectLst>
                  <a:outerShdw blurRad="38100" dist="38100" dir="2700000" algn="tl">
                    <a:srgbClr val="000000"/>
                  </a:outerShdw>
                </a:effectLst>
                <a:latin typeface="Arial" panose="020B0604020202020204" pitchFamily="34" charset="0"/>
                <a:cs typeface="Arial" panose="020B0604020202020204" pitchFamily="34" charset="0"/>
              </a:rPr>
              <a:t>Cynthia, an MBA student in Halifax, is considering visiting her friend in Moncton over the weekend. She needs to decide whether to drive or to take the train.  By car, it is 280 kilometers to her friend’s apartment. Which alternative is least expensive?</a:t>
            </a:r>
          </a:p>
        </p:txBody>
      </p:sp>
      <p:sp>
        <p:nvSpPr>
          <p:cNvPr id="313357" name="Text Box 13">
            <a:extLst>
              <a:ext uri="{FF2B5EF4-FFF2-40B4-BE49-F238E27FC236}">
                <a16:creationId xmlns:a16="http://schemas.microsoft.com/office/drawing/2014/main" id="{BF942C99-BF4D-41FF-A4F7-0BBB84199A18}"/>
              </a:ext>
            </a:extLst>
          </p:cNvPr>
          <p:cNvSpPr txBox="1">
            <a:spLocks noChangeArrowheads="1"/>
          </p:cNvSpPr>
          <p:nvPr/>
        </p:nvSpPr>
        <p:spPr bwMode="auto">
          <a:xfrm>
            <a:off x="2094960" y="5578292"/>
            <a:ext cx="4968875" cy="646331"/>
          </a:xfrm>
          <a:prstGeom prst="rect">
            <a:avLst/>
          </a:prstGeom>
          <a:solidFill>
            <a:srgbClr val="1C3163"/>
          </a:solidFill>
          <a:ln w="9525">
            <a:solidFill>
              <a:srgbClr val="000000"/>
            </a:solidFill>
            <a:miter lim="800000"/>
            <a:headEnd/>
            <a:tailEnd/>
          </a:ln>
          <a:effectLst>
            <a:outerShdw blurRad="63500" dist="38099" dir="2700000" algn="ctr" rotWithShape="0">
              <a:srgbClr val="000000">
                <a:alpha val="74997"/>
              </a:srgbClr>
            </a:outerShdw>
          </a:effec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dirty="0">
                <a:solidFill>
                  <a:srgbClr val="FFFFFF"/>
                </a:solidFill>
                <a:effectLst>
                  <a:outerShdw blurRad="38100" dist="38100" dir="2700000" algn="tl">
                    <a:srgbClr val="000000"/>
                  </a:outerShdw>
                </a:effectLst>
                <a:latin typeface="+mn-lt"/>
              </a:rPr>
              <a:t>$</a:t>
            </a:r>
            <a:r>
              <a:rPr lang="en-CA" altLang="en-US" dirty="0">
                <a:solidFill>
                  <a:srgbClr val="FFFFFF"/>
                </a:solidFill>
                <a:effectLst>
                  <a:outerShdw blurRad="38100" dist="38100" dir="2700000" algn="tl">
                    <a:srgbClr val="000000"/>
                  </a:outerShdw>
                </a:effectLst>
                <a:latin typeface="Arial" panose="020B0604020202020204" pitchFamily="34" charset="0"/>
                <a:cs typeface="Arial" panose="020B0604020202020204" pitchFamily="34" charset="0"/>
              </a:rPr>
              <a:t>24,000 cost – $10,000 salvage value ÷ 5 years</a:t>
            </a:r>
          </a:p>
        </p:txBody>
      </p:sp>
      <p:sp>
        <p:nvSpPr>
          <p:cNvPr id="19467" name="Line 9">
            <a:extLst>
              <a:ext uri="{FF2B5EF4-FFF2-40B4-BE49-F238E27FC236}">
                <a16:creationId xmlns:a16="http://schemas.microsoft.com/office/drawing/2014/main" id="{FBC1A2D1-93E4-4959-BC18-62D10FF1C4B4}"/>
              </a:ext>
            </a:extLst>
          </p:cNvPr>
          <p:cNvSpPr>
            <a:spLocks noChangeShapeType="1"/>
          </p:cNvSpPr>
          <p:nvPr/>
        </p:nvSpPr>
        <p:spPr bwMode="auto">
          <a:xfrm flipV="1">
            <a:off x="4799856" y="3429000"/>
            <a:ext cx="3456004" cy="2241347"/>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lstStyle/>
          <a:p>
            <a:pPr>
              <a:defRPr/>
            </a:pPr>
            <a:endParaRPr lang="en-US">
              <a:latin typeface="Arial" charset="0"/>
            </a:endParaRPr>
          </a:p>
        </p:txBody>
      </p:sp>
      <p:sp>
        <p:nvSpPr>
          <p:cNvPr id="4" name="Text Box 13">
            <a:extLst>
              <a:ext uri="{FF2B5EF4-FFF2-40B4-BE49-F238E27FC236}">
                <a16:creationId xmlns:a16="http://schemas.microsoft.com/office/drawing/2014/main" id="{0280A9EA-5104-3127-5C20-21C3932B0760}"/>
              </a:ext>
            </a:extLst>
          </p:cNvPr>
          <p:cNvSpPr txBox="1">
            <a:spLocks noChangeArrowheads="1"/>
          </p:cNvSpPr>
          <p:nvPr/>
        </p:nvSpPr>
        <p:spPr bwMode="auto">
          <a:xfrm>
            <a:off x="7422356" y="5787971"/>
            <a:ext cx="2971800" cy="376237"/>
          </a:xfrm>
          <a:prstGeom prst="rect">
            <a:avLst/>
          </a:prstGeom>
          <a:solidFill>
            <a:srgbClr val="1C3163"/>
          </a:solidFill>
          <a:ln w="9525">
            <a:solidFill>
              <a:srgbClr val="000000"/>
            </a:solidFill>
            <a:miter lim="800000"/>
            <a:headEnd/>
            <a:tailEnd/>
          </a:ln>
          <a:effectLst>
            <a:outerShdw blurRad="63500" dist="38099" dir="2700000" algn="ctr" rotWithShape="0">
              <a:srgbClr val="000000">
                <a:alpha val="74997"/>
              </a:srgbClr>
            </a:outerShdw>
          </a:effec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dirty="0">
                <a:solidFill>
                  <a:srgbClr val="FFFFFF"/>
                </a:solidFill>
                <a:effectLst>
                  <a:outerShdw blurRad="38100" dist="38100" dir="2700000" algn="tl">
                    <a:srgbClr val="000000"/>
                  </a:outerShdw>
                </a:effectLst>
                <a:latin typeface="+mn-lt"/>
              </a:rPr>
              <a:t>$</a:t>
            </a:r>
            <a:r>
              <a:rPr lang="en-CA" altLang="en-US" dirty="0">
                <a:solidFill>
                  <a:srgbClr val="FFFFFF"/>
                </a:solidFill>
                <a:effectLst>
                  <a:outerShdw blurRad="38100" dist="38100" dir="2700000" algn="tl">
                    <a:srgbClr val="000000"/>
                  </a:outerShdw>
                </a:effectLst>
                <a:latin typeface="Arial" panose="020B0604020202020204" pitchFamily="34" charset="0"/>
                <a:cs typeface="Arial" panose="020B0604020202020204" pitchFamily="34" charset="0"/>
              </a:rPr>
              <a:t>45 per month x 8 months</a:t>
            </a:r>
          </a:p>
        </p:txBody>
      </p:sp>
      <p:sp>
        <p:nvSpPr>
          <p:cNvPr id="5" name="Line 9">
            <a:extLst>
              <a:ext uri="{FF2B5EF4-FFF2-40B4-BE49-F238E27FC236}">
                <a16:creationId xmlns:a16="http://schemas.microsoft.com/office/drawing/2014/main" id="{EEDB0479-906C-CCF7-4556-FC38E9C1B4B7}"/>
              </a:ext>
            </a:extLst>
          </p:cNvPr>
          <p:cNvSpPr>
            <a:spLocks noChangeShapeType="1"/>
          </p:cNvSpPr>
          <p:nvPr/>
        </p:nvSpPr>
        <p:spPr bwMode="auto">
          <a:xfrm flipH="1" flipV="1">
            <a:off x="8610600" y="4529469"/>
            <a:ext cx="4528" cy="1265407"/>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lstStyle/>
          <a:p>
            <a:pPr>
              <a:defRPr/>
            </a:pPr>
            <a:endParaRPr lang="en-US" dirty="0">
              <a:latin typeface="Arial" charset="0"/>
            </a:endParaRPr>
          </a:p>
        </p:txBody>
      </p:sp>
      <p:sp>
        <p:nvSpPr>
          <p:cNvPr id="8" name="Text Box 13">
            <a:extLst>
              <a:ext uri="{FF2B5EF4-FFF2-40B4-BE49-F238E27FC236}">
                <a16:creationId xmlns:a16="http://schemas.microsoft.com/office/drawing/2014/main" id="{E9B14EDC-4E3D-5832-D299-8F343525AF14}"/>
              </a:ext>
            </a:extLst>
          </p:cNvPr>
          <p:cNvSpPr txBox="1">
            <a:spLocks noChangeArrowheads="1"/>
          </p:cNvSpPr>
          <p:nvPr/>
        </p:nvSpPr>
        <p:spPr bwMode="auto">
          <a:xfrm>
            <a:off x="6608329" y="5071286"/>
            <a:ext cx="3240088" cy="369332"/>
          </a:xfrm>
          <a:prstGeom prst="rect">
            <a:avLst/>
          </a:prstGeom>
          <a:solidFill>
            <a:schemeClr val="accent2">
              <a:lumMod val="20000"/>
              <a:lumOff val="80000"/>
            </a:schemeClr>
          </a:solidFill>
          <a:ln w="9525">
            <a:solidFill>
              <a:srgbClr val="000000"/>
            </a:solidFill>
            <a:miter lim="800000"/>
            <a:headEnd/>
            <a:tailEnd/>
          </a:ln>
          <a:effectLst>
            <a:outerShdw blurRad="63500" dist="38099" dir="2700000" algn="ctr" rotWithShape="0">
              <a:srgbClr val="000000">
                <a:alpha val="74997"/>
              </a:srgbClr>
            </a:outerShdw>
          </a:effec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b="1" dirty="0">
                <a:latin typeface="Arial" panose="020B0604020202020204" pitchFamily="34" charset="0"/>
                <a:cs typeface="Arial" panose="020B0604020202020204" pitchFamily="34" charset="0"/>
              </a:rPr>
              <a:t>$1.80 litre ÷ 10 km per litre</a:t>
            </a:r>
          </a:p>
        </p:txBody>
      </p:sp>
      <p:sp>
        <p:nvSpPr>
          <p:cNvPr id="9" name="Line 9">
            <a:extLst>
              <a:ext uri="{FF2B5EF4-FFF2-40B4-BE49-F238E27FC236}">
                <a16:creationId xmlns:a16="http://schemas.microsoft.com/office/drawing/2014/main" id="{A05662AA-3D88-A4A4-0BCF-E2B8B43E2D58}"/>
              </a:ext>
            </a:extLst>
          </p:cNvPr>
          <p:cNvSpPr>
            <a:spLocks noChangeShapeType="1"/>
          </p:cNvSpPr>
          <p:nvPr/>
        </p:nvSpPr>
        <p:spPr bwMode="auto">
          <a:xfrm flipV="1">
            <a:off x="8969123" y="3720329"/>
            <a:ext cx="736853" cy="1350957"/>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lstStyle/>
          <a:p>
            <a:pPr>
              <a:defRPr/>
            </a:pPr>
            <a:endParaRPr lang="en-US">
              <a:latin typeface="Arial" charset="0"/>
            </a:endParaRPr>
          </a:p>
        </p:txBody>
      </p:sp>
      <p:sp>
        <p:nvSpPr>
          <p:cNvPr id="7" name="Slide Number Placeholder 6">
            <a:extLst>
              <a:ext uri="{FF2B5EF4-FFF2-40B4-BE49-F238E27FC236}">
                <a16:creationId xmlns:a16="http://schemas.microsoft.com/office/drawing/2014/main" id="{E83E5B7D-BECC-92AB-40AD-5AD6181B014C}"/>
              </a:ext>
            </a:extLst>
          </p:cNvPr>
          <p:cNvSpPr>
            <a:spLocks noGrp="1"/>
          </p:cNvSpPr>
          <p:nvPr>
            <p:ph type="sldNum" sz="quarter" idx="12"/>
          </p:nvPr>
        </p:nvSpPr>
        <p:spPr/>
        <p:txBody>
          <a:bodyPr/>
          <a:lstStyle/>
          <a:p>
            <a:fld id="{9B7CDB38-6350-4CC9-AB0E-B9078CE1CE4B}" type="slidenum">
              <a:rPr lang="en-US" smtClean="0"/>
              <a:pPr/>
              <a:t>10</a:t>
            </a:fld>
            <a:endParaRPr lang="en-US"/>
          </a:p>
        </p:txBody>
      </p:sp>
    </p:spTree>
  </p:cSld>
  <p:clrMapOvr>
    <a:masterClrMapping/>
  </p:clrMapOvr>
  <p:transition>
    <p:strips dir="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5" name="Object 2">
            <a:extLst>
              <a:ext uri="{FF2B5EF4-FFF2-40B4-BE49-F238E27FC236}">
                <a16:creationId xmlns:a16="http://schemas.microsoft.com/office/drawing/2014/main" id="{26E22B37-D4AF-404C-89D4-8FDEC63897DE}"/>
              </a:ext>
            </a:extLst>
          </p:cNvPr>
          <p:cNvGraphicFramePr>
            <a:graphicFrameLocks noChangeAspect="1"/>
          </p:cNvGraphicFramePr>
          <p:nvPr>
            <p:extLst>
              <p:ext uri="{D42A27DB-BD31-4B8C-83A1-F6EECF244321}">
                <p14:modId xmlns:p14="http://schemas.microsoft.com/office/powerpoint/2010/main" val="809392853"/>
              </p:ext>
            </p:extLst>
          </p:nvPr>
        </p:nvGraphicFramePr>
        <p:xfrm>
          <a:off x="2698750" y="4014788"/>
          <a:ext cx="6792913" cy="2312987"/>
        </p:xfrm>
        <a:graphic>
          <a:graphicData uri="http://schemas.openxmlformats.org/presentationml/2006/ole">
            <mc:AlternateContent xmlns:mc="http://schemas.openxmlformats.org/markup-compatibility/2006">
              <mc:Choice xmlns:v="urn:schemas-microsoft-com:vml" Requires="v">
                <p:oleObj name="Worksheet" r:id="rId3" imgW="4464058" imgH="1492376" progId="Excel.Sheet.8">
                  <p:embed/>
                </p:oleObj>
              </mc:Choice>
              <mc:Fallback>
                <p:oleObj name="Worksheet" r:id="rId3" imgW="4464058" imgH="1492376" progId="Excel.Sheet.8">
                  <p:embed/>
                  <p:pic>
                    <p:nvPicPr>
                      <p:cNvPr id="31745" name="Object 2">
                        <a:extLst>
                          <a:ext uri="{FF2B5EF4-FFF2-40B4-BE49-F238E27FC236}">
                            <a16:creationId xmlns:a16="http://schemas.microsoft.com/office/drawing/2014/main" id="{26E22B37-D4AF-404C-89D4-8FDEC63897DE}"/>
                          </a:ext>
                        </a:extLst>
                      </p:cNvPr>
                      <p:cNvPicPr>
                        <a:picLocks noChangeAspect="1" noChangeArrowheads="1"/>
                      </p:cNvPicPr>
                      <p:nvPr/>
                    </p:nvPicPr>
                    <p:blipFill>
                      <a:blip r:embed="rId4"/>
                      <a:srcRect/>
                      <a:stretch>
                        <a:fillRect/>
                      </a:stretch>
                    </p:blipFill>
                    <p:spPr bwMode="auto">
                      <a:xfrm>
                        <a:off x="2698750" y="4014788"/>
                        <a:ext cx="6792913" cy="2312987"/>
                      </a:xfrm>
                      <a:prstGeom prst="rect">
                        <a:avLst/>
                      </a:prstGeom>
                      <a:noFill/>
                      <a:ln>
                        <a:noFill/>
                      </a:ln>
                      <a:effectLst/>
                    </p:spPr>
                  </p:pic>
                </p:oleObj>
              </mc:Fallback>
            </mc:AlternateContent>
          </a:graphicData>
        </a:graphic>
      </p:graphicFrame>
      <p:graphicFrame>
        <p:nvGraphicFramePr>
          <p:cNvPr id="31746" name="Object 3">
            <a:extLst>
              <a:ext uri="{FF2B5EF4-FFF2-40B4-BE49-F238E27FC236}">
                <a16:creationId xmlns:a16="http://schemas.microsoft.com/office/drawing/2014/main" id="{1918E9B3-688F-4058-83C2-969F5DA3B3B7}"/>
              </a:ext>
            </a:extLst>
          </p:cNvPr>
          <p:cNvGraphicFramePr>
            <a:graphicFrameLocks noChangeAspect="1"/>
          </p:cNvGraphicFramePr>
          <p:nvPr>
            <p:extLst>
              <p:ext uri="{D42A27DB-BD31-4B8C-83A1-F6EECF244321}">
                <p14:modId xmlns:p14="http://schemas.microsoft.com/office/powerpoint/2010/main" val="3356222030"/>
              </p:ext>
            </p:extLst>
          </p:nvPr>
        </p:nvGraphicFramePr>
        <p:xfrm>
          <a:off x="1938338" y="1214438"/>
          <a:ext cx="8112125" cy="2540000"/>
        </p:xfrm>
        <a:graphic>
          <a:graphicData uri="http://schemas.openxmlformats.org/presentationml/2006/ole">
            <mc:AlternateContent xmlns:mc="http://schemas.openxmlformats.org/markup-compatibility/2006">
              <mc:Choice xmlns:v="urn:schemas-microsoft-com:vml" Requires="v">
                <p:oleObj name="Worksheet" r:id="rId5" imgW="6210273" imgH="1949287" progId="Excel.Sheet.8">
                  <p:embed/>
                </p:oleObj>
              </mc:Choice>
              <mc:Fallback>
                <p:oleObj name="Worksheet" r:id="rId5" imgW="6210273" imgH="1949287" progId="Excel.Sheet.8">
                  <p:embed/>
                  <p:pic>
                    <p:nvPicPr>
                      <p:cNvPr id="31746" name="Object 3">
                        <a:extLst>
                          <a:ext uri="{FF2B5EF4-FFF2-40B4-BE49-F238E27FC236}">
                            <a16:creationId xmlns:a16="http://schemas.microsoft.com/office/drawing/2014/main" id="{1918E9B3-688F-4058-83C2-969F5DA3B3B7}"/>
                          </a:ext>
                        </a:extLst>
                      </p:cNvPr>
                      <p:cNvPicPr>
                        <a:picLocks noChangeAspect="1" noChangeArrowheads="1"/>
                      </p:cNvPicPr>
                      <p:nvPr/>
                    </p:nvPicPr>
                    <p:blipFill>
                      <a:blip r:embed="rId6"/>
                      <a:srcRect/>
                      <a:stretch>
                        <a:fillRect/>
                      </a:stretch>
                    </p:blipFill>
                    <p:spPr bwMode="auto">
                      <a:xfrm>
                        <a:off x="1938338" y="1214438"/>
                        <a:ext cx="8112125" cy="2540000"/>
                      </a:xfrm>
                      <a:prstGeom prst="rect">
                        <a:avLst/>
                      </a:prstGeom>
                      <a:noFill/>
                      <a:ln>
                        <a:solidFill>
                          <a:schemeClr val="tx1"/>
                        </a:solidFill>
                      </a:ln>
                      <a:effectLst/>
                    </p:spPr>
                  </p:pic>
                </p:oleObj>
              </mc:Fallback>
            </mc:AlternateContent>
          </a:graphicData>
        </a:graphic>
      </p:graphicFrame>
      <p:sp>
        <p:nvSpPr>
          <p:cNvPr id="2" name="Subtitle 1">
            <a:extLst>
              <a:ext uri="{FF2B5EF4-FFF2-40B4-BE49-F238E27FC236}">
                <a16:creationId xmlns:a16="http://schemas.microsoft.com/office/drawing/2014/main" id="{7E6E8747-37D5-0FF0-52CC-96A9DDA5135B}"/>
              </a:ext>
            </a:extLst>
          </p:cNvPr>
          <p:cNvSpPr>
            <a:spLocks noGrp="1"/>
          </p:cNvSpPr>
          <p:nvPr>
            <p:ph type="subTitle" idx="1"/>
          </p:nvPr>
        </p:nvSpPr>
        <p:spPr/>
        <p:txBody>
          <a:bodyPr/>
          <a:lstStyle/>
          <a:p>
            <a:r>
              <a:rPr lang="en-CA" dirty="0"/>
              <a:t>Identifying Relevant Cost  </a:t>
            </a:r>
          </a:p>
        </p:txBody>
      </p:sp>
      <p:sp>
        <p:nvSpPr>
          <p:cNvPr id="5" name="Slide Number Placeholder 4">
            <a:extLst>
              <a:ext uri="{FF2B5EF4-FFF2-40B4-BE49-F238E27FC236}">
                <a16:creationId xmlns:a16="http://schemas.microsoft.com/office/drawing/2014/main" id="{A748D672-8D55-F35B-8E15-A656AD52AC56}"/>
              </a:ext>
            </a:extLst>
          </p:cNvPr>
          <p:cNvSpPr>
            <a:spLocks noGrp="1"/>
          </p:cNvSpPr>
          <p:nvPr>
            <p:ph type="sldNum" sz="quarter" idx="12"/>
          </p:nvPr>
        </p:nvSpPr>
        <p:spPr/>
        <p:txBody>
          <a:bodyPr/>
          <a:lstStyle/>
          <a:p>
            <a:fld id="{9B7CDB38-6350-4CC9-AB0E-B9078CE1CE4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F2A01-AEC5-38E9-25F8-DFD1D162EB87}"/>
              </a:ext>
            </a:extLst>
          </p:cNvPr>
          <p:cNvSpPr>
            <a:spLocks noGrp="1"/>
          </p:cNvSpPr>
          <p:nvPr>
            <p:ph type="sldNum" sz="quarter" idx="12"/>
          </p:nvPr>
        </p:nvSpPr>
        <p:spPr/>
        <p:txBody>
          <a:bodyPr/>
          <a:lstStyle/>
          <a:p>
            <a:fld id="{9B7CDB38-6350-4CC9-AB0E-B9078CE1CE4B}" type="slidenum">
              <a:rPr lang="en-US" smtClean="0"/>
              <a:pPr/>
              <a:t>12</a:t>
            </a:fld>
            <a:endParaRPr lang="en-US"/>
          </a:p>
        </p:txBody>
      </p:sp>
      <p:sp>
        <p:nvSpPr>
          <p:cNvPr id="6" name="Subtitle 1">
            <a:extLst>
              <a:ext uri="{FF2B5EF4-FFF2-40B4-BE49-F238E27FC236}">
                <a16:creationId xmlns:a16="http://schemas.microsoft.com/office/drawing/2014/main" id="{8367AF41-0517-C60C-4FC2-0B8D282A4B34}"/>
              </a:ext>
            </a:extLst>
          </p:cNvPr>
          <p:cNvSpPr>
            <a:spLocks noGrp="1"/>
          </p:cNvSpPr>
          <p:nvPr>
            <p:ph type="subTitle" idx="1"/>
          </p:nvPr>
        </p:nvSpPr>
        <p:spPr>
          <a:xfrm>
            <a:off x="335361" y="-27384"/>
            <a:ext cx="9601067" cy="506016"/>
          </a:xfrm>
        </p:spPr>
        <p:txBody>
          <a:bodyPr/>
          <a:lstStyle/>
          <a:p>
            <a:r>
              <a:rPr lang="en-CA" dirty="0"/>
              <a:t>Identifying Relevant Cost  </a:t>
            </a:r>
          </a:p>
        </p:txBody>
      </p:sp>
      <p:graphicFrame>
        <p:nvGraphicFramePr>
          <p:cNvPr id="7" name="Table 6">
            <a:extLst>
              <a:ext uri="{FF2B5EF4-FFF2-40B4-BE49-F238E27FC236}">
                <a16:creationId xmlns:a16="http://schemas.microsoft.com/office/drawing/2014/main" id="{D64FE00A-AD93-F5B7-923D-CC85BEF7F4E0}"/>
              </a:ext>
            </a:extLst>
          </p:cNvPr>
          <p:cNvGraphicFramePr>
            <a:graphicFrameLocks noGrp="1"/>
          </p:cNvGraphicFramePr>
          <p:nvPr>
            <p:extLst>
              <p:ext uri="{D42A27DB-BD31-4B8C-83A1-F6EECF244321}">
                <p14:modId xmlns:p14="http://schemas.microsoft.com/office/powerpoint/2010/main" val="3844160833"/>
              </p:ext>
            </p:extLst>
          </p:nvPr>
        </p:nvGraphicFramePr>
        <p:xfrm>
          <a:off x="479377" y="475068"/>
          <a:ext cx="11089233" cy="6050280"/>
        </p:xfrm>
        <a:graphic>
          <a:graphicData uri="http://schemas.openxmlformats.org/drawingml/2006/table">
            <a:tbl>
              <a:tblPr firstRow="1" bandRow="1">
                <a:tableStyleId>{5C22544A-7EE6-4342-B048-85BDC9FD1C3A}</a:tableStyleId>
              </a:tblPr>
              <a:tblGrid>
                <a:gridCol w="3696411">
                  <a:extLst>
                    <a:ext uri="{9D8B030D-6E8A-4147-A177-3AD203B41FA5}">
                      <a16:colId xmlns:a16="http://schemas.microsoft.com/office/drawing/2014/main" val="95616649"/>
                    </a:ext>
                  </a:extLst>
                </a:gridCol>
                <a:gridCol w="2530025">
                  <a:extLst>
                    <a:ext uri="{9D8B030D-6E8A-4147-A177-3AD203B41FA5}">
                      <a16:colId xmlns:a16="http://schemas.microsoft.com/office/drawing/2014/main" val="291083528"/>
                    </a:ext>
                  </a:extLst>
                </a:gridCol>
                <a:gridCol w="4862797">
                  <a:extLst>
                    <a:ext uri="{9D8B030D-6E8A-4147-A177-3AD203B41FA5}">
                      <a16:colId xmlns:a16="http://schemas.microsoft.com/office/drawing/2014/main" val="4040484852"/>
                    </a:ext>
                  </a:extLst>
                </a:gridCol>
              </a:tblGrid>
              <a:tr h="370840">
                <a:tc>
                  <a:txBody>
                    <a:bodyPr/>
                    <a:lstStyle/>
                    <a:p>
                      <a:r>
                        <a:rPr lang="en-CA" dirty="0"/>
                        <a:t>Cost</a:t>
                      </a:r>
                    </a:p>
                  </a:txBody>
                  <a:tcPr/>
                </a:tc>
                <a:tc>
                  <a:txBody>
                    <a:bodyPr/>
                    <a:lstStyle/>
                    <a:p>
                      <a:r>
                        <a:rPr lang="en-CA" dirty="0"/>
                        <a:t>Relevant / </a:t>
                      </a:r>
                      <a:r>
                        <a:rPr lang="en-CA"/>
                        <a:t>Not Relevant</a:t>
                      </a:r>
                      <a:endParaRPr lang="en-CA" dirty="0"/>
                    </a:p>
                  </a:txBody>
                  <a:tcPr/>
                </a:tc>
                <a:tc>
                  <a:txBody>
                    <a:bodyPr/>
                    <a:lstStyle/>
                    <a:p>
                      <a:r>
                        <a:rPr lang="en-CA" dirty="0"/>
                        <a:t>Why</a:t>
                      </a:r>
                    </a:p>
                  </a:txBody>
                  <a:tcPr/>
                </a:tc>
                <a:extLst>
                  <a:ext uri="{0D108BD9-81ED-4DB2-BD59-A6C34878D82A}">
                    <a16:rowId xmlns:a16="http://schemas.microsoft.com/office/drawing/2014/main" val="3557285514"/>
                  </a:ext>
                </a:extLst>
              </a:tr>
              <a:tr h="370840">
                <a:tc>
                  <a:txBody>
                    <a:bodyPr/>
                    <a:lstStyle/>
                    <a:p>
                      <a:r>
                        <a:rPr lang="en-CA" sz="1800" b="0" dirty="0">
                          <a:latin typeface="Arial" panose="020B0604020202020204" pitchFamily="34" charset="0"/>
                          <a:cs typeface="Arial" panose="020B0604020202020204" pitchFamily="34" charset="0"/>
                        </a:rPr>
                        <a:t>Car</a:t>
                      </a:r>
                      <a:endParaRPr lang="en-CA" sz="1800" b="0" dirty="0"/>
                    </a:p>
                  </a:txBody>
                  <a:tcPr/>
                </a:tc>
                <a:tc>
                  <a:txBody>
                    <a:bodyPr/>
                    <a:lstStyle/>
                    <a:p>
                      <a:r>
                        <a:rPr lang="en-CA" sz="1800" dirty="0">
                          <a:latin typeface="Arial" panose="020B0604020202020204" pitchFamily="34" charset="0"/>
                          <a:cs typeface="Arial" panose="020B0604020202020204" pitchFamily="34" charset="0"/>
                        </a:rPr>
                        <a:t>Not Relevant - Sunk</a:t>
                      </a:r>
                    </a:p>
                  </a:txBody>
                  <a:tcPr/>
                </a:tc>
                <a:tc>
                  <a:txBody>
                    <a:bodyPr/>
                    <a:lstStyle/>
                    <a:p>
                      <a:r>
                        <a:rPr lang="en-CA" sz="1800" dirty="0">
                          <a:latin typeface="Arial" panose="020B0604020202020204" pitchFamily="34" charset="0"/>
                          <a:cs typeface="Arial" panose="020B0604020202020204" pitchFamily="34" charset="0"/>
                        </a:rPr>
                        <a:t>not relevant to the current decision.</a:t>
                      </a:r>
                      <a:endParaRPr lang="en-CA" sz="1800" dirty="0"/>
                    </a:p>
                  </a:txBody>
                  <a:tcPr/>
                </a:tc>
                <a:extLst>
                  <a:ext uri="{0D108BD9-81ED-4DB2-BD59-A6C34878D82A}">
                    <a16:rowId xmlns:a16="http://schemas.microsoft.com/office/drawing/2014/main" val="2213432847"/>
                  </a:ext>
                </a:extLst>
              </a:tr>
              <a:tr h="370840">
                <a:tc>
                  <a:txBody>
                    <a:bodyPr/>
                    <a:lstStyle/>
                    <a:p>
                      <a:r>
                        <a:rPr lang="en-CA" sz="1800" b="0" dirty="0">
                          <a:latin typeface="Arial" panose="020B0604020202020204" pitchFamily="34" charset="0"/>
                          <a:cs typeface="Arial" panose="020B0604020202020204" pitchFamily="34" charset="0"/>
                        </a:rPr>
                        <a:t>Insurance </a:t>
                      </a:r>
                      <a:endParaRPr lang="en-CA" sz="1800" b="0" dirty="0"/>
                    </a:p>
                  </a:txBody>
                  <a:tcPr/>
                </a:tc>
                <a:tc>
                  <a:txBody>
                    <a:bodyPr/>
                    <a:lstStyle/>
                    <a:p>
                      <a:r>
                        <a:rPr lang="en-CA" sz="1800" dirty="0">
                          <a:latin typeface="Arial" panose="020B0604020202020204" pitchFamily="34" charset="0"/>
                          <a:cs typeface="Arial" panose="020B0604020202020204" pitchFamily="34" charset="0"/>
                        </a:rPr>
                        <a:t>Not Relevant</a:t>
                      </a:r>
                    </a:p>
                  </a:txBody>
                  <a:tcPr/>
                </a:tc>
                <a:tc>
                  <a:txBody>
                    <a:bodyPr/>
                    <a:lstStyle/>
                    <a:p>
                      <a:r>
                        <a:rPr lang="en-CA" sz="1800" dirty="0">
                          <a:latin typeface="Arial" panose="020B0604020202020204" pitchFamily="34" charset="0"/>
                          <a:cs typeface="Arial" panose="020B0604020202020204" pitchFamily="34" charset="0"/>
                        </a:rPr>
                        <a:t>It will remain the same whether she drives or takes the train</a:t>
                      </a:r>
                    </a:p>
                  </a:txBody>
                  <a:tcPr/>
                </a:tc>
                <a:extLst>
                  <a:ext uri="{0D108BD9-81ED-4DB2-BD59-A6C34878D82A}">
                    <a16:rowId xmlns:a16="http://schemas.microsoft.com/office/drawing/2014/main" val="1752185908"/>
                  </a:ext>
                </a:extLst>
              </a:tr>
              <a:tr h="370840">
                <a:tc>
                  <a:txBody>
                    <a:bodyPr/>
                    <a:lstStyle/>
                    <a:p>
                      <a:r>
                        <a:rPr lang="en-CA" altLang="en-US" sz="1800" b="0" dirty="0">
                          <a:latin typeface="Arial" panose="020B0604020202020204" pitchFamily="34" charset="0"/>
                          <a:cs typeface="Arial" panose="020B0604020202020204" pitchFamily="34" charset="0"/>
                        </a:rPr>
                        <a:t>Gasoline</a:t>
                      </a:r>
                      <a:endParaRPr lang="en-CA" sz="1800" b="0" dirty="0"/>
                    </a:p>
                  </a:txBody>
                  <a:tcPr/>
                </a:tc>
                <a:tc>
                  <a:txBody>
                    <a:bodyPr/>
                    <a:lstStyle/>
                    <a:p>
                      <a:r>
                        <a:rPr lang="en-CA" sz="1800" dirty="0">
                          <a:latin typeface="Arial" panose="020B0604020202020204" pitchFamily="34" charset="0"/>
                          <a:cs typeface="Arial" panose="020B0604020202020204" pitchFamily="34" charset="0"/>
                        </a:rPr>
                        <a:t>Relevant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altLang="en-US" sz="1800" dirty="0">
                          <a:latin typeface="Arial" panose="020B0604020202020204" pitchFamily="34" charset="0"/>
                          <a:cs typeface="Arial" panose="020B0604020202020204" pitchFamily="34" charset="0"/>
                        </a:rPr>
                        <a:t>If she takes the train, the cost would not be incurred, so it varies depending on the decision.</a:t>
                      </a:r>
                    </a:p>
                  </a:txBody>
                  <a:tcPr/>
                </a:tc>
                <a:extLst>
                  <a:ext uri="{0D108BD9-81ED-4DB2-BD59-A6C34878D82A}">
                    <a16:rowId xmlns:a16="http://schemas.microsoft.com/office/drawing/2014/main" val="4121019278"/>
                  </a:ext>
                </a:extLst>
              </a:tr>
              <a:tr h="370840">
                <a:tc>
                  <a:txBody>
                    <a:bodyPr/>
                    <a:lstStyle/>
                    <a:p>
                      <a:r>
                        <a:rPr lang="en-CA" sz="1800" b="0" dirty="0">
                          <a:latin typeface="Arial" panose="020B0604020202020204" pitchFamily="34" charset="0"/>
                          <a:cs typeface="Arial" panose="020B0604020202020204" pitchFamily="34" charset="0"/>
                        </a:rPr>
                        <a:t>Monthly school parking fee </a:t>
                      </a:r>
                      <a:endParaRPr lang="en-CA" sz="1800" b="0" dirty="0"/>
                    </a:p>
                  </a:txBody>
                  <a:tcPr/>
                </a:tc>
                <a:tc>
                  <a:txBody>
                    <a:bodyPr/>
                    <a:lstStyle/>
                    <a:p>
                      <a:r>
                        <a:rPr lang="en-CA" sz="1800" dirty="0">
                          <a:latin typeface="Arial" panose="020B0604020202020204" pitchFamily="34" charset="0"/>
                          <a:cs typeface="Arial" panose="020B0604020202020204" pitchFamily="34" charset="0"/>
                        </a:rPr>
                        <a:t>Not Relevant</a:t>
                      </a:r>
                    </a:p>
                  </a:txBody>
                  <a:tcPr/>
                </a:tc>
                <a:tc>
                  <a:txBody>
                    <a:bodyPr/>
                    <a:lstStyle/>
                    <a:p>
                      <a:r>
                        <a:rPr lang="en-CA" sz="1800" dirty="0">
                          <a:latin typeface="Arial" panose="020B0604020202020204" pitchFamily="34" charset="0"/>
                          <a:cs typeface="Arial" panose="020B0604020202020204" pitchFamily="34" charset="0"/>
                        </a:rPr>
                        <a:t>must be paid whether Cynthia drives or takes the train.</a:t>
                      </a:r>
                      <a:endParaRPr lang="en-CA" sz="1800" dirty="0"/>
                    </a:p>
                  </a:txBody>
                  <a:tcPr/>
                </a:tc>
                <a:extLst>
                  <a:ext uri="{0D108BD9-81ED-4DB2-BD59-A6C34878D82A}">
                    <a16:rowId xmlns:a16="http://schemas.microsoft.com/office/drawing/2014/main" val="3367065718"/>
                  </a:ext>
                </a:extLst>
              </a:tr>
              <a:tr h="370840">
                <a:tc>
                  <a:txBody>
                    <a:bodyPr/>
                    <a:lstStyle/>
                    <a:p>
                      <a:r>
                        <a:rPr lang="en-CA" sz="1800" b="0" dirty="0">
                          <a:latin typeface="Arial" panose="020B0604020202020204" pitchFamily="34" charset="0"/>
                          <a:cs typeface="Arial" panose="020B0604020202020204" pitchFamily="34" charset="0"/>
                        </a:rPr>
                        <a:t>Round-trip train fare </a:t>
                      </a:r>
                      <a:endParaRPr lang="en-CA" sz="1800" b="0" dirty="0"/>
                    </a:p>
                  </a:txBody>
                  <a:tcPr/>
                </a:tc>
                <a:tc>
                  <a:txBody>
                    <a:bodyPr/>
                    <a:lstStyle/>
                    <a:p>
                      <a:r>
                        <a:rPr lang="en-CA" sz="1800" dirty="0">
                          <a:latin typeface="Arial" panose="020B0604020202020204" pitchFamily="34" charset="0"/>
                          <a:cs typeface="Arial" panose="020B0604020202020204" pitchFamily="34" charset="0"/>
                        </a:rPr>
                        <a:t>Relevant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dirty="0">
                          <a:latin typeface="Arial" panose="020B0604020202020204" pitchFamily="34" charset="0"/>
                          <a:cs typeface="Arial" panose="020B0604020202020204" pitchFamily="34" charset="0"/>
                        </a:rPr>
                        <a:t>If she drives the cost can be avoided.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dirty="0">
                          <a:latin typeface="Arial" panose="020B0604020202020204" pitchFamily="34" charset="0"/>
                          <a:cs typeface="Arial" panose="020B0604020202020204" pitchFamily="34" charset="0"/>
                        </a:rPr>
                        <a:t>Relaxing on the train is relevant even though it is impossible to assign a dollar value to the benefit. </a:t>
                      </a:r>
                    </a:p>
                  </a:txBody>
                  <a:tcPr/>
                </a:tc>
                <a:extLst>
                  <a:ext uri="{0D108BD9-81ED-4DB2-BD59-A6C34878D82A}">
                    <a16:rowId xmlns:a16="http://schemas.microsoft.com/office/drawing/2014/main" val="3399199478"/>
                  </a:ext>
                </a:extLst>
              </a:tr>
              <a:tr h="370840">
                <a:tc>
                  <a:txBody>
                    <a:bodyPr/>
                    <a:lstStyle/>
                    <a:p>
                      <a:r>
                        <a:rPr lang="en-CA" sz="1800" b="0" dirty="0">
                          <a:latin typeface="Arial" panose="020B0604020202020204" pitchFamily="34" charset="0"/>
                          <a:cs typeface="Arial" panose="020B0604020202020204" pitchFamily="34" charset="0"/>
                        </a:rPr>
                        <a:t>Kennel cost for the dog</a:t>
                      </a:r>
                      <a:endParaRPr lang="en-CA" sz="1800" b="0" dirty="0"/>
                    </a:p>
                  </a:txBody>
                  <a:tcPr/>
                </a:tc>
                <a:tc>
                  <a:txBody>
                    <a:bodyPr/>
                    <a:lstStyle/>
                    <a:p>
                      <a:r>
                        <a:rPr lang="en-CA" sz="1800" dirty="0">
                          <a:latin typeface="Arial" panose="020B0604020202020204" pitchFamily="34" charset="0"/>
                          <a:cs typeface="Arial" panose="020B0604020202020204" pitchFamily="34" charset="0"/>
                        </a:rPr>
                        <a:t>Not Relevant</a:t>
                      </a:r>
                    </a:p>
                  </a:txBody>
                  <a:tcPr/>
                </a:tc>
                <a:tc>
                  <a:txBody>
                    <a:bodyPr/>
                    <a:lstStyle/>
                    <a:p>
                      <a:r>
                        <a:rPr lang="en-CA" sz="1800" dirty="0">
                          <a:latin typeface="Arial" panose="020B0604020202020204" pitchFamily="34" charset="0"/>
                          <a:cs typeface="Arial" panose="020B0604020202020204" pitchFamily="34" charset="0"/>
                        </a:rPr>
                        <a:t>Cynthia will incur the cost whether she drives or takes the train.</a:t>
                      </a:r>
                      <a:endParaRPr lang="en-CA" sz="1800" dirty="0"/>
                    </a:p>
                  </a:txBody>
                  <a:tcPr/>
                </a:tc>
                <a:extLst>
                  <a:ext uri="{0D108BD9-81ED-4DB2-BD59-A6C34878D82A}">
                    <a16:rowId xmlns:a16="http://schemas.microsoft.com/office/drawing/2014/main" val="4047845538"/>
                  </a:ext>
                </a:extLst>
              </a:tr>
              <a:tr h="370840">
                <a:tc>
                  <a:txBody>
                    <a:bodyPr/>
                    <a:lstStyle/>
                    <a:p>
                      <a:r>
                        <a:rPr lang="en-CA" sz="1800" b="0" dirty="0">
                          <a:latin typeface="Arial" panose="020B0604020202020204" pitchFamily="34" charset="0"/>
                          <a:cs typeface="Arial" panose="020B0604020202020204" pitchFamily="34" charset="0"/>
                        </a:rPr>
                        <a:t>Cost of parking </a:t>
                      </a:r>
                      <a:endParaRPr lang="en-CA" sz="1800" b="0" dirty="0"/>
                    </a:p>
                  </a:txBody>
                  <a:tcPr/>
                </a:tc>
                <a:tc>
                  <a:txBody>
                    <a:bodyPr/>
                    <a:lstStyle/>
                    <a:p>
                      <a:r>
                        <a:rPr lang="en-CA" sz="1800" dirty="0">
                          <a:latin typeface="Arial" panose="020B0604020202020204" pitchFamily="34" charset="0"/>
                          <a:cs typeface="Arial" panose="020B0604020202020204" pitchFamily="34" charset="0"/>
                        </a:rPr>
                        <a:t>Relevant</a:t>
                      </a:r>
                    </a:p>
                  </a:txBody>
                  <a:tcPr/>
                </a:tc>
                <a:tc>
                  <a:txBody>
                    <a:bodyPr/>
                    <a:lstStyle/>
                    <a:p>
                      <a:r>
                        <a:rPr lang="en-CA" sz="1800" dirty="0">
                          <a:latin typeface="Arial" panose="020B0604020202020204" pitchFamily="34" charset="0"/>
                          <a:cs typeface="Arial" panose="020B0604020202020204" pitchFamily="34" charset="0"/>
                        </a:rPr>
                        <a:t>it can be avoided if she takes the train. </a:t>
                      </a:r>
                      <a:endParaRPr lang="en-CA" sz="1800" dirty="0"/>
                    </a:p>
                  </a:txBody>
                  <a:tcPr/>
                </a:tc>
                <a:extLst>
                  <a:ext uri="{0D108BD9-81ED-4DB2-BD59-A6C34878D82A}">
                    <a16:rowId xmlns:a16="http://schemas.microsoft.com/office/drawing/2014/main" val="2142692321"/>
                  </a:ext>
                </a:extLst>
              </a:tr>
              <a:tr h="370840">
                <a:tc>
                  <a:txBody>
                    <a:bodyPr/>
                    <a:lstStyle/>
                    <a:p>
                      <a:r>
                        <a:rPr lang="en-CA" altLang="en-US" sz="1800" b="0" dirty="0">
                          <a:latin typeface="Arial" panose="020B0604020202020204" pitchFamily="34" charset="0"/>
                          <a:cs typeface="Arial" panose="020B0604020202020204" pitchFamily="34" charset="0"/>
                        </a:rPr>
                        <a:t>The problems of finding a parking space</a:t>
                      </a:r>
                      <a:endParaRPr lang="en-CA" sz="1800" b="0" dirty="0"/>
                    </a:p>
                  </a:txBody>
                  <a:tcPr/>
                </a:tc>
                <a:tc>
                  <a:txBody>
                    <a:bodyPr/>
                    <a:lstStyle/>
                    <a:p>
                      <a:r>
                        <a:rPr lang="en-CA" sz="1800" dirty="0">
                          <a:latin typeface="Arial" panose="020B0604020202020204" pitchFamily="34" charset="0"/>
                          <a:cs typeface="Arial" panose="020B0604020202020204" pitchFamily="34" charset="0"/>
                        </a:rPr>
                        <a:t>Relevant</a:t>
                      </a:r>
                    </a:p>
                  </a:txBody>
                  <a:tcPr/>
                </a:tc>
                <a:tc>
                  <a:txBody>
                    <a:bodyPr/>
                    <a:lstStyle/>
                    <a:p>
                      <a:r>
                        <a:rPr lang="en-CA" altLang="en-US" sz="1800" dirty="0">
                          <a:latin typeface="Arial" panose="020B0604020202020204" pitchFamily="34" charset="0"/>
                          <a:cs typeface="Arial" panose="020B0604020202020204" pitchFamily="34" charset="0"/>
                        </a:rPr>
                        <a:t>impossible to assign a dollar amount</a:t>
                      </a:r>
                      <a:endParaRPr lang="en-CA" sz="1800" dirty="0"/>
                    </a:p>
                  </a:txBody>
                  <a:tcPr/>
                </a:tc>
                <a:extLst>
                  <a:ext uri="{0D108BD9-81ED-4DB2-BD59-A6C34878D82A}">
                    <a16:rowId xmlns:a16="http://schemas.microsoft.com/office/drawing/2014/main" val="3393491397"/>
                  </a:ext>
                </a:extLst>
              </a:tr>
            </a:tbl>
          </a:graphicData>
        </a:graphic>
      </p:graphicFrame>
    </p:spTree>
    <p:extLst>
      <p:ext uri="{BB962C8B-B14F-4D97-AF65-F5344CB8AC3E}">
        <p14:creationId xmlns:p14="http://schemas.microsoft.com/office/powerpoint/2010/main" val="3237828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5" name="Text Box 1027">
            <a:extLst>
              <a:ext uri="{FF2B5EF4-FFF2-40B4-BE49-F238E27FC236}">
                <a16:creationId xmlns:a16="http://schemas.microsoft.com/office/drawing/2014/main" id="{F4F44B07-C9E6-4488-A006-7F7EC4F8D6AC}"/>
              </a:ext>
            </a:extLst>
          </p:cNvPr>
          <p:cNvSpPr txBox="1">
            <a:spLocks noChangeArrowheads="1"/>
          </p:cNvSpPr>
          <p:nvPr/>
        </p:nvSpPr>
        <p:spPr bwMode="auto">
          <a:xfrm>
            <a:off x="2135981" y="1085987"/>
            <a:ext cx="7848600" cy="1107996"/>
          </a:xfrm>
          <a:prstGeom prst="rect">
            <a:avLst/>
          </a:prstGeom>
          <a:solidFill>
            <a:srgbClr val="1C3163"/>
          </a:solidFill>
          <a:ln w="9525">
            <a:solidFill>
              <a:srgbClr val="000000"/>
            </a:solidFill>
            <a:miter lim="800000"/>
            <a:headEnd/>
            <a:tailEnd/>
          </a:ln>
          <a:effectLst>
            <a:outerShdw blurRad="63500" dist="38099" dir="2700000" algn="ctr" rotWithShape="0">
              <a:srgbClr val="000000">
                <a:alpha val="74997"/>
              </a:srgbClr>
            </a:outerShdw>
          </a:effectLst>
        </p:spPr>
        <p:txBody>
          <a:bodyPr>
            <a:spAutoFit/>
          </a:bodyPr>
          <a:lstStyle/>
          <a:p>
            <a:pPr algn="ctr" eaLnBrk="1" hangingPunct="1">
              <a:spcBef>
                <a:spcPct val="50000"/>
              </a:spcBef>
              <a:defRPr/>
            </a:pPr>
            <a:r>
              <a:rPr lang="en-CA" sz="2200" b="1" dirty="0">
                <a:solidFill>
                  <a:srgbClr val="FFFFFF"/>
                </a:solidFill>
                <a:latin typeface="Arial" panose="020B0604020202020204" pitchFamily="34" charset="0"/>
                <a:cs typeface="Arial" panose="020B0604020202020204" pitchFamily="34" charset="0"/>
              </a:rPr>
              <a:t>From a financial standpoint, Cynthia would be better off taking the train to visit her friend. Some of the non-financial factors may influence her final decision.</a:t>
            </a:r>
          </a:p>
        </p:txBody>
      </p:sp>
      <p:graphicFrame>
        <p:nvGraphicFramePr>
          <p:cNvPr id="41986" name="Object 2">
            <a:extLst>
              <a:ext uri="{FF2B5EF4-FFF2-40B4-BE49-F238E27FC236}">
                <a16:creationId xmlns:a16="http://schemas.microsoft.com/office/drawing/2014/main" id="{7C3333A5-4665-4B71-903D-667E3508F7B0}"/>
              </a:ext>
            </a:extLst>
          </p:cNvPr>
          <p:cNvGraphicFramePr>
            <a:graphicFrameLocks noChangeAspect="1"/>
          </p:cNvGraphicFramePr>
          <p:nvPr>
            <p:extLst>
              <p:ext uri="{D42A27DB-BD31-4B8C-83A1-F6EECF244321}">
                <p14:modId xmlns:p14="http://schemas.microsoft.com/office/powerpoint/2010/main" val="3318418560"/>
              </p:ext>
            </p:extLst>
          </p:nvPr>
        </p:nvGraphicFramePr>
        <p:xfrm>
          <a:off x="2900363" y="2324100"/>
          <a:ext cx="6858000" cy="2133600"/>
        </p:xfrm>
        <a:graphic>
          <a:graphicData uri="http://schemas.openxmlformats.org/presentationml/2006/ole">
            <mc:AlternateContent xmlns:mc="http://schemas.openxmlformats.org/markup-compatibility/2006">
              <mc:Choice xmlns:v="urn:schemas-microsoft-com:vml" Requires="v">
                <p:oleObj name="Worksheet" r:id="rId3" imgW="4521360" imgH="1396872" progId="Excel.Sheet.8">
                  <p:embed/>
                </p:oleObj>
              </mc:Choice>
              <mc:Fallback>
                <p:oleObj name="Worksheet" r:id="rId3" imgW="4521360" imgH="1396872" progId="Excel.Sheet.8">
                  <p:embed/>
                  <p:pic>
                    <p:nvPicPr>
                      <p:cNvPr id="41986" name="Object 2">
                        <a:extLst>
                          <a:ext uri="{FF2B5EF4-FFF2-40B4-BE49-F238E27FC236}">
                            <a16:creationId xmlns:a16="http://schemas.microsoft.com/office/drawing/2014/main" id="{7C3333A5-4665-4B71-903D-667E3508F7B0}"/>
                          </a:ext>
                        </a:extLst>
                      </p:cNvPr>
                      <p:cNvPicPr>
                        <a:picLocks noChangeAspect="1" noChangeArrowheads="1"/>
                      </p:cNvPicPr>
                      <p:nvPr/>
                    </p:nvPicPr>
                    <p:blipFill>
                      <a:blip r:embed="rId4"/>
                      <a:srcRect/>
                      <a:stretch>
                        <a:fillRect/>
                      </a:stretch>
                    </p:blipFill>
                    <p:spPr bwMode="auto">
                      <a:xfrm>
                        <a:off x="2900363" y="2324100"/>
                        <a:ext cx="6858000" cy="2133600"/>
                      </a:xfrm>
                      <a:prstGeom prst="rect">
                        <a:avLst/>
                      </a:prstGeom>
                      <a:noFill/>
                      <a:ln w="9525">
                        <a:solidFill>
                          <a:srgbClr val="1C3163"/>
                        </a:solidFill>
                        <a:miter lim="800000"/>
                        <a:headEnd/>
                        <a:tailEnd/>
                      </a:ln>
                    </p:spPr>
                  </p:pic>
                </p:oleObj>
              </mc:Fallback>
            </mc:AlternateContent>
          </a:graphicData>
        </a:graphic>
      </p:graphicFrame>
      <p:graphicFrame>
        <p:nvGraphicFramePr>
          <p:cNvPr id="41987" name="Object 3">
            <a:extLst>
              <a:ext uri="{FF2B5EF4-FFF2-40B4-BE49-F238E27FC236}">
                <a16:creationId xmlns:a16="http://schemas.microsoft.com/office/drawing/2014/main" id="{3834EF09-72B0-46A9-BF58-0BC2FC139F82}"/>
              </a:ext>
            </a:extLst>
          </p:cNvPr>
          <p:cNvGraphicFramePr>
            <a:graphicFrameLocks noChangeAspect="1"/>
          </p:cNvGraphicFramePr>
          <p:nvPr>
            <p:extLst>
              <p:ext uri="{D42A27DB-BD31-4B8C-83A1-F6EECF244321}">
                <p14:modId xmlns:p14="http://schemas.microsoft.com/office/powerpoint/2010/main" val="86020019"/>
              </p:ext>
            </p:extLst>
          </p:nvPr>
        </p:nvGraphicFramePr>
        <p:xfrm>
          <a:off x="3317875" y="4884738"/>
          <a:ext cx="6022975" cy="919162"/>
        </p:xfrm>
        <a:graphic>
          <a:graphicData uri="http://schemas.openxmlformats.org/presentationml/2006/ole">
            <mc:AlternateContent xmlns:mc="http://schemas.openxmlformats.org/markup-compatibility/2006">
              <mc:Choice xmlns:v="urn:schemas-microsoft-com:vml" Requires="v">
                <p:oleObj name="Worksheet" r:id="rId5" imgW="4247917" imgH="609718" progId="Excel.Sheet.8">
                  <p:embed/>
                </p:oleObj>
              </mc:Choice>
              <mc:Fallback>
                <p:oleObj name="Worksheet" r:id="rId5" imgW="4247917" imgH="609718" progId="Excel.Sheet.8">
                  <p:embed/>
                  <p:pic>
                    <p:nvPicPr>
                      <p:cNvPr id="41987" name="Object 3">
                        <a:extLst>
                          <a:ext uri="{FF2B5EF4-FFF2-40B4-BE49-F238E27FC236}">
                            <a16:creationId xmlns:a16="http://schemas.microsoft.com/office/drawing/2014/main" id="{3834EF09-72B0-46A9-BF58-0BC2FC139F82}"/>
                          </a:ext>
                        </a:extLst>
                      </p:cNvPr>
                      <p:cNvPicPr>
                        <a:picLocks noChangeAspect="1" noChangeArrowheads="1"/>
                      </p:cNvPicPr>
                      <p:nvPr/>
                    </p:nvPicPr>
                    <p:blipFill>
                      <a:blip r:embed="rId6"/>
                      <a:srcRect/>
                      <a:stretch>
                        <a:fillRect/>
                      </a:stretch>
                    </p:blipFill>
                    <p:spPr bwMode="auto">
                      <a:xfrm>
                        <a:off x="3317875" y="4884738"/>
                        <a:ext cx="6022975" cy="919162"/>
                      </a:xfrm>
                      <a:prstGeom prst="rect">
                        <a:avLst/>
                      </a:prstGeom>
                      <a:noFill/>
                      <a:ln w="9525">
                        <a:solidFill>
                          <a:srgbClr val="1C3163"/>
                        </a:solidFill>
                        <a:miter lim="800000"/>
                        <a:headEnd/>
                        <a:tailEnd/>
                      </a:ln>
                    </p:spPr>
                  </p:pic>
                </p:oleObj>
              </mc:Fallback>
            </mc:AlternateContent>
          </a:graphicData>
        </a:graphic>
      </p:graphicFrame>
      <p:sp>
        <p:nvSpPr>
          <p:cNvPr id="2" name="Subtitle 1">
            <a:extLst>
              <a:ext uri="{FF2B5EF4-FFF2-40B4-BE49-F238E27FC236}">
                <a16:creationId xmlns:a16="http://schemas.microsoft.com/office/drawing/2014/main" id="{C4AED8C6-7693-B1E0-D80D-FD8FCD031FA9}"/>
              </a:ext>
            </a:extLst>
          </p:cNvPr>
          <p:cNvSpPr>
            <a:spLocks noGrp="1"/>
          </p:cNvSpPr>
          <p:nvPr>
            <p:ph type="subTitle" idx="1"/>
          </p:nvPr>
        </p:nvSpPr>
        <p:spPr/>
        <p:txBody>
          <a:bodyPr/>
          <a:lstStyle/>
          <a:p>
            <a:r>
              <a:rPr lang="en-CA" dirty="0"/>
              <a:t>Identifying Relevant Costs</a:t>
            </a:r>
          </a:p>
        </p:txBody>
      </p:sp>
      <p:sp>
        <p:nvSpPr>
          <p:cNvPr id="5" name="Slide Number Placeholder 4">
            <a:extLst>
              <a:ext uri="{FF2B5EF4-FFF2-40B4-BE49-F238E27FC236}">
                <a16:creationId xmlns:a16="http://schemas.microsoft.com/office/drawing/2014/main" id="{F1A8161A-9103-BE1B-F3C7-01603E239707}"/>
              </a:ext>
            </a:extLst>
          </p:cNvPr>
          <p:cNvSpPr>
            <a:spLocks noGrp="1"/>
          </p:cNvSpPr>
          <p:nvPr>
            <p:ph type="sldNum" sz="quarter" idx="12"/>
          </p:nvPr>
        </p:nvSpPr>
        <p:spPr/>
        <p:txBody>
          <a:bodyPr/>
          <a:lstStyle/>
          <a:p>
            <a:fld id="{9B7CDB38-6350-4CC9-AB0E-B9078CE1CE4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9820" y="855495"/>
            <a:ext cx="5347335" cy="5254644"/>
          </a:xfrm>
          <a:prstGeom prst="rect">
            <a:avLst/>
          </a:prstGeom>
        </p:spPr>
        <p:txBody>
          <a:bodyPr vert="horz" wrap="square" lIns="0" tIns="161925" rIns="0" bIns="0" rtlCol="0">
            <a:spAutoFit/>
          </a:bodyPr>
          <a:lstStyle/>
          <a:p>
            <a:pPr marL="469265" indent="-456565">
              <a:lnSpc>
                <a:spcPct val="100000"/>
              </a:lnSpc>
              <a:spcBef>
                <a:spcPts val="1275"/>
              </a:spcBef>
              <a:buSzPct val="79166"/>
              <a:buAutoNum type="arabicPeriod"/>
              <a:tabLst>
                <a:tab pos="469265" algn="l"/>
              </a:tabLst>
            </a:pPr>
            <a:r>
              <a:rPr sz="2400" dirty="0">
                <a:latin typeface="Arial MT"/>
                <a:cs typeface="Arial MT"/>
              </a:rPr>
              <a:t>Keep</a:t>
            </a:r>
            <a:r>
              <a:rPr sz="2400" spc="-45" dirty="0">
                <a:latin typeface="Arial MT"/>
                <a:cs typeface="Arial MT"/>
              </a:rPr>
              <a:t> </a:t>
            </a:r>
            <a:r>
              <a:rPr sz="2400" dirty="0">
                <a:latin typeface="Arial MT"/>
                <a:cs typeface="Arial MT"/>
              </a:rPr>
              <a:t>or</a:t>
            </a:r>
            <a:r>
              <a:rPr sz="2400" spc="-50" dirty="0">
                <a:latin typeface="Arial MT"/>
                <a:cs typeface="Arial MT"/>
              </a:rPr>
              <a:t> </a:t>
            </a:r>
            <a:r>
              <a:rPr sz="2400" spc="-10" dirty="0">
                <a:latin typeface="Arial MT"/>
                <a:cs typeface="Arial MT"/>
              </a:rPr>
              <a:t>replace</a:t>
            </a:r>
            <a:endParaRPr sz="2400" dirty="0">
              <a:latin typeface="Arial MT"/>
              <a:cs typeface="Arial MT"/>
            </a:endParaRPr>
          </a:p>
          <a:p>
            <a:pPr marL="469265" indent="-456565">
              <a:lnSpc>
                <a:spcPct val="100000"/>
              </a:lnSpc>
              <a:spcBef>
                <a:spcPts val="1180"/>
              </a:spcBef>
              <a:buSzPct val="79166"/>
              <a:buAutoNum type="arabicPeriod"/>
              <a:tabLst>
                <a:tab pos="469265" algn="l"/>
              </a:tabLst>
            </a:pPr>
            <a:r>
              <a:rPr sz="2400" dirty="0">
                <a:latin typeface="Arial MT"/>
                <a:cs typeface="Arial MT"/>
              </a:rPr>
              <a:t>Make</a:t>
            </a:r>
            <a:r>
              <a:rPr sz="2400" spc="-50" dirty="0">
                <a:latin typeface="Arial MT"/>
                <a:cs typeface="Arial MT"/>
              </a:rPr>
              <a:t> </a:t>
            </a:r>
            <a:r>
              <a:rPr sz="2400" dirty="0">
                <a:latin typeface="Arial MT"/>
                <a:cs typeface="Arial MT"/>
              </a:rPr>
              <a:t>or</a:t>
            </a:r>
            <a:r>
              <a:rPr sz="2400" spc="-45" dirty="0">
                <a:latin typeface="Arial MT"/>
                <a:cs typeface="Arial MT"/>
              </a:rPr>
              <a:t> </a:t>
            </a:r>
            <a:r>
              <a:rPr sz="2400" spc="-25" dirty="0">
                <a:latin typeface="Arial MT"/>
                <a:cs typeface="Arial MT"/>
              </a:rPr>
              <a:t>buy</a:t>
            </a:r>
            <a:endParaRPr sz="2400" dirty="0">
              <a:latin typeface="Arial MT"/>
              <a:cs typeface="Arial MT"/>
            </a:endParaRPr>
          </a:p>
          <a:p>
            <a:pPr marL="469265" indent="-456565">
              <a:lnSpc>
                <a:spcPct val="100000"/>
              </a:lnSpc>
              <a:spcBef>
                <a:spcPts val="1175"/>
              </a:spcBef>
              <a:buSzPct val="79166"/>
              <a:buAutoNum type="arabicPeriod"/>
              <a:tabLst>
                <a:tab pos="469265" algn="l"/>
              </a:tabLst>
            </a:pPr>
            <a:r>
              <a:rPr sz="2400" dirty="0">
                <a:latin typeface="Arial MT"/>
                <a:cs typeface="Arial MT"/>
              </a:rPr>
              <a:t>Sell</a:t>
            </a:r>
            <a:r>
              <a:rPr sz="2400" spc="-45" dirty="0">
                <a:latin typeface="Arial MT"/>
                <a:cs typeface="Arial MT"/>
              </a:rPr>
              <a:t> </a:t>
            </a:r>
            <a:r>
              <a:rPr sz="2400" dirty="0">
                <a:latin typeface="Arial MT"/>
                <a:cs typeface="Arial MT"/>
              </a:rPr>
              <a:t>now</a:t>
            </a:r>
            <a:r>
              <a:rPr sz="2400" spc="-60" dirty="0">
                <a:latin typeface="Arial MT"/>
                <a:cs typeface="Arial MT"/>
              </a:rPr>
              <a:t> </a:t>
            </a:r>
            <a:r>
              <a:rPr sz="2400" dirty="0">
                <a:latin typeface="Arial MT"/>
                <a:cs typeface="Arial MT"/>
              </a:rPr>
              <a:t>or</a:t>
            </a:r>
            <a:r>
              <a:rPr sz="2400" spc="-50" dirty="0">
                <a:latin typeface="Arial MT"/>
                <a:cs typeface="Arial MT"/>
              </a:rPr>
              <a:t> </a:t>
            </a:r>
            <a:r>
              <a:rPr sz="2400" dirty="0">
                <a:latin typeface="Arial MT"/>
                <a:cs typeface="Arial MT"/>
              </a:rPr>
              <a:t>process</a:t>
            </a:r>
            <a:r>
              <a:rPr sz="2400" spc="-55" dirty="0">
                <a:latin typeface="Arial MT"/>
                <a:cs typeface="Arial MT"/>
              </a:rPr>
              <a:t> </a:t>
            </a:r>
            <a:r>
              <a:rPr sz="2400" spc="-10" dirty="0">
                <a:latin typeface="Arial MT"/>
                <a:cs typeface="Arial MT"/>
              </a:rPr>
              <a:t>further</a:t>
            </a:r>
            <a:endParaRPr sz="2400" dirty="0">
              <a:latin typeface="Arial MT"/>
              <a:cs typeface="Arial MT"/>
            </a:endParaRPr>
          </a:p>
          <a:p>
            <a:pPr marL="469265" indent="-456565">
              <a:lnSpc>
                <a:spcPct val="100000"/>
              </a:lnSpc>
              <a:spcBef>
                <a:spcPts val="1175"/>
              </a:spcBef>
              <a:buSzPct val="79166"/>
              <a:buAutoNum type="arabicPeriod"/>
              <a:tabLst>
                <a:tab pos="469265" algn="l"/>
              </a:tabLst>
            </a:pPr>
            <a:r>
              <a:rPr sz="2400" dirty="0">
                <a:latin typeface="Arial MT"/>
                <a:cs typeface="Arial MT"/>
              </a:rPr>
              <a:t>Continue</a:t>
            </a:r>
            <a:r>
              <a:rPr sz="2400" spc="-90" dirty="0">
                <a:latin typeface="Arial MT"/>
                <a:cs typeface="Arial MT"/>
              </a:rPr>
              <a:t> </a:t>
            </a:r>
            <a:r>
              <a:rPr sz="2400" dirty="0">
                <a:latin typeface="Arial MT"/>
                <a:cs typeface="Arial MT"/>
              </a:rPr>
              <a:t>or</a:t>
            </a:r>
            <a:r>
              <a:rPr sz="2400" spc="-105" dirty="0">
                <a:latin typeface="Arial MT"/>
                <a:cs typeface="Arial MT"/>
              </a:rPr>
              <a:t> </a:t>
            </a:r>
            <a:r>
              <a:rPr sz="2400" dirty="0">
                <a:latin typeface="Arial MT"/>
                <a:cs typeface="Arial MT"/>
              </a:rPr>
              <a:t>discontinue</a:t>
            </a:r>
            <a:r>
              <a:rPr sz="2400" spc="-85" dirty="0">
                <a:latin typeface="Arial MT"/>
                <a:cs typeface="Arial MT"/>
              </a:rPr>
              <a:t> </a:t>
            </a:r>
            <a:r>
              <a:rPr sz="2400" dirty="0">
                <a:latin typeface="Arial MT"/>
                <a:cs typeface="Arial MT"/>
              </a:rPr>
              <a:t>product</a:t>
            </a:r>
            <a:r>
              <a:rPr sz="2400" spc="-100" dirty="0">
                <a:latin typeface="Arial MT"/>
                <a:cs typeface="Arial MT"/>
              </a:rPr>
              <a:t> </a:t>
            </a:r>
            <a:r>
              <a:rPr sz="2400" spc="-20" dirty="0">
                <a:latin typeface="Arial MT"/>
                <a:cs typeface="Arial MT"/>
              </a:rPr>
              <a:t>line</a:t>
            </a:r>
            <a:endParaRPr sz="2400" dirty="0">
              <a:latin typeface="Arial MT"/>
              <a:cs typeface="Arial MT"/>
            </a:endParaRPr>
          </a:p>
          <a:p>
            <a:pPr marL="469265" indent="-456565">
              <a:lnSpc>
                <a:spcPct val="100000"/>
              </a:lnSpc>
              <a:spcBef>
                <a:spcPts val="1180"/>
              </a:spcBef>
              <a:buSzPct val="79166"/>
              <a:buAutoNum type="arabicPeriod"/>
              <a:tabLst>
                <a:tab pos="469265" algn="l"/>
              </a:tabLst>
            </a:pPr>
            <a:r>
              <a:rPr sz="2400" dirty="0">
                <a:latin typeface="Arial MT"/>
                <a:cs typeface="Arial MT"/>
              </a:rPr>
              <a:t>Accept</a:t>
            </a:r>
            <a:r>
              <a:rPr sz="2400" spc="-65" dirty="0">
                <a:latin typeface="Arial MT"/>
                <a:cs typeface="Arial MT"/>
              </a:rPr>
              <a:t> </a:t>
            </a:r>
            <a:r>
              <a:rPr sz="2400" dirty="0">
                <a:latin typeface="Arial MT"/>
                <a:cs typeface="Arial MT"/>
              </a:rPr>
              <a:t>or</a:t>
            </a:r>
            <a:r>
              <a:rPr sz="2400" spc="-60" dirty="0">
                <a:latin typeface="Arial MT"/>
                <a:cs typeface="Arial MT"/>
              </a:rPr>
              <a:t> </a:t>
            </a:r>
            <a:r>
              <a:rPr sz="2400" dirty="0">
                <a:latin typeface="Arial MT"/>
                <a:cs typeface="Arial MT"/>
              </a:rPr>
              <a:t>reject</a:t>
            </a:r>
            <a:r>
              <a:rPr sz="2400" spc="-65" dirty="0">
                <a:latin typeface="Arial MT"/>
                <a:cs typeface="Arial MT"/>
              </a:rPr>
              <a:t> </a:t>
            </a:r>
            <a:r>
              <a:rPr sz="2400" dirty="0">
                <a:latin typeface="Arial MT"/>
                <a:cs typeface="Arial MT"/>
              </a:rPr>
              <a:t>special</a:t>
            </a:r>
            <a:r>
              <a:rPr sz="2400" spc="-50" dirty="0">
                <a:latin typeface="Arial MT"/>
                <a:cs typeface="Arial MT"/>
              </a:rPr>
              <a:t> </a:t>
            </a:r>
            <a:r>
              <a:rPr sz="2400" spc="-10" dirty="0">
                <a:latin typeface="Arial MT"/>
                <a:cs typeface="Arial MT"/>
              </a:rPr>
              <a:t>offer</a:t>
            </a:r>
            <a:endParaRPr sz="2400" dirty="0">
              <a:latin typeface="Arial MT"/>
              <a:cs typeface="Arial MT"/>
            </a:endParaRPr>
          </a:p>
          <a:p>
            <a:pPr marL="469265" indent="-456565">
              <a:lnSpc>
                <a:spcPct val="100000"/>
              </a:lnSpc>
              <a:spcBef>
                <a:spcPts val="1175"/>
              </a:spcBef>
              <a:buSzPct val="79166"/>
              <a:buAutoNum type="arabicPeriod"/>
              <a:tabLst>
                <a:tab pos="469265" algn="l"/>
              </a:tabLst>
            </a:pPr>
            <a:r>
              <a:rPr sz="2400" dirty="0">
                <a:latin typeface="Arial MT"/>
                <a:cs typeface="Arial MT"/>
              </a:rPr>
              <a:t>Change</a:t>
            </a:r>
            <a:r>
              <a:rPr sz="2400" spc="-75" dirty="0">
                <a:latin typeface="Arial MT"/>
                <a:cs typeface="Arial MT"/>
              </a:rPr>
              <a:t> </a:t>
            </a:r>
            <a:r>
              <a:rPr sz="2400" dirty="0">
                <a:latin typeface="Arial MT"/>
                <a:cs typeface="Arial MT"/>
              </a:rPr>
              <a:t>credit</a:t>
            </a:r>
            <a:r>
              <a:rPr sz="2400" spc="-85" dirty="0">
                <a:latin typeface="Arial MT"/>
                <a:cs typeface="Arial MT"/>
              </a:rPr>
              <a:t> </a:t>
            </a:r>
            <a:r>
              <a:rPr sz="2400" spc="-20" dirty="0">
                <a:latin typeface="Arial MT"/>
                <a:cs typeface="Arial MT"/>
              </a:rPr>
              <a:t>terms</a:t>
            </a:r>
            <a:endParaRPr lang="en-CA" sz="2400" spc="-20" dirty="0">
              <a:latin typeface="Arial MT"/>
              <a:cs typeface="Arial MT"/>
            </a:endParaRPr>
          </a:p>
          <a:p>
            <a:pPr marL="469265" indent="-456565">
              <a:lnSpc>
                <a:spcPct val="100000"/>
              </a:lnSpc>
              <a:spcBef>
                <a:spcPts val="1280"/>
              </a:spcBef>
              <a:buSzPct val="79166"/>
              <a:buAutoNum type="arabicPeriod" startAt="7"/>
              <a:tabLst>
                <a:tab pos="469265" algn="l"/>
              </a:tabLst>
            </a:pPr>
            <a:r>
              <a:rPr lang="en-CA" sz="2400" dirty="0">
                <a:latin typeface="Arial MT"/>
                <a:cs typeface="Arial MT"/>
              </a:rPr>
              <a:t>Open</a:t>
            </a:r>
            <a:r>
              <a:rPr lang="en-CA" sz="2400" spc="-65" dirty="0">
                <a:latin typeface="Arial MT"/>
                <a:cs typeface="Arial MT"/>
              </a:rPr>
              <a:t> </a:t>
            </a:r>
            <a:r>
              <a:rPr lang="en-CA" sz="2400" dirty="0">
                <a:latin typeface="Arial MT"/>
                <a:cs typeface="Arial MT"/>
              </a:rPr>
              <a:t>new</a:t>
            </a:r>
            <a:r>
              <a:rPr lang="en-CA" sz="2400" spc="-60" dirty="0">
                <a:latin typeface="Arial MT"/>
                <a:cs typeface="Arial MT"/>
              </a:rPr>
              <a:t> </a:t>
            </a:r>
            <a:r>
              <a:rPr lang="en-CA" sz="2400" spc="-10" dirty="0">
                <a:latin typeface="Arial MT"/>
                <a:cs typeface="Arial MT"/>
              </a:rPr>
              <a:t>territory</a:t>
            </a:r>
            <a:endParaRPr lang="en-CA" sz="2400" dirty="0">
              <a:latin typeface="Arial MT"/>
              <a:cs typeface="Arial MT"/>
            </a:endParaRPr>
          </a:p>
          <a:p>
            <a:pPr marL="469265" indent="-456565">
              <a:lnSpc>
                <a:spcPct val="100000"/>
              </a:lnSpc>
              <a:spcBef>
                <a:spcPts val="1175"/>
              </a:spcBef>
              <a:buSzPct val="79166"/>
              <a:buAutoNum type="arabicPeriod" startAt="7"/>
              <a:tabLst>
                <a:tab pos="469265" algn="l"/>
              </a:tabLst>
            </a:pPr>
            <a:r>
              <a:rPr lang="en-CA" sz="2400" dirty="0">
                <a:latin typeface="Arial MT"/>
                <a:cs typeface="Arial MT"/>
              </a:rPr>
              <a:t>Buy</a:t>
            </a:r>
            <a:r>
              <a:rPr lang="en-CA" sz="2400" spc="-35" dirty="0">
                <a:latin typeface="Arial MT"/>
                <a:cs typeface="Arial MT"/>
              </a:rPr>
              <a:t> </a:t>
            </a:r>
            <a:r>
              <a:rPr lang="en-CA" sz="2400" dirty="0">
                <a:latin typeface="Arial MT"/>
                <a:cs typeface="Arial MT"/>
              </a:rPr>
              <a:t>or</a:t>
            </a:r>
            <a:r>
              <a:rPr lang="en-CA" sz="2400" spc="-30" dirty="0">
                <a:latin typeface="Arial MT"/>
                <a:cs typeface="Arial MT"/>
              </a:rPr>
              <a:t> </a:t>
            </a:r>
            <a:r>
              <a:rPr lang="en-CA" sz="2400" spc="-10" dirty="0">
                <a:latin typeface="Arial MT"/>
                <a:cs typeface="Arial MT"/>
              </a:rPr>
              <a:t>lease</a:t>
            </a:r>
            <a:endParaRPr lang="en-CA" sz="2400" dirty="0">
              <a:latin typeface="Arial MT"/>
              <a:cs typeface="Arial MT"/>
            </a:endParaRPr>
          </a:p>
          <a:p>
            <a:pPr marL="469265" indent="-456565">
              <a:lnSpc>
                <a:spcPct val="100000"/>
              </a:lnSpc>
              <a:spcBef>
                <a:spcPts val="1175"/>
              </a:spcBef>
              <a:buSzPct val="79166"/>
              <a:buAutoNum type="arabicPeriod" startAt="7"/>
              <a:tabLst>
                <a:tab pos="469265" algn="l"/>
              </a:tabLst>
            </a:pPr>
            <a:r>
              <a:rPr lang="en-CA" sz="2400" spc="-10" dirty="0">
                <a:latin typeface="Arial MT"/>
                <a:cs typeface="Arial MT"/>
              </a:rPr>
              <a:t>Constraints</a:t>
            </a:r>
            <a:endParaRPr lang="en-CA" sz="2400" dirty="0">
              <a:latin typeface="Arial MT"/>
              <a:cs typeface="Arial MT"/>
            </a:endParaRPr>
          </a:p>
          <a:p>
            <a:pPr marL="467995" indent="-455295">
              <a:lnSpc>
                <a:spcPct val="100000"/>
              </a:lnSpc>
              <a:spcBef>
                <a:spcPts val="1180"/>
              </a:spcBef>
              <a:buSzPct val="79166"/>
              <a:buAutoNum type="arabicPeriod" startAt="7"/>
              <a:tabLst>
                <a:tab pos="467995" algn="l"/>
              </a:tabLst>
            </a:pPr>
            <a:r>
              <a:rPr lang="en-CA" sz="2400" spc="-50" dirty="0">
                <a:latin typeface="Arial MT"/>
                <a:cs typeface="Arial MT"/>
              </a:rPr>
              <a:t>…</a:t>
            </a:r>
            <a:endParaRPr lang="en-CA" sz="2400" dirty="0">
              <a:latin typeface="Arial MT"/>
              <a:cs typeface="Arial MT"/>
            </a:endParaRPr>
          </a:p>
        </p:txBody>
      </p:sp>
      <p:sp>
        <p:nvSpPr>
          <p:cNvPr id="8" name="object 8"/>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14</a:t>
            </a:fld>
            <a:endParaRPr spc="-25" dirty="0"/>
          </a:p>
        </p:txBody>
      </p:sp>
      <p:sp>
        <p:nvSpPr>
          <p:cNvPr id="9" name="Subtitle 8">
            <a:extLst>
              <a:ext uri="{FF2B5EF4-FFF2-40B4-BE49-F238E27FC236}">
                <a16:creationId xmlns:a16="http://schemas.microsoft.com/office/drawing/2014/main" id="{9A5DC1C3-76AD-49E8-8CA3-DF96BB6F8BD4}"/>
              </a:ext>
            </a:extLst>
          </p:cNvPr>
          <p:cNvSpPr>
            <a:spLocks noGrp="1"/>
          </p:cNvSpPr>
          <p:nvPr>
            <p:ph type="subTitle" idx="1"/>
          </p:nvPr>
        </p:nvSpPr>
        <p:spPr/>
        <p:txBody>
          <a:bodyPr/>
          <a:lstStyle/>
          <a:p>
            <a:r>
              <a:rPr lang="en-CA" dirty="0"/>
              <a:t>Types of Decision</a:t>
            </a:r>
          </a:p>
        </p:txBody>
      </p:sp>
      <p:sp>
        <p:nvSpPr>
          <p:cNvPr id="5" name="object 5"/>
          <p:cNvSpPr txBox="1"/>
          <p:nvPr/>
        </p:nvSpPr>
        <p:spPr>
          <a:xfrm>
            <a:off x="4870451" y="4628490"/>
            <a:ext cx="6652259" cy="1201420"/>
          </a:xfrm>
          <a:prstGeom prst="rect">
            <a:avLst/>
          </a:prstGeom>
          <a:ln w="38100">
            <a:solidFill>
              <a:srgbClr val="0070C0"/>
            </a:solidFill>
          </a:ln>
        </p:spPr>
        <p:txBody>
          <a:bodyPr vert="horz" wrap="square" lIns="0" tIns="38735" rIns="0" bIns="0" rtlCol="0">
            <a:spAutoFit/>
          </a:bodyPr>
          <a:lstStyle/>
          <a:p>
            <a:pPr marL="332740" marR="320675" indent="1905" algn="ctr">
              <a:lnSpc>
                <a:spcPct val="100000"/>
              </a:lnSpc>
              <a:spcBef>
                <a:spcPts val="305"/>
              </a:spcBef>
            </a:pPr>
            <a:r>
              <a:rPr sz="2400" dirty="0">
                <a:latin typeface="Arial MT"/>
                <a:cs typeface="Arial MT"/>
              </a:rPr>
              <a:t>The</a:t>
            </a:r>
            <a:r>
              <a:rPr sz="2400" spc="-75" dirty="0">
                <a:latin typeface="Arial MT"/>
                <a:cs typeface="Arial MT"/>
              </a:rPr>
              <a:t> </a:t>
            </a:r>
            <a:r>
              <a:rPr sz="2400" dirty="0">
                <a:latin typeface="Arial MT"/>
                <a:cs typeface="Arial MT"/>
              </a:rPr>
              <a:t>underlying</a:t>
            </a:r>
            <a:r>
              <a:rPr sz="2400" spc="-40" dirty="0">
                <a:latin typeface="Arial MT"/>
                <a:cs typeface="Arial MT"/>
              </a:rPr>
              <a:t> </a:t>
            </a:r>
            <a:r>
              <a:rPr sz="2400" dirty="0">
                <a:latin typeface="Arial MT"/>
                <a:cs typeface="Arial MT"/>
              </a:rPr>
              <a:t>principles</a:t>
            </a:r>
            <a:r>
              <a:rPr sz="2400" spc="-35" dirty="0">
                <a:latin typeface="Arial MT"/>
                <a:cs typeface="Arial MT"/>
              </a:rPr>
              <a:t> </a:t>
            </a:r>
            <a:r>
              <a:rPr sz="2400" dirty="0">
                <a:latin typeface="Arial MT"/>
                <a:cs typeface="Arial MT"/>
              </a:rPr>
              <a:t>of</a:t>
            </a:r>
            <a:r>
              <a:rPr sz="2400" spc="-75" dirty="0">
                <a:latin typeface="Arial MT"/>
                <a:cs typeface="Arial MT"/>
              </a:rPr>
              <a:t> </a:t>
            </a:r>
            <a:r>
              <a:rPr sz="2400" dirty="0">
                <a:latin typeface="Arial MT"/>
                <a:cs typeface="Arial MT"/>
              </a:rPr>
              <a:t>relevant</a:t>
            </a:r>
            <a:r>
              <a:rPr sz="2400" spc="-55" dirty="0">
                <a:latin typeface="Arial MT"/>
                <a:cs typeface="Arial MT"/>
              </a:rPr>
              <a:t> </a:t>
            </a:r>
            <a:r>
              <a:rPr sz="2400" spc="-10" dirty="0">
                <a:latin typeface="Arial MT"/>
                <a:cs typeface="Arial MT"/>
              </a:rPr>
              <a:t>costing </a:t>
            </a:r>
            <a:r>
              <a:rPr sz="2400" dirty="0">
                <a:latin typeface="Arial MT"/>
                <a:cs typeface="Arial MT"/>
              </a:rPr>
              <a:t>can</a:t>
            </a:r>
            <a:r>
              <a:rPr sz="2400" spc="-75" dirty="0">
                <a:latin typeface="Arial MT"/>
                <a:cs typeface="Arial MT"/>
              </a:rPr>
              <a:t> </a:t>
            </a:r>
            <a:r>
              <a:rPr sz="2400" dirty="0">
                <a:latin typeface="Arial MT"/>
                <a:cs typeface="Arial MT"/>
              </a:rPr>
              <a:t>be</a:t>
            </a:r>
            <a:r>
              <a:rPr sz="2400" spc="-70" dirty="0">
                <a:latin typeface="Arial MT"/>
                <a:cs typeface="Arial MT"/>
              </a:rPr>
              <a:t> </a:t>
            </a:r>
            <a:r>
              <a:rPr sz="2400" dirty="0">
                <a:latin typeface="Arial MT"/>
                <a:cs typeface="Arial MT"/>
              </a:rPr>
              <a:t>related</a:t>
            </a:r>
            <a:r>
              <a:rPr sz="2400" spc="-60" dirty="0">
                <a:latin typeface="Arial MT"/>
                <a:cs typeface="Arial MT"/>
              </a:rPr>
              <a:t> </a:t>
            </a:r>
            <a:r>
              <a:rPr sz="2400" dirty="0">
                <a:latin typeface="Arial MT"/>
                <a:cs typeface="Arial MT"/>
              </a:rPr>
              <a:t>to</a:t>
            </a:r>
            <a:r>
              <a:rPr sz="2400" spc="-75" dirty="0">
                <a:latin typeface="Arial MT"/>
                <a:cs typeface="Arial MT"/>
              </a:rPr>
              <a:t> </a:t>
            </a:r>
            <a:r>
              <a:rPr sz="2400" dirty="0">
                <a:latin typeface="Arial MT"/>
                <a:cs typeface="Arial MT"/>
              </a:rPr>
              <a:t>anything</a:t>
            </a:r>
            <a:r>
              <a:rPr sz="2400" spc="-65" dirty="0">
                <a:latin typeface="Arial MT"/>
                <a:cs typeface="Arial MT"/>
              </a:rPr>
              <a:t> </a:t>
            </a:r>
            <a:r>
              <a:rPr sz="2400" dirty="0">
                <a:latin typeface="Arial MT"/>
                <a:cs typeface="Arial MT"/>
              </a:rPr>
              <a:t>involving</a:t>
            </a:r>
            <a:r>
              <a:rPr sz="2400" spc="-35" dirty="0">
                <a:latin typeface="Arial MT"/>
                <a:cs typeface="Arial MT"/>
              </a:rPr>
              <a:t> </a:t>
            </a:r>
            <a:r>
              <a:rPr sz="2400" spc="-10" dirty="0">
                <a:latin typeface="Arial MT"/>
                <a:cs typeface="Arial MT"/>
              </a:rPr>
              <a:t>financial decisions.</a:t>
            </a:r>
            <a:endParaRPr sz="2400">
              <a:latin typeface="Arial MT"/>
              <a:cs typeface="Arial MT"/>
            </a:endParaRPr>
          </a:p>
        </p:txBody>
      </p:sp>
      <p:sp>
        <p:nvSpPr>
          <p:cNvPr id="6" name="object 6"/>
          <p:cNvSpPr/>
          <p:nvPr/>
        </p:nvSpPr>
        <p:spPr>
          <a:xfrm>
            <a:off x="6528048" y="1628800"/>
            <a:ext cx="457200" cy="2513330"/>
          </a:xfrm>
          <a:custGeom>
            <a:avLst/>
            <a:gdLst/>
            <a:ahLst/>
            <a:cxnLst/>
            <a:rect l="l" t="t" r="r" b="b"/>
            <a:pathLst>
              <a:path w="457200" h="2513329">
                <a:moveTo>
                  <a:pt x="0" y="0"/>
                </a:moveTo>
                <a:lnTo>
                  <a:pt x="72249" y="1938"/>
                </a:lnTo>
                <a:lnTo>
                  <a:pt x="135002" y="7339"/>
                </a:lnTo>
                <a:lnTo>
                  <a:pt x="184489" y="15581"/>
                </a:lnTo>
                <a:lnTo>
                  <a:pt x="228600" y="38100"/>
                </a:lnTo>
                <a:lnTo>
                  <a:pt x="228600" y="1218438"/>
                </a:lnTo>
                <a:lnTo>
                  <a:pt x="240255" y="1230495"/>
                </a:lnTo>
                <a:lnTo>
                  <a:pt x="272710" y="1240956"/>
                </a:lnTo>
                <a:lnTo>
                  <a:pt x="322197" y="1249198"/>
                </a:lnTo>
                <a:lnTo>
                  <a:pt x="384950" y="1254599"/>
                </a:lnTo>
                <a:lnTo>
                  <a:pt x="457200" y="1256538"/>
                </a:lnTo>
                <a:lnTo>
                  <a:pt x="384950" y="1258476"/>
                </a:lnTo>
                <a:lnTo>
                  <a:pt x="322197" y="1263877"/>
                </a:lnTo>
                <a:lnTo>
                  <a:pt x="272710" y="1272119"/>
                </a:lnTo>
                <a:lnTo>
                  <a:pt x="240255" y="1282580"/>
                </a:lnTo>
                <a:lnTo>
                  <a:pt x="228600" y="1294638"/>
                </a:lnTo>
                <a:lnTo>
                  <a:pt x="228600" y="2474976"/>
                </a:lnTo>
                <a:lnTo>
                  <a:pt x="216944" y="2487033"/>
                </a:lnTo>
                <a:lnTo>
                  <a:pt x="184489" y="2497494"/>
                </a:lnTo>
                <a:lnTo>
                  <a:pt x="135002" y="2505736"/>
                </a:lnTo>
                <a:lnTo>
                  <a:pt x="72249" y="2511137"/>
                </a:lnTo>
                <a:lnTo>
                  <a:pt x="0" y="2513076"/>
                </a:lnTo>
              </a:path>
            </a:pathLst>
          </a:custGeom>
          <a:ln w="38100">
            <a:solidFill>
              <a:srgbClr val="ED037C"/>
            </a:solidFill>
          </a:ln>
        </p:spPr>
        <p:txBody>
          <a:bodyPr wrap="square" lIns="0" tIns="0" rIns="0" bIns="0" rtlCol="0"/>
          <a:lstStyle/>
          <a:p>
            <a:endParaRPr/>
          </a:p>
        </p:txBody>
      </p:sp>
      <p:sp>
        <p:nvSpPr>
          <p:cNvPr id="7" name="object 7"/>
          <p:cNvSpPr txBox="1"/>
          <p:nvPr/>
        </p:nvSpPr>
        <p:spPr>
          <a:xfrm>
            <a:off x="7562850" y="1741170"/>
            <a:ext cx="3959860" cy="2461260"/>
          </a:xfrm>
          <a:prstGeom prst="rect">
            <a:avLst/>
          </a:prstGeom>
          <a:ln w="38100">
            <a:solidFill>
              <a:srgbClr val="0070C0"/>
            </a:solidFill>
          </a:ln>
        </p:spPr>
        <p:txBody>
          <a:bodyPr vert="horz" wrap="square" lIns="0" tIns="36195" rIns="0" bIns="0" rtlCol="0">
            <a:spAutoFit/>
          </a:bodyPr>
          <a:lstStyle/>
          <a:p>
            <a:pPr marL="91440">
              <a:lnSpc>
                <a:spcPct val="100000"/>
              </a:lnSpc>
              <a:spcBef>
                <a:spcPts val="285"/>
              </a:spcBef>
            </a:pPr>
            <a:r>
              <a:rPr sz="2200" dirty="0">
                <a:latin typeface="Arial MT"/>
                <a:cs typeface="Arial MT"/>
              </a:rPr>
              <a:t>Whatever</a:t>
            </a:r>
            <a:r>
              <a:rPr sz="2200" spc="-60" dirty="0">
                <a:latin typeface="Arial MT"/>
                <a:cs typeface="Arial MT"/>
              </a:rPr>
              <a:t> </a:t>
            </a:r>
            <a:r>
              <a:rPr sz="2200" dirty="0">
                <a:latin typeface="Arial MT"/>
                <a:cs typeface="Arial MT"/>
              </a:rPr>
              <a:t>the</a:t>
            </a:r>
            <a:r>
              <a:rPr sz="2200" spc="-60" dirty="0">
                <a:latin typeface="Arial MT"/>
                <a:cs typeface="Arial MT"/>
              </a:rPr>
              <a:t> </a:t>
            </a:r>
            <a:r>
              <a:rPr sz="2200" spc="-10" dirty="0">
                <a:latin typeface="Arial MT"/>
                <a:cs typeface="Arial MT"/>
              </a:rPr>
              <a:t>situation:</a:t>
            </a:r>
            <a:endParaRPr sz="2200" dirty="0">
              <a:latin typeface="Arial MT"/>
              <a:cs typeface="Arial MT"/>
            </a:endParaRPr>
          </a:p>
          <a:p>
            <a:pPr>
              <a:lnSpc>
                <a:spcPct val="100000"/>
              </a:lnSpc>
              <a:spcBef>
                <a:spcPts val="114"/>
              </a:spcBef>
            </a:pPr>
            <a:endParaRPr sz="2200" dirty="0">
              <a:latin typeface="Arial MT"/>
              <a:cs typeface="Arial MT"/>
            </a:endParaRPr>
          </a:p>
          <a:p>
            <a:pPr marL="548640" marR="156845" indent="-457200">
              <a:lnSpc>
                <a:spcPct val="100000"/>
              </a:lnSpc>
              <a:buAutoNum type="arabicPeriod"/>
              <a:tabLst>
                <a:tab pos="548640" algn="l"/>
              </a:tabLst>
            </a:pPr>
            <a:r>
              <a:rPr sz="2200" dirty="0">
                <a:latin typeface="Arial MT"/>
                <a:cs typeface="Arial MT"/>
              </a:rPr>
              <a:t>Only</a:t>
            </a:r>
            <a:r>
              <a:rPr sz="2200" spc="-55" dirty="0">
                <a:latin typeface="Arial MT"/>
                <a:cs typeface="Arial MT"/>
              </a:rPr>
              <a:t> </a:t>
            </a:r>
            <a:r>
              <a:rPr sz="2200" dirty="0">
                <a:latin typeface="Arial MT"/>
                <a:cs typeface="Arial MT"/>
              </a:rPr>
              <a:t>consider</a:t>
            </a:r>
            <a:r>
              <a:rPr sz="2200" spc="-55" dirty="0">
                <a:latin typeface="Arial MT"/>
                <a:cs typeface="Arial MT"/>
              </a:rPr>
              <a:t> </a:t>
            </a:r>
            <a:r>
              <a:rPr sz="2200" dirty="0">
                <a:latin typeface="Arial MT"/>
                <a:cs typeface="Arial MT"/>
              </a:rPr>
              <a:t>the</a:t>
            </a:r>
            <a:r>
              <a:rPr sz="2200" spc="-55" dirty="0">
                <a:latin typeface="Arial MT"/>
                <a:cs typeface="Arial MT"/>
              </a:rPr>
              <a:t> </a:t>
            </a:r>
            <a:r>
              <a:rPr sz="2200" spc="-10" dirty="0">
                <a:latin typeface="Arial MT"/>
                <a:cs typeface="Arial MT"/>
              </a:rPr>
              <a:t>relevant </a:t>
            </a:r>
            <a:r>
              <a:rPr sz="2200" dirty="0">
                <a:latin typeface="Arial MT"/>
                <a:cs typeface="Arial MT"/>
              </a:rPr>
              <a:t>costs</a:t>
            </a:r>
            <a:r>
              <a:rPr sz="2200" spc="-65" dirty="0">
                <a:latin typeface="Arial MT"/>
                <a:cs typeface="Arial MT"/>
              </a:rPr>
              <a:t> </a:t>
            </a:r>
            <a:r>
              <a:rPr sz="2200" dirty="0">
                <a:latin typeface="Arial MT"/>
                <a:cs typeface="Arial MT"/>
              </a:rPr>
              <a:t>and</a:t>
            </a:r>
            <a:r>
              <a:rPr sz="2200" spc="-65" dirty="0">
                <a:latin typeface="Arial MT"/>
                <a:cs typeface="Arial MT"/>
              </a:rPr>
              <a:t> </a:t>
            </a:r>
            <a:r>
              <a:rPr sz="2200" dirty="0">
                <a:latin typeface="Arial MT"/>
                <a:cs typeface="Arial MT"/>
              </a:rPr>
              <a:t>benefits</a:t>
            </a:r>
            <a:r>
              <a:rPr sz="2200" spc="-60" dirty="0">
                <a:latin typeface="Arial MT"/>
                <a:cs typeface="Arial MT"/>
              </a:rPr>
              <a:t> </a:t>
            </a:r>
            <a:r>
              <a:rPr sz="2200" spc="-20" dirty="0">
                <a:latin typeface="Arial MT"/>
                <a:cs typeface="Arial MT"/>
              </a:rPr>
              <a:t>that </a:t>
            </a:r>
            <a:r>
              <a:rPr sz="2200" dirty="0">
                <a:latin typeface="Arial MT"/>
                <a:cs typeface="Arial MT"/>
              </a:rPr>
              <a:t>differ</a:t>
            </a:r>
            <a:r>
              <a:rPr sz="2200" spc="-90" dirty="0">
                <a:latin typeface="Arial MT"/>
                <a:cs typeface="Arial MT"/>
              </a:rPr>
              <a:t> </a:t>
            </a:r>
            <a:r>
              <a:rPr sz="2200" dirty="0">
                <a:latin typeface="Arial MT"/>
                <a:cs typeface="Arial MT"/>
              </a:rPr>
              <a:t>among</a:t>
            </a:r>
            <a:r>
              <a:rPr sz="2200" spc="-65" dirty="0">
                <a:latin typeface="Arial MT"/>
                <a:cs typeface="Arial MT"/>
              </a:rPr>
              <a:t> </a:t>
            </a:r>
            <a:r>
              <a:rPr sz="2200" spc="-10" dirty="0">
                <a:latin typeface="Arial MT"/>
                <a:cs typeface="Arial MT"/>
              </a:rPr>
              <a:t>alternatives.</a:t>
            </a:r>
            <a:endParaRPr sz="2200" dirty="0">
              <a:latin typeface="Arial MT"/>
              <a:cs typeface="Arial MT"/>
            </a:endParaRPr>
          </a:p>
          <a:p>
            <a:pPr marL="548640" indent="-457200">
              <a:lnSpc>
                <a:spcPct val="100000"/>
              </a:lnSpc>
              <a:buAutoNum type="arabicPeriod"/>
              <a:tabLst>
                <a:tab pos="548640" algn="l"/>
              </a:tabLst>
            </a:pPr>
            <a:r>
              <a:rPr sz="2200" dirty="0">
                <a:latin typeface="Arial MT"/>
                <a:cs typeface="Arial MT"/>
              </a:rPr>
              <a:t>Consider</a:t>
            </a:r>
            <a:r>
              <a:rPr sz="2200" spc="-110" dirty="0">
                <a:latin typeface="Arial MT"/>
                <a:cs typeface="Arial MT"/>
              </a:rPr>
              <a:t> </a:t>
            </a:r>
            <a:r>
              <a:rPr sz="2200" spc="-10" dirty="0">
                <a:latin typeface="Arial MT"/>
                <a:cs typeface="Arial MT"/>
              </a:rPr>
              <a:t>Qualitative</a:t>
            </a:r>
            <a:endParaRPr sz="2200" dirty="0">
              <a:latin typeface="Arial MT"/>
              <a:cs typeface="Arial MT"/>
            </a:endParaRPr>
          </a:p>
          <a:p>
            <a:pPr marL="548640">
              <a:lnSpc>
                <a:spcPct val="100000"/>
              </a:lnSpc>
            </a:pPr>
            <a:r>
              <a:rPr sz="2200" spc="-10" dirty="0">
                <a:latin typeface="Arial MT"/>
                <a:cs typeface="Arial MT"/>
              </a:rPr>
              <a:t>Support</a:t>
            </a:r>
            <a:endParaRPr sz="2200" dirty="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15</a:t>
            </a:fld>
            <a:endParaRPr spc="-25" dirty="0"/>
          </a:p>
        </p:txBody>
      </p:sp>
      <p:sp>
        <p:nvSpPr>
          <p:cNvPr id="9" name="Subtitle 8">
            <a:extLst>
              <a:ext uri="{FF2B5EF4-FFF2-40B4-BE49-F238E27FC236}">
                <a16:creationId xmlns:a16="http://schemas.microsoft.com/office/drawing/2014/main" id="{38C0139D-F89E-CF22-B1CA-A4F17EADA75B}"/>
              </a:ext>
            </a:extLst>
          </p:cNvPr>
          <p:cNvSpPr>
            <a:spLocks noGrp="1"/>
          </p:cNvSpPr>
          <p:nvPr>
            <p:ph type="subTitle" idx="1"/>
          </p:nvPr>
        </p:nvSpPr>
        <p:spPr/>
        <p:txBody>
          <a:bodyPr/>
          <a:lstStyle/>
          <a:p>
            <a:r>
              <a:rPr lang="en-CA" dirty="0"/>
              <a:t>Real-Life Example</a:t>
            </a:r>
          </a:p>
        </p:txBody>
      </p:sp>
      <p:sp>
        <p:nvSpPr>
          <p:cNvPr id="3" name="object 3"/>
          <p:cNvSpPr txBox="1"/>
          <p:nvPr/>
        </p:nvSpPr>
        <p:spPr>
          <a:xfrm>
            <a:off x="463550" y="712876"/>
            <a:ext cx="1126490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Arial"/>
                <a:cs typeface="Arial"/>
              </a:rPr>
              <a:t>https://corporate.target.com/press/releases/2015/01/target-corporation-announces-plans-to-disc</a:t>
            </a:r>
            <a:r>
              <a:rPr sz="1800" b="1" spc="-10" dirty="0">
                <a:solidFill>
                  <a:srgbClr val="FFFFFF"/>
                </a:solidFill>
                <a:latin typeface="Arial"/>
                <a:cs typeface="Arial"/>
              </a:rPr>
              <a:t>ontinue</a:t>
            </a:r>
            <a:endParaRPr sz="1800" dirty="0">
              <a:latin typeface="Arial"/>
              <a:cs typeface="Arial"/>
            </a:endParaRPr>
          </a:p>
        </p:txBody>
      </p:sp>
      <p:grpSp>
        <p:nvGrpSpPr>
          <p:cNvPr id="4" name="object 4"/>
          <p:cNvGrpSpPr/>
          <p:nvPr/>
        </p:nvGrpSpPr>
        <p:grpSpPr>
          <a:xfrm>
            <a:off x="922405" y="1484375"/>
            <a:ext cx="11061065" cy="4427855"/>
            <a:chOff x="922405" y="1484375"/>
            <a:chExt cx="11061065" cy="4427855"/>
          </a:xfrm>
        </p:grpSpPr>
        <p:pic>
          <p:nvPicPr>
            <p:cNvPr id="5" name="object 5"/>
            <p:cNvPicPr/>
            <p:nvPr/>
          </p:nvPicPr>
          <p:blipFill>
            <a:blip r:embed="rId2" cstate="print"/>
            <a:stretch>
              <a:fillRect/>
            </a:stretch>
          </p:blipFill>
          <p:spPr>
            <a:xfrm>
              <a:off x="922405" y="3342518"/>
              <a:ext cx="10400677" cy="2569621"/>
            </a:xfrm>
            <a:prstGeom prst="rect">
              <a:avLst/>
            </a:prstGeom>
          </p:spPr>
        </p:pic>
        <p:pic>
          <p:nvPicPr>
            <p:cNvPr id="6" name="object 6"/>
            <p:cNvPicPr/>
            <p:nvPr/>
          </p:nvPicPr>
          <p:blipFill>
            <a:blip r:embed="rId3" cstate="print"/>
            <a:stretch>
              <a:fillRect/>
            </a:stretch>
          </p:blipFill>
          <p:spPr>
            <a:xfrm>
              <a:off x="10398251" y="1484375"/>
              <a:ext cx="1584959" cy="2106168"/>
            </a:xfrm>
            <a:prstGeom prst="rect">
              <a:avLst/>
            </a:prstGeom>
          </p:spPr>
        </p:pic>
      </p:grpSp>
      <p:sp>
        <p:nvSpPr>
          <p:cNvPr id="7" name="object 7"/>
          <p:cNvSpPr txBox="1"/>
          <p:nvPr/>
        </p:nvSpPr>
        <p:spPr>
          <a:xfrm>
            <a:off x="479377" y="1318844"/>
            <a:ext cx="9685655" cy="1489710"/>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2F2F2F"/>
                </a:solidFill>
                <a:latin typeface="Arial MT"/>
                <a:cs typeface="Arial MT"/>
              </a:rPr>
              <a:t>Even</a:t>
            </a:r>
            <a:r>
              <a:rPr sz="2400" spc="-114" dirty="0">
                <a:solidFill>
                  <a:srgbClr val="2F2F2F"/>
                </a:solidFill>
                <a:latin typeface="Arial MT"/>
                <a:cs typeface="Arial MT"/>
              </a:rPr>
              <a:t> </a:t>
            </a:r>
            <a:r>
              <a:rPr sz="2400" spc="-30" dirty="0">
                <a:solidFill>
                  <a:srgbClr val="2F2F2F"/>
                </a:solidFill>
                <a:latin typeface="Arial MT"/>
                <a:cs typeface="Arial MT"/>
              </a:rPr>
              <a:t>Target</a:t>
            </a:r>
            <a:r>
              <a:rPr sz="2400" spc="-90" dirty="0">
                <a:solidFill>
                  <a:srgbClr val="2F2F2F"/>
                </a:solidFill>
                <a:latin typeface="Arial MT"/>
                <a:cs typeface="Arial MT"/>
              </a:rPr>
              <a:t> </a:t>
            </a:r>
            <a:r>
              <a:rPr sz="2400" dirty="0">
                <a:solidFill>
                  <a:srgbClr val="2F2F2F"/>
                </a:solidFill>
                <a:latin typeface="Arial MT"/>
                <a:cs typeface="Arial MT"/>
              </a:rPr>
              <a:t>itself</a:t>
            </a:r>
            <a:r>
              <a:rPr sz="2400" spc="-75" dirty="0">
                <a:solidFill>
                  <a:srgbClr val="2F2F2F"/>
                </a:solidFill>
                <a:latin typeface="Arial MT"/>
                <a:cs typeface="Arial MT"/>
              </a:rPr>
              <a:t> </a:t>
            </a:r>
            <a:r>
              <a:rPr sz="2400" dirty="0">
                <a:solidFill>
                  <a:srgbClr val="2F2F2F"/>
                </a:solidFill>
                <a:latin typeface="Arial MT"/>
                <a:cs typeface="Arial MT"/>
              </a:rPr>
              <a:t>admits</a:t>
            </a:r>
            <a:r>
              <a:rPr sz="2400" spc="-85" dirty="0">
                <a:solidFill>
                  <a:srgbClr val="2F2F2F"/>
                </a:solidFill>
                <a:latin typeface="Arial MT"/>
                <a:cs typeface="Arial MT"/>
              </a:rPr>
              <a:t> </a:t>
            </a:r>
            <a:r>
              <a:rPr sz="2400" dirty="0">
                <a:solidFill>
                  <a:srgbClr val="2F2F2F"/>
                </a:solidFill>
                <a:latin typeface="Arial MT"/>
                <a:cs typeface="Arial MT"/>
              </a:rPr>
              <a:t>the</a:t>
            </a:r>
            <a:r>
              <a:rPr sz="2400" spc="-75" dirty="0">
                <a:solidFill>
                  <a:srgbClr val="2F2F2F"/>
                </a:solidFill>
                <a:latin typeface="Arial MT"/>
                <a:cs typeface="Arial MT"/>
              </a:rPr>
              <a:t> </a:t>
            </a:r>
            <a:r>
              <a:rPr sz="2400" dirty="0">
                <a:solidFill>
                  <a:srgbClr val="2F2F2F"/>
                </a:solidFill>
                <a:latin typeface="Arial MT"/>
                <a:cs typeface="Arial MT"/>
              </a:rPr>
              <a:t>Canadian</a:t>
            </a:r>
            <a:r>
              <a:rPr sz="2400" spc="-50" dirty="0">
                <a:solidFill>
                  <a:srgbClr val="2F2F2F"/>
                </a:solidFill>
                <a:latin typeface="Arial MT"/>
                <a:cs typeface="Arial MT"/>
              </a:rPr>
              <a:t> </a:t>
            </a:r>
            <a:r>
              <a:rPr sz="2400" dirty="0">
                <a:solidFill>
                  <a:srgbClr val="2F2F2F"/>
                </a:solidFill>
                <a:latin typeface="Arial MT"/>
                <a:cs typeface="Arial MT"/>
              </a:rPr>
              <a:t>business</a:t>
            </a:r>
            <a:r>
              <a:rPr sz="2400" spc="-60" dirty="0">
                <a:solidFill>
                  <a:srgbClr val="2F2F2F"/>
                </a:solidFill>
                <a:latin typeface="Arial MT"/>
                <a:cs typeface="Arial MT"/>
              </a:rPr>
              <a:t> </a:t>
            </a:r>
            <a:r>
              <a:rPr sz="2400" dirty="0">
                <a:solidFill>
                  <a:srgbClr val="2F2F2F"/>
                </a:solidFill>
                <a:latin typeface="Arial MT"/>
                <a:cs typeface="Arial MT"/>
              </a:rPr>
              <a:t>was</a:t>
            </a:r>
            <a:r>
              <a:rPr sz="2400" spc="-70" dirty="0">
                <a:solidFill>
                  <a:srgbClr val="2F2F2F"/>
                </a:solidFill>
                <a:latin typeface="Arial MT"/>
                <a:cs typeface="Arial MT"/>
              </a:rPr>
              <a:t> </a:t>
            </a:r>
            <a:r>
              <a:rPr sz="2400" dirty="0">
                <a:solidFill>
                  <a:srgbClr val="2F2F2F"/>
                </a:solidFill>
                <a:latin typeface="Arial MT"/>
                <a:cs typeface="Arial MT"/>
              </a:rPr>
              <a:t>plagued</a:t>
            </a:r>
            <a:r>
              <a:rPr sz="2400" spc="-60" dirty="0">
                <a:solidFill>
                  <a:srgbClr val="2F2F2F"/>
                </a:solidFill>
                <a:latin typeface="Arial MT"/>
                <a:cs typeface="Arial MT"/>
              </a:rPr>
              <a:t> </a:t>
            </a:r>
            <a:r>
              <a:rPr sz="2400" spc="-20" dirty="0">
                <a:solidFill>
                  <a:srgbClr val="2F2F2F"/>
                </a:solidFill>
                <a:latin typeface="Arial MT"/>
                <a:cs typeface="Arial MT"/>
              </a:rPr>
              <a:t>with </a:t>
            </a:r>
            <a:r>
              <a:rPr sz="2400" dirty="0">
                <a:solidFill>
                  <a:srgbClr val="2F2F2F"/>
                </a:solidFill>
                <a:latin typeface="Arial MT"/>
                <a:cs typeface="Arial MT"/>
              </a:rPr>
              <a:t>problems.</a:t>
            </a:r>
            <a:r>
              <a:rPr sz="2400" spc="-45" dirty="0">
                <a:solidFill>
                  <a:srgbClr val="2F2F2F"/>
                </a:solidFill>
                <a:latin typeface="Arial MT"/>
                <a:cs typeface="Arial MT"/>
              </a:rPr>
              <a:t> </a:t>
            </a:r>
            <a:r>
              <a:rPr sz="2400" dirty="0">
                <a:solidFill>
                  <a:srgbClr val="2F2F2F"/>
                </a:solidFill>
                <a:latin typeface="Arial MT"/>
                <a:cs typeface="Arial MT"/>
              </a:rPr>
              <a:t>"We</a:t>
            </a:r>
            <a:r>
              <a:rPr sz="2400" spc="-50" dirty="0">
                <a:solidFill>
                  <a:srgbClr val="2F2F2F"/>
                </a:solidFill>
                <a:latin typeface="Arial MT"/>
                <a:cs typeface="Arial MT"/>
              </a:rPr>
              <a:t> </a:t>
            </a:r>
            <a:r>
              <a:rPr sz="2400" dirty="0">
                <a:solidFill>
                  <a:srgbClr val="2F2F2F"/>
                </a:solidFill>
                <a:latin typeface="Arial MT"/>
                <a:cs typeface="Arial MT"/>
              </a:rPr>
              <a:t>tried</a:t>
            </a:r>
            <a:r>
              <a:rPr sz="2400" spc="-50" dirty="0">
                <a:solidFill>
                  <a:srgbClr val="2F2F2F"/>
                </a:solidFill>
                <a:latin typeface="Arial MT"/>
                <a:cs typeface="Arial MT"/>
              </a:rPr>
              <a:t> </a:t>
            </a:r>
            <a:r>
              <a:rPr sz="2400" dirty="0">
                <a:solidFill>
                  <a:srgbClr val="2F2F2F"/>
                </a:solidFill>
                <a:latin typeface="Arial MT"/>
                <a:cs typeface="Arial MT"/>
              </a:rPr>
              <a:t>to</a:t>
            </a:r>
            <a:r>
              <a:rPr sz="2400" spc="-65" dirty="0">
                <a:solidFill>
                  <a:srgbClr val="2F2F2F"/>
                </a:solidFill>
                <a:latin typeface="Arial MT"/>
                <a:cs typeface="Arial MT"/>
              </a:rPr>
              <a:t> </a:t>
            </a:r>
            <a:r>
              <a:rPr sz="2400" dirty="0">
                <a:solidFill>
                  <a:srgbClr val="2F2F2F"/>
                </a:solidFill>
                <a:latin typeface="Arial MT"/>
                <a:cs typeface="Arial MT"/>
              </a:rPr>
              <a:t>do</a:t>
            </a:r>
            <a:r>
              <a:rPr sz="2400" spc="-45" dirty="0">
                <a:solidFill>
                  <a:srgbClr val="2F2F2F"/>
                </a:solidFill>
                <a:latin typeface="Arial MT"/>
                <a:cs typeface="Arial MT"/>
              </a:rPr>
              <a:t> </a:t>
            </a:r>
            <a:r>
              <a:rPr sz="2400" dirty="0">
                <a:solidFill>
                  <a:srgbClr val="2F2F2F"/>
                </a:solidFill>
                <a:latin typeface="Arial MT"/>
                <a:cs typeface="Arial MT"/>
              </a:rPr>
              <a:t>too</a:t>
            </a:r>
            <a:r>
              <a:rPr sz="2400" spc="-45" dirty="0">
                <a:solidFill>
                  <a:srgbClr val="2F2F2F"/>
                </a:solidFill>
                <a:latin typeface="Arial MT"/>
                <a:cs typeface="Arial MT"/>
              </a:rPr>
              <a:t> </a:t>
            </a:r>
            <a:r>
              <a:rPr sz="2400" dirty="0">
                <a:solidFill>
                  <a:srgbClr val="2F2F2F"/>
                </a:solidFill>
                <a:latin typeface="Arial MT"/>
                <a:cs typeface="Arial MT"/>
              </a:rPr>
              <a:t>much,</a:t>
            </a:r>
            <a:r>
              <a:rPr sz="2400" spc="-60" dirty="0">
                <a:solidFill>
                  <a:srgbClr val="2F2F2F"/>
                </a:solidFill>
                <a:latin typeface="Arial MT"/>
                <a:cs typeface="Arial MT"/>
              </a:rPr>
              <a:t> </a:t>
            </a:r>
            <a:r>
              <a:rPr sz="2400" dirty="0">
                <a:solidFill>
                  <a:srgbClr val="2F2F2F"/>
                </a:solidFill>
                <a:latin typeface="Arial MT"/>
                <a:cs typeface="Arial MT"/>
              </a:rPr>
              <a:t>too</a:t>
            </a:r>
            <a:r>
              <a:rPr sz="2400" spc="-45" dirty="0">
                <a:solidFill>
                  <a:srgbClr val="2F2F2F"/>
                </a:solidFill>
                <a:latin typeface="Arial MT"/>
                <a:cs typeface="Arial MT"/>
              </a:rPr>
              <a:t> </a:t>
            </a:r>
            <a:r>
              <a:rPr sz="2400" dirty="0">
                <a:solidFill>
                  <a:srgbClr val="2F2F2F"/>
                </a:solidFill>
                <a:latin typeface="Arial MT"/>
                <a:cs typeface="Arial MT"/>
              </a:rPr>
              <a:t>fast,"</a:t>
            </a:r>
            <a:r>
              <a:rPr sz="2400" spc="-80" dirty="0">
                <a:solidFill>
                  <a:srgbClr val="2F2F2F"/>
                </a:solidFill>
                <a:latin typeface="Arial MT"/>
                <a:cs typeface="Arial MT"/>
              </a:rPr>
              <a:t> </a:t>
            </a:r>
            <a:r>
              <a:rPr sz="2400" dirty="0">
                <a:solidFill>
                  <a:srgbClr val="2F2F2F"/>
                </a:solidFill>
                <a:latin typeface="Arial MT"/>
                <a:cs typeface="Arial MT"/>
              </a:rPr>
              <a:t>says</a:t>
            </a:r>
            <a:r>
              <a:rPr sz="2400" spc="-45" dirty="0">
                <a:solidFill>
                  <a:srgbClr val="2F2F2F"/>
                </a:solidFill>
                <a:latin typeface="Arial MT"/>
                <a:cs typeface="Arial MT"/>
              </a:rPr>
              <a:t> </a:t>
            </a:r>
            <a:r>
              <a:rPr sz="2400" spc="-10" dirty="0">
                <a:solidFill>
                  <a:srgbClr val="2F2F2F"/>
                </a:solidFill>
                <a:latin typeface="Arial MT"/>
                <a:cs typeface="Arial MT"/>
              </a:rPr>
              <a:t>spokeswoman</a:t>
            </a:r>
            <a:r>
              <a:rPr sz="2400" spc="-30" dirty="0">
                <a:solidFill>
                  <a:srgbClr val="2F2F2F"/>
                </a:solidFill>
                <a:latin typeface="Arial MT"/>
                <a:cs typeface="Arial MT"/>
              </a:rPr>
              <a:t> </a:t>
            </a:r>
            <a:r>
              <a:rPr sz="2400" spc="-10" dirty="0">
                <a:solidFill>
                  <a:srgbClr val="2F2F2F"/>
                </a:solidFill>
                <a:latin typeface="Arial MT"/>
                <a:cs typeface="Arial MT"/>
              </a:rPr>
              <a:t>Molly Snyder.</a:t>
            </a:r>
            <a:r>
              <a:rPr sz="2400" spc="-70" dirty="0">
                <a:solidFill>
                  <a:srgbClr val="2F2F2F"/>
                </a:solidFill>
                <a:latin typeface="Arial MT"/>
                <a:cs typeface="Arial MT"/>
              </a:rPr>
              <a:t> </a:t>
            </a:r>
            <a:r>
              <a:rPr sz="2400" dirty="0">
                <a:solidFill>
                  <a:srgbClr val="2F2F2F"/>
                </a:solidFill>
                <a:latin typeface="Arial MT"/>
                <a:cs typeface="Arial MT"/>
              </a:rPr>
              <a:t>"We</a:t>
            </a:r>
            <a:r>
              <a:rPr sz="2400" spc="-85" dirty="0">
                <a:solidFill>
                  <a:srgbClr val="2F2F2F"/>
                </a:solidFill>
                <a:latin typeface="Arial MT"/>
                <a:cs typeface="Arial MT"/>
              </a:rPr>
              <a:t> </a:t>
            </a:r>
            <a:r>
              <a:rPr sz="2400" dirty="0">
                <a:solidFill>
                  <a:srgbClr val="2F2F2F"/>
                </a:solidFill>
                <a:latin typeface="Arial MT"/>
                <a:cs typeface="Arial MT"/>
              </a:rPr>
              <a:t>have</a:t>
            </a:r>
            <a:r>
              <a:rPr sz="2400" spc="-65" dirty="0">
                <a:solidFill>
                  <a:srgbClr val="2F2F2F"/>
                </a:solidFill>
                <a:latin typeface="Arial MT"/>
                <a:cs typeface="Arial MT"/>
              </a:rPr>
              <a:t> </a:t>
            </a:r>
            <a:r>
              <a:rPr sz="2400" dirty="0">
                <a:solidFill>
                  <a:srgbClr val="2F2F2F"/>
                </a:solidFill>
                <a:latin typeface="Arial MT"/>
                <a:cs typeface="Arial MT"/>
              </a:rPr>
              <a:t>a</a:t>
            </a:r>
            <a:r>
              <a:rPr sz="2400" spc="-85" dirty="0">
                <a:solidFill>
                  <a:srgbClr val="2F2F2F"/>
                </a:solidFill>
                <a:latin typeface="Arial MT"/>
                <a:cs typeface="Arial MT"/>
              </a:rPr>
              <a:t> </a:t>
            </a:r>
            <a:r>
              <a:rPr sz="2400" dirty="0">
                <a:solidFill>
                  <a:srgbClr val="2F2F2F"/>
                </a:solidFill>
                <a:latin typeface="Arial MT"/>
                <a:cs typeface="Arial MT"/>
              </a:rPr>
              <a:t>lot</a:t>
            </a:r>
            <a:r>
              <a:rPr sz="2400" spc="-65" dirty="0">
                <a:solidFill>
                  <a:srgbClr val="2F2F2F"/>
                </a:solidFill>
                <a:latin typeface="Arial MT"/>
                <a:cs typeface="Arial MT"/>
              </a:rPr>
              <a:t> </a:t>
            </a:r>
            <a:r>
              <a:rPr sz="2400" dirty="0">
                <a:solidFill>
                  <a:srgbClr val="2F2F2F"/>
                </a:solidFill>
                <a:latin typeface="Arial MT"/>
                <a:cs typeface="Arial MT"/>
              </a:rPr>
              <a:t>of</a:t>
            </a:r>
            <a:r>
              <a:rPr sz="2400" spc="-75" dirty="0">
                <a:solidFill>
                  <a:srgbClr val="2F2F2F"/>
                </a:solidFill>
                <a:latin typeface="Arial MT"/>
                <a:cs typeface="Arial MT"/>
              </a:rPr>
              <a:t> </a:t>
            </a:r>
            <a:r>
              <a:rPr sz="2400" dirty="0">
                <a:solidFill>
                  <a:srgbClr val="2F2F2F"/>
                </a:solidFill>
                <a:latin typeface="Arial MT"/>
                <a:cs typeface="Arial MT"/>
              </a:rPr>
              <a:t>operational</a:t>
            </a:r>
            <a:r>
              <a:rPr sz="2400" spc="-45" dirty="0">
                <a:solidFill>
                  <a:srgbClr val="2F2F2F"/>
                </a:solidFill>
                <a:latin typeface="Arial MT"/>
                <a:cs typeface="Arial MT"/>
              </a:rPr>
              <a:t> </a:t>
            </a:r>
            <a:r>
              <a:rPr sz="2400" dirty="0">
                <a:solidFill>
                  <a:srgbClr val="2F2F2F"/>
                </a:solidFill>
                <a:latin typeface="Arial MT"/>
                <a:cs typeface="Arial MT"/>
              </a:rPr>
              <a:t>challenges.</a:t>
            </a:r>
            <a:r>
              <a:rPr sz="2400" spc="-40" dirty="0">
                <a:solidFill>
                  <a:srgbClr val="2F2F2F"/>
                </a:solidFill>
                <a:latin typeface="Arial MT"/>
                <a:cs typeface="Arial MT"/>
              </a:rPr>
              <a:t> </a:t>
            </a:r>
            <a:r>
              <a:rPr sz="2400" dirty="0">
                <a:solidFill>
                  <a:srgbClr val="2F2F2F"/>
                </a:solidFill>
                <a:latin typeface="Arial MT"/>
                <a:cs typeface="Arial MT"/>
              </a:rPr>
              <a:t>From</a:t>
            </a:r>
            <a:r>
              <a:rPr sz="2400" spc="-85" dirty="0">
                <a:solidFill>
                  <a:srgbClr val="2F2F2F"/>
                </a:solidFill>
                <a:latin typeface="Arial MT"/>
                <a:cs typeface="Arial MT"/>
              </a:rPr>
              <a:t> </a:t>
            </a:r>
            <a:r>
              <a:rPr sz="2400" dirty="0">
                <a:solidFill>
                  <a:srgbClr val="2F2F2F"/>
                </a:solidFill>
                <a:latin typeface="Arial MT"/>
                <a:cs typeface="Arial MT"/>
              </a:rPr>
              <a:t>how</a:t>
            </a:r>
            <a:r>
              <a:rPr sz="2400" spc="-75" dirty="0">
                <a:solidFill>
                  <a:srgbClr val="2F2F2F"/>
                </a:solidFill>
                <a:latin typeface="Arial MT"/>
                <a:cs typeface="Arial MT"/>
              </a:rPr>
              <a:t> </a:t>
            </a:r>
            <a:r>
              <a:rPr sz="2400" dirty="0">
                <a:solidFill>
                  <a:srgbClr val="2F2F2F"/>
                </a:solidFill>
                <a:latin typeface="Arial MT"/>
                <a:cs typeface="Arial MT"/>
              </a:rPr>
              <a:t>sharp</a:t>
            </a:r>
            <a:r>
              <a:rPr sz="2400" spc="-60" dirty="0">
                <a:solidFill>
                  <a:srgbClr val="2F2F2F"/>
                </a:solidFill>
                <a:latin typeface="Arial MT"/>
                <a:cs typeface="Arial MT"/>
              </a:rPr>
              <a:t> </a:t>
            </a:r>
            <a:r>
              <a:rPr sz="2400" spc="-25" dirty="0">
                <a:solidFill>
                  <a:srgbClr val="2F2F2F"/>
                </a:solidFill>
                <a:latin typeface="Arial MT"/>
                <a:cs typeface="Arial MT"/>
              </a:rPr>
              <a:t>we </a:t>
            </a:r>
            <a:r>
              <a:rPr sz="2400" dirty="0">
                <a:solidFill>
                  <a:srgbClr val="2F2F2F"/>
                </a:solidFill>
                <a:latin typeface="Arial MT"/>
                <a:cs typeface="Arial MT"/>
              </a:rPr>
              <a:t>are</a:t>
            </a:r>
            <a:r>
              <a:rPr sz="2400" spc="-60" dirty="0">
                <a:solidFill>
                  <a:srgbClr val="2F2F2F"/>
                </a:solidFill>
                <a:latin typeface="Arial MT"/>
                <a:cs typeface="Arial MT"/>
              </a:rPr>
              <a:t> </a:t>
            </a:r>
            <a:r>
              <a:rPr sz="2400" dirty="0">
                <a:solidFill>
                  <a:srgbClr val="2F2F2F"/>
                </a:solidFill>
                <a:latin typeface="Arial MT"/>
                <a:cs typeface="Arial MT"/>
              </a:rPr>
              <a:t>on</a:t>
            </a:r>
            <a:r>
              <a:rPr sz="2400" spc="-60" dirty="0">
                <a:solidFill>
                  <a:srgbClr val="2F2F2F"/>
                </a:solidFill>
                <a:latin typeface="Arial MT"/>
                <a:cs typeface="Arial MT"/>
              </a:rPr>
              <a:t> </a:t>
            </a:r>
            <a:r>
              <a:rPr sz="2400" dirty="0">
                <a:solidFill>
                  <a:srgbClr val="2F2F2F"/>
                </a:solidFill>
                <a:latin typeface="Arial MT"/>
                <a:cs typeface="Arial MT"/>
              </a:rPr>
              <a:t>pricing</a:t>
            </a:r>
            <a:r>
              <a:rPr sz="2400" spc="-40" dirty="0">
                <a:solidFill>
                  <a:srgbClr val="2F2F2F"/>
                </a:solidFill>
                <a:latin typeface="Arial MT"/>
                <a:cs typeface="Arial MT"/>
              </a:rPr>
              <a:t> </a:t>
            </a:r>
            <a:r>
              <a:rPr sz="2400" dirty="0">
                <a:solidFill>
                  <a:srgbClr val="2F2F2F"/>
                </a:solidFill>
                <a:latin typeface="Arial MT"/>
                <a:cs typeface="Arial MT"/>
              </a:rPr>
              <a:t>...</a:t>
            </a:r>
            <a:r>
              <a:rPr sz="2400" spc="-90" dirty="0">
                <a:solidFill>
                  <a:srgbClr val="2F2F2F"/>
                </a:solidFill>
                <a:latin typeface="Arial MT"/>
                <a:cs typeface="Arial MT"/>
              </a:rPr>
              <a:t> </a:t>
            </a:r>
            <a:r>
              <a:rPr sz="2400" dirty="0">
                <a:solidFill>
                  <a:srgbClr val="2F2F2F"/>
                </a:solidFill>
                <a:latin typeface="Arial MT"/>
                <a:cs typeface="Arial MT"/>
              </a:rPr>
              <a:t>we</a:t>
            </a:r>
            <a:r>
              <a:rPr sz="2400" spc="-65" dirty="0">
                <a:solidFill>
                  <a:srgbClr val="2F2F2F"/>
                </a:solidFill>
                <a:latin typeface="Arial MT"/>
                <a:cs typeface="Arial MT"/>
              </a:rPr>
              <a:t> </a:t>
            </a:r>
            <a:r>
              <a:rPr sz="2400" dirty="0">
                <a:solidFill>
                  <a:srgbClr val="2F2F2F"/>
                </a:solidFill>
                <a:latin typeface="Arial MT"/>
                <a:cs typeface="Arial MT"/>
              </a:rPr>
              <a:t>certainly</a:t>
            </a:r>
            <a:r>
              <a:rPr sz="2400" spc="-50" dirty="0">
                <a:solidFill>
                  <a:srgbClr val="2F2F2F"/>
                </a:solidFill>
                <a:latin typeface="Arial MT"/>
                <a:cs typeface="Arial MT"/>
              </a:rPr>
              <a:t> </a:t>
            </a:r>
            <a:r>
              <a:rPr sz="2400" dirty="0">
                <a:solidFill>
                  <a:srgbClr val="2F2F2F"/>
                </a:solidFill>
                <a:latin typeface="Arial MT"/>
                <a:cs typeface="Arial MT"/>
              </a:rPr>
              <a:t>had</a:t>
            </a:r>
            <a:r>
              <a:rPr sz="2400" spc="-55" dirty="0">
                <a:solidFill>
                  <a:srgbClr val="2F2F2F"/>
                </a:solidFill>
                <a:latin typeface="Arial MT"/>
                <a:cs typeface="Arial MT"/>
              </a:rPr>
              <a:t> </a:t>
            </a:r>
            <a:r>
              <a:rPr sz="2400" dirty="0">
                <a:solidFill>
                  <a:srgbClr val="2F2F2F"/>
                </a:solidFill>
                <a:latin typeface="Arial MT"/>
                <a:cs typeface="Arial MT"/>
              </a:rPr>
              <a:t>supply</a:t>
            </a:r>
            <a:r>
              <a:rPr sz="2400" spc="-50" dirty="0">
                <a:solidFill>
                  <a:srgbClr val="2F2F2F"/>
                </a:solidFill>
                <a:latin typeface="Arial MT"/>
                <a:cs typeface="Arial MT"/>
              </a:rPr>
              <a:t> </a:t>
            </a:r>
            <a:r>
              <a:rPr sz="2400" dirty="0">
                <a:solidFill>
                  <a:srgbClr val="2F2F2F"/>
                </a:solidFill>
                <a:latin typeface="Arial MT"/>
                <a:cs typeface="Arial MT"/>
              </a:rPr>
              <a:t>chain</a:t>
            </a:r>
            <a:r>
              <a:rPr sz="2400" spc="-50" dirty="0">
                <a:solidFill>
                  <a:srgbClr val="2F2F2F"/>
                </a:solidFill>
                <a:latin typeface="Arial MT"/>
                <a:cs typeface="Arial MT"/>
              </a:rPr>
              <a:t> </a:t>
            </a:r>
            <a:r>
              <a:rPr sz="2400" dirty="0">
                <a:solidFill>
                  <a:srgbClr val="2F2F2F"/>
                </a:solidFill>
                <a:latin typeface="Arial MT"/>
                <a:cs typeface="Arial MT"/>
              </a:rPr>
              <a:t>and</a:t>
            </a:r>
            <a:r>
              <a:rPr sz="2400" spc="-55" dirty="0">
                <a:solidFill>
                  <a:srgbClr val="2F2F2F"/>
                </a:solidFill>
                <a:latin typeface="Arial MT"/>
                <a:cs typeface="Arial MT"/>
              </a:rPr>
              <a:t> </a:t>
            </a:r>
            <a:r>
              <a:rPr sz="2400" dirty="0">
                <a:solidFill>
                  <a:srgbClr val="2F2F2F"/>
                </a:solidFill>
                <a:latin typeface="Arial MT"/>
                <a:cs typeface="Arial MT"/>
              </a:rPr>
              <a:t>logistics</a:t>
            </a:r>
            <a:r>
              <a:rPr sz="2400" spc="-35" dirty="0">
                <a:solidFill>
                  <a:srgbClr val="2F2F2F"/>
                </a:solidFill>
                <a:latin typeface="Arial MT"/>
                <a:cs typeface="Arial MT"/>
              </a:rPr>
              <a:t> </a:t>
            </a:r>
            <a:r>
              <a:rPr sz="2400" spc="-10" dirty="0">
                <a:solidFill>
                  <a:srgbClr val="2F2F2F"/>
                </a:solidFill>
                <a:latin typeface="Arial MT"/>
                <a:cs typeface="Arial MT"/>
              </a:rPr>
              <a:t>issues."</a:t>
            </a:r>
            <a:endParaRPr sz="2400" dirty="0">
              <a:latin typeface="Arial MT"/>
              <a:cs typeface="Arial M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16</a:t>
            </a:fld>
            <a:endParaRPr spc="-25" dirty="0"/>
          </a:p>
        </p:txBody>
      </p:sp>
      <p:sp>
        <p:nvSpPr>
          <p:cNvPr id="8" name="Subtitle 7">
            <a:extLst>
              <a:ext uri="{FF2B5EF4-FFF2-40B4-BE49-F238E27FC236}">
                <a16:creationId xmlns:a16="http://schemas.microsoft.com/office/drawing/2014/main" id="{9502006B-293B-AD39-CBA1-7C729045EBB3}"/>
              </a:ext>
            </a:extLst>
          </p:cNvPr>
          <p:cNvSpPr>
            <a:spLocks noGrp="1"/>
          </p:cNvSpPr>
          <p:nvPr>
            <p:ph type="subTitle" idx="1"/>
          </p:nvPr>
        </p:nvSpPr>
        <p:spPr/>
        <p:txBody>
          <a:bodyPr/>
          <a:lstStyle/>
          <a:p>
            <a:r>
              <a:rPr lang="en-CA" dirty="0"/>
              <a:t>Assumptions &amp; Sensitivity</a:t>
            </a:r>
          </a:p>
        </p:txBody>
      </p:sp>
      <p:sp>
        <p:nvSpPr>
          <p:cNvPr id="3" name="object 3"/>
          <p:cNvSpPr txBox="1"/>
          <p:nvPr/>
        </p:nvSpPr>
        <p:spPr>
          <a:xfrm>
            <a:off x="430904" y="5626071"/>
            <a:ext cx="11089005" cy="777777"/>
          </a:xfrm>
          <a:prstGeom prst="rect">
            <a:avLst/>
          </a:prstGeom>
          <a:ln w="38100">
            <a:solidFill>
              <a:srgbClr val="0070C0"/>
            </a:solidFill>
          </a:ln>
        </p:spPr>
        <p:txBody>
          <a:bodyPr vert="horz" wrap="square" lIns="0" tIns="38735" rIns="0" bIns="0" rtlCol="0">
            <a:spAutoFit/>
          </a:bodyPr>
          <a:lstStyle/>
          <a:p>
            <a:pPr marL="3903979" marR="669925" indent="-3230245">
              <a:lnSpc>
                <a:spcPct val="100000"/>
              </a:lnSpc>
              <a:spcBef>
                <a:spcPts val="305"/>
              </a:spcBef>
            </a:pPr>
            <a:r>
              <a:rPr sz="2400" dirty="0">
                <a:latin typeface="Arial" panose="020B0604020202020204" pitchFamily="34" charset="0"/>
                <a:cs typeface="Arial" panose="020B0604020202020204" pitchFamily="34" charset="0"/>
              </a:rPr>
              <a:t>Useful</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to</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redo</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the</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analysis</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under</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different</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assumptions</a:t>
            </a:r>
            <a:r>
              <a:rPr sz="2400" spc="-6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and</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estimates</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to</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determine</a:t>
            </a:r>
            <a:r>
              <a:rPr sz="2400" spc="-50" dirty="0">
                <a:latin typeface="Arial" panose="020B0604020202020204" pitchFamily="34" charset="0"/>
                <a:cs typeface="Arial" panose="020B0604020202020204" pitchFamily="34" charset="0"/>
              </a:rPr>
              <a:t> </a:t>
            </a:r>
            <a:r>
              <a:rPr sz="2400" spc="-25" dirty="0">
                <a:latin typeface="Arial" panose="020B0604020202020204" pitchFamily="34" charset="0"/>
                <a:cs typeface="Arial" panose="020B0604020202020204" pitchFamily="34" charset="0"/>
              </a:rPr>
              <a:t>the </a:t>
            </a:r>
            <a:r>
              <a:rPr sz="2400" dirty="0">
                <a:latin typeface="Arial" panose="020B0604020202020204" pitchFamily="34" charset="0"/>
                <a:cs typeface="Arial" panose="020B0604020202020204" pitchFamily="34" charset="0"/>
              </a:rPr>
              <a:t>sensitivity</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of</a:t>
            </a:r>
            <a:r>
              <a:rPr sz="2400" spc="-5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the</a:t>
            </a:r>
            <a:r>
              <a:rPr sz="2400" spc="-40" dirty="0">
                <a:latin typeface="Arial" panose="020B0604020202020204" pitchFamily="34" charset="0"/>
                <a:cs typeface="Arial" panose="020B0604020202020204" pitchFamily="34" charset="0"/>
              </a:rPr>
              <a:t> </a:t>
            </a:r>
            <a:r>
              <a:rPr sz="2400" spc="-10" dirty="0">
                <a:latin typeface="Arial" panose="020B0604020202020204" pitchFamily="34" charset="0"/>
                <a:cs typeface="Arial" panose="020B0604020202020204" pitchFamily="34" charset="0"/>
              </a:rPr>
              <a:t>conclusions.</a:t>
            </a:r>
            <a:endParaRPr sz="2400" dirty="0">
              <a:latin typeface="Arial" panose="020B0604020202020204" pitchFamily="34" charset="0"/>
              <a:cs typeface="Arial" panose="020B0604020202020204" pitchFamily="34" charset="0"/>
            </a:endParaRPr>
          </a:p>
        </p:txBody>
      </p:sp>
      <p:pic>
        <p:nvPicPr>
          <p:cNvPr id="4" name="object 4"/>
          <p:cNvPicPr/>
          <p:nvPr/>
        </p:nvPicPr>
        <p:blipFill>
          <a:blip r:embed="rId2" cstate="print"/>
          <a:stretch>
            <a:fillRect/>
          </a:stretch>
        </p:blipFill>
        <p:spPr>
          <a:xfrm>
            <a:off x="430904" y="796913"/>
            <a:ext cx="6964263" cy="2208641"/>
          </a:xfrm>
          <a:prstGeom prst="rect">
            <a:avLst/>
          </a:prstGeom>
        </p:spPr>
      </p:pic>
      <p:sp>
        <p:nvSpPr>
          <p:cNvPr id="5" name="object 5"/>
          <p:cNvSpPr txBox="1"/>
          <p:nvPr/>
        </p:nvSpPr>
        <p:spPr>
          <a:xfrm>
            <a:off x="430904" y="3175757"/>
            <a:ext cx="9258300" cy="2280111"/>
          </a:xfrm>
          <a:prstGeom prst="rect">
            <a:avLst/>
          </a:prstGeom>
        </p:spPr>
        <p:txBody>
          <a:bodyPr vert="horz" wrap="square" lIns="0" tIns="149860" rIns="0" bIns="0" rtlCol="0">
            <a:spAutoFit/>
          </a:bodyPr>
          <a:lstStyle/>
          <a:p>
            <a:pPr marL="469265" indent="-456565">
              <a:lnSpc>
                <a:spcPct val="100000"/>
              </a:lnSpc>
              <a:spcBef>
                <a:spcPts val="1180"/>
              </a:spcBef>
              <a:buSzPct val="80000"/>
              <a:buChar char="•"/>
              <a:tabLst>
                <a:tab pos="469265" algn="l"/>
              </a:tabLst>
            </a:pPr>
            <a:r>
              <a:rPr sz="2400" dirty="0">
                <a:latin typeface="Arial" panose="020B0604020202020204" pitchFamily="34" charset="0"/>
                <a:cs typeface="Arial" panose="020B0604020202020204" pitchFamily="34" charset="0"/>
              </a:rPr>
              <a:t>A</a:t>
            </a:r>
            <a:r>
              <a:rPr sz="2400" spc="-1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decision</a:t>
            </a:r>
            <a:r>
              <a:rPr sz="2400" spc="-4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can</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only</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be</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as</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reliable</a:t>
            </a:r>
            <a:r>
              <a:rPr sz="2400" spc="-2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as</a:t>
            </a:r>
            <a:r>
              <a:rPr sz="2400" spc="-4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the</a:t>
            </a:r>
            <a:r>
              <a:rPr sz="2400" spc="-2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information</a:t>
            </a:r>
            <a:r>
              <a:rPr sz="2400" spc="-6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for</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which</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it</a:t>
            </a:r>
            <a:r>
              <a:rPr sz="2400" spc="-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is</a:t>
            </a:r>
            <a:r>
              <a:rPr sz="2400" spc="-1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based</a:t>
            </a:r>
            <a:r>
              <a:rPr sz="2400" spc="-45" dirty="0">
                <a:latin typeface="Arial" panose="020B0604020202020204" pitchFamily="34" charset="0"/>
                <a:cs typeface="Arial" panose="020B0604020202020204" pitchFamily="34" charset="0"/>
              </a:rPr>
              <a:t> </a:t>
            </a:r>
            <a:r>
              <a:rPr sz="2400" spc="-20" dirty="0">
                <a:latin typeface="Arial" panose="020B0604020202020204" pitchFamily="34" charset="0"/>
                <a:cs typeface="Arial" panose="020B0604020202020204" pitchFamily="34" charset="0"/>
              </a:rPr>
              <a:t>upon</a:t>
            </a:r>
            <a:endParaRPr sz="2400" dirty="0">
              <a:latin typeface="Arial" panose="020B0604020202020204" pitchFamily="34" charset="0"/>
              <a:cs typeface="Arial" panose="020B0604020202020204" pitchFamily="34" charset="0"/>
            </a:endParaRPr>
          </a:p>
          <a:p>
            <a:pPr marL="918844" lvl="1" indent="-456565">
              <a:lnSpc>
                <a:spcPct val="100000"/>
              </a:lnSpc>
              <a:spcBef>
                <a:spcPts val="1080"/>
              </a:spcBef>
              <a:buSzPct val="80000"/>
              <a:buChar char="•"/>
              <a:tabLst>
                <a:tab pos="918844" algn="l"/>
              </a:tabLst>
            </a:pPr>
            <a:r>
              <a:rPr sz="2400" dirty="0">
                <a:latin typeface="Arial" panose="020B0604020202020204" pitchFamily="34" charset="0"/>
                <a:cs typeface="Arial" panose="020B0604020202020204" pitchFamily="34" charset="0"/>
              </a:rPr>
              <a:t>All</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decisions</a:t>
            </a:r>
            <a:r>
              <a:rPr sz="2400" spc="-5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involve</a:t>
            </a:r>
            <a:r>
              <a:rPr sz="2400" spc="-2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making</a:t>
            </a:r>
            <a:r>
              <a:rPr sz="2400" spc="-4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assumptions</a:t>
            </a:r>
            <a:r>
              <a:rPr sz="2400" spc="-7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and</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estimates</a:t>
            </a:r>
            <a:r>
              <a:rPr sz="2400" spc="-6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about</a:t>
            </a:r>
            <a:r>
              <a:rPr sz="2400" spc="-4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the</a:t>
            </a:r>
            <a:r>
              <a:rPr sz="2400" spc="-45" dirty="0">
                <a:latin typeface="Arial" panose="020B0604020202020204" pitchFamily="34" charset="0"/>
                <a:cs typeface="Arial" panose="020B0604020202020204" pitchFamily="34" charset="0"/>
              </a:rPr>
              <a:t> </a:t>
            </a:r>
            <a:r>
              <a:rPr sz="2400" spc="-10" dirty="0">
                <a:latin typeface="Arial" panose="020B0604020202020204" pitchFamily="34" charset="0"/>
                <a:cs typeface="Arial" panose="020B0604020202020204" pitchFamily="34" charset="0"/>
              </a:rPr>
              <a:t>future</a:t>
            </a:r>
            <a:endParaRPr sz="2400" dirty="0">
              <a:latin typeface="Arial" panose="020B0604020202020204" pitchFamily="34" charset="0"/>
              <a:cs typeface="Arial" panose="020B0604020202020204" pitchFamily="34" charset="0"/>
            </a:endParaRPr>
          </a:p>
          <a:p>
            <a:pPr marL="918844" lvl="1" indent="-456565">
              <a:lnSpc>
                <a:spcPct val="100000"/>
              </a:lnSpc>
              <a:spcBef>
                <a:spcPts val="1080"/>
              </a:spcBef>
              <a:buSzPct val="80000"/>
              <a:buChar char="•"/>
              <a:tabLst>
                <a:tab pos="918844" algn="l"/>
              </a:tabLst>
            </a:pPr>
            <a:r>
              <a:rPr sz="2400" dirty="0">
                <a:latin typeface="Arial" panose="020B0604020202020204" pitchFamily="34" charset="0"/>
                <a:cs typeface="Arial" panose="020B0604020202020204" pitchFamily="34" charset="0"/>
              </a:rPr>
              <a:t>As</a:t>
            </a:r>
            <a:r>
              <a:rPr sz="2400" spc="-1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the</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time</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horizon</a:t>
            </a:r>
            <a:r>
              <a:rPr sz="2400" spc="-4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increases</a:t>
            </a:r>
            <a:r>
              <a:rPr sz="2400" spc="-5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so</a:t>
            </a:r>
            <a:r>
              <a:rPr sz="2400" spc="-2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to</a:t>
            </a:r>
            <a:r>
              <a:rPr sz="2400" spc="-3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does</a:t>
            </a:r>
            <a:r>
              <a:rPr sz="2400" spc="-25" dirty="0">
                <a:latin typeface="Arial" panose="020B0604020202020204" pitchFamily="34" charset="0"/>
                <a:cs typeface="Arial" panose="020B0604020202020204" pitchFamily="34" charset="0"/>
              </a:rPr>
              <a:t> </a:t>
            </a:r>
            <a:r>
              <a:rPr sz="2400" spc="-10" dirty="0">
                <a:latin typeface="Arial" panose="020B0604020202020204" pitchFamily="34" charset="0"/>
                <a:cs typeface="Arial" panose="020B0604020202020204" pitchFamily="34" charset="0"/>
              </a:rPr>
              <a:t>uncertainty</a:t>
            </a:r>
            <a:endParaRPr sz="2400" dirty="0">
              <a:latin typeface="Arial" panose="020B0604020202020204" pitchFamily="34" charset="0"/>
              <a:cs typeface="Arial" panose="020B0604020202020204" pitchFamily="34" charset="0"/>
            </a:endParaRPr>
          </a:p>
        </p:txBody>
      </p:sp>
      <p:sp>
        <p:nvSpPr>
          <p:cNvPr id="6" name="object 6"/>
          <p:cNvSpPr txBox="1"/>
          <p:nvPr/>
        </p:nvSpPr>
        <p:spPr>
          <a:xfrm>
            <a:off x="7809281" y="1340768"/>
            <a:ext cx="3959860" cy="1201420"/>
          </a:xfrm>
          <a:prstGeom prst="rect">
            <a:avLst/>
          </a:prstGeom>
          <a:ln w="38100">
            <a:solidFill>
              <a:srgbClr val="0070C0"/>
            </a:solidFill>
          </a:ln>
        </p:spPr>
        <p:txBody>
          <a:bodyPr vert="horz" wrap="square" lIns="0" tIns="37465" rIns="0" bIns="0" rtlCol="0">
            <a:spAutoFit/>
          </a:bodyPr>
          <a:lstStyle/>
          <a:p>
            <a:pPr algn="ctr">
              <a:lnSpc>
                <a:spcPct val="100000"/>
              </a:lnSpc>
              <a:spcBef>
                <a:spcPts val="295"/>
              </a:spcBef>
            </a:pPr>
            <a:r>
              <a:rPr sz="2400" dirty="0">
                <a:latin typeface="Arial MT"/>
                <a:cs typeface="Arial MT"/>
              </a:rPr>
              <a:t>More</a:t>
            </a:r>
            <a:r>
              <a:rPr sz="2400" spc="-65" dirty="0">
                <a:latin typeface="Arial MT"/>
                <a:cs typeface="Arial MT"/>
              </a:rPr>
              <a:t> </a:t>
            </a:r>
            <a:r>
              <a:rPr sz="2400" spc="-10" dirty="0">
                <a:latin typeface="Arial MT"/>
                <a:cs typeface="Arial MT"/>
              </a:rPr>
              <a:t>Uncertainty</a:t>
            </a:r>
            <a:endParaRPr sz="2400">
              <a:latin typeface="Arial MT"/>
              <a:cs typeface="Arial MT"/>
            </a:endParaRPr>
          </a:p>
          <a:p>
            <a:pPr algn="ctr">
              <a:lnSpc>
                <a:spcPct val="100000"/>
              </a:lnSpc>
              <a:spcBef>
                <a:spcPts val="5"/>
              </a:spcBef>
            </a:pPr>
            <a:r>
              <a:rPr sz="2400" spc="-50" dirty="0">
                <a:latin typeface="Arial MT"/>
                <a:cs typeface="Arial MT"/>
              </a:rPr>
              <a:t>=</a:t>
            </a:r>
            <a:endParaRPr sz="2400">
              <a:latin typeface="Arial MT"/>
              <a:cs typeface="Arial MT"/>
            </a:endParaRPr>
          </a:p>
          <a:p>
            <a:pPr marL="635" algn="ctr">
              <a:lnSpc>
                <a:spcPct val="100000"/>
              </a:lnSpc>
            </a:pPr>
            <a:r>
              <a:rPr sz="2400" spc="-20" dirty="0">
                <a:latin typeface="Arial MT"/>
                <a:cs typeface="Arial MT"/>
              </a:rPr>
              <a:t>More</a:t>
            </a:r>
            <a:r>
              <a:rPr sz="2400" spc="-120" dirty="0">
                <a:latin typeface="Arial MT"/>
                <a:cs typeface="Arial MT"/>
              </a:rPr>
              <a:t> </a:t>
            </a:r>
            <a:r>
              <a:rPr sz="2400" spc="-10" dirty="0">
                <a:latin typeface="Arial MT"/>
                <a:cs typeface="Arial MT"/>
              </a:rPr>
              <a:t>Assumptions</a:t>
            </a:r>
            <a:endParaRPr sz="2400">
              <a:latin typeface="Arial MT"/>
              <a:cs typeface="Arial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17</a:t>
            </a:fld>
            <a:endParaRPr spc="-25" dirty="0"/>
          </a:p>
        </p:txBody>
      </p:sp>
      <p:sp>
        <p:nvSpPr>
          <p:cNvPr id="15" name="Subtitle 14">
            <a:extLst>
              <a:ext uri="{FF2B5EF4-FFF2-40B4-BE49-F238E27FC236}">
                <a16:creationId xmlns:a16="http://schemas.microsoft.com/office/drawing/2014/main" id="{DA8EF439-3EEB-AE46-C0B7-33ADE4C6C3B0}"/>
              </a:ext>
            </a:extLst>
          </p:cNvPr>
          <p:cNvSpPr>
            <a:spLocks noGrp="1"/>
          </p:cNvSpPr>
          <p:nvPr>
            <p:ph type="subTitle" idx="1"/>
          </p:nvPr>
        </p:nvSpPr>
        <p:spPr/>
        <p:txBody>
          <a:bodyPr/>
          <a:lstStyle/>
          <a:p>
            <a:r>
              <a:rPr lang="en-CA" dirty="0"/>
              <a:t>Qualitative Factors</a:t>
            </a:r>
          </a:p>
        </p:txBody>
      </p:sp>
      <p:sp>
        <p:nvSpPr>
          <p:cNvPr id="3" name="object 3"/>
          <p:cNvSpPr txBox="1"/>
          <p:nvPr/>
        </p:nvSpPr>
        <p:spPr>
          <a:xfrm>
            <a:off x="512826" y="4917185"/>
            <a:ext cx="10972800" cy="1201420"/>
          </a:xfrm>
          <a:prstGeom prst="rect">
            <a:avLst/>
          </a:prstGeom>
          <a:ln w="38100">
            <a:solidFill>
              <a:srgbClr val="0070C0"/>
            </a:solidFill>
          </a:ln>
        </p:spPr>
        <p:txBody>
          <a:bodyPr vert="horz" wrap="square" lIns="0" tIns="38735" rIns="0" bIns="0" rtlCol="0">
            <a:spAutoFit/>
          </a:bodyPr>
          <a:lstStyle/>
          <a:p>
            <a:pPr marL="4634230" marR="156845" indent="-4473575">
              <a:lnSpc>
                <a:spcPct val="100000"/>
              </a:lnSpc>
              <a:spcBef>
                <a:spcPts val="305"/>
              </a:spcBef>
            </a:pPr>
            <a:r>
              <a:rPr sz="2400" dirty="0">
                <a:latin typeface="Arial MT"/>
                <a:cs typeface="Arial MT"/>
              </a:rPr>
              <a:t>"Not</a:t>
            </a:r>
            <a:r>
              <a:rPr sz="2400" spc="-60" dirty="0">
                <a:latin typeface="Arial MT"/>
                <a:cs typeface="Arial MT"/>
              </a:rPr>
              <a:t> </a:t>
            </a:r>
            <a:r>
              <a:rPr sz="2400" dirty="0">
                <a:latin typeface="Arial MT"/>
                <a:cs typeface="Arial MT"/>
              </a:rPr>
              <a:t>everything</a:t>
            </a:r>
            <a:r>
              <a:rPr sz="2400" spc="-40" dirty="0">
                <a:latin typeface="Arial MT"/>
                <a:cs typeface="Arial MT"/>
              </a:rPr>
              <a:t> </a:t>
            </a:r>
            <a:r>
              <a:rPr sz="2400" dirty="0">
                <a:latin typeface="Arial MT"/>
                <a:cs typeface="Arial MT"/>
              </a:rPr>
              <a:t>that</a:t>
            </a:r>
            <a:r>
              <a:rPr sz="2400" spc="-75" dirty="0">
                <a:latin typeface="Arial MT"/>
                <a:cs typeface="Arial MT"/>
              </a:rPr>
              <a:t> </a:t>
            </a:r>
            <a:r>
              <a:rPr sz="2400" dirty="0">
                <a:latin typeface="Arial MT"/>
                <a:cs typeface="Arial MT"/>
              </a:rPr>
              <a:t>can</a:t>
            </a:r>
            <a:r>
              <a:rPr sz="2400" spc="-55" dirty="0">
                <a:latin typeface="Arial MT"/>
                <a:cs typeface="Arial MT"/>
              </a:rPr>
              <a:t> </a:t>
            </a:r>
            <a:r>
              <a:rPr sz="2400" dirty="0">
                <a:latin typeface="Arial MT"/>
                <a:cs typeface="Arial MT"/>
              </a:rPr>
              <a:t>be</a:t>
            </a:r>
            <a:r>
              <a:rPr sz="2400" spc="-60" dirty="0">
                <a:latin typeface="Arial MT"/>
                <a:cs typeface="Arial MT"/>
              </a:rPr>
              <a:t> </a:t>
            </a:r>
            <a:r>
              <a:rPr sz="2400" dirty="0">
                <a:latin typeface="Arial MT"/>
                <a:cs typeface="Arial MT"/>
              </a:rPr>
              <a:t>counted</a:t>
            </a:r>
            <a:r>
              <a:rPr sz="2400" spc="-50" dirty="0">
                <a:latin typeface="Arial MT"/>
                <a:cs typeface="Arial MT"/>
              </a:rPr>
              <a:t> </a:t>
            </a:r>
            <a:r>
              <a:rPr sz="2400" dirty="0">
                <a:latin typeface="Arial MT"/>
                <a:cs typeface="Arial MT"/>
              </a:rPr>
              <a:t>counts,</a:t>
            </a:r>
            <a:r>
              <a:rPr sz="2400" spc="-55" dirty="0">
                <a:latin typeface="Arial MT"/>
                <a:cs typeface="Arial MT"/>
              </a:rPr>
              <a:t> </a:t>
            </a:r>
            <a:r>
              <a:rPr sz="2400" dirty="0">
                <a:latin typeface="Arial MT"/>
                <a:cs typeface="Arial MT"/>
              </a:rPr>
              <a:t>and</a:t>
            </a:r>
            <a:r>
              <a:rPr sz="2400" spc="-50" dirty="0">
                <a:latin typeface="Arial MT"/>
                <a:cs typeface="Arial MT"/>
              </a:rPr>
              <a:t> </a:t>
            </a:r>
            <a:r>
              <a:rPr sz="2400" dirty="0">
                <a:latin typeface="Arial MT"/>
                <a:cs typeface="Arial MT"/>
              </a:rPr>
              <a:t>not</a:t>
            </a:r>
            <a:r>
              <a:rPr sz="2400" spc="-70" dirty="0">
                <a:latin typeface="Arial MT"/>
                <a:cs typeface="Arial MT"/>
              </a:rPr>
              <a:t> </a:t>
            </a:r>
            <a:r>
              <a:rPr sz="2400" dirty="0">
                <a:latin typeface="Arial MT"/>
                <a:cs typeface="Arial MT"/>
              </a:rPr>
              <a:t>everything</a:t>
            </a:r>
            <a:r>
              <a:rPr sz="2400" spc="-50" dirty="0">
                <a:latin typeface="Arial MT"/>
                <a:cs typeface="Arial MT"/>
              </a:rPr>
              <a:t> </a:t>
            </a:r>
            <a:r>
              <a:rPr sz="2400" dirty="0">
                <a:latin typeface="Arial MT"/>
                <a:cs typeface="Arial MT"/>
              </a:rPr>
              <a:t>that</a:t>
            </a:r>
            <a:r>
              <a:rPr sz="2400" spc="-60" dirty="0">
                <a:latin typeface="Arial MT"/>
                <a:cs typeface="Arial MT"/>
              </a:rPr>
              <a:t> </a:t>
            </a:r>
            <a:r>
              <a:rPr sz="2400" dirty="0">
                <a:latin typeface="Arial MT"/>
                <a:cs typeface="Arial MT"/>
              </a:rPr>
              <a:t>counts</a:t>
            </a:r>
            <a:r>
              <a:rPr sz="2400" spc="-55" dirty="0">
                <a:latin typeface="Arial MT"/>
                <a:cs typeface="Arial MT"/>
              </a:rPr>
              <a:t> </a:t>
            </a:r>
            <a:r>
              <a:rPr sz="2400" spc="-25" dirty="0">
                <a:latin typeface="Arial MT"/>
                <a:cs typeface="Arial MT"/>
              </a:rPr>
              <a:t>can </a:t>
            </a:r>
            <a:r>
              <a:rPr sz="2400" dirty="0">
                <a:latin typeface="Arial MT"/>
                <a:cs typeface="Arial MT"/>
              </a:rPr>
              <a:t>be</a:t>
            </a:r>
            <a:r>
              <a:rPr sz="2400" spc="-35" dirty="0">
                <a:latin typeface="Arial MT"/>
                <a:cs typeface="Arial MT"/>
              </a:rPr>
              <a:t> </a:t>
            </a:r>
            <a:r>
              <a:rPr sz="2400" spc="-10" dirty="0">
                <a:latin typeface="Arial MT"/>
                <a:cs typeface="Arial MT"/>
              </a:rPr>
              <a:t>counted."</a:t>
            </a:r>
            <a:endParaRPr sz="2400">
              <a:latin typeface="Arial MT"/>
              <a:cs typeface="Arial MT"/>
            </a:endParaRPr>
          </a:p>
          <a:p>
            <a:pPr marL="8618220">
              <a:lnSpc>
                <a:spcPct val="100000"/>
              </a:lnSpc>
            </a:pPr>
            <a:r>
              <a:rPr sz="2400" dirty="0">
                <a:latin typeface="Arial MT"/>
                <a:cs typeface="Arial MT"/>
              </a:rPr>
              <a:t>Albert</a:t>
            </a:r>
            <a:r>
              <a:rPr sz="2400" spc="-75" dirty="0">
                <a:latin typeface="Arial MT"/>
                <a:cs typeface="Arial MT"/>
              </a:rPr>
              <a:t> </a:t>
            </a:r>
            <a:r>
              <a:rPr sz="2400" spc="-10" dirty="0">
                <a:latin typeface="Arial MT"/>
                <a:cs typeface="Arial MT"/>
              </a:rPr>
              <a:t>Einstein</a:t>
            </a:r>
            <a:endParaRPr sz="2400">
              <a:latin typeface="Arial MT"/>
              <a:cs typeface="Arial MT"/>
            </a:endParaRPr>
          </a:p>
        </p:txBody>
      </p:sp>
      <p:grpSp>
        <p:nvGrpSpPr>
          <p:cNvPr id="4" name="object 4"/>
          <p:cNvGrpSpPr/>
          <p:nvPr/>
        </p:nvGrpSpPr>
        <p:grpSpPr>
          <a:xfrm>
            <a:off x="1126489" y="1734566"/>
            <a:ext cx="3995420" cy="2642235"/>
            <a:chOff x="1126489" y="1734566"/>
            <a:chExt cx="3995420" cy="2642235"/>
          </a:xfrm>
        </p:grpSpPr>
        <p:sp>
          <p:nvSpPr>
            <p:cNvPr id="5" name="object 5"/>
            <p:cNvSpPr/>
            <p:nvPr/>
          </p:nvSpPr>
          <p:spPr>
            <a:xfrm>
              <a:off x="1217015" y="2819146"/>
              <a:ext cx="3813810" cy="472440"/>
            </a:xfrm>
            <a:custGeom>
              <a:avLst/>
              <a:gdLst/>
              <a:ahLst/>
              <a:cxnLst/>
              <a:rect l="l" t="t" r="r" b="b"/>
              <a:pathLst>
                <a:path w="3813810" h="472439">
                  <a:moveTo>
                    <a:pt x="3801262" y="0"/>
                  </a:moveTo>
                  <a:lnTo>
                    <a:pt x="0" y="332613"/>
                  </a:lnTo>
                  <a:lnTo>
                    <a:pt x="12191" y="471931"/>
                  </a:lnTo>
                  <a:lnTo>
                    <a:pt x="3813454" y="139318"/>
                  </a:lnTo>
                  <a:lnTo>
                    <a:pt x="3801262" y="0"/>
                  </a:lnTo>
                  <a:close/>
                </a:path>
              </a:pathLst>
            </a:custGeom>
            <a:solidFill>
              <a:srgbClr val="AAAAAA"/>
            </a:solidFill>
          </p:spPr>
          <p:txBody>
            <a:bodyPr wrap="square" lIns="0" tIns="0" rIns="0" bIns="0" rtlCol="0"/>
            <a:lstStyle/>
            <a:p>
              <a:endParaRPr/>
            </a:p>
          </p:txBody>
        </p:sp>
        <p:sp>
          <p:nvSpPr>
            <p:cNvPr id="6" name="object 6"/>
            <p:cNvSpPr/>
            <p:nvPr/>
          </p:nvSpPr>
          <p:spPr>
            <a:xfrm>
              <a:off x="1139189" y="1747266"/>
              <a:ext cx="1567180" cy="1163320"/>
            </a:xfrm>
            <a:custGeom>
              <a:avLst/>
              <a:gdLst/>
              <a:ahLst/>
              <a:cxnLst/>
              <a:rect l="l" t="t" r="r" b="b"/>
              <a:pathLst>
                <a:path w="1567180" h="1163320">
                  <a:moveTo>
                    <a:pt x="1175004" y="0"/>
                  </a:moveTo>
                  <a:lnTo>
                    <a:pt x="391668" y="0"/>
                  </a:lnTo>
                  <a:lnTo>
                    <a:pt x="391668" y="581406"/>
                  </a:lnTo>
                  <a:lnTo>
                    <a:pt x="0" y="581406"/>
                  </a:lnTo>
                  <a:lnTo>
                    <a:pt x="783335" y="1162812"/>
                  </a:lnTo>
                  <a:lnTo>
                    <a:pt x="1566672" y="581406"/>
                  </a:lnTo>
                  <a:lnTo>
                    <a:pt x="1175004" y="581406"/>
                  </a:lnTo>
                  <a:lnTo>
                    <a:pt x="1175004" y="0"/>
                  </a:lnTo>
                  <a:close/>
                </a:path>
              </a:pathLst>
            </a:custGeom>
            <a:solidFill>
              <a:srgbClr val="929292"/>
            </a:solidFill>
          </p:spPr>
          <p:txBody>
            <a:bodyPr wrap="square" lIns="0" tIns="0" rIns="0" bIns="0" rtlCol="0"/>
            <a:lstStyle/>
            <a:p>
              <a:endParaRPr/>
            </a:p>
          </p:txBody>
        </p:sp>
        <p:sp>
          <p:nvSpPr>
            <p:cNvPr id="7" name="object 7"/>
            <p:cNvSpPr/>
            <p:nvPr/>
          </p:nvSpPr>
          <p:spPr>
            <a:xfrm>
              <a:off x="1139189" y="1747266"/>
              <a:ext cx="1567180" cy="1163320"/>
            </a:xfrm>
            <a:custGeom>
              <a:avLst/>
              <a:gdLst/>
              <a:ahLst/>
              <a:cxnLst/>
              <a:rect l="l" t="t" r="r" b="b"/>
              <a:pathLst>
                <a:path w="1567180" h="1163320">
                  <a:moveTo>
                    <a:pt x="0" y="581406"/>
                  </a:moveTo>
                  <a:lnTo>
                    <a:pt x="391668" y="581406"/>
                  </a:lnTo>
                  <a:lnTo>
                    <a:pt x="391668" y="0"/>
                  </a:lnTo>
                  <a:lnTo>
                    <a:pt x="1175004" y="0"/>
                  </a:lnTo>
                  <a:lnTo>
                    <a:pt x="1175004" y="581406"/>
                  </a:lnTo>
                  <a:lnTo>
                    <a:pt x="1566672" y="581406"/>
                  </a:lnTo>
                  <a:lnTo>
                    <a:pt x="783335" y="1162812"/>
                  </a:lnTo>
                  <a:lnTo>
                    <a:pt x="0" y="581406"/>
                  </a:lnTo>
                  <a:close/>
                </a:path>
              </a:pathLst>
            </a:custGeom>
            <a:ln w="25400">
              <a:solidFill>
                <a:srgbClr val="000000"/>
              </a:solidFill>
            </a:ln>
          </p:spPr>
          <p:txBody>
            <a:bodyPr wrap="square" lIns="0" tIns="0" rIns="0" bIns="0" rtlCol="0"/>
            <a:lstStyle/>
            <a:p>
              <a:endParaRPr/>
            </a:p>
          </p:txBody>
        </p:sp>
        <p:sp>
          <p:nvSpPr>
            <p:cNvPr id="8" name="object 8"/>
            <p:cNvSpPr/>
            <p:nvPr/>
          </p:nvSpPr>
          <p:spPr>
            <a:xfrm>
              <a:off x="3542538" y="3201162"/>
              <a:ext cx="1567180" cy="1163320"/>
            </a:xfrm>
            <a:custGeom>
              <a:avLst/>
              <a:gdLst/>
              <a:ahLst/>
              <a:cxnLst/>
              <a:rect l="l" t="t" r="r" b="b"/>
              <a:pathLst>
                <a:path w="1567179" h="1163320">
                  <a:moveTo>
                    <a:pt x="783336" y="0"/>
                  </a:moveTo>
                  <a:lnTo>
                    <a:pt x="0" y="581406"/>
                  </a:lnTo>
                  <a:lnTo>
                    <a:pt x="391667" y="581406"/>
                  </a:lnTo>
                  <a:lnTo>
                    <a:pt x="391667" y="1162812"/>
                  </a:lnTo>
                  <a:lnTo>
                    <a:pt x="1175003" y="1162812"/>
                  </a:lnTo>
                  <a:lnTo>
                    <a:pt x="1175003" y="581406"/>
                  </a:lnTo>
                  <a:lnTo>
                    <a:pt x="1566672" y="581406"/>
                  </a:lnTo>
                  <a:lnTo>
                    <a:pt x="783336" y="0"/>
                  </a:lnTo>
                  <a:close/>
                </a:path>
              </a:pathLst>
            </a:custGeom>
            <a:solidFill>
              <a:srgbClr val="929292"/>
            </a:solidFill>
          </p:spPr>
          <p:txBody>
            <a:bodyPr wrap="square" lIns="0" tIns="0" rIns="0" bIns="0" rtlCol="0"/>
            <a:lstStyle/>
            <a:p>
              <a:endParaRPr/>
            </a:p>
          </p:txBody>
        </p:sp>
        <p:sp>
          <p:nvSpPr>
            <p:cNvPr id="9" name="object 9"/>
            <p:cNvSpPr/>
            <p:nvPr/>
          </p:nvSpPr>
          <p:spPr>
            <a:xfrm>
              <a:off x="3542538" y="3201162"/>
              <a:ext cx="1567180" cy="1163320"/>
            </a:xfrm>
            <a:custGeom>
              <a:avLst/>
              <a:gdLst/>
              <a:ahLst/>
              <a:cxnLst/>
              <a:rect l="l" t="t" r="r" b="b"/>
              <a:pathLst>
                <a:path w="1567179" h="1163320">
                  <a:moveTo>
                    <a:pt x="0" y="581406"/>
                  </a:moveTo>
                  <a:lnTo>
                    <a:pt x="783336" y="0"/>
                  </a:lnTo>
                  <a:lnTo>
                    <a:pt x="1566672" y="581406"/>
                  </a:lnTo>
                  <a:lnTo>
                    <a:pt x="1175003" y="581406"/>
                  </a:lnTo>
                  <a:lnTo>
                    <a:pt x="1175003" y="1162812"/>
                  </a:lnTo>
                  <a:lnTo>
                    <a:pt x="391667" y="1162812"/>
                  </a:lnTo>
                  <a:lnTo>
                    <a:pt x="391667" y="581406"/>
                  </a:lnTo>
                  <a:lnTo>
                    <a:pt x="0" y="581406"/>
                  </a:lnTo>
                  <a:close/>
                </a:path>
              </a:pathLst>
            </a:custGeom>
            <a:ln w="25400">
              <a:solidFill>
                <a:srgbClr val="000000"/>
              </a:solidFill>
            </a:ln>
          </p:spPr>
          <p:txBody>
            <a:bodyPr wrap="square" lIns="0" tIns="0" rIns="0" bIns="0" rtlCol="0"/>
            <a:lstStyle/>
            <a:p>
              <a:endParaRPr/>
            </a:p>
          </p:txBody>
        </p:sp>
      </p:grpSp>
      <p:sp>
        <p:nvSpPr>
          <p:cNvPr id="10" name="object 10"/>
          <p:cNvSpPr txBox="1"/>
          <p:nvPr/>
        </p:nvSpPr>
        <p:spPr>
          <a:xfrm>
            <a:off x="3290442" y="1697862"/>
            <a:ext cx="1651635" cy="900430"/>
          </a:xfrm>
          <a:prstGeom prst="rect">
            <a:avLst/>
          </a:prstGeom>
        </p:spPr>
        <p:txBody>
          <a:bodyPr vert="horz" wrap="square" lIns="0" tIns="12700" rIns="0" bIns="0" rtlCol="0">
            <a:spAutoFit/>
          </a:bodyPr>
          <a:lstStyle/>
          <a:p>
            <a:pPr marL="317500" marR="5080" indent="-304800">
              <a:lnSpc>
                <a:spcPct val="119600"/>
              </a:lnSpc>
              <a:spcBef>
                <a:spcPts val="100"/>
              </a:spcBef>
            </a:pPr>
            <a:r>
              <a:rPr sz="2400" spc="-10" dirty="0">
                <a:latin typeface="Arial MT"/>
                <a:cs typeface="Arial MT"/>
              </a:rPr>
              <a:t>Quantitative Factors</a:t>
            </a:r>
            <a:endParaRPr sz="2400">
              <a:latin typeface="Arial MT"/>
              <a:cs typeface="Arial MT"/>
            </a:endParaRPr>
          </a:p>
        </p:txBody>
      </p:sp>
      <p:sp>
        <p:nvSpPr>
          <p:cNvPr id="11" name="object 11"/>
          <p:cNvSpPr txBox="1"/>
          <p:nvPr/>
        </p:nvSpPr>
        <p:spPr>
          <a:xfrm>
            <a:off x="1398269" y="3384930"/>
            <a:ext cx="1464945" cy="900430"/>
          </a:xfrm>
          <a:prstGeom prst="rect">
            <a:avLst/>
          </a:prstGeom>
        </p:spPr>
        <p:txBody>
          <a:bodyPr vert="horz" wrap="square" lIns="0" tIns="12700" rIns="0" bIns="0" rtlCol="0">
            <a:spAutoFit/>
          </a:bodyPr>
          <a:lstStyle/>
          <a:p>
            <a:pPr marL="224790" marR="5080" indent="-212090">
              <a:lnSpc>
                <a:spcPct val="119600"/>
              </a:lnSpc>
              <a:spcBef>
                <a:spcPts val="100"/>
              </a:spcBef>
            </a:pPr>
            <a:r>
              <a:rPr sz="2400" spc="-10" dirty="0">
                <a:latin typeface="Arial MT"/>
                <a:cs typeface="Arial MT"/>
              </a:rPr>
              <a:t>Qualitative Factors</a:t>
            </a:r>
            <a:endParaRPr sz="2400">
              <a:latin typeface="Arial MT"/>
              <a:cs typeface="Arial MT"/>
            </a:endParaRPr>
          </a:p>
        </p:txBody>
      </p:sp>
      <p:sp>
        <p:nvSpPr>
          <p:cNvPr id="12" name="object 12"/>
          <p:cNvSpPr txBox="1"/>
          <p:nvPr/>
        </p:nvSpPr>
        <p:spPr>
          <a:xfrm>
            <a:off x="6465570" y="3106673"/>
            <a:ext cx="4950460" cy="1201420"/>
          </a:xfrm>
          <a:prstGeom prst="rect">
            <a:avLst/>
          </a:prstGeom>
          <a:ln w="25400">
            <a:solidFill>
              <a:srgbClr val="0070C0"/>
            </a:solidFill>
          </a:ln>
        </p:spPr>
        <p:txBody>
          <a:bodyPr vert="horz" wrap="square" lIns="0" tIns="38100" rIns="0" bIns="0" rtlCol="0">
            <a:spAutoFit/>
          </a:bodyPr>
          <a:lstStyle/>
          <a:p>
            <a:pPr marL="91440" marR="626745">
              <a:lnSpc>
                <a:spcPct val="100000"/>
              </a:lnSpc>
              <a:spcBef>
                <a:spcPts val="300"/>
              </a:spcBef>
            </a:pPr>
            <a:r>
              <a:rPr sz="2400" dirty="0">
                <a:latin typeface="Arial MT"/>
                <a:cs typeface="Arial MT"/>
              </a:rPr>
              <a:t>“…Tim</a:t>
            </a:r>
            <a:r>
              <a:rPr sz="2400" spc="-114" dirty="0">
                <a:latin typeface="Arial MT"/>
                <a:cs typeface="Arial MT"/>
              </a:rPr>
              <a:t> </a:t>
            </a:r>
            <a:r>
              <a:rPr sz="2400" dirty="0">
                <a:latin typeface="Arial MT"/>
                <a:cs typeface="Arial MT"/>
              </a:rPr>
              <a:t>Hortons</a:t>
            </a:r>
            <a:r>
              <a:rPr sz="2400" spc="-105" dirty="0">
                <a:latin typeface="Arial MT"/>
                <a:cs typeface="Arial MT"/>
              </a:rPr>
              <a:t> </a:t>
            </a:r>
            <a:r>
              <a:rPr sz="2400" dirty="0">
                <a:latin typeface="Arial MT"/>
                <a:cs typeface="Arial MT"/>
              </a:rPr>
              <a:t>regulars</a:t>
            </a:r>
            <a:r>
              <a:rPr sz="2400" spc="-90" dirty="0">
                <a:latin typeface="Arial MT"/>
                <a:cs typeface="Arial MT"/>
              </a:rPr>
              <a:t> </a:t>
            </a:r>
            <a:r>
              <a:rPr sz="2400" spc="-10" dirty="0">
                <a:latin typeface="Arial MT"/>
                <a:cs typeface="Arial MT"/>
              </a:rPr>
              <a:t>launch </a:t>
            </a:r>
            <a:r>
              <a:rPr sz="2400" dirty="0">
                <a:latin typeface="Arial MT"/>
                <a:cs typeface="Arial MT"/>
              </a:rPr>
              <a:t>boycott</a:t>
            </a:r>
            <a:r>
              <a:rPr sz="2400" spc="-55" dirty="0">
                <a:latin typeface="Arial MT"/>
                <a:cs typeface="Arial MT"/>
              </a:rPr>
              <a:t> </a:t>
            </a:r>
            <a:r>
              <a:rPr sz="2400" dirty="0">
                <a:latin typeface="Arial MT"/>
                <a:cs typeface="Arial MT"/>
              </a:rPr>
              <a:t>over</a:t>
            </a:r>
            <a:r>
              <a:rPr sz="2400" spc="-65" dirty="0">
                <a:latin typeface="Arial MT"/>
                <a:cs typeface="Arial MT"/>
              </a:rPr>
              <a:t> </a:t>
            </a:r>
            <a:r>
              <a:rPr sz="2400" dirty="0">
                <a:latin typeface="Arial MT"/>
                <a:cs typeface="Arial MT"/>
              </a:rPr>
              <a:t>minimum</a:t>
            </a:r>
            <a:r>
              <a:rPr sz="2400" spc="-40" dirty="0">
                <a:latin typeface="Arial MT"/>
                <a:cs typeface="Arial MT"/>
              </a:rPr>
              <a:t> </a:t>
            </a:r>
            <a:r>
              <a:rPr sz="2400" spc="-20" dirty="0">
                <a:latin typeface="Arial MT"/>
                <a:cs typeface="Arial MT"/>
              </a:rPr>
              <a:t>wage </a:t>
            </a:r>
            <a:r>
              <a:rPr sz="2400" spc="-10" dirty="0">
                <a:latin typeface="Arial MT"/>
                <a:cs typeface="Arial MT"/>
              </a:rPr>
              <a:t>response.”</a:t>
            </a:r>
            <a:endParaRPr sz="2400" dirty="0">
              <a:latin typeface="Arial MT"/>
              <a:cs typeface="Arial MT"/>
            </a:endParaRPr>
          </a:p>
        </p:txBody>
      </p:sp>
      <p:pic>
        <p:nvPicPr>
          <p:cNvPr id="13" name="object 13"/>
          <p:cNvPicPr/>
          <p:nvPr/>
        </p:nvPicPr>
        <p:blipFill>
          <a:blip r:embed="rId2" cstate="print"/>
          <a:stretch>
            <a:fillRect/>
          </a:stretch>
        </p:blipFill>
        <p:spPr>
          <a:xfrm>
            <a:off x="6752498" y="1753411"/>
            <a:ext cx="4478547" cy="89636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18</a:t>
            </a:fld>
            <a:endParaRPr spc="-25" dirty="0"/>
          </a:p>
        </p:txBody>
      </p:sp>
      <p:sp>
        <p:nvSpPr>
          <p:cNvPr id="7" name="Subtitle 6">
            <a:extLst>
              <a:ext uri="{FF2B5EF4-FFF2-40B4-BE49-F238E27FC236}">
                <a16:creationId xmlns:a16="http://schemas.microsoft.com/office/drawing/2014/main" id="{B8AA86E5-ABA8-0685-3868-267E86DA5B59}"/>
              </a:ext>
            </a:extLst>
          </p:cNvPr>
          <p:cNvSpPr>
            <a:spLocks noGrp="1"/>
          </p:cNvSpPr>
          <p:nvPr>
            <p:ph type="subTitle" idx="1"/>
          </p:nvPr>
        </p:nvSpPr>
        <p:spPr/>
        <p:txBody>
          <a:bodyPr/>
          <a:lstStyle/>
          <a:p>
            <a:r>
              <a:rPr lang="en-CA" dirty="0"/>
              <a:t>The “Newspaper Test”</a:t>
            </a:r>
          </a:p>
        </p:txBody>
      </p:sp>
      <p:sp>
        <p:nvSpPr>
          <p:cNvPr id="3" name="object 3"/>
          <p:cNvSpPr txBox="1"/>
          <p:nvPr/>
        </p:nvSpPr>
        <p:spPr>
          <a:xfrm>
            <a:off x="414019" y="947673"/>
            <a:ext cx="5396865"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FFFF"/>
                </a:solidFill>
                <a:latin typeface="Arial"/>
                <a:cs typeface="Arial"/>
              </a:rPr>
              <a:t>htt</a:t>
            </a:r>
            <a:r>
              <a:rPr sz="1800" b="1" spc="-10" dirty="0">
                <a:solidFill>
                  <a:srgbClr val="FFFFFF"/>
                </a:solidFill>
                <a:latin typeface="Arial"/>
                <a:cs typeface="Arial"/>
                <a:hlinkClick r:id="rId2"/>
              </a:rPr>
              <a:t>ps://www.youtube.com/watch?v=GNF793Inghg</a:t>
            </a:r>
            <a:endParaRPr sz="1800">
              <a:latin typeface="Arial"/>
              <a:cs typeface="Arial"/>
            </a:endParaRPr>
          </a:p>
        </p:txBody>
      </p:sp>
      <p:sp>
        <p:nvSpPr>
          <p:cNvPr id="4" name="object 4"/>
          <p:cNvSpPr txBox="1"/>
          <p:nvPr/>
        </p:nvSpPr>
        <p:spPr>
          <a:xfrm>
            <a:off x="479377" y="1628800"/>
            <a:ext cx="5184575" cy="4039567"/>
          </a:xfrm>
          <a:prstGeom prst="rect">
            <a:avLst/>
          </a:prstGeom>
        </p:spPr>
        <p:txBody>
          <a:bodyPr vert="horz" wrap="square" lIns="0" tIns="12700" rIns="0" bIns="0" rtlCol="0">
            <a:spAutoFit/>
          </a:bodyPr>
          <a:lstStyle/>
          <a:p>
            <a:pPr marL="12700" marR="5080">
              <a:lnSpc>
                <a:spcPct val="100000"/>
              </a:lnSpc>
              <a:spcBef>
                <a:spcPts val="100"/>
              </a:spcBef>
            </a:pPr>
            <a:r>
              <a:rPr sz="2000" dirty="0">
                <a:latin typeface="Arial" panose="020B0604020202020204" pitchFamily="34" charset="0"/>
                <a:cs typeface="Arial" panose="020B0604020202020204" pitchFamily="34" charset="0"/>
              </a:rPr>
              <a:t>“I</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ask</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managers to</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judge every</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action</a:t>
            </a:r>
            <a:r>
              <a:rPr sz="2000" spc="-15" dirty="0">
                <a:latin typeface="Arial" panose="020B0604020202020204" pitchFamily="34" charset="0"/>
                <a:cs typeface="Arial" panose="020B0604020202020204" pitchFamily="34" charset="0"/>
              </a:rPr>
              <a:t> </a:t>
            </a:r>
            <a:r>
              <a:rPr sz="2000" spc="-20" dirty="0">
                <a:latin typeface="Arial" panose="020B0604020202020204" pitchFamily="34" charset="0"/>
                <a:cs typeface="Arial" panose="020B0604020202020204" pitchFamily="34" charset="0"/>
              </a:rPr>
              <a:t>they </a:t>
            </a:r>
            <a:r>
              <a:rPr sz="2000" dirty="0">
                <a:latin typeface="Arial" panose="020B0604020202020204" pitchFamily="34" charset="0"/>
                <a:cs typeface="Arial" panose="020B0604020202020204" pitchFamily="34" charset="0"/>
              </a:rPr>
              <a:t>take</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not</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just</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by</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legal</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standards,</a:t>
            </a:r>
            <a:r>
              <a:rPr sz="2000" spc="-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though </a:t>
            </a:r>
            <a:r>
              <a:rPr sz="2000" dirty="0">
                <a:latin typeface="Arial" panose="020B0604020202020204" pitchFamily="34" charset="0"/>
                <a:cs typeface="Arial" panose="020B0604020202020204" pitchFamily="34" charset="0"/>
              </a:rPr>
              <a:t>obviously that’s</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first</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test</a:t>
            </a:r>
            <a:r>
              <a:rPr sz="2000" spc="-1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but</a:t>
            </a:r>
            <a:r>
              <a:rPr sz="2000" spc="-1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also</a:t>
            </a:r>
            <a:r>
              <a:rPr sz="2000" spc="-15" dirty="0">
                <a:latin typeface="Arial" panose="020B0604020202020204" pitchFamily="34" charset="0"/>
                <a:cs typeface="Arial" panose="020B0604020202020204" pitchFamily="34" charset="0"/>
              </a:rPr>
              <a:t> </a:t>
            </a:r>
            <a:r>
              <a:rPr sz="2000" spc="-25" dirty="0">
                <a:latin typeface="Arial" panose="020B0604020202020204" pitchFamily="34" charset="0"/>
                <a:cs typeface="Arial" panose="020B0604020202020204" pitchFamily="34" charset="0"/>
              </a:rPr>
              <a:t>by </a:t>
            </a:r>
            <a:r>
              <a:rPr sz="2000" dirty="0">
                <a:latin typeface="Arial" panose="020B0604020202020204" pitchFamily="34" charset="0"/>
                <a:cs typeface="Arial" panose="020B0604020202020204" pitchFamily="34" charset="0"/>
              </a:rPr>
              <a:t>what</a:t>
            </a:r>
            <a:r>
              <a:rPr sz="2000" spc="-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call</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‘newspaper</a:t>
            </a:r>
            <a:r>
              <a:rPr sz="2000" spc="1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test.’”</a:t>
            </a:r>
            <a:endParaRPr sz="2000" dirty="0">
              <a:latin typeface="Arial" panose="020B0604020202020204" pitchFamily="34" charset="0"/>
              <a:cs typeface="Arial" panose="020B0604020202020204" pitchFamily="34" charset="0"/>
            </a:endParaRPr>
          </a:p>
          <a:p>
            <a:pPr>
              <a:lnSpc>
                <a:spcPct val="100000"/>
              </a:lnSpc>
              <a:spcBef>
                <a:spcPts val="90"/>
              </a:spcBef>
            </a:pPr>
            <a:endParaRPr sz="2000" dirty="0">
              <a:latin typeface="Arial" panose="020B0604020202020204" pitchFamily="34" charset="0"/>
              <a:cs typeface="Arial" panose="020B0604020202020204" pitchFamily="34" charset="0"/>
            </a:endParaRPr>
          </a:p>
          <a:p>
            <a:pPr marL="12700" marR="144780">
              <a:lnSpc>
                <a:spcPct val="100000"/>
              </a:lnSpc>
            </a:pPr>
            <a:r>
              <a:rPr sz="2000" dirty="0">
                <a:latin typeface="Arial" panose="020B0604020202020204" pitchFamily="34" charset="0"/>
                <a:cs typeface="Arial" panose="020B0604020202020204" pitchFamily="34" charset="0"/>
              </a:rPr>
              <a:t>“How</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would</a:t>
            </a:r>
            <a:r>
              <a:rPr sz="2000" spc="1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feel</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about</a:t>
            </a:r>
            <a:r>
              <a:rPr sz="2000" spc="-1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any</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given</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action</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if</a:t>
            </a:r>
            <a:r>
              <a:rPr sz="2000" spc="-25" dirty="0">
                <a:latin typeface="Arial" panose="020B0604020202020204" pitchFamily="34" charset="0"/>
                <a:cs typeface="Arial" panose="020B0604020202020204" pitchFamily="34" charset="0"/>
              </a:rPr>
              <a:t> it </a:t>
            </a:r>
            <a:r>
              <a:rPr sz="2000" dirty="0">
                <a:latin typeface="Arial" panose="020B0604020202020204" pitchFamily="34" charset="0"/>
                <a:cs typeface="Arial" panose="020B0604020202020204" pitchFamily="34" charset="0"/>
              </a:rPr>
              <a:t>was to</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be</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written</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up</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next</a:t>
            </a:r>
            <a:r>
              <a:rPr sz="2000" spc="-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day</a:t>
            </a:r>
            <a:r>
              <a:rPr sz="2000" spc="-1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in</a:t>
            </a:r>
            <a:r>
              <a:rPr sz="2000" spc="-1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2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local </a:t>
            </a:r>
            <a:r>
              <a:rPr sz="2000" dirty="0">
                <a:latin typeface="Arial" panose="020B0604020202020204" pitchFamily="34" charset="0"/>
                <a:cs typeface="Arial" panose="020B0604020202020204" pitchFamily="34" charset="0"/>
              </a:rPr>
              <a:t>newspaper</a:t>
            </a:r>
            <a:r>
              <a:rPr sz="2000" spc="1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by</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smart</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but</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unfriendly</a:t>
            </a:r>
            <a:r>
              <a:rPr sz="2000" spc="-2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reporter </a:t>
            </a:r>
            <a:r>
              <a:rPr sz="2000" dirty="0">
                <a:latin typeface="Arial" panose="020B0604020202020204" pitchFamily="34" charset="0"/>
                <a:cs typeface="Arial" panose="020B0604020202020204" pitchFamily="34" charset="0"/>
              </a:rPr>
              <a:t>and</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read</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by</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their</a:t>
            </a:r>
            <a:r>
              <a:rPr sz="2000" spc="-2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family,</a:t>
            </a:r>
            <a:r>
              <a:rPr sz="2000" spc="-1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friends</a:t>
            </a:r>
            <a:r>
              <a:rPr sz="2000" spc="-35" dirty="0">
                <a:latin typeface="Arial" panose="020B0604020202020204" pitchFamily="34" charset="0"/>
                <a:cs typeface="Arial" panose="020B0604020202020204" pitchFamily="34" charset="0"/>
              </a:rPr>
              <a:t> </a:t>
            </a:r>
            <a:r>
              <a:rPr sz="2000" spc="-25" dirty="0">
                <a:latin typeface="Arial" panose="020B0604020202020204" pitchFamily="34" charset="0"/>
                <a:cs typeface="Arial" panose="020B0604020202020204" pitchFamily="34" charset="0"/>
              </a:rPr>
              <a:t>and </a:t>
            </a:r>
            <a:r>
              <a:rPr sz="2000" spc="-10" dirty="0">
                <a:latin typeface="Arial" panose="020B0604020202020204" pitchFamily="34" charset="0"/>
                <a:cs typeface="Arial" panose="020B0604020202020204" pitchFamily="34" charset="0"/>
              </a:rPr>
              <a:t>neighbors?”</a:t>
            </a:r>
            <a:endParaRPr sz="2000" dirty="0">
              <a:latin typeface="Arial" panose="020B0604020202020204" pitchFamily="34" charset="0"/>
              <a:cs typeface="Arial" panose="020B0604020202020204" pitchFamily="34" charset="0"/>
            </a:endParaRPr>
          </a:p>
          <a:p>
            <a:pPr>
              <a:lnSpc>
                <a:spcPct val="100000"/>
              </a:lnSpc>
              <a:spcBef>
                <a:spcPts val="95"/>
              </a:spcBef>
            </a:pPr>
            <a:endParaRPr sz="2000" dirty="0">
              <a:latin typeface="Arial" panose="020B0604020202020204" pitchFamily="34" charset="0"/>
              <a:cs typeface="Arial" panose="020B0604020202020204" pitchFamily="34" charset="0"/>
            </a:endParaRPr>
          </a:p>
          <a:p>
            <a:pPr marL="12700" marR="152400">
              <a:lnSpc>
                <a:spcPct val="100000"/>
              </a:lnSpc>
            </a:pPr>
            <a:r>
              <a:rPr sz="2000" dirty="0">
                <a:latin typeface="Arial" panose="020B0604020202020204" pitchFamily="34" charset="0"/>
                <a:cs typeface="Arial" panose="020B0604020202020204" pitchFamily="34" charset="0"/>
              </a:rPr>
              <a:t>““If</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decision]</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passes</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that</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test,</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it’s</a:t>
            </a:r>
            <a:r>
              <a:rPr sz="2000" spc="-30"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okay.</a:t>
            </a:r>
            <a:r>
              <a:rPr sz="2000" spc="-20" dirty="0">
                <a:latin typeface="Arial" panose="020B0604020202020204" pitchFamily="34" charset="0"/>
                <a:cs typeface="Arial" panose="020B0604020202020204" pitchFamily="34" charset="0"/>
              </a:rPr>
              <a:t> </a:t>
            </a:r>
            <a:r>
              <a:rPr sz="2000" spc="-25" dirty="0">
                <a:latin typeface="Arial" panose="020B0604020202020204" pitchFamily="34" charset="0"/>
                <a:cs typeface="Arial" panose="020B0604020202020204" pitchFamily="34" charset="0"/>
              </a:rPr>
              <a:t>If </a:t>
            </a:r>
            <a:r>
              <a:rPr sz="2000" dirty="0">
                <a:latin typeface="Arial" panose="020B0604020202020204" pitchFamily="34" charset="0"/>
                <a:cs typeface="Arial" panose="020B0604020202020204" pitchFamily="34" charset="0"/>
              </a:rPr>
              <a:t>anything</a:t>
            </a:r>
            <a:r>
              <a:rPr sz="2000" spc="-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is</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too</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close</a:t>
            </a:r>
            <a:r>
              <a:rPr sz="2000" spc="-1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to</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lines,</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it’s</a:t>
            </a:r>
            <a:r>
              <a:rPr sz="2000" spc="-10" dirty="0">
                <a:latin typeface="Arial" panose="020B0604020202020204" pitchFamily="34" charset="0"/>
                <a:cs typeface="Arial" panose="020B0604020202020204" pitchFamily="34" charset="0"/>
              </a:rPr>
              <a:t> out.”</a:t>
            </a:r>
            <a:endParaRPr sz="2000" dirty="0">
              <a:latin typeface="Arial" panose="020B0604020202020204" pitchFamily="34" charset="0"/>
              <a:cs typeface="Arial" panose="020B0604020202020204" pitchFamily="34" charset="0"/>
            </a:endParaRPr>
          </a:p>
        </p:txBody>
      </p:sp>
      <p:pic>
        <p:nvPicPr>
          <p:cNvPr id="5" name="object 5"/>
          <p:cNvPicPr/>
          <p:nvPr/>
        </p:nvPicPr>
        <p:blipFill>
          <a:blip r:embed="rId3" cstate="print"/>
          <a:stretch>
            <a:fillRect/>
          </a:stretch>
        </p:blipFill>
        <p:spPr>
          <a:xfrm>
            <a:off x="6254750" y="1772816"/>
            <a:ext cx="5257345" cy="279537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FB97F-0A43-1CD7-9444-31B001A4F89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5BB0AAA-693D-BD24-C375-ECBBB10B6197}"/>
              </a:ext>
            </a:extLst>
          </p:cNvPr>
          <p:cNvSpPr>
            <a:spLocks noGrp="1"/>
          </p:cNvSpPr>
          <p:nvPr>
            <p:ph type="ctrTitle"/>
          </p:nvPr>
        </p:nvSpPr>
        <p:spPr>
          <a:xfrm>
            <a:off x="335361" y="1124744"/>
            <a:ext cx="5256583" cy="2448272"/>
          </a:xfrm>
        </p:spPr>
        <p:txBody>
          <a:bodyPr/>
          <a:lstStyle/>
          <a:p>
            <a:r>
              <a:rPr lang="en-CA" dirty="0"/>
              <a:t>Repairing or Replacing Equipment</a:t>
            </a:r>
          </a:p>
        </p:txBody>
      </p:sp>
      <p:sp>
        <p:nvSpPr>
          <p:cNvPr id="2" name="Slide Number Placeholder 1">
            <a:extLst>
              <a:ext uri="{FF2B5EF4-FFF2-40B4-BE49-F238E27FC236}">
                <a16:creationId xmlns:a16="http://schemas.microsoft.com/office/drawing/2014/main" id="{55B67DAF-274C-8A34-5A99-8EFFFCA10D58}"/>
              </a:ext>
            </a:extLst>
          </p:cNvPr>
          <p:cNvSpPr>
            <a:spLocks noGrp="1"/>
          </p:cNvSpPr>
          <p:nvPr>
            <p:ph type="sldNum" sz="quarter" idx="4294967295"/>
          </p:nvPr>
        </p:nvSpPr>
        <p:spPr>
          <a:xfrm>
            <a:off x="0" y="6524625"/>
            <a:ext cx="479425" cy="217488"/>
          </a:xfrm>
        </p:spPr>
        <p:txBody>
          <a:bodyPr/>
          <a:lstStyle/>
          <a:p>
            <a:fld id="{9B7CDB38-6350-4CC9-AB0E-B9078CE1CE4B}" type="slidenum">
              <a:rPr lang="en-US" smtClean="0"/>
              <a:pPr/>
              <a:t>19</a:t>
            </a:fld>
            <a:endParaRPr lang="en-US"/>
          </a:p>
        </p:txBody>
      </p:sp>
    </p:spTree>
    <p:extLst>
      <p:ext uri="{BB962C8B-B14F-4D97-AF65-F5344CB8AC3E}">
        <p14:creationId xmlns:p14="http://schemas.microsoft.com/office/powerpoint/2010/main" val="1497350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ext Box 3">
            <a:extLst>
              <a:ext uri="{FF2B5EF4-FFF2-40B4-BE49-F238E27FC236}">
                <a16:creationId xmlns:a16="http://schemas.microsoft.com/office/drawing/2014/main" id="{9E5D00C0-4443-4905-88AB-62AFB01EE6AB}"/>
              </a:ext>
            </a:extLst>
          </p:cNvPr>
          <p:cNvSpPr txBox="1">
            <a:spLocks noChangeArrowheads="1"/>
          </p:cNvSpPr>
          <p:nvPr/>
        </p:nvSpPr>
        <p:spPr bwMode="auto">
          <a:xfrm>
            <a:off x="1415480" y="620688"/>
            <a:ext cx="9217024" cy="1569660"/>
          </a:xfrm>
          <a:prstGeom prst="rect">
            <a:avLst/>
          </a:prstGeom>
          <a:noFill/>
          <a:ln>
            <a:noFill/>
          </a:ln>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defRPr/>
            </a:pPr>
            <a:r>
              <a:rPr lang="en-CA" altLang="en-US" sz="2400" dirty="0">
                <a:latin typeface="Arial" panose="020B0604020202020204" pitchFamily="34" charset="0"/>
                <a:cs typeface="Arial" panose="020B0604020202020204" pitchFamily="34" charset="0"/>
              </a:rPr>
              <a:t>The management of a company is considering renting a new labour-saving machine for $3,000 per year. Data about the company’s annual sales and costs with and without the new machine are:</a:t>
            </a:r>
          </a:p>
        </p:txBody>
      </p:sp>
      <p:graphicFrame>
        <p:nvGraphicFramePr>
          <p:cNvPr id="44034" name="Object 2">
            <a:extLst>
              <a:ext uri="{FF2B5EF4-FFF2-40B4-BE49-F238E27FC236}">
                <a16:creationId xmlns:a16="http://schemas.microsoft.com/office/drawing/2014/main" id="{0EFAB4D4-0C3C-4579-86D5-206F3AFE4B27}"/>
              </a:ext>
            </a:extLst>
          </p:cNvPr>
          <p:cNvGraphicFramePr>
            <a:graphicFrameLocks noChangeAspect="1"/>
          </p:cNvGraphicFramePr>
          <p:nvPr>
            <p:extLst>
              <p:ext uri="{D42A27DB-BD31-4B8C-83A1-F6EECF244321}">
                <p14:modId xmlns:p14="http://schemas.microsoft.com/office/powerpoint/2010/main" val="4249842099"/>
              </p:ext>
            </p:extLst>
          </p:nvPr>
        </p:nvGraphicFramePr>
        <p:xfrm>
          <a:off x="2070100" y="2451100"/>
          <a:ext cx="8050213" cy="3632200"/>
        </p:xfrm>
        <a:graphic>
          <a:graphicData uri="http://schemas.openxmlformats.org/presentationml/2006/ole">
            <mc:AlternateContent xmlns:mc="http://schemas.openxmlformats.org/markup-compatibility/2006">
              <mc:Choice xmlns:v="urn:schemas-microsoft-com:vml" Requires="v">
                <p:oleObj name="Worksheet" r:id="rId3" imgW="5918232" imgH="2686176" progId="Excel.Sheet.8">
                  <p:embed/>
                </p:oleObj>
              </mc:Choice>
              <mc:Fallback>
                <p:oleObj name="Worksheet" r:id="rId3" imgW="5918232" imgH="2686176" progId="Excel.Sheet.8">
                  <p:embed/>
                  <p:pic>
                    <p:nvPicPr>
                      <p:cNvPr id="44034" name="Object 2">
                        <a:extLst>
                          <a:ext uri="{FF2B5EF4-FFF2-40B4-BE49-F238E27FC236}">
                            <a16:creationId xmlns:a16="http://schemas.microsoft.com/office/drawing/2014/main" id="{0EFAB4D4-0C3C-4579-86D5-206F3AFE4B27}"/>
                          </a:ext>
                        </a:extLst>
                      </p:cNvPr>
                      <p:cNvPicPr>
                        <a:picLocks noChangeAspect="1" noChangeArrowheads="1"/>
                      </p:cNvPicPr>
                      <p:nvPr/>
                    </p:nvPicPr>
                    <p:blipFill>
                      <a:blip r:embed="rId4"/>
                      <a:srcRect/>
                      <a:stretch>
                        <a:fillRect/>
                      </a:stretch>
                    </p:blipFill>
                    <p:spPr bwMode="auto">
                      <a:xfrm>
                        <a:off x="2070100" y="2451100"/>
                        <a:ext cx="8050213" cy="3632200"/>
                      </a:xfrm>
                      <a:prstGeom prst="rect">
                        <a:avLst/>
                      </a:prstGeom>
                      <a:solidFill>
                        <a:schemeClr val="accent1">
                          <a:lumMod val="20000"/>
                          <a:lumOff val="80000"/>
                        </a:schemeClr>
                      </a:solidFill>
                      <a:ln>
                        <a:noFill/>
                      </a:ln>
                      <a:effectLst/>
                    </p:spPr>
                  </p:pic>
                </p:oleObj>
              </mc:Fallback>
            </mc:AlternateContent>
          </a:graphicData>
        </a:graphic>
      </p:graphicFrame>
      <p:sp>
        <p:nvSpPr>
          <p:cNvPr id="4" name="Subtitle 3">
            <a:extLst>
              <a:ext uri="{FF2B5EF4-FFF2-40B4-BE49-F238E27FC236}">
                <a16:creationId xmlns:a16="http://schemas.microsoft.com/office/drawing/2014/main" id="{E7571A64-9A04-DC61-6EFD-D5153219D85D}"/>
              </a:ext>
            </a:extLst>
          </p:cNvPr>
          <p:cNvSpPr>
            <a:spLocks noGrp="1"/>
          </p:cNvSpPr>
          <p:nvPr>
            <p:ph type="subTitle" idx="1"/>
          </p:nvPr>
        </p:nvSpPr>
        <p:spPr/>
        <p:txBody>
          <a:bodyPr/>
          <a:lstStyle/>
          <a:p>
            <a:r>
              <a:rPr lang="en-CA" dirty="0"/>
              <a:t>Replacing Equipment</a:t>
            </a:r>
          </a:p>
        </p:txBody>
      </p:sp>
      <p:sp>
        <p:nvSpPr>
          <p:cNvPr id="2" name="Slide Number Placeholder 1">
            <a:extLst>
              <a:ext uri="{FF2B5EF4-FFF2-40B4-BE49-F238E27FC236}">
                <a16:creationId xmlns:a16="http://schemas.microsoft.com/office/drawing/2014/main" id="{D18DB974-60DA-CBEC-8901-34F681CB35A9}"/>
              </a:ext>
            </a:extLst>
          </p:cNvPr>
          <p:cNvSpPr>
            <a:spLocks noGrp="1"/>
          </p:cNvSpPr>
          <p:nvPr>
            <p:ph type="sldNum" sz="quarter" idx="12"/>
          </p:nvPr>
        </p:nvSpPr>
        <p:spPr/>
        <p:txBody>
          <a:bodyPr/>
          <a:lstStyle/>
          <a:p>
            <a:fld id="{9B7CDB38-6350-4CC9-AB0E-B9078CE1CE4B}" type="slidenum">
              <a:rPr lang="en-US" smtClean="0"/>
              <a:pPr/>
              <a:t>20</a:t>
            </a:fld>
            <a:endParaRPr lang="en-US"/>
          </a:p>
        </p:txBody>
      </p:sp>
    </p:spTree>
  </p:cSld>
  <p:clrMapOvr>
    <a:masterClrMapping/>
  </p:clrMapOvr>
  <p:transition>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1" name="Object 2">
            <a:extLst>
              <a:ext uri="{FF2B5EF4-FFF2-40B4-BE49-F238E27FC236}">
                <a16:creationId xmlns:a16="http://schemas.microsoft.com/office/drawing/2014/main" id="{26C7957D-74E4-47ED-B10E-F5A771E89556}"/>
              </a:ext>
            </a:extLst>
          </p:cNvPr>
          <p:cNvGraphicFramePr>
            <a:graphicFrameLocks noChangeAspect="1"/>
          </p:cNvGraphicFramePr>
          <p:nvPr>
            <p:extLst>
              <p:ext uri="{D42A27DB-BD31-4B8C-83A1-F6EECF244321}">
                <p14:modId xmlns:p14="http://schemas.microsoft.com/office/powerpoint/2010/main" val="2237180639"/>
              </p:ext>
            </p:extLst>
          </p:nvPr>
        </p:nvGraphicFramePr>
        <p:xfrm>
          <a:off x="3130550" y="2074863"/>
          <a:ext cx="7300913" cy="3281362"/>
        </p:xfrm>
        <a:graphic>
          <a:graphicData uri="http://schemas.openxmlformats.org/presentationml/2006/ole">
            <mc:AlternateContent xmlns:mc="http://schemas.openxmlformats.org/markup-compatibility/2006">
              <mc:Choice xmlns:v="urn:schemas-microsoft-com:vml" Requires="v">
                <p:oleObj name="Worksheet" r:id="rId3" imgW="6718455" imgH="2978217" progId="Excel.Sheet.8">
                  <p:embed/>
                </p:oleObj>
              </mc:Choice>
              <mc:Fallback>
                <p:oleObj name="Worksheet" r:id="rId3" imgW="6718455" imgH="2978217" progId="Excel.Sheet.8">
                  <p:embed/>
                  <p:pic>
                    <p:nvPicPr>
                      <p:cNvPr id="46081" name="Object 2">
                        <a:extLst>
                          <a:ext uri="{FF2B5EF4-FFF2-40B4-BE49-F238E27FC236}">
                            <a16:creationId xmlns:a16="http://schemas.microsoft.com/office/drawing/2014/main" id="{26C7957D-74E4-47ED-B10E-F5A771E89556}"/>
                          </a:ext>
                        </a:extLst>
                      </p:cNvPr>
                      <p:cNvPicPr>
                        <a:picLocks noChangeAspect="1" noChangeArrowheads="1"/>
                      </p:cNvPicPr>
                      <p:nvPr/>
                    </p:nvPicPr>
                    <p:blipFill>
                      <a:blip r:embed="rId4"/>
                      <a:srcRect/>
                      <a:stretch>
                        <a:fillRect/>
                      </a:stretch>
                    </p:blipFill>
                    <p:spPr bwMode="auto">
                      <a:xfrm>
                        <a:off x="3130550" y="2074863"/>
                        <a:ext cx="7300913" cy="3281362"/>
                      </a:xfrm>
                      <a:prstGeom prst="rect">
                        <a:avLst/>
                      </a:prstGeom>
                      <a:noFill/>
                      <a:ln>
                        <a:noFill/>
                      </a:ln>
                      <a:effectLst/>
                    </p:spPr>
                  </p:pic>
                </p:oleObj>
              </mc:Fallback>
            </mc:AlternateContent>
          </a:graphicData>
        </a:graphic>
      </p:graphicFrame>
      <p:sp>
        <p:nvSpPr>
          <p:cNvPr id="41986" name="Text Box 4">
            <a:extLst>
              <a:ext uri="{FF2B5EF4-FFF2-40B4-BE49-F238E27FC236}">
                <a16:creationId xmlns:a16="http://schemas.microsoft.com/office/drawing/2014/main" id="{2CF1F800-71A4-4806-B74C-E3072F132A21}"/>
              </a:ext>
            </a:extLst>
          </p:cNvPr>
          <p:cNvSpPr txBox="1">
            <a:spLocks noChangeArrowheads="1"/>
          </p:cNvSpPr>
          <p:nvPr/>
        </p:nvSpPr>
        <p:spPr bwMode="auto">
          <a:xfrm>
            <a:off x="1637753" y="831850"/>
            <a:ext cx="8382000" cy="70167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defRPr/>
            </a:pPr>
            <a:r>
              <a:rPr lang="en-CA" altLang="en-US" sz="2000" dirty="0">
                <a:latin typeface="Arial" panose="020B0604020202020204" pitchFamily="34" charset="0"/>
                <a:cs typeface="Arial" panose="020B0604020202020204" pitchFamily="34" charset="0"/>
              </a:rPr>
              <a:t>The only costs that differ between the alternatives are the direct labour costs savings and the increase in fixed rental costs.</a:t>
            </a:r>
          </a:p>
        </p:txBody>
      </p:sp>
      <p:sp>
        <p:nvSpPr>
          <p:cNvPr id="329734" name="Rectangle 6">
            <a:extLst>
              <a:ext uri="{FF2B5EF4-FFF2-40B4-BE49-F238E27FC236}">
                <a16:creationId xmlns:a16="http://schemas.microsoft.com/office/drawing/2014/main" id="{FC0A4E25-5038-4474-A13B-2F968107B44E}"/>
              </a:ext>
            </a:extLst>
          </p:cNvPr>
          <p:cNvSpPr>
            <a:spLocks noChangeArrowheads="1"/>
          </p:cNvSpPr>
          <p:nvPr/>
        </p:nvSpPr>
        <p:spPr bwMode="auto">
          <a:xfrm>
            <a:off x="1981200" y="3962400"/>
            <a:ext cx="6553200" cy="2514600"/>
          </a:xfrm>
          <a:prstGeom prst="rect">
            <a:avLst/>
          </a:prstGeom>
          <a:solidFill>
            <a:schemeClr val="bg1">
              <a:lumMod val="85000"/>
            </a:schemeClr>
          </a:solidFill>
          <a:ln w="9525">
            <a:solidFill>
              <a:srgbClr val="000000"/>
            </a:solidFill>
            <a:miter lim="800000"/>
            <a:headEnd/>
            <a:tailEnd/>
          </a:ln>
          <a:effectLst>
            <a:outerShdw blurRad="63500" dist="38099" dir="2700000" algn="ctr" rotWithShape="0">
              <a:srgbClr val="000000">
                <a:alpha val="74997"/>
              </a:srgbClr>
            </a:outerShdw>
          </a:effec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CA" altLang="en-US" sz="2200" b="1" dirty="0">
                <a:solidFill>
                  <a:srgbClr val="34352A"/>
                </a:solidFill>
                <a:latin typeface="Arial" panose="020B0604020202020204" pitchFamily="34" charset="0"/>
                <a:cs typeface="Arial" panose="020B0604020202020204" pitchFamily="34" charset="0"/>
              </a:rPr>
              <a:t>The decision can be efficiently analyzed</a:t>
            </a:r>
            <a:br>
              <a:rPr lang="en-CA" altLang="en-US" sz="2200" b="1" dirty="0">
                <a:solidFill>
                  <a:srgbClr val="34352A"/>
                </a:solidFill>
                <a:latin typeface="Arial" panose="020B0604020202020204" pitchFamily="34" charset="0"/>
                <a:cs typeface="Arial" panose="020B0604020202020204" pitchFamily="34" charset="0"/>
              </a:rPr>
            </a:br>
            <a:r>
              <a:rPr lang="en-CA" altLang="en-US" sz="2200" b="1" dirty="0">
                <a:solidFill>
                  <a:srgbClr val="34352A"/>
                </a:solidFill>
                <a:latin typeface="Arial" panose="020B0604020202020204" pitchFamily="34" charset="0"/>
                <a:cs typeface="Arial" panose="020B0604020202020204" pitchFamily="34" charset="0"/>
              </a:rPr>
              <a:t>by considering only the differential costs </a:t>
            </a:r>
            <a:br>
              <a:rPr lang="en-CA" altLang="en-US" sz="2200" b="1" dirty="0">
                <a:solidFill>
                  <a:srgbClr val="34352A"/>
                </a:solidFill>
                <a:latin typeface="Arial" panose="020B0604020202020204" pitchFamily="34" charset="0"/>
                <a:cs typeface="Arial" panose="020B0604020202020204" pitchFamily="34" charset="0"/>
              </a:rPr>
            </a:br>
            <a:r>
              <a:rPr lang="en-CA" altLang="en-US" sz="2200" b="1" dirty="0">
                <a:solidFill>
                  <a:srgbClr val="34352A"/>
                </a:solidFill>
                <a:latin typeface="Arial" panose="020B0604020202020204" pitchFamily="34" charset="0"/>
                <a:cs typeface="Arial" panose="020B0604020202020204" pitchFamily="34" charset="0"/>
              </a:rPr>
              <a:t>to arrive at the same conclusion</a:t>
            </a:r>
            <a:r>
              <a:rPr lang="en-CA" altLang="en-US" sz="2400" b="1" dirty="0">
                <a:solidFill>
                  <a:srgbClr val="34352A"/>
                </a:solidFill>
                <a:latin typeface="Arial" panose="020B0604020202020204" pitchFamily="34" charset="0"/>
                <a:cs typeface="Arial" panose="020B0604020202020204" pitchFamily="34" charset="0"/>
              </a:rPr>
              <a:t>.</a:t>
            </a:r>
          </a:p>
          <a:p>
            <a:pPr algn="ctr" eaLnBrk="1" hangingPunct="1">
              <a:defRPr/>
            </a:pPr>
            <a:endParaRPr lang="en-CA" altLang="en-US" sz="2400" b="1" dirty="0">
              <a:solidFill>
                <a:srgbClr val="34352A"/>
              </a:solidFill>
              <a:latin typeface="Arial" panose="020B0604020202020204" pitchFamily="34" charset="0"/>
              <a:cs typeface="Arial" panose="020B0604020202020204" pitchFamily="34" charset="0"/>
            </a:endParaRPr>
          </a:p>
          <a:p>
            <a:pPr algn="ctr" eaLnBrk="1" hangingPunct="1">
              <a:defRPr/>
            </a:pPr>
            <a:endParaRPr lang="en-CA" altLang="en-US" sz="2400" dirty="0">
              <a:solidFill>
                <a:srgbClr val="34352A"/>
              </a:solidFill>
              <a:latin typeface="Arial" panose="020B0604020202020204" pitchFamily="34" charset="0"/>
              <a:cs typeface="Arial" panose="020B0604020202020204" pitchFamily="34" charset="0"/>
            </a:endParaRPr>
          </a:p>
          <a:p>
            <a:pPr algn="ctr" eaLnBrk="1" hangingPunct="1">
              <a:defRPr/>
            </a:pPr>
            <a:endParaRPr lang="en-CA" altLang="en-US" sz="2400" dirty="0">
              <a:solidFill>
                <a:srgbClr val="34352A"/>
              </a:solidFill>
              <a:latin typeface="Arial" panose="020B0604020202020204" pitchFamily="34" charset="0"/>
              <a:cs typeface="Arial" panose="020B0604020202020204" pitchFamily="34" charset="0"/>
            </a:endParaRPr>
          </a:p>
          <a:p>
            <a:pPr algn="ctr" eaLnBrk="1" hangingPunct="1">
              <a:defRPr/>
            </a:pPr>
            <a:endParaRPr lang="en-CA" altLang="en-US" sz="2400" dirty="0">
              <a:solidFill>
                <a:srgbClr val="34352A"/>
              </a:solidFill>
              <a:latin typeface="Rockwell" pitchFamily="18" charset="0"/>
            </a:endParaRPr>
          </a:p>
        </p:txBody>
      </p:sp>
      <p:graphicFrame>
        <p:nvGraphicFramePr>
          <p:cNvPr id="46084" name="Object 3">
            <a:extLst>
              <a:ext uri="{FF2B5EF4-FFF2-40B4-BE49-F238E27FC236}">
                <a16:creationId xmlns:a16="http://schemas.microsoft.com/office/drawing/2014/main" id="{F8C54132-2BE6-41B2-AF1E-FA54F8F3D66D}"/>
              </a:ext>
            </a:extLst>
          </p:cNvPr>
          <p:cNvGraphicFramePr>
            <a:graphicFrameLocks noChangeAspect="1"/>
          </p:cNvGraphicFramePr>
          <p:nvPr>
            <p:extLst>
              <p:ext uri="{D42A27DB-BD31-4B8C-83A1-F6EECF244321}">
                <p14:modId xmlns:p14="http://schemas.microsoft.com/office/powerpoint/2010/main" val="1294397179"/>
              </p:ext>
            </p:extLst>
          </p:nvPr>
        </p:nvGraphicFramePr>
        <p:xfrm>
          <a:off x="2022475" y="5103813"/>
          <a:ext cx="6062663" cy="1223962"/>
        </p:xfrm>
        <a:graphic>
          <a:graphicData uri="http://schemas.openxmlformats.org/presentationml/2006/ole">
            <mc:AlternateContent xmlns:mc="http://schemas.openxmlformats.org/markup-compatibility/2006">
              <mc:Choice xmlns:v="urn:schemas-microsoft-com:vml" Requires="v">
                <p:oleObj name="Worksheet" r:id="rId5" imgW="4635463" imgH="908293" progId="Excel.Sheet.8">
                  <p:embed/>
                </p:oleObj>
              </mc:Choice>
              <mc:Fallback>
                <p:oleObj name="Worksheet" r:id="rId5" imgW="4635463" imgH="908293" progId="Excel.Sheet.8">
                  <p:embed/>
                  <p:pic>
                    <p:nvPicPr>
                      <p:cNvPr id="46084" name="Object 3">
                        <a:extLst>
                          <a:ext uri="{FF2B5EF4-FFF2-40B4-BE49-F238E27FC236}">
                            <a16:creationId xmlns:a16="http://schemas.microsoft.com/office/drawing/2014/main" id="{F8C54132-2BE6-41B2-AF1E-FA54F8F3D66D}"/>
                          </a:ext>
                        </a:extLst>
                      </p:cNvPr>
                      <p:cNvPicPr>
                        <a:picLocks noChangeAspect="1" noChangeArrowheads="1"/>
                      </p:cNvPicPr>
                      <p:nvPr/>
                    </p:nvPicPr>
                    <p:blipFill>
                      <a:blip r:embed="rId6"/>
                      <a:srcRect/>
                      <a:stretch>
                        <a:fillRect/>
                      </a:stretch>
                    </p:blipFill>
                    <p:spPr bwMode="auto">
                      <a:xfrm>
                        <a:off x="2022475" y="5103813"/>
                        <a:ext cx="6062663" cy="1223962"/>
                      </a:xfrm>
                      <a:prstGeom prst="rect">
                        <a:avLst/>
                      </a:prstGeom>
                      <a:solidFill>
                        <a:srgbClr val="FFFF99"/>
                      </a:solidFill>
                      <a:ln>
                        <a:noFill/>
                      </a:ln>
                      <a:effectLst/>
                    </p:spPr>
                  </p:pic>
                </p:oleObj>
              </mc:Fallback>
            </mc:AlternateContent>
          </a:graphicData>
        </a:graphic>
      </p:graphicFrame>
      <p:sp>
        <p:nvSpPr>
          <p:cNvPr id="7" name="Subtitle 3">
            <a:extLst>
              <a:ext uri="{FF2B5EF4-FFF2-40B4-BE49-F238E27FC236}">
                <a16:creationId xmlns:a16="http://schemas.microsoft.com/office/drawing/2014/main" id="{9255886B-1D81-CAA3-49C6-743E92FC079E}"/>
              </a:ext>
            </a:extLst>
          </p:cNvPr>
          <p:cNvSpPr>
            <a:spLocks noGrp="1"/>
          </p:cNvSpPr>
          <p:nvPr>
            <p:ph type="subTitle" idx="1"/>
          </p:nvPr>
        </p:nvSpPr>
        <p:spPr>
          <a:xfrm>
            <a:off x="335361" y="-27384"/>
            <a:ext cx="9601067" cy="506016"/>
          </a:xfrm>
        </p:spPr>
        <p:txBody>
          <a:bodyPr/>
          <a:lstStyle/>
          <a:p>
            <a:r>
              <a:rPr lang="en-CA" dirty="0"/>
              <a:t>Replacing Equipment</a:t>
            </a:r>
          </a:p>
        </p:txBody>
      </p:sp>
      <p:sp>
        <p:nvSpPr>
          <p:cNvPr id="2" name="Slide Number Placeholder 1">
            <a:extLst>
              <a:ext uri="{FF2B5EF4-FFF2-40B4-BE49-F238E27FC236}">
                <a16:creationId xmlns:a16="http://schemas.microsoft.com/office/drawing/2014/main" id="{46C438D6-2270-46F2-8B55-771BB127C48B}"/>
              </a:ext>
            </a:extLst>
          </p:cNvPr>
          <p:cNvSpPr>
            <a:spLocks noGrp="1"/>
          </p:cNvSpPr>
          <p:nvPr>
            <p:ph type="sldNum" sz="quarter" idx="12"/>
          </p:nvPr>
        </p:nvSpPr>
        <p:spPr/>
        <p:txBody>
          <a:bodyPr/>
          <a:lstStyle/>
          <a:p>
            <a:fld id="{9B7CDB38-6350-4CC9-AB0E-B9078CE1CE4B}" type="slidenum">
              <a:rPr lang="en-US" smtClean="0"/>
              <a:pPr/>
              <a:t>21</a:t>
            </a:fld>
            <a:endParaRPr lang="en-US"/>
          </a:p>
        </p:txBody>
      </p: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ext Box 3">
            <a:extLst>
              <a:ext uri="{FF2B5EF4-FFF2-40B4-BE49-F238E27FC236}">
                <a16:creationId xmlns:a16="http://schemas.microsoft.com/office/drawing/2014/main" id="{B1937B95-8791-4970-8E8A-6C6F4381F281}"/>
              </a:ext>
            </a:extLst>
          </p:cNvPr>
          <p:cNvSpPr txBox="1">
            <a:spLocks noChangeArrowheads="1"/>
          </p:cNvSpPr>
          <p:nvPr/>
        </p:nvSpPr>
        <p:spPr bwMode="auto">
          <a:xfrm>
            <a:off x="1199456" y="1156504"/>
            <a:ext cx="9007152" cy="3970318"/>
          </a:xfrm>
          <a:prstGeom prst="rect">
            <a:avLst/>
          </a:prstGeom>
          <a:noFill/>
          <a:ln w="9525">
            <a:noFill/>
            <a:miter lim="800000"/>
            <a:headEnd/>
            <a:tailEnd/>
          </a:ln>
        </p:spPr>
        <p:txBody>
          <a:bodyPr wrap="square">
            <a:spAutoFit/>
          </a:bodyPr>
          <a:lstStyle>
            <a:lvl1pPr marL="457200" indent="-457200">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50000"/>
              </a:spcBef>
              <a:buClr>
                <a:srgbClr val="213260"/>
              </a:buClr>
              <a:defRPr/>
            </a:pPr>
            <a:r>
              <a:rPr lang="en-CA" altLang="en-US" sz="2800" dirty="0">
                <a:latin typeface="Arial" panose="020B0604020202020204" pitchFamily="34" charset="0"/>
                <a:cs typeface="Arial" panose="020B0604020202020204" pitchFamily="34" charset="0"/>
              </a:rPr>
              <a:t>Using the differential approach is desirable for two reasons:</a:t>
            </a:r>
          </a:p>
          <a:p>
            <a:pPr marL="971550" lvl="1" indent="-514350" eaLnBrk="1" hangingPunct="1">
              <a:spcBef>
                <a:spcPct val="50000"/>
              </a:spcBef>
              <a:buFont typeface="+mj-lt"/>
              <a:buAutoNum type="arabicPeriod"/>
              <a:defRPr/>
            </a:pPr>
            <a:r>
              <a:rPr lang="en-CA" altLang="en-US" sz="2800" dirty="0">
                <a:latin typeface="Arial" panose="020B0604020202020204" pitchFamily="34" charset="0"/>
                <a:cs typeface="Arial" panose="020B0604020202020204" pitchFamily="34" charset="0"/>
              </a:rPr>
              <a:t>Only rarely will enough information be available to prepare detailed income statements for both alternatives.</a:t>
            </a:r>
          </a:p>
          <a:p>
            <a:pPr marL="971550" lvl="1" indent="-514350" eaLnBrk="1" hangingPunct="1">
              <a:spcBef>
                <a:spcPct val="50000"/>
              </a:spcBef>
              <a:buFont typeface="+mj-lt"/>
              <a:buAutoNum type="arabicPeriod"/>
              <a:defRPr/>
            </a:pPr>
            <a:r>
              <a:rPr lang="en-CA" altLang="en-US" sz="2800" dirty="0">
                <a:latin typeface="Arial" panose="020B0604020202020204" pitchFamily="34" charset="0"/>
                <a:cs typeface="Arial" panose="020B0604020202020204" pitchFamily="34" charset="0"/>
              </a:rPr>
              <a:t>Blending irrelevant costs with relevant costs may cause confusion and distract attention away from the information that is really critical.</a:t>
            </a:r>
          </a:p>
        </p:txBody>
      </p:sp>
      <p:sp>
        <p:nvSpPr>
          <p:cNvPr id="6" name="Subtitle 3">
            <a:extLst>
              <a:ext uri="{FF2B5EF4-FFF2-40B4-BE49-F238E27FC236}">
                <a16:creationId xmlns:a16="http://schemas.microsoft.com/office/drawing/2014/main" id="{3AAC6BA1-C9D9-58AE-19FA-26EBA6E84E78}"/>
              </a:ext>
            </a:extLst>
          </p:cNvPr>
          <p:cNvSpPr>
            <a:spLocks noGrp="1"/>
          </p:cNvSpPr>
          <p:nvPr>
            <p:ph type="subTitle" idx="1"/>
          </p:nvPr>
        </p:nvSpPr>
        <p:spPr>
          <a:xfrm>
            <a:off x="335361" y="-27384"/>
            <a:ext cx="9601067" cy="506016"/>
          </a:xfrm>
        </p:spPr>
        <p:txBody>
          <a:bodyPr/>
          <a:lstStyle/>
          <a:p>
            <a:r>
              <a:rPr lang="en-CA" dirty="0"/>
              <a:t>Replacing Equipment</a:t>
            </a:r>
          </a:p>
        </p:txBody>
      </p:sp>
      <p:sp>
        <p:nvSpPr>
          <p:cNvPr id="2" name="Slide Number Placeholder 1">
            <a:extLst>
              <a:ext uri="{FF2B5EF4-FFF2-40B4-BE49-F238E27FC236}">
                <a16:creationId xmlns:a16="http://schemas.microsoft.com/office/drawing/2014/main" id="{0E4B94E3-4C19-C07E-5999-209CB8525A22}"/>
              </a:ext>
            </a:extLst>
          </p:cNvPr>
          <p:cNvSpPr>
            <a:spLocks noGrp="1"/>
          </p:cNvSpPr>
          <p:nvPr>
            <p:ph type="sldNum" sz="quarter" idx="12"/>
          </p:nvPr>
        </p:nvSpPr>
        <p:spPr/>
        <p:txBody>
          <a:bodyPr/>
          <a:lstStyle/>
          <a:p>
            <a:fld id="{9B7CDB38-6350-4CC9-AB0E-B9078CE1CE4B}" type="slidenum">
              <a:rPr lang="en-US" smtClean="0"/>
              <a:pPr/>
              <a:t>22</a:t>
            </a:fld>
            <a:endParaRPr lang="en-US"/>
          </a:p>
        </p:txBody>
      </p:sp>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64FFA-F129-D078-8DC0-DF6D0FB8E44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D7B9880-6A4C-5014-5299-42482E9EED52}"/>
              </a:ext>
            </a:extLst>
          </p:cNvPr>
          <p:cNvSpPr>
            <a:spLocks noGrp="1"/>
          </p:cNvSpPr>
          <p:nvPr>
            <p:ph type="ctrTitle"/>
          </p:nvPr>
        </p:nvSpPr>
        <p:spPr>
          <a:xfrm>
            <a:off x="335361" y="1124744"/>
            <a:ext cx="5256583" cy="2448272"/>
          </a:xfrm>
        </p:spPr>
        <p:txBody>
          <a:bodyPr/>
          <a:lstStyle/>
          <a:p>
            <a:r>
              <a:rPr lang="en-CA" dirty="0"/>
              <a:t>Adding or Dropping a Segment</a:t>
            </a:r>
          </a:p>
        </p:txBody>
      </p:sp>
      <p:sp>
        <p:nvSpPr>
          <p:cNvPr id="2" name="Slide Number Placeholder 1">
            <a:extLst>
              <a:ext uri="{FF2B5EF4-FFF2-40B4-BE49-F238E27FC236}">
                <a16:creationId xmlns:a16="http://schemas.microsoft.com/office/drawing/2014/main" id="{881B7EE3-A71E-DA0A-71A0-0E78742B61E4}"/>
              </a:ext>
            </a:extLst>
          </p:cNvPr>
          <p:cNvSpPr>
            <a:spLocks noGrp="1"/>
          </p:cNvSpPr>
          <p:nvPr>
            <p:ph type="sldNum" sz="quarter" idx="4294967295"/>
          </p:nvPr>
        </p:nvSpPr>
        <p:spPr>
          <a:xfrm>
            <a:off x="0" y="6524625"/>
            <a:ext cx="479425" cy="217488"/>
          </a:xfrm>
        </p:spPr>
        <p:txBody>
          <a:bodyPr/>
          <a:lstStyle/>
          <a:p>
            <a:fld id="{9B7CDB38-6350-4CC9-AB0E-B9078CE1CE4B}" type="slidenum">
              <a:rPr lang="en-US" smtClean="0"/>
              <a:pPr/>
              <a:t>23</a:t>
            </a:fld>
            <a:endParaRPr lang="en-US"/>
          </a:p>
        </p:txBody>
      </p:sp>
    </p:spTree>
    <p:extLst>
      <p:ext uri="{BB962C8B-B14F-4D97-AF65-F5344CB8AC3E}">
        <p14:creationId xmlns:p14="http://schemas.microsoft.com/office/powerpoint/2010/main" val="2470130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a:extLst>
              <a:ext uri="{FF2B5EF4-FFF2-40B4-BE49-F238E27FC236}">
                <a16:creationId xmlns:a16="http://schemas.microsoft.com/office/drawing/2014/main" id="{BAC03874-A7DB-48D3-AB89-682E1EA9C781}"/>
              </a:ext>
            </a:extLst>
          </p:cNvPr>
          <p:cNvSpPr>
            <a:spLocks noGrp="1"/>
          </p:cNvSpPr>
          <p:nvPr>
            <p:ph type="subTitle" idx="1"/>
          </p:nvPr>
        </p:nvSpPr>
        <p:spPr bwMode="auto">
          <a:xfrm>
            <a:off x="407368" y="1124744"/>
            <a:ext cx="7272807" cy="41044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r>
              <a:rPr lang="en-CA" altLang="en-US" sz="2400" b="0" u="sng" spc="-20" dirty="0">
                <a:solidFill>
                  <a:schemeClr val="tx1"/>
                </a:solidFill>
              </a:rPr>
              <a:t>Example:</a:t>
            </a:r>
          </a:p>
          <a:p>
            <a:r>
              <a:rPr lang="en-CA" altLang="en-US" sz="2400" b="0" dirty="0">
                <a:solidFill>
                  <a:schemeClr val="tx1"/>
                </a:solidFill>
              </a:rPr>
              <a:t>Due to the declining popularity of digital watches, Lovell Company’s digital watch line has not reported a profit for several years.  Lovell is considering discontinuing this product line.</a:t>
            </a:r>
          </a:p>
          <a:p>
            <a:endParaRPr lang="en-CA" altLang="en-US" sz="2400" b="0" dirty="0">
              <a:solidFill>
                <a:schemeClr val="tx1"/>
              </a:solidFill>
            </a:endParaRPr>
          </a:p>
          <a:p>
            <a:r>
              <a:rPr lang="en-CA" altLang="en-US" sz="2400" b="0" dirty="0">
                <a:solidFill>
                  <a:schemeClr val="tx1"/>
                </a:solidFill>
              </a:rPr>
              <a:t>Lovell should drop the digital watch segment only if its profit would increase. This would only happen if the fixed cost savings </a:t>
            </a:r>
            <a:r>
              <a:rPr lang="en-CA" altLang="en-US" sz="2400" u="sng" dirty="0">
                <a:solidFill>
                  <a:schemeClr val="tx1"/>
                </a:solidFill>
              </a:rPr>
              <a:t>exceed</a:t>
            </a:r>
            <a:r>
              <a:rPr lang="en-CA" altLang="en-US" sz="2400" b="0" dirty="0">
                <a:solidFill>
                  <a:schemeClr val="tx1"/>
                </a:solidFill>
              </a:rPr>
              <a:t> the lost contribution margin.</a:t>
            </a:r>
          </a:p>
        </p:txBody>
      </p:sp>
      <p:sp>
        <p:nvSpPr>
          <p:cNvPr id="3" name="Subtitle 6">
            <a:extLst>
              <a:ext uri="{FF2B5EF4-FFF2-40B4-BE49-F238E27FC236}">
                <a16:creationId xmlns:a16="http://schemas.microsoft.com/office/drawing/2014/main" id="{5CF38DBB-70B1-A28D-A0B0-DB0A0A5A8E16}"/>
              </a:ext>
            </a:extLst>
          </p:cNvPr>
          <p:cNvSpPr txBox="1">
            <a:spLocks/>
          </p:cNvSpPr>
          <p:nvPr/>
        </p:nvSpPr>
        <p:spPr>
          <a:xfrm>
            <a:off x="335361" y="-27384"/>
            <a:ext cx="9601067" cy="506016"/>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 Adding / Dropping Segments</a:t>
            </a:r>
          </a:p>
        </p:txBody>
      </p:sp>
      <p:pic>
        <p:nvPicPr>
          <p:cNvPr id="1028" name="Picture 4" descr="Military Watches Waterproof Outdoor ...">
            <a:extLst>
              <a:ext uri="{FF2B5EF4-FFF2-40B4-BE49-F238E27FC236}">
                <a16:creationId xmlns:a16="http://schemas.microsoft.com/office/drawing/2014/main" id="{152F048B-80D4-23F2-BF63-0BFE81D933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0942" y="1700808"/>
            <a:ext cx="2172062" cy="309634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52CE5811-5103-B526-ABA3-71251CE194ED}"/>
              </a:ext>
            </a:extLst>
          </p:cNvPr>
          <p:cNvSpPr>
            <a:spLocks noGrp="1"/>
          </p:cNvSpPr>
          <p:nvPr>
            <p:ph type="sldNum" sz="quarter" idx="12"/>
          </p:nvPr>
        </p:nvSpPr>
        <p:spPr/>
        <p:txBody>
          <a:bodyPr/>
          <a:lstStyle/>
          <a:p>
            <a:fld id="{9B7CDB38-6350-4CC9-AB0E-B9078CE1CE4B}" type="slidenum">
              <a:rPr lang="en-US" smtClean="0"/>
              <a:pPr/>
              <a:t>24</a:t>
            </a:fld>
            <a:endParaRPr lang="en-US"/>
          </a:p>
        </p:txBody>
      </p:sp>
    </p:spTree>
  </p:cSld>
  <p:clrMapOvr>
    <a:masterClrMapping/>
  </p:clrMapOvr>
  <p:transition>
    <p:strips dir="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F13273B-EE9B-A5C0-6526-CB91BFF7933E}"/>
              </a:ext>
            </a:extLst>
          </p:cNvPr>
          <p:cNvSpPr>
            <a:spLocks noGrp="1"/>
          </p:cNvSpPr>
          <p:nvPr>
            <p:ph type="subTitle" idx="1"/>
          </p:nvPr>
        </p:nvSpPr>
        <p:spPr/>
        <p:txBody>
          <a:bodyPr/>
          <a:lstStyle/>
          <a:p>
            <a:r>
              <a:rPr lang="en-CA" dirty="0"/>
              <a:t>Application Example - Add/ Dropping Segments</a:t>
            </a:r>
          </a:p>
        </p:txBody>
      </p:sp>
      <p:graphicFrame>
        <p:nvGraphicFramePr>
          <p:cNvPr id="56322" name="Object 2">
            <a:extLst>
              <a:ext uri="{FF2B5EF4-FFF2-40B4-BE49-F238E27FC236}">
                <a16:creationId xmlns:a16="http://schemas.microsoft.com/office/drawing/2014/main" id="{A0862CA3-CCB4-4DCE-91BA-25DC8591BA34}"/>
              </a:ext>
            </a:extLst>
          </p:cNvPr>
          <p:cNvGraphicFramePr>
            <a:graphicFrameLocks/>
          </p:cNvGraphicFramePr>
          <p:nvPr>
            <p:extLst>
              <p:ext uri="{D42A27DB-BD31-4B8C-83A1-F6EECF244321}">
                <p14:modId xmlns:p14="http://schemas.microsoft.com/office/powerpoint/2010/main" val="990517013"/>
              </p:ext>
            </p:extLst>
          </p:nvPr>
        </p:nvGraphicFramePr>
        <p:xfrm>
          <a:off x="1082675" y="1214438"/>
          <a:ext cx="8256588" cy="4843462"/>
        </p:xfrm>
        <a:graphic>
          <a:graphicData uri="http://schemas.openxmlformats.org/presentationml/2006/ole">
            <mc:AlternateContent xmlns:mc="http://schemas.openxmlformats.org/markup-compatibility/2006">
              <mc:Choice xmlns:v="urn:schemas-microsoft-com:vml" Requires="v">
                <p:oleObj name="Worksheet" r:id="rId3" imgW="4184583" imgH="2667075" progId="Excel.Sheet.8">
                  <p:embed/>
                </p:oleObj>
              </mc:Choice>
              <mc:Fallback>
                <p:oleObj name="Worksheet" r:id="rId3" imgW="4184583" imgH="2667075" progId="Excel.Sheet.8">
                  <p:embed/>
                  <p:pic>
                    <p:nvPicPr>
                      <p:cNvPr id="56322" name="Object 2">
                        <a:extLst>
                          <a:ext uri="{FF2B5EF4-FFF2-40B4-BE49-F238E27FC236}">
                            <a16:creationId xmlns:a16="http://schemas.microsoft.com/office/drawing/2014/main" id="{A0862CA3-CCB4-4DCE-91BA-25DC8591BA34}"/>
                          </a:ext>
                        </a:extLst>
                      </p:cNvPr>
                      <p:cNvPicPr>
                        <a:picLocks noChangeArrowheads="1"/>
                      </p:cNvPicPr>
                      <p:nvPr/>
                    </p:nvPicPr>
                    <p:blipFill>
                      <a:blip r:embed="rId4"/>
                      <a:srcRect/>
                      <a:stretch>
                        <a:fillRect/>
                      </a:stretch>
                    </p:blipFill>
                    <p:spPr bwMode="auto">
                      <a:xfrm>
                        <a:off x="1082675" y="1214438"/>
                        <a:ext cx="8256588" cy="4843462"/>
                      </a:xfrm>
                      <a:prstGeom prst="rect">
                        <a:avLst/>
                      </a:prstGeom>
                      <a:solidFill>
                        <a:srgbClr val="D9D9D9"/>
                      </a:solidFill>
                      <a:ln w="9525">
                        <a:solidFill>
                          <a:srgbClr val="1C3163"/>
                        </a:solidFill>
                        <a:miter lim="800000"/>
                        <a:headEnd/>
                        <a:tailEnd/>
                      </a:ln>
                    </p:spPr>
                  </p:pic>
                </p:oleObj>
              </mc:Fallback>
            </mc:AlternateContent>
          </a:graphicData>
        </a:graphic>
      </p:graphicFrame>
      <p:pic>
        <p:nvPicPr>
          <p:cNvPr id="5" name="Picture 4" descr="Military Watches Waterproof Outdoor ...">
            <a:extLst>
              <a:ext uri="{FF2B5EF4-FFF2-40B4-BE49-F238E27FC236}">
                <a16:creationId xmlns:a16="http://schemas.microsoft.com/office/drawing/2014/main" id="{0B26F806-23F0-C5DE-7F27-0A810EA089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28448" y="1290364"/>
            <a:ext cx="1485486" cy="2117608"/>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15DF9404-E7F7-1CE3-116A-622CD91E898F}"/>
              </a:ext>
            </a:extLst>
          </p:cNvPr>
          <p:cNvSpPr>
            <a:spLocks noGrp="1"/>
          </p:cNvSpPr>
          <p:nvPr>
            <p:ph type="sldNum" sz="quarter" idx="12"/>
          </p:nvPr>
        </p:nvSpPr>
        <p:spPr/>
        <p:txBody>
          <a:bodyPr/>
          <a:lstStyle/>
          <a:p>
            <a:fld id="{9B7CDB38-6350-4CC9-AB0E-B9078CE1CE4B}" type="slidenum">
              <a:rPr lang="en-US" smtClean="0"/>
              <a:pPr/>
              <a:t>25</a:t>
            </a:fld>
            <a:endParaRPr lang="en-US"/>
          </a:p>
        </p:txBody>
      </p:sp>
    </p:spTree>
  </p:cSld>
  <p:clrMapOvr>
    <a:masterClrMapping/>
  </p:clrMapOvr>
  <p:transition>
    <p:zoom dir="in"/>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369" name="Object 2">
            <a:extLst>
              <a:ext uri="{FF2B5EF4-FFF2-40B4-BE49-F238E27FC236}">
                <a16:creationId xmlns:a16="http://schemas.microsoft.com/office/drawing/2014/main" id="{0FBFB79D-E50C-424B-ACBF-0EFC8C3F0477}"/>
              </a:ext>
            </a:extLst>
          </p:cNvPr>
          <p:cNvGraphicFramePr>
            <a:graphicFrameLocks/>
          </p:cNvGraphicFramePr>
          <p:nvPr>
            <p:extLst>
              <p:ext uri="{D42A27DB-BD31-4B8C-83A1-F6EECF244321}">
                <p14:modId xmlns:p14="http://schemas.microsoft.com/office/powerpoint/2010/main" val="1586716849"/>
              </p:ext>
            </p:extLst>
          </p:nvPr>
        </p:nvGraphicFramePr>
        <p:xfrm>
          <a:off x="1298575" y="1000125"/>
          <a:ext cx="8183563" cy="5297488"/>
        </p:xfrm>
        <a:graphic>
          <a:graphicData uri="http://schemas.openxmlformats.org/presentationml/2006/ole">
            <mc:AlternateContent xmlns:mc="http://schemas.openxmlformats.org/markup-compatibility/2006">
              <mc:Choice xmlns:v="urn:schemas-microsoft-com:vml" Requires="v">
                <p:oleObj name="Worksheet" r:id="rId3" imgW="4184583" imgH="2667075" progId="Excel.Sheet.8">
                  <p:embed/>
                </p:oleObj>
              </mc:Choice>
              <mc:Fallback>
                <p:oleObj name="Worksheet" r:id="rId3" imgW="4184583" imgH="2667075" progId="Excel.Sheet.8">
                  <p:embed/>
                  <p:pic>
                    <p:nvPicPr>
                      <p:cNvPr id="58369" name="Object 2">
                        <a:extLst>
                          <a:ext uri="{FF2B5EF4-FFF2-40B4-BE49-F238E27FC236}">
                            <a16:creationId xmlns:a16="http://schemas.microsoft.com/office/drawing/2014/main" id="{0FBFB79D-E50C-424B-ACBF-0EFC8C3F0477}"/>
                          </a:ext>
                        </a:extLst>
                      </p:cNvPr>
                      <p:cNvPicPr>
                        <a:picLocks noChangeArrowheads="1"/>
                      </p:cNvPicPr>
                      <p:nvPr/>
                    </p:nvPicPr>
                    <p:blipFill>
                      <a:blip r:embed="rId4"/>
                      <a:srcRect/>
                      <a:stretch>
                        <a:fillRect/>
                      </a:stretch>
                    </p:blipFill>
                    <p:spPr bwMode="auto">
                      <a:xfrm>
                        <a:off x="1298575" y="1000125"/>
                        <a:ext cx="8183563" cy="5297488"/>
                      </a:xfrm>
                      <a:prstGeom prst="rect">
                        <a:avLst/>
                      </a:prstGeom>
                      <a:noFill/>
                      <a:ln w="9525">
                        <a:solidFill>
                          <a:srgbClr val="1C3163"/>
                        </a:solidFill>
                        <a:miter lim="800000"/>
                        <a:headEnd/>
                        <a:tailEnd/>
                      </a:ln>
                    </p:spPr>
                  </p:pic>
                </p:oleObj>
              </mc:Fallback>
            </mc:AlternateContent>
          </a:graphicData>
        </a:graphic>
      </p:graphicFrame>
      <p:sp>
        <p:nvSpPr>
          <p:cNvPr id="33795" name="Rectangle 4">
            <a:extLst>
              <a:ext uri="{FF2B5EF4-FFF2-40B4-BE49-F238E27FC236}">
                <a16:creationId xmlns:a16="http://schemas.microsoft.com/office/drawing/2014/main" id="{AD19D63A-CC49-44D0-A0E8-331FA1C52E3C}"/>
              </a:ext>
            </a:extLst>
          </p:cNvPr>
          <p:cNvSpPr>
            <a:spLocks noChangeArrowheads="1"/>
          </p:cNvSpPr>
          <p:nvPr/>
        </p:nvSpPr>
        <p:spPr bwMode="auto">
          <a:xfrm>
            <a:off x="1127448" y="1340768"/>
            <a:ext cx="8382000" cy="2582758"/>
          </a:xfrm>
          <a:prstGeom prst="rect">
            <a:avLst/>
          </a:prstGeom>
          <a:solidFill>
            <a:schemeClr val="bg1"/>
          </a:solidFill>
          <a:ln w="12700">
            <a:solidFill>
              <a:srgbClr val="000000"/>
            </a:solidFill>
            <a:miter lim="800000"/>
            <a:headEnd/>
            <a:tailEnd/>
          </a:ln>
          <a:effectLst>
            <a:outerShdw blurRad="63500" dist="71842" dir="2700000" algn="ctr" rotWithShape="0">
              <a:srgbClr val="000000">
                <a:alpha val="74997"/>
              </a:srgbClr>
            </a:outerShdw>
          </a:effectLst>
        </p:spPr>
        <p:txBody>
          <a:bodyPr lIns="90488" tIns="44450" rIns="90488" bIns="4445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CA" altLang="en-US" sz="2700" u="sng" dirty="0">
                <a:latin typeface="Arial" panose="020B0604020202020204" pitchFamily="34" charset="0"/>
                <a:cs typeface="Arial" panose="020B0604020202020204" pitchFamily="34" charset="0"/>
              </a:rPr>
              <a:t>Total fixed general factory overhead</a:t>
            </a:r>
            <a:r>
              <a:rPr lang="en-CA" altLang="en-US" sz="2700" dirty="0">
                <a:latin typeface="Arial" panose="020B0604020202020204" pitchFamily="34" charset="0"/>
                <a:cs typeface="Arial" panose="020B0604020202020204" pitchFamily="34" charset="0"/>
              </a:rPr>
              <a:t> and </a:t>
            </a:r>
            <a:r>
              <a:rPr lang="en-CA" altLang="en-US" sz="2700" u="sng" dirty="0">
                <a:latin typeface="Arial" panose="020B0604020202020204" pitchFamily="34" charset="0"/>
                <a:cs typeface="Arial" panose="020B0604020202020204" pitchFamily="34" charset="0"/>
              </a:rPr>
              <a:t>general administrative expenses</a:t>
            </a:r>
            <a:r>
              <a:rPr lang="en-CA" altLang="en-US" sz="2700" dirty="0">
                <a:latin typeface="Arial" panose="020B0604020202020204" pitchFamily="34" charset="0"/>
                <a:cs typeface="Arial" panose="020B0604020202020204" pitchFamily="34" charset="0"/>
              </a:rPr>
              <a:t> would not be affected if the digital watch line is dropped. The fixed general factory overhead and general administrative expenses assigned to this product would be reallocated to other product lines.</a:t>
            </a:r>
          </a:p>
        </p:txBody>
      </p:sp>
      <p:sp>
        <p:nvSpPr>
          <p:cNvPr id="2" name="Subtitle 1">
            <a:extLst>
              <a:ext uri="{FF2B5EF4-FFF2-40B4-BE49-F238E27FC236}">
                <a16:creationId xmlns:a16="http://schemas.microsoft.com/office/drawing/2014/main" id="{949F7CC2-F87C-57B6-745B-A250E24614A0}"/>
              </a:ext>
            </a:extLst>
          </p:cNvPr>
          <p:cNvSpPr>
            <a:spLocks noGrp="1"/>
          </p:cNvSpPr>
          <p:nvPr>
            <p:ph type="subTitle" idx="1"/>
          </p:nvPr>
        </p:nvSpPr>
        <p:spPr/>
        <p:txBody>
          <a:bodyPr/>
          <a:lstStyle/>
          <a:p>
            <a:r>
              <a:rPr lang="en-CA" dirty="0"/>
              <a:t>Application Example - Adding / Dropping Segments</a:t>
            </a:r>
          </a:p>
        </p:txBody>
      </p:sp>
      <p:pic>
        <p:nvPicPr>
          <p:cNvPr id="5" name="Picture 4" descr="Military Watches Waterproof Outdoor ...">
            <a:extLst>
              <a:ext uri="{FF2B5EF4-FFF2-40B4-BE49-F238E27FC236}">
                <a16:creationId xmlns:a16="http://schemas.microsoft.com/office/drawing/2014/main" id="{1FE7E8AE-9A8A-8D4B-D712-4D2C0CB6E1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88488" y="836712"/>
            <a:ext cx="1515392" cy="216024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03F9EE93-AB49-13E8-D69F-178AE67AA8BE}"/>
              </a:ext>
            </a:extLst>
          </p:cNvPr>
          <p:cNvSpPr>
            <a:spLocks noGrp="1"/>
          </p:cNvSpPr>
          <p:nvPr>
            <p:ph type="sldNum" sz="quarter" idx="12"/>
          </p:nvPr>
        </p:nvSpPr>
        <p:spPr/>
        <p:txBody>
          <a:bodyPr/>
          <a:lstStyle/>
          <a:p>
            <a:fld id="{9B7CDB38-6350-4CC9-AB0E-B9078CE1CE4B}" type="slidenum">
              <a:rPr lang="en-US" smtClean="0"/>
              <a:pPr/>
              <a:t>26</a:t>
            </a:fld>
            <a:endParaRPr lang="en-US"/>
          </a:p>
        </p:txBody>
      </p:sp>
    </p:spTree>
  </p:cSld>
  <p:clrMapOvr>
    <a:masterClrMapping/>
  </p:clrMapOvr>
  <p:transition>
    <p:zoom dir="in"/>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17" name="Object 2">
            <a:extLst>
              <a:ext uri="{FF2B5EF4-FFF2-40B4-BE49-F238E27FC236}">
                <a16:creationId xmlns:a16="http://schemas.microsoft.com/office/drawing/2014/main" id="{3ED6ED1F-4D9D-4EBC-86F4-ADF8F287996B}"/>
              </a:ext>
            </a:extLst>
          </p:cNvPr>
          <p:cNvGraphicFramePr>
            <a:graphicFrameLocks/>
          </p:cNvGraphicFramePr>
          <p:nvPr>
            <p:extLst>
              <p:ext uri="{D42A27DB-BD31-4B8C-83A1-F6EECF244321}">
                <p14:modId xmlns:p14="http://schemas.microsoft.com/office/powerpoint/2010/main" val="117502511"/>
              </p:ext>
            </p:extLst>
          </p:nvPr>
        </p:nvGraphicFramePr>
        <p:xfrm>
          <a:off x="3233738" y="673100"/>
          <a:ext cx="7542212" cy="5221288"/>
        </p:xfrm>
        <a:graphic>
          <a:graphicData uri="http://schemas.openxmlformats.org/presentationml/2006/ole">
            <mc:AlternateContent xmlns:mc="http://schemas.openxmlformats.org/markup-compatibility/2006">
              <mc:Choice xmlns:v="urn:schemas-microsoft-com:vml" Requires="v">
                <p:oleObj name="Worksheet" r:id="rId3" imgW="4184583" imgH="2667075" progId="Excel.Sheet.8">
                  <p:embed/>
                </p:oleObj>
              </mc:Choice>
              <mc:Fallback>
                <p:oleObj name="Worksheet" r:id="rId3" imgW="4184583" imgH="2667075" progId="Excel.Sheet.8">
                  <p:embed/>
                  <p:pic>
                    <p:nvPicPr>
                      <p:cNvPr id="60417" name="Object 2">
                        <a:extLst>
                          <a:ext uri="{FF2B5EF4-FFF2-40B4-BE49-F238E27FC236}">
                            <a16:creationId xmlns:a16="http://schemas.microsoft.com/office/drawing/2014/main" id="{3ED6ED1F-4D9D-4EBC-86F4-ADF8F287996B}"/>
                          </a:ext>
                        </a:extLst>
                      </p:cNvPr>
                      <p:cNvPicPr>
                        <a:picLocks noChangeArrowheads="1"/>
                      </p:cNvPicPr>
                      <p:nvPr/>
                    </p:nvPicPr>
                    <p:blipFill>
                      <a:blip r:embed="rId4"/>
                      <a:srcRect/>
                      <a:stretch>
                        <a:fillRect/>
                      </a:stretch>
                    </p:blipFill>
                    <p:spPr bwMode="auto">
                      <a:xfrm>
                        <a:off x="3233738" y="673100"/>
                        <a:ext cx="7542212" cy="5221288"/>
                      </a:xfrm>
                      <a:prstGeom prst="rect">
                        <a:avLst/>
                      </a:prstGeom>
                      <a:noFill/>
                      <a:ln>
                        <a:noFill/>
                      </a:ln>
                      <a:effectLst/>
                    </p:spPr>
                  </p:pic>
                </p:oleObj>
              </mc:Fallback>
            </mc:AlternateContent>
          </a:graphicData>
        </a:graphic>
      </p:graphicFrame>
      <p:sp>
        <p:nvSpPr>
          <p:cNvPr id="34819" name="Rectangle 4">
            <a:extLst>
              <a:ext uri="{FF2B5EF4-FFF2-40B4-BE49-F238E27FC236}">
                <a16:creationId xmlns:a16="http://schemas.microsoft.com/office/drawing/2014/main" id="{AA880C08-DA73-45CB-A0F1-50566AFBBB4E}"/>
              </a:ext>
            </a:extLst>
          </p:cNvPr>
          <p:cNvSpPr>
            <a:spLocks noChangeArrowheads="1"/>
          </p:cNvSpPr>
          <p:nvPr/>
        </p:nvSpPr>
        <p:spPr bwMode="auto">
          <a:xfrm>
            <a:off x="3225020" y="2972465"/>
            <a:ext cx="5741959" cy="1336263"/>
          </a:xfrm>
          <a:prstGeom prst="rect">
            <a:avLst/>
          </a:prstGeom>
          <a:solidFill>
            <a:schemeClr val="bg1"/>
          </a:solidFill>
          <a:ln w="12700">
            <a:solidFill>
              <a:srgbClr val="000000"/>
            </a:solidFill>
            <a:miter lim="800000"/>
            <a:headEnd/>
            <a:tailEnd/>
          </a:ln>
          <a:effectLst>
            <a:outerShdw blurRad="63500" dist="53882" dir="2700000" algn="ctr" rotWithShape="0">
              <a:srgbClr val="000000">
                <a:alpha val="74997"/>
              </a:srgbClr>
            </a:outerShdw>
          </a:effectLst>
        </p:spPr>
        <p:txBody>
          <a:bodyPr wrap="none" lIns="90488" tIns="44450" rIns="90488" bIns="4445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CA" altLang="en-US" sz="2700" dirty="0">
                <a:latin typeface="Arial" panose="020B0604020202020204" pitchFamily="34" charset="0"/>
                <a:cs typeface="Arial" panose="020B0604020202020204" pitchFamily="34" charset="0"/>
              </a:rPr>
              <a:t>The equipment used to manufacture</a:t>
            </a:r>
          </a:p>
          <a:p>
            <a:pPr algn="ctr" eaLnBrk="1" hangingPunct="1">
              <a:defRPr/>
            </a:pPr>
            <a:r>
              <a:rPr lang="en-CA" altLang="en-US" sz="2700" dirty="0">
                <a:latin typeface="Arial" panose="020B0604020202020204" pitchFamily="34" charset="0"/>
                <a:cs typeface="Arial" panose="020B0604020202020204" pitchFamily="34" charset="0"/>
              </a:rPr>
              <a:t>digital watches has no resale</a:t>
            </a:r>
          </a:p>
          <a:p>
            <a:pPr algn="ctr" eaLnBrk="1" hangingPunct="1">
              <a:defRPr/>
            </a:pPr>
            <a:r>
              <a:rPr lang="en-CA" altLang="en-US" sz="2700" dirty="0">
                <a:latin typeface="Arial" panose="020B0604020202020204" pitchFamily="34" charset="0"/>
                <a:cs typeface="Arial" panose="020B0604020202020204" pitchFamily="34" charset="0"/>
              </a:rPr>
              <a:t>value or alternative use.</a:t>
            </a:r>
          </a:p>
        </p:txBody>
      </p:sp>
      <p:sp>
        <p:nvSpPr>
          <p:cNvPr id="344069" name="Rectangle 5">
            <a:extLst>
              <a:ext uri="{FF2B5EF4-FFF2-40B4-BE49-F238E27FC236}">
                <a16:creationId xmlns:a16="http://schemas.microsoft.com/office/drawing/2014/main" id="{BB92EB0F-361A-4ABF-97AA-1591740467C0}"/>
              </a:ext>
            </a:extLst>
          </p:cNvPr>
          <p:cNvSpPr>
            <a:spLocks noChangeArrowheads="1"/>
          </p:cNvSpPr>
          <p:nvPr/>
        </p:nvSpPr>
        <p:spPr bwMode="auto">
          <a:xfrm>
            <a:off x="4823860" y="5877272"/>
            <a:ext cx="5112568" cy="920765"/>
          </a:xfrm>
          <a:prstGeom prst="rect">
            <a:avLst/>
          </a:prstGeom>
          <a:solidFill>
            <a:schemeClr val="bg1"/>
          </a:solidFill>
          <a:ln w="38100">
            <a:solidFill>
              <a:srgbClr val="0070C0"/>
            </a:solidFill>
            <a:miter lim="800000"/>
            <a:headEnd/>
            <a:tailEnd/>
          </a:ln>
          <a:effectLst>
            <a:outerShdw blurRad="63500" dist="53882" dir="2700000" algn="ctr" rotWithShape="0">
              <a:srgbClr val="000000">
                <a:alpha val="74997"/>
              </a:srgbClr>
            </a:outerShdw>
          </a:effectLst>
        </p:spPr>
        <p:txBody>
          <a:bodyPr wrap="square" lIns="90488" tIns="44450" rIns="90488" bIns="44450">
            <a:spAutoFit/>
          </a:bodyPr>
          <a:lstStyle/>
          <a:p>
            <a:pPr algn="ctr" eaLnBrk="1" hangingPunct="1">
              <a:defRPr/>
            </a:pPr>
            <a:r>
              <a:rPr lang="en-CA" sz="2700" dirty="0">
                <a:latin typeface="Arial" panose="020B0604020202020204" pitchFamily="34" charset="0"/>
                <a:cs typeface="Arial" panose="020B0604020202020204" pitchFamily="34" charset="0"/>
              </a:rPr>
              <a:t>Should Lovell retain or drop</a:t>
            </a:r>
          </a:p>
          <a:p>
            <a:pPr algn="ctr" eaLnBrk="1" hangingPunct="1">
              <a:defRPr/>
            </a:pPr>
            <a:r>
              <a:rPr lang="en-CA" sz="2700" dirty="0">
                <a:latin typeface="Arial" panose="020B0604020202020204" pitchFamily="34" charset="0"/>
                <a:cs typeface="Arial" panose="020B0604020202020204" pitchFamily="34" charset="0"/>
              </a:rPr>
              <a:t>the digital watch segment?</a:t>
            </a:r>
          </a:p>
        </p:txBody>
      </p:sp>
      <p:sp>
        <p:nvSpPr>
          <p:cNvPr id="2" name="Subtitle 1">
            <a:extLst>
              <a:ext uri="{FF2B5EF4-FFF2-40B4-BE49-F238E27FC236}">
                <a16:creationId xmlns:a16="http://schemas.microsoft.com/office/drawing/2014/main" id="{BED4AEDF-35EB-DE3A-E282-B652118093D5}"/>
              </a:ext>
            </a:extLst>
          </p:cNvPr>
          <p:cNvSpPr>
            <a:spLocks noGrp="1"/>
          </p:cNvSpPr>
          <p:nvPr>
            <p:ph type="subTitle" idx="1"/>
          </p:nvPr>
        </p:nvSpPr>
        <p:spPr/>
        <p:txBody>
          <a:bodyPr/>
          <a:lstStyle/>
          <a:p>
            <a:r>
              <a:rPr lang="en-CA" dirty="0"/>
              <a:t>Application Example - Adding / Dropping Segments</a:t>
            </a:r>
          </a:p>
        </p:txBody>
      </p:sp>
      <p:pic>
        <p:nvPicPr>
          <p:cNvPr id="5" name="Picture 4" descr="Military Watches Waterproof Outdoor ...">
            <a:extLst>
              <a:ext uri="{FF2B5EF4-FFF2-40B4-BE49-F238E27FC236}">
                <a16:creationId xmlns:a16="http://schemas.microsoft.com/office/drawing/2014/main" id="{00A690BA-4E1A-D73C-54EA-00B212C3DD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460" y="1412776"/>
            <a:ext cx="1656184" cy="2360943"/>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DA19020A-43B7-DFDE-E067-47F4A8F7CDE1}"/>
              </a:ext>
            </a:extLst>
          </p:cNvPr>
          <p:cNvSpPr>
            <a:spLocks noGrp="1"/>
          </p:cNvSpPr>
          <p:nvPr>
            <p:ph type="sldNum" sz="quarter" idx="12"/>
          </p:nvPr>
        </p:nvSpPr>
        <p:spPr/>
        <p:txBody>
          <a:bodyPr/>
          <a:lstStyle/>
          <a:p>
            <a:fld id="{9B7CDB38-6350-4CC9-AB0E-B9078CE1CE4B}" type="slidenum">
              <a:rPr lang="en-US" smtClean="0"/>
              <a:pPr/>
              <a:t>27</a:t>
            </a:fld>
            <a:endParaRPr lang="en-US"/>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4069"/>
                                        </p:tgtEl>
                                        <p:attrNameLst>
                                          <p:attrName>style.visibility</p:attrName>
                                        </p:attrNameLst>
                                      </p:cBhvr>
                                      <p:to>
                                        <p:strVal val="visible"/>
                                      </p:to>
                                    </p:set>
                                    <p:anim calcmode="lin" valueType="num">
                                      <p:cBhvr additive="base">
                                        <p:cTn id="7" dur="500" fill="hold"/>
                                        <p:tgtEl>
                                          <p:spTgt spid="344069"/>
                                        </p:tgtEl>
                                        <p:attrNameLst>
                                          <p:attrName>ppt_x</p:attrName>
                                        </p:attrNameLst>
                                      </p:cBhvr>
                                      <p:tavLst>
                                        <p:tav tm="0">
                                          <p:val>
                                            <p:strVal val="0-#ppt_w/2"/>
                                          </p:val>
                                        </p:tav>
                                        <p:tav tm="100000">
                                          <p:val>
                                            <p:strVal val="#ppt_x"/>
                                          </p:val>
                                        </p:tav>
                                      </p:tavLst>
                                    </p:anim>
                                    <p:anim calcmode="lin" valueType="num">
                                      <p:cBhvr additive="base">
                                        <p:cTn id="8" dur="500" fill="hold"/>
                                        <p:tgtEl>
                                          <p:spTgt spid="3440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9"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3D4FC52-9B78-A9D8-D435-7FB3F0BEF5CE}"/>
              </a:ext>
            </a:extLst>
          </p:cNvPr>
          <p:cNvSpPr>
            <a:spLocks noGrp="1"/>
          </p:cNvSpPr>
          <p:nvPr>
            <p:ph type="subTitle" idx="1"/>
          </p:nvPr>
        </p:nvSpPr>
        <p:spPr>
          <a:xfrm>
            <a:off x="335360" y="116632"/>
            <a:ext cx="9601067" cy="506016"/>
          </a:xfrm>
        </p:spPr>
        <p:txBody>
          <a:bodyPr/>
          <a:lstStyle/>
          <a:p>
            <a:r>
              <a:rPr lang="en-CA" dirty="0"/>
              <a:t> Application Example - Adding / Dropping Segments</a:t>
            </a:r>
          </a:p>
          <a:p>
            <a:endParaRPr lang="en-CA" dirty="0"/>
          </a:p>
        </p:txBody>
      </p:sp>
      <p:graphicFrame>
        <p:nvGraphicFramePr>
          <p:cNvPr id="62466" name="Object 2">
            <a:extLst>
              <a:ext uri="{FF2B5EF4-FFF2-40B4-BE49-F238E27FC236}">
                <a16:creationId xmlns:a16="http://schemas.microsoft.com/office/drawing/2014/main" id="{9007F887-82E5-4926-A1C5-005B46C14482}"/>
              </a:ext>
            </a:extLst>
          </p:cNvPr>
          <p:cNvGraphicFramePr>
            <a:graphicFrameLocks/>
          </p:cNvGraphicFramePr>
          <p:nvPr>
            <p:extLst>
              <p:ext uri="{D42A27DB-BD31-4B8C-83A1-F6EECF244321}">
                <p14:modId xmlns:p14="http://schemas.microsoft.com/office/powerpoint/2010/main" val="1627227648"/>
              </p:ext>
            </p:extLst>
          </p:nvPr>
        </p:nvGraphicFramePr>
        <p:xfrm>
          <a:off x="868363" y="1909763"/>
          <a:ext cx="8805862" cy="3254375"/>
        </p:xfrm>
        <a:graphic>
          <a:graphicData uri="http://schemas.openxmlformats.org/presentationml/2006/ole">
            <mc:AlternateContent xmlns:mc="http://schemas.openxmlformats.org/markup-compatibility/2006">
              <mc:Choice xmlns:v="urn:schemas-microsoft-com:vml" Requires="v">
                <p:oleObj name="Worksheet" r:id="rId3" imgW="4533927" imgH="1632113" progId="Excel.Sheet.8">
                  <p:embed/>
                </p:oleObj>
              </mc:Choice>
              <mc:Fallback>
                <p:oleObj name="Worksheet" r:id="rId3" imgW="4533927" imgH="1632113" progId="Excel.Sheet.8">
                  <p:embed/>
                  <p:pic>
                    <p:nvPicPr>
                      <p:cNvPr id="62466" name="Object 2">
                        <a:extLst>
                          <a:ext uri="{FF2B5EF4-FFF2-40B4-BE49-F238E27FC236}">
                            <a16:creationId xmlns:a16="http://schemas.microsoft.com/office/drawing/2014/main" id="{9007F887-82E5-4926-A1C5-005B46C14482}"/>
                          </a:ext>
                        </a:extLst>
                      </p:cNvPr>
                      <p:cNvPicPr>
                        <a:picLocks noChangeArrowheads="1"/>
                      </p:cNvPicPr>
                      <p:nvPr/>
                    </p:nvPicPr>
                    <p:blipFill>
                      <a:blip r:embed="rId4"/>
                      <a:srcRect/>
                      <a:stretch>
                        <a:fillRect/>
                      </a:stretch>
                    </p:blipFill>
                    <p:spPr bwMode="auto">
                      <a:xfrm>
                        <a:off x="868363" y="1909763"/>
                        <a:ext cx="8805862" cy="3254375"/>
                      </a:xfrm>
                      <a:prstGeom prst="rect">
                        <a:avLst/>
                      </a:prstGeom>
                      <a:noFill/>
                      <a:ln w="9525">
                        <a:solidFill>
                          <a:srgbClr val="1C3163"/>
                        </a:solidFill>
                        <a:miter lim="800000"/>
                        <a:headEnd/>
                        <a:tailEnd/>
                      </a:ln>
                    </p:spPr>
                  </p:pic>
                </p:oleObj>
              </mc:Fallback>
            </mc:AlternateContent>
          </a:graphicData>
        </a:graphic>
      </p:graphicFrame>
      <p:pic>
        <p:nvPicPr>
          <p:cNvPr id="5" name="Picture 4" descr="Military Watches Waterproof Outdoor ...">
            <a:extLst>
              <a:ext uri="{FF2B5EF4-FFF2-40B4-BE49-F238E27FC236}">
                <a16:creationId xmlns:a16="http://schemas.microsoft.com/office/drawing/2014/main" id="{69E3B9F0-479D-02AC-BEC5-9B3103D71D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28448" y="1412776"/>
            <a:ext cx="1767957" cy="252028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BD4205F0-B0BB-E3F0-AF1C-95F4D78E7DC6}"/>
              </a:ext>
            </a:extLst>
          </p:cNvPr>
          <p:cNvSpPr>
            <a:spLocks noGrp="1"/>
          </p:cNvSpPr>
          <p:nvPr>
            <p:ph type="sldNum" sz="quarter" idx="12"/>
          </p:nvPr>
        </p:nvSpPr>
        <p:spPr/>
        <p:txBody>
          <a:bodyPr/>
          <a:lstStyle/>
          <a:p>
            <a:fld id="{9B7CDB38-6350-4CC9-AB0E-B9078CE1CE4B}" type="slidenum">
              <a:rPr lang="en-US" smtClean="0"/>
              <a:pPr/>
              <a:t>28</a:t>
            </a:fld>
            <a:endParaRPr lang="en-US"/>
          </a:p>
        </p:txBody>
      </p:sp>
    </p:spTree>
  </p:cSld>
  <p:clrMapOvr>
    <a:masterClrMapping/>
  </p:clrMapOvr>
  <p:transition>
    <p:wipe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561" name="Object 2">
            <a:extLst>
              <a:ext uri="{FF2B5EF4-FFF2-40B4-BE49-F238E27FC236}">
                <a16:creationId xmlns:a16="http://schemas.microsoft.com/office/drawing/2014/main" id="{E7545A18-EBAD-4141-B627-BBE6447F96C0}"/>
              </a:ext>
            </a:extLst>
          </p:cNvPr>
          <p:cNvGraphicFramePr>
            <a:graphicFrameLocks/>
          </p:cNvGraphicFramePr>
          <p:nvPr>
            <p:extLst>
              <p:ext uri="{D42A27DB-BD31-4B8C-83A1-F6EECF244321}">
                <p14:modId xmlns:p14="http://schemas.microsoft.com/office/powerpoint/2010/main" val="2001794178"/>
              </p:ext>
            </p:extLst>
          </p:nvPr>
        </p:nvGraphicFramePr>
        <p:xfrm>
          <a:off x="4303713" y="782638"/>
          <a:ext cx="6575425" cy="5375275"/>
        </p:xfrm>
        <a:graphic>
          <a:graphicData uri="http://schemas.openxmlformats.org/presentationml/2006/ole">
            <mc:AlternateContent xmlns:mc="http://schemas.openxmlformats.org/markup-compatibility/2006">
              <mc:Choice xmlns:v="urn:schemas-microsoft-com:vml" Requires="v">
                <p:oleObj name="Worksheet" r:id="rId3" imgW="5416585" imgH="3549733" progId="Excel.Sheet.8">
                  <p:embed/>
                </p:oleObj>
              </mc:Choice>
              <mc:Fallback>
                <p:oleObj name="Worksheet" r:id="rId3" imgW="5416585" imgH="3549733" progId="Excel.Sheet.8">
                  <p:embed/>
                  <p:pic>
                    <p:nvPicPr>
                      <p:cNvPr id="66561" name="Object 2">
                        <a:extLst>
                          <a:ext uri="{FF2B5EF4-FFF2-40B4-BE49-F238E27FC236}">
                            <a16:creationId xmlns:a16="http://schemas.microsoft.com/office/drawing/2014/main" id="{E7545A18-EBAD-4141-B627-BBE6447F96C0}"/>
                          </a:ext>
                        </a:extLst>
                      </p:cNvPr>
                      <p:cNvPicPr>
                        <a:picLocks noChangeArrowheads="1"/>
                      </p:cNvPicPr>
                      <p:nvPr/>
                    </p:nvPicPr>
                    <p:blipFill>
                      <a:blip r:embed="rId4"/>
                      <a:srcRect/>
                      <a:stretch>
                        <a:fillRect/>
                      </a:stretch>
                    </p:blipFill>
                    <p:spPr bwMode="auto">
                      <a:xfrm>
                        <a:off x="4303713" y="782638"/>
                        <a:ext cx="6575425" cy="5375275"/>
                      </a:xfrm>
                      <a:prstGeom prst="rect">
                        <a:avLst/>
                      </a:prstGeom>
                      <a:noFill/>
                      <a:ln>
                        <a:noFill/>
                      </a:ln>
                      <a:effectLst/>
                    </p:spPr>
                  </p:pic>
                </p:oleObj>
              </mc:Fallback>
            </mc:AlternateContent>
          </a:graphicData>
        </a:graphic>
      </p:graphicFrame>
      <p:sp>
        <p:nvSpPr>
          <p:cNvPr id="37891" name="Line 3">
            <a:extLst>
              <a:ext uri="{FF2B5EF4-FFF2-40B4-BE49-F238E27FC236}">
                <a16:creationId xmlns:a16="http://schemas.microsoft.com/office/drawing/2014/main" id="{014D572B-DBBF-469F-93F2-A369CF332F76}"/>
              </a:ext>
            </a:extLst>
          </p:cNvPr>
          <p:cNvSpPr>
            <a:spLocks noChangeShapeType="1"/>
          </p:cNvSpPr>
          <p:nvPr/>
        </p:nvSpPr>
        <p:spPr bwMode="auto">
          <a:xfrm flipV="1">
            <a:off x="9912350" y="3729980"/>
            <a:ext cx="228600" cy="83820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350212" name="Rectangle 4">
            <a:extLst>
              <a:ext uri="{FF2B5EF4-FFF2-40B4-BE49-F238E27FC236}">
                <a16:creationId xmlns:a16="http://schemas.microsoft.com/office/drawing/2014/main" id="{85E33FC9-6377-4588-8273-102396170759}"/>
              </a:ext>
            </a:extLst>
          </p:cNvPr>
          <p:cNvSpPr>
            <a:spLocks noChangeArrowheads="1"/>
          </p:cNvSpPr>
          <p:nvPr/>
        </p:nvSpPr>
        <p:spPr bwMode="auto">
          <a:xfrm>
            <a:off x="8426450" y="4573618"/>
            <a:ext cx="3200400" cy="1567096"/>
          </a:xfrm>
          <a:prstGeom prst="rect">
            <a:avLst/>
          </a:prstGeom>
          <a:solidFill>
            <a:srgbClr val="1C3163"/>
          </a:solidFill>
          <a:ln w="12700">
            <a:solidFill>
              <a:srgbClr val="000000"/>
            </a:solidFill>
            <a:miter lim="800000"/>
            <a:headEnd/>
            <a:tailEnd/>
          </a:ln>
          <a:effectLst/>
        </p:spPr>
        <p:txBody>
          <a:bodyPr lIns="90488" tIns="44450" rIns="90488" bIns="44450">
            <a:spAutoFit/>
          </a:bodyPr>
          <a:lstStyle/>
          <a:p>
            <a:pPr algn="ctr" eaLnBrk="1" hangingPunct="1">
              <a:defRPr/>
            </a:pPr>
            <a:r>
              <a:rPr lang="en-CA" sz="2400" b="1" dirty="0">
                <a:solidFill>
                  <a:schemeClr val="bg1"/>
                </a:solidFill>
              </a:rPr>
              <a:t>If the digital watch line is dropped, the company gives up its contribution margin.</a:t>
            </a:r>
            <a:r>
              <a:rPr lang="en-CA" sz="2400" dirty="0">
                <a:solidFill>
                  <a:schemeClr val="bg1"/>
                </a:solidFill>
                <a:effectLst>
                  <a:outerShdw blurRad="38100" dist="38100" dir="2700000" algn="tl">
                    <a:srgbClr val="000000"/>
                  </a:outerShdw>
                </a:effectLst>
              </a:rPr>
              <a:t> </a:t>
            </a:r>
          </a:p>
        </p:txBody>
      </p:sp>
      <p:sp>
        <p:nvSpPr>
          <p:cNvPr id="3" name="Subtitle 2">
            <a:extLst>
              <a:ext uri="{FF2B5EF4-FFF2-40B4-BE49-F238E27FC236}">
                <a16:creationId xmlns:a16="http://schemas.microsoft.com/office/drawing/2014/main" id="{FB31B701-CCC0-2C83-9E34-C5495F18259D}"/>
              </a:ext>
            </a:extLst>
          </p:cNvPr>
          <p:cNvSpPr>
            <a:spLocks noGrp="1"/>
          </p:cNvSpPr>
          <p:nvPr>
            <p:ph type="subTitle" idx="1"/>
          </p:nvPr>
        </p:nvSpPr>
        <p:spPr>
          <a:xfrm>
            <a:off x="311283" y="148967"/>
            <a:ext cx="9601067" cy="506016"/>
          </a:xfrm>
        </p:spPr>
        <p:txBody>
          <a:bodyPr/>
          <a:lstStyle/>
          <a:p>
            <a:r>
              <a:rPr lang="en-CA" dirty="0"/>
              <a:t> Application Example - Adding / Dropping Segments</a:t>
            </a:r>
          </a:p>
          <a:p>
            <a:endParaRPr lang="en-CA" dirty="0"/>
          </a:p>
        </p:txBody>
      </p:sp>
      <p:sp>
        <p:nvSpPr>
          <p:cNvPr id="6" name="TextBox 5">
            <a:extLst>
              <a:ext uri="{FF2B5EF4-FFF2-40B4-BE49-F238E27FC236}">
                <a16:creationId xmlns:a16="http://schemas.microsoft.com/office/drawing/2014/main" id="{B032593A-761F-939E-9D5A-513F33E652EE}"/>
              </a:ext>
            </a:extLst>
          </p:cNvPr>
          <p:cNvSpPr txBox="1"/>
          <p:nvPr/>
        </p:nvSpPr>
        <p:spPr>
          <a:xfrm>
            <a:off x="335361" y="1797354"/>
            <a:ext cx="3312367" cy="2677656"/>
          </a:xfrm>
          <a:prstGeom prst="rect">
            <a:avLst/>
          </a:prstGeom>
          <a:noFill/>
        </p:spPr>
        <p:txBody>
          <a:bodyPr wrap="square">
            <a:spAutoFit/>
          </a:bodyPr>
          <a:lstStyle/>
          <a:p>
            <a:r>
              <a:rPr lang="en-CA" sz="2400" dirty="0">
                <a:latin typeface="Arial" panose="020B0604020202020204" pitchFamily="34" charset="0"/>
                <a:cs typeface="Arial" panose="020B0604020202020204" pitchFamily="34" charset="0"/>
              </a:rPr>
              <a:t>The Lovell solution can also be obtained by preparing comparative income statements showing results with and without the digital watch segment.</a:t>
            </a:r>
          </a:p>
        </p:txBody>
      </p:sp>
      <p:pic>
        <p:nvPicPr>
          <p:cNvPr id="7" name="Picture 4" descr="Military Watches Waterproof Outdoor ...">
            <a:extLst>
              <a:ext uri="{FF2B5EF4-FFF2-40B4-BE49-F238E27FC236}">
                <a16:creationId xmlns:a16="http://schemas.microsoft.com/office/drawing/2014/main" id="{451005CF-06D4-26D4-C5F0-9E935CC535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6286" y="4725144"/>
            <a:ext cx="1101442" cy="1570141"/>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7">
            <a:extLst>
              <a:ext uri="{FF2B5EF4-FFF2-40B4-BE49-F238E27FC236}">
                <a16:creationId xmlns:a16="http://schemas.microsoft.com/office/drawing/2014/main" id="{D5D0F792-ECC5-AFF2-C721-F3E8E6B51B8B}"/>
              </a:ext>
            </a:extLst>
          </p:cNvPr>
          <p:cNvSpPr>
            <a:spLocks noGrp="1"/>
          </p:cNvSpPr>
          <p:nvPr>
            <p:ph type="sldNum" sz="quarter" idx="12"/>
          </p:nvPr>
        </p:nvSpPr>
        <p:spPr/>
        <p:txBody>
          <a:bodyPr/>
          <a:lstStyle/>
          <a:p>
            <a:fld id="{9B7CDB38-6350-4CC9-AB0E-B9078CE1CE4B}" type="slidenum">
              <a:rPr lang="en-US" smtClean="0"/>
              <a:pPr/>
              <a:t>29</a:t>
            </a:fld>
            <a:endParaRPr lang="en-US"/>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609" name="Object 2">
            <a:extLst>
              <a:ext uri="{FF2B5EF4-FFF2-40B4-BE49-F238E27FC236}">
                <a16:creationId xmlns:a16="http://schemas.microsoft.com/office/drawing/2014/main" id="{9606B3D2-10C2-4F9D-90FA-31A96F86D639}"/>
              </a:ext>
            </a:extLst>
          </p:cNvPr>
          <p:cNvGraphicFramePr>
            <a:graphicFrameLocks/>
          </p:cNvGraphicFramePr>
          <p:nvPr>
            <p:extLst>
              <p:ext uri="{D42A27DB-BD31-4B8C-83A1-F6EECF244321}">
                <p14:modId xmlns:p14="http://schemas.microsoft.com/office/powerpoint/2010/main" val="2486421018"/>
              </p:ext>
            </p:extLst>
          </p:nvPr>
        </p:nvGraphicFramePr>
        <p:xfrm>
          <a:off x="2382838" y="665163"/>
          <a:ext cx="7715250" cy="5816600"/>
        </p:xfrm>
        <a:graphic>
          <a:graphicData uri="http://schemas.openxmlformats.org/presentationml/2006/ole">
            <mc:AlternateContent xmlns:mc="http://schemas.openxmlformats.org/markup-compatibility/2006">
              <mc:Choice xmlns:v="urn:schemas-microsoft-com:vml" Requires="v">
                <p:oleObj name="Worksheet" r:id="rId3" imgW="5416585" imgH="3549733" progId="Excel.Sheet.8">
                  <p:embed/>
                </p:oleObj>
              </mc:Choice>
              <mc:Fallback>
                <p:oleObj name="Worksheet" r:id="rId3" imgW="5416585" imgH="3549733" progId="Excel.Sheet.8">
                  <p:embed/>
                  <p:pic>
                    <p:nvPicPr>
                      <p:cNvPr id="68609" name="Object 2">
                        <a:extLst>
                          <a:ext uri="{FF2B5EF4-FFF2-40B4-BE49-F238E27FC236}">
                            <a16:creationId xmlns:a16="http://schemas.microsoft.com/office/drawing/2014/main" id="{9606B3D2-10C2-4F9D-90FA-31A96F86D639}"/>
                          </a:ext>
                        </a:extLst>
                      </p:cNvPr>
                      <p:cNvPicPr>
                        <a:picLocks noChangeArrowheads="1"/>
                      </p:cNvPicPr>
                      <p:nvPr/>
                    </p:nvPicPr>
                    <p:blipFill>
                      <a:blip r:embed="rId4"/>
                      <a:srcRect/>
                      <a:stretch>
                        <a:fillRect/>
                      </a:stretch>
                    </p:blipFill>
                    <p:spPr bwMode="auto">
                      <a:xfrm>
                        <a:off x="2382838" y="665163"/>
                        <a:ext cx="7715250" cy="5816600"/>
                      </a:xfrm>
                      <a:prstGeom prst="rect">
                        <a:avLst/>
                      </a:prstGeom>
                      <a:noFill/>
                      <a:ln>
                        <a:noFill/>
                      </a:ln>
                      <a:effectLst/>
                    </p:spPr>
                  </p:pic>
                </p:oleObj>
              </mc:Fallback>
            </mc:AlternateContent>
          </a:graphicData>
        </a:graphic>
      </p:graphicFrame>
      <p:sp>
        <p:nvSpPr>
          <p:cNvPr id="38915" name="Line 3">
            <a:extLst>
              <a:ext uri="{FF2B5EF4-FFF2-40B4-BE49-F238E27FC236}">
                <a16:creationId xmlns:a16="http://schemas.microsoft.com/office/drawing/2014/main" id="{FCAD183D-EB7A-4048-8F14-A73A64D4F1F7}"/>
              </a:ext>
            </a:extLst>
          </p:cNvPr>
          <p:cNvSpPr>
            <a:spLocks noChangeShapeType="1"/>
          </p:cNvSpPr>
          <p:nvPr/>
        </p:nvSpPr>
        <p:spPr bwMode="auto">
          <a:xfrm flipH="1" flipV="1">
            <a:off x="8472264" y="4293468"/>
            <a:ext cx="457200" cy="64770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352260" name="Rectangle 4">
            <a:extLst>
              <a:ext uri="{FF2B5EF4-FFF2-40B4-BE49-F238E27FC236}">
                <a16:creationId xmlns:a16="http://schemas.microsoft.com/office/drawing/2014/main" id="{C8A57C3D-2D3D-4701-AE58-71DB33077616}"/>
              </a:ext>
            </a:extLst>
          </p:cNvPr>
          <p:cNvSpPr>
            <a:spLocks noChangeArrowheads="1"/>
          </p:cNvSpPr>
          <p:nvPr/>
        </p:nvSpPr>
        <p:spPr bwMode="auto">
          <a:xfrm>
            <a:off x="5807968" y="4941168"/>
            <a:ext cx="4648200" cy="1197764"/>
          </a:xfrm>
          <a:prstGeom prst="rect">
            <a:avLst/>
          </a:prstGeom>
          <a:solidFill>
            <a:srgbClr val="1C3163"/>
          </a:solidFill>
          <a:ln w="12700">
            <a:solidFill>
              <a:srgbClr val="000000"/>
            </a:solidFill>
            <a:miter lim="800000"/>
            <a:headEnd/>
            <a:tailEnd/>
          </a:ln>
          <a:effectLst>
            <a:outerShdw blurRad="63500" dist="53882" dir="2700000" algn="ctr" rotWithShape="0">
              <a:srgbClr val="000000">
                <a:alpha val="74997"/>
              </a:srgbClr>
            </a:outerShdw>
          </a:effectLst>
        </p:spPr>
        <p:txBody>
          <a:bodyPr lIns="90488" tIns="44450" rIns="90488" bIns="44450">
            <a:spAutoFit/>
          </a:bodyPr>
          <a:lstStyle/>
          <a:p>
            <a:pPr algn="ctr" eaLnBrk="1" hangingPunct="1">
              <a:defRPr/>
            </a:pPr>
            <a:r>
              <a:rPr lang="en-CA" sz="2400" b="1" dirty="0">
                <a:solidFill>
                  <a:schemeClr val="bg1"/>
                </a:solidFill>
              </a:rPr>
              <a:t>The general factory overhead would be the same, so this cost is not relevant. </a:t>
            </a:r>
          </a:p>
        </p:txBody>
      </p:sp>
      <p:sp>
        <p:nvSpPr>
          <p:cNvPr id="7" name="Subtitle 2">
            <a:extLst>
              <a:ext uri="{FF2B5EF4-FFF2-40B4-BE49-F238E27FC236}">
                <a16:creationId xmlns:a16="http://schemas.microsoft.com/office/drawing/2014/main" id="{FF8DDDAC-FF82-FD37-1A99-8B4A9F9397DD}"/>
              </a:ext>
            </a:extLst>
          </p:cNvPr>
          <p:cNvSpPr>
            <a:spLocks noGrp="1"/>
          </p:cNvSpPr>
          <p:nvPr>
            <p:ph type="subTitle" idx="1"/>
          </p:nvPr>
        </p:nvSpPr>
        <p:spPr>
          <a:xfrm>
            <a:off x="311283" y="148967"/>
            <a:ext cx="9601067" cy="506016"/>
          </a:xfrm>
        </p:spPr>
        <p:txBody>
          <a:bodyPr/>
          <a:lstStyle/>
          <a:p>
            <a:r>
              <a:rPr lang="en-CA" dirty="0"/>
              <a:t> Application Example - Adding / Dropping Segments</a:t>
            </a:r>
          </a:p>
          <a:p>
            <a:endParaRPr lang="en-CA" dirty="0"/>
          </a:p>
        </p:txBody>
      </p:sp>
      <p:pic>
        <p:nvPicPr>
          <p:cNvPr id="8" name="Picture 4" descr="Military Watches Waterproof Outdoor ...">
            <a:extLst>
              <a:ext uri="{FF2B5EF4-FFF2-40B4-BE49-F238E27FC236}">
                <a16:creationId xmlns:a16="http://schemas.microsoft.com/office/drawing/2014/main" id="{FC7BA1BB-D6C8-7866-DC60-AA2E02A4F8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32504" y="1124744"/>
            <a:ext cx="1193553" cy="1701448"/>
          </a:xfrm>
          <a:prstGeom prst="rect">
            <a:avLst/>
          </a:prstGeom>
          <a:noFill/>
          <a:extLst>
            <a:ext uri="{909E8E84-426E-40DD-AFC4-6F175D3DCCD1}">
              <a14:hiddenFill xmlns:a14="http://schemas.microsoft.com/office/drawing/2010/main">
                <a:solidFill>
                  <a:srgbClr val="FFFFFF"/>
                </a:solidFill>
              </a14:hiddenFill>
            </a:ext>
          </a:extLst>
        </p:spPr>
      </p:pic>
      <p:sp>
        <p:nvSpPr>
          <p:cNvPr id="9" name="Slide Number Placeholder 8">
            <a:extLst>
              <a:ext uri="{FF2B5EF4-FFF2-40B4-BE49-F238E27FC236}">
                <a16:creationId xmlns:a16="http://schemas.microsoft.com/office/drawing/2014/main" id="{897E5FDE-E307-FB0D-7CDC-C626BB528904}"/>
              </a:ext>
            </a:extLst>
          </p:cNvPr>
          <p:cNvSpPr>
            <a:spLocks noGrp="1"/>
          </p:cNvSpPr>
          <p:nvPr>
            <p:ph type="sldNum" sz="quarter" idx="12"/>
          </p:nvPr>
        </p:nvSpPr>
        <p:spPr/>
        <p:txBody>
          <a:bodyPr/>
          <a:lstStyle/>
          <a:p>
            <a:fld id="{9B7CDB38-6350-4CC9-AB0E-B9078CE1CE4B}" type="slidenum">
              <a:rPr lang="en-US" smtClean="0"/>
              <a:pPr/>
              <a:t>30</a:t>
            </a:fld>
            <a:endParaRPr lang="en-US"/>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57" name="Object 2">
            <a:extLst>
              <a:ext uri="{FF2B5EF4-FFF2-40B4-BE49-F238E27FC236}">
                <a16:creationId xmlns:a16="http://schemas.microsoft.com/office/drawing/2014/main" id="{30BD9FEB-6A67-4B72-B3C2-B3D1411D0A87}"/>
              </a:ext>
            </a:extLst>
          </p:cNvPr>
          <p:cNvGraphicFramePr>
            <a:graphicFrameLocks/>
          </p:cNvGraphicFramePr>
          <p:nvPr>
            <p:extLst>
              <p:ext uri="{D42A27DB-BD31-4B8C-83A1-F6EECF244321}">
                <p14:modId xmlns:p14="http://schemas.microsoft.com/office/powerpoint/2010/main" val="3391009707"/>
              </p:ext>
            </p:extLst>
          </p:nvPr>
        </p:nvGraphicFramePr>
        <p:xfrm>
          <a:off x="1754188" y="879475"/>
          <a:ext cx="8355012" cy="5251450"/>
        </p:xfrm>
        <a:graphic>
          <a:graphicData uri="http://schemas.openxmlformats.org/presentationml/2006/ole">
            <mc:AlternateContent xmlns:mc="http://schemas.openxmlformats.org/markup-compatibility/2006">
              <mc:Choice xmlns:v="urn:schemas-microsoft-com:vml" Requires="v">
                <p:oleObj name="Worksheet" r:id="rId3" imgW="5416585" imgH="3549733" progId="Excel.Sheet.8">
                  <p:embed/>
                </p:oleObj>
              </mc:Choice>
              <mc:Fallback>
                <p:oleObj name="Worksheet" r:id="rId3" imgW="5416585" imgH="3549733" progId="Excel.Sheet.8">
                  <p:embed/>
                  <p:pic>
                    <p:nvPicPr>
                      <p:cNvPr id="70657" name="Object 2">
                        <a:extLst>
                          <a:ext uri="{FF2B5EF4-FFF2-40B4-BE49-F238E27FC236}">
                            <a16:creationId xmlns:a16="http://schemas.microsoft.com/office/drawing/2014/main" id="{30BD9FEB-6A67-4B72-B3C2-B3D1411D0A87}"/>
                          </a:ext>
                        </a:extLst>
                      </p:cNvPr>
                      <p:cNvPicPr>
                        <a:picLocks noChangeArrowheads="1"/>
                      </p:cNvPicPr>
                      <p:nvPr/>
                    </p:nvPicPr>
                    <p:blipFill>
                      <a:blip r:embed="rId4"/>
                      <a:srcRect/>
                      <a:stretch>
                        <a:fillRect/>
                      </a:stretch>
                    </p:blipFill>
                    <p:spPr bwMode="auto">
                      <a:xfrm>
                        <a:off x="1754188" y="879475"/>
                        <a:ext cx="8355012" cy="5251450"/>
                      </a:xfrm>
                      <a:prstGeom prst="rect">
                        <a:avLst/>
                      </a:prstGeom>
                      <a:noFill/>
                      <a:ln>
                        <a:noFill/>
                      </a:ln>
                      <a:effectLst/>
                    </p:spPr>
                  </p:pic>
                </p:oleObj>
              </mc:Fallback>
            </mc:AlternateContent>
          </a:graphicData>
        </a:graphic>
      </p:graphicFrame>
      <p:sp>
        <p:nvSpPr>
          <p:cNvPr id="39939" name="Line 3">
            <a:extLst>
              <a:ext uri="{FF2B5EF4-FFF2-40B4-BE49-F238E27FC236}">
                <a16:creationId xmlns:a16="http://schemas.microsoft.com/office/drawing/2014/main" id="{D5FD2C68-C3A2-4834-A67D-C32ECB94EACC}"/>
              </a:ext>
            </a:extLst>
          </p:cNvPr>
          <p:cNvSpPr>
            <a:spLocks noChangeShapeType="1"/>
          </p:cNvSpPr>
          <p:nvPr/>
        </p:nvSpPr>
        <p:spPr bwMode="auto">
          <a:xfrm>
            <a:off x="7791905" y="3161182"/>
            <a:ext cx="228600" cy="114300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354308" name="Rectangle 4">
            <a:extLst>
              <a:ext uri="{FF2B5EF4-FFF2-40B4-BE49-F238E27FC236}">
                <a16:creationId xmlns:a16="http://schemas.microsoft.com/office/drawing/2014/main" id="{80AB22F1-253C-4204-A2A7-F126613731F2}"/>
              </a:ext>
            </a:extLst>
          </p:cNvPr>
          <p:cNvSpPr>
            <a:spLocks noChangeArrowheads="1"/>
          </p:cNvSpPr>
          <p:nvPr/>
        </p:nvSpPr>
        <p:spPr bwMode="auto">
          <a:xfrm>
            <a:off x="3810000" y="2332750"/>
            <a:ext cx="4953000" cy="828432"/>
          </a:xfrm>
          <a:prstGeom prst="rect">
            <a:avLst/>
          </a:prstGeom>
          <a:solidFill>
            <a:srgbClr val="1C3163"/>
          </a:solidFill>
          <a:ln w="12700">
            <a:solidFill>
              <a:srgbClr val="000000"/>
            </a:solidFill>
            <a:miter lim="800000"/>
            <a:headEnd/>
            <a:tailEnd/>
          </a:ln>
          <a:effectLst>
            <a:outerShdw blurRad="63500" dist="53882" dir="2700000" algn="ctr" rotWithShape="0">
              <a:srgbClr val="000000">
                <a:alpha val="74997"/>
              </a:srgbClr>
            </a:outerShdw>
          </a:effectLst>
        </p:spPr>
        <p:txBody>
          <a:bodyPr wrap="square" lIns="90488" tIns="44450" rIns="90488" bIns="44450">
            <a:spAutoFit/>
          </a:bodyPr>
          <a:lstStyle/>
          <a:p>
            <a:pPr algn="ctr" eaLnBrk="1" hangingPunct="1">
              <a:defRPr/>
            </a:pPr>
            <a:r>
              <a:rPr lang="en-CA" sz="2400" b="1" dirty="0">
                <a:solidFill>
                  <a:schemeClr val="bg1"/>
                </a:solidFill>
                <a:latin typeface="Arial" panose="020B0604020202020204" pitchFamily="34" charset="0"/>
                <a:cs typeface="Arial" panose="020B0604020202020204" pitchFamily="34" charset="0"/>
              </a:rPr>
              <a:t>The product line manager would no longer be needed. </a:t>
            </a:r>
          </a:p>
        </p:txBody>
      </p:sp>
      <p:sp>
        <p:nvSpPr>
          <p:cNvPr id="7" name="Subtitle 2">
            <a:extLst>
              <a:ext uri="{FF2B5EF4-FFF2-40B4-BE49-F238E27FC236}">
                <a16:creationId xmlns:a16="http://schemas.microsoft.com/office/drawing/2014/main" id="{4A959BBC-6C7A-CC21-0556-2D9A1349833C}"/>
              </a:ext>
            </a:extLst>
          </p:cNvPr>
          <p:cNvSpPr>
            <a:spLocks noGrp="1"/>
          </p:cNvSpPr>
          <p:nvPr>
            <p:ph type="subTitle" idx="1"/>
          </p:nvPr>
        </p:nvSpPr>
        <p:spPr>
          <a:xfrm>
            <a:off x="311283" y="148967"/>
            <a:ext cx="9601067" cy="506016"/>
          </a:xfrm>
        </p:spPr>
        <p:txBody>
          <a:bodyPr/>
          <a:lstStyle/>
          <a:p>
            <a:r>
              <a:rPr lang="en-CA" dirty="0"/>
              <a:t> Application Example - Adding / Dropping Segments</a:t>
            </a:r>
          </a:p>
          <a:p>
            <a:endParaRPr lang="en-CA" dirty="0"/>
          </a:p>
        </p:txBody>
      </p:sp>
      <p:pic>
        <p:nvPicPr>
          <p:cNvPr id="8" name="Picture 4" descr="Military Watches Waterproof Outdoor ...">
            <a:extLst>
              <a:ext uri="{FF2B5EF4-FFF2-40B4-BE49-F238E27FC236}">
                <a16:creationId xmlns:a16="http://schemas.microsoft.com/office/drawing/2014/main" id="{8AD8D58A-FCFE-7F61-A192-3DFBB06D73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23253" y="908720"/>
            <a:ext cx="1147621" cy="1635970"/>
          </a:xfrm>
          <a:prstGeom prst="rect">
            <a:avLst/>
          </a:prstGeom>
          <a:noFill/>
          <a:extLst>
            <a:ext uri="{909E8E84-426E-40DD-AFC4-6F175D3DCCD1}">
              <a14:hiddenFill xmlns:a14="http://schemas.microsoft.com/office/drawing/2010/main">
                <a:solidFill>
                  <a:srgbClr val="FFFFFF"/>
                </a:solidFill>
              </a14:hiddenFill>
            </a:ext>
          </a:extLst>
        </p:spPr>
      </p:pic>
      <p:sp>
        <p:nvSpPr>
          <p:cNvPr id="9" name="Slide Number Placeholder 8">
            <a:extLst>
              <a:ext uri="{FF2B5EF4-FFF2-40B4-BE49-F238E27FC236}">
                <a16:creationId xmlns:a16="http://schemas.microsoft.com/office/drawing/2014/main" id="{ED2F69AB-35EF-9AE4-F898-7AD950CC5A86}"/>
              </a:ext>
            </a:extLst>
          </p:cNvPr>
          <p:cNvSpPr>
            <a:spLocks noGrp="1"/>
          </p:cNvSpPr>
          <p:nvPr>
            <p:ph type="sldNum" sz="quarter" idx="12"/>
          </p:nvPr>
        </p:nvSpPr>
        <p:spPr/>
        <p:txBody>
          <a:bodyPr/>
          <a:lstStyle/>
          <a:p>
            <a:fld id="{9B7CDB38-6350-4CC9-AB0E-B9078CE1CE4B}" type="slidenum">
              <a:rPr lang="en-US" smtClean="0"/>
              <a:pPr/>
              <a:t>31</a:t>
            </a:fld>
            <a:endParaRPr lang="en-US"/>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5" name="Object 2">
            <a:extLst>
              <a:ext uri="{FF2B5EF4-FFF2-40B4-BE49-F238E27FC236}">
                <a16:creationId xmlns:a16="http://schemas.microsoft.com/office/drawing/2014/main" id="{5EC2230A-74CB-44D9-AAEA-74CEB847645A}"/>
              </a:ext>
            </a:extLst>
          </p:cNvPr>
          <p:cNvGraphicFramePr>
            <a:graphicFrameLocks/>
          </p:cNvGraphicFramePr>
          <p:nvPr>
            <p:extLst>
              <p:ext uri="{D42A27DB-BD31-4B8C-83A1-F6EECF244321}">
                <p14:modId xmlns:p14="http://schemas.microsoft.com/office/powerpoint/2010/main" val="877884687"/>
              </p:ext>
            </p:extLst>
          </p:nvPr>
        </p:nvGraphicFramePr>
        <p:xfrm>
          <a:off x="2778125" y="914400"/>
          <a:ext cx="8628063" cy="5027613"/>
        </p:xfrm>
        <a:graphic>
          <a:graphicData uri="http://schemas.openxmlformats.org/presentationml/2006/ole">
            <mc:AlternateContent xmlns:mc="http://schemas.openxmlformats.org/markup-compatibility/2006">
              <mc:Choice xmlns:v="urn:schemas-microsoft-com:vml" Requires="v">
                <p:oleObj name="Worksheet" r:id="rId3" imgW="5416585" imgH="3549733" progId="Excel.Sheet.8">
                  <p:embed/>
                </p:oleObj>
              </mc:Choice>
              <mc:Fallback>
                <p:oleObj name="Worksheet" r:id="rId3" imgW="5416585" imgH="3549733" progId="Excel.Sheet.8">
                  <p:embed/>
                  <p:pic>
                    <p:nvPicPr>
                      <p:cNvPr id="72705" name="Object 2">
                        <a:extLst>
                          <a:ext uri="{FF2B5EF4-FFF2-40B4-BE49-F238E27FC236}">
                            <a16:creationId xmlns:a16="http://schemas.microsoft.com/office/drawing/2014/main" id="{5EC2230A-74CB-44D9-AAEA-74CEB847645A}"/>
                          </a:ext>
                        </a:extLst>
                      </p:cNvPr>
                      <p:cNvPicPr>
                        <a:picLocks noChangeArrowheads="1"/>
                      </p:cNvPicPr>
                      <p:nvPr/>
                    </p:nvPicPr>
                    <p:blipFill>
                      <a:blip r:embed="rId4"/>
                      <a:srcRect/>
                      <a:stretch>
                        <a:fillRect/>
                      </a:stretch>
                    </p:blipFill>
                    <p:spPr bwMode="auto">
                      <a:xfrm>
                        <a:off x="2778125" y="914400"/>
                        <a:ext cx="8628063" cy="5027613"/>
                      </a:xfrm>
                      <a:prstGeom prst="rect">
                        <a:avLst/>
                      </a:prstGeom>
                      <a:noFill/>
                      <a:ln>
                        <a:noFill/>
                      </a:ln>
                      <a:effectLst/>
                    </p:spPr>
                  </p:pic>
                </p:oleObj>
              </mc:Fallback>
            </mc:AlternateContent>
          </a:graphicData>
        </a:graphic>
      </p:graphicFrame>
      <p:sp>
        <p:nvSpPr>
          <p:cNvPr id="40963" name="Line 3">
            <a:extLst>
              <a:ext uri="{FF2B5EF4-FFF2-40B4-BE49-F238E27FC236}">
                <a16:creationId xmlns:a16="http://schemas.microsoft.com/office/drawing/2014/main" id="{92ADE91F-55B9-42CA-BD14-4721D739AF42}"/>
              </a:ext>
            </a:extLst>
          </p:cNvPr>
          <p:cNvSpPr>
            <a:spLocks noChangeShapeType="1"/>
          </p:cNvSpPr>
          <p:nvPr/>
        </p:nvSpPr>
        <p:spPr bwMode="auto">
          <a:xfrm flipH="1">
            <a:off x="8382000" y="3657600"/>
            <a:ext cx="76200" cy="762000"/>
          </a:xfrm>
          <a:prstGeom prst="line">
            <a:avLst/>
          </a:prstGeom>
          <a:noFill/>
          <a:ln w="38100">
            <a:solidFill>
              <a:srgbClr val="ED037C"/>
            </a:solidFill>
            <a:round/>
            <a:headEnd/>
            <a:tailEnd type="triangle" w="med" len="med"/>
          </a:ln>
          <a:effectLst>
            <a:outerShdw blurRad="63500" dist="40161" dir="1106097" algn="ctr" rotWithShape="0">
              <a:srgbClr val="000000">
                <a:alpha val="74997"/>
              </a:srgbClr>
            </a:outerShdw>
          </a:effectLst>
        </p:spPr>
        <p:txBody>
          <a:bodyPr wrap="none" anchor="ctr"/>
          <a:lstStyle/>
          <a:p>
            <a:pPr>
              <a:defRPr/>
            </a:pPr>
            <a:endParaRPr lang="en-US">
              <a:latin typeface="Arial" charset="0"/>
            </a:endParaRPr>
          </a:p>
        </p:txBody>
      </p:sp>
      <p:sp>
        <p:nvSpPr>
          <p:cNvPr id="356356" name="Rectangle 4">
            <a:extLst>
              <a:ext uri="{FF2B5EF4-FFF2-40B4-BE49-F238E27FC236}">
                <a16:creationId xmlns:a16="http://schemas.microsoft.com/office/drawing/2014/main" id="{31AB1DF1-13AA-4F69-88DD-8865F87D54C2}"/>
              </a:ext>
            </a:extLst>
          </p:cNvPr>
          <p:cNvSpPr>
            <a:spLocks noChangeArrowheads="1"/>
          </p:cNvSpPr>
          <p:nvPr/>
        </p:nvSpPr>
        <p:spPr bwMode="auto">
          <a:xfrm>
            <a:off x="1981200" y="2133600"/>
            <a:ext cx="8210550" cy="1562100"/>
          </a:xfrm>
          <a:prstGeom prst="rect">
            <a:avLst/>
          </a:prstGeom>
          <a:solidFill>
            <a:srgbClr val="1C3163"/>
          </a:solidFill>
          <a:ln w="12700">
            <a:solidFill>
              <a:srgbClr val="000000"/>
            </a:solidFill>
            <a:miter lim="800000"/>
            <a:headEnd/>
            <a:tailEnd/>
          </a:ln>
          <a:effectLst>
            <a:outerShdw blurRad="63500" dist="53882" dir="2700000" algn="ctr" rotWithShape="0">
              <a:srgbClr val="000000">
                <a:alpha val="74997"/>
              </a:srgbClr>
            </a:outerShdw>
          </a:effectLst>
        </p:spPr>
        <p:txBody>
          <a:bodyPr lIns="90488" tIns="44450" rIns="90488" bIns="44450">
            <a:spAutoFit/>
          </a:bodyPr>
          <a:lstStyle/>
          <a:p>
            <a:pPr algn="ctr" eaLnBrk="1" hangingPunct="1">
              <a:defRPr/>
            </a:pPr>
            <a:r>
              <a:rPr lang="en-CA" sz="2400" b="1" dirty="0">
                <a:solidFill>
                  <a:schemeClr val="bg1"/>
                </a:solidFill>
                <a:latin typeface="Arial" panose="020B0604020202020204" pitchFamily="34" charset="0"/>
                <a:cs typeface="Arial" panose="020B0604020202020204" pitchFamily="34" charset="0"/>
              </a:rPr>
              <a:t>If the digital watch line is dropped, the net book value of the equipment would be written off. The depreciation that would have been taken will flow through the income statement as a loss instead. </a:t>
            </a:r>
          </a:p>
        </p:txBody>
      </p:sp>
      <p:pic>
        <p:nvPicPr>
          <p:cNvPr id="7" name="Picture 4" descr="Military Watches Waterproof Outdoor ...">
            <a:extLst>
              <a:ext uri="{FF2B5EF4-FFF2-40B4-BE49-F238E27FC236}">
                <a16:creationId xmlns:a16="http://schemas.microsoft.com/office/drawing/2014/main" id="{BD4516D5-4E5F-3C56-F656-87EE0AEC03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20400" y="3045532"/>
            <a:ext cx="1026696" cy="1463588"/>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7">
            <a:extLst>
              <a:ext uri="{FF2B5EF4-FFF2-40B4-BE49-F238E27FC236}">
                <a16:creationId xmlns:a16="http://schemas.microsoft.com/office/drawing/2014/main" id="{D356FA26-F44E-20D4-3A94-5D4AA1B25637}"/>
              </a:ext>
            </a:extLst>
          </p:cNvPr>
          <p:cNvSpPr>
            <a:spLocks noGrp="1"/>
          </p:cNvSpPr>
          <p:nvPr>
            <p:ph type="sldNum" sz="quarter" idx="12"/>
          </p:nvPr>
        </p:nvSpPr>
        <p:spPr/>
        <p:txBody>
          <a:bodyPr/>
          <a:lstStyle/>
          <a:p>
            <a:fld id="{9B7CDB38-6350-4CC9-AB0E-B9078CE1CE4B}" type="slidenum">
              <a:rPr lang="en-US" smtClean="0"/>
              <a:pPr/>
              <a:t>32</a:t>
            </a:fld>
            <a:endParaRPr lang="en-US"/>
          </a:p>
        </p:txBody>
      </p:sp>
      <p:sp>
        <p:nvSpPr>
          <p:cNvPr id="9" name="Subtitle 2">
            <a:extLst>
              <a:ext uri="{FF2B5EF4-FFF2-40B4-BE49-F238E27FC236}">
                <a16:creationId xmlns:a16="http://schemas.microsoft.com/office/drawing/2014/main" id="{FDF215FA-1AE0-7D94-2B55-340EFC7B3C74}"/>
              </a:ext>
            </a:extLst>
          </p:cNvPr>
          <p:cNvSpPr>
            <a:spLocks noGrp="1"/>
          </p:cNvSpPr>
          <p:nvPr>
            <p:ph type="subTitle" idx="1"/>
          </p:nvPr>
        </p:nvSpPr>
        <p:spPr>
          <a:xfrm>
            <a:off x="311283" y="148967"/>
            <a:ext cx="9601067" cy="506016"/>
          </a:xfrm>
        </p:spPr>
        <p:txBody>
          <a:bodyPr/>
          <a:lstStyle/>
          <a:p>
            <a:r>
              <a:rPr lang="en-CA" dirty="0"/>
              <a:t> Application Example - Adding / Dropping Segments</a:t>
            </a:r>
          </a:p>
          <a:p>
            <a:endParaRPr lang="en-CA" dirty="0"/>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753" name="Object 2">
            <a:extLst>
              <a:ext uri="{FF2B5EF4-FFF2-40B4-BE49-F238E27FC236}">
                <a16:creationId xmlns:a16="http://schemas.microsoft.com/office/drawing/2014/main" id="{BBA9BEFA-4752-47B5-8853-CE64A5577287}"/>
              </a:ext>
            </a:extLst>
          </p:cNvPr>
          <p:cNvGraphicFramePr>
            <a:graphicFrameLocks/>
          </p:cNvGraphicFramePr>
          <p:nvPr>
            <p:extLst>
              <p:ext uri="{D42A27DB-BD31-4B8C-83A1-F6EECF244321}">
                <p14:modId xmlns:p14="http://schemas.microsoft.com/office/powerpoint/2010/main" val="2984334163"/>
              </p:ext>
            </p:extLst>
          </p:nvPr>
        </p:nvGraphicFramePr>
        <p:xfrm>
          <a:off x="2063552" y="408573"/>
          <a:ext cx="7662862" cy="5927725"/>
        </p:xfrm>
        <a:graphic>
          <a:graphicData uri="http://schemas.openxmlformats.org/presentationml/2006/ole">
            <mc:AlternateContent xmlns:mc="http://schemas.openxmlformats.org/markup-compatibility/2006">
              <mc:Choice xmlns:v="urn:schemas-microsoft-com:vml" Requires="v">
                <p:oleObj name="Worksheet" r:id="rId3" imgW="5416585" imgH="3549733" progId="Excel.Sheet.8">
                  <p:embed/>
                </p:oleObj>
              </mc:Choice>
              <mc:Fallback>
                <p:oleObj name="Worksheet" r:id="rId3" imgW="5416585" imgH="3549733" progId="Excel.Sheet.8">
                  <p:embed/>
                  <p:pic>
                    <p:nvPicPr>
                      <p:cNvPr id="74753" name="Object 2">
                        <a:extLst>
                          <a:ext uri="{FF2B5EF4-FFF2-40B4-BE49-F238E27FC236}">
                            <a16:creationId xmlns:a16="http://schemas.microsoft.com/office/drawing/2014/main" id="{BBA9BEFA-4752-47B5-8853-CE64A5577287}"/>
                          </a:ext>
                        </a:extLst>
                      </p:cNvPr>
                      <p:cNvPicPr>
                        <a:picLocks noChangeArrowheads="1"/>
                      </p:cNvPicPr>
                      <p:nvPr/>
                    </p:nvPicPr>
                    <p:blipFill>
                      <a:blip r:embed="rId4"/>
                      <a:srcRect/>
                      <a:stretch>
                        <a:fillRect/>
                      </a:stretch>
                    </p:blipFill>
                    <p:spPr bwMode="auto">
                      <a:xfrm>
                        <a:off x="2063552" y="408573"/>
                        <a:ext cx="7662862" cy="5927725"/>
                      </a:xfrm>
                      <a:prstGeom prst="rect">
                        <a:avLst/>
                      </a:prstGeom>
                      <a:noFill/>
                      <a:ln>
                        <a:noFill/>
                      </a:ln>
                      <a:effectLst/>
                    </p:spPr>
                  </p:pic>
                </p:oleObj>
              </mc:Fallback>
            </mc:AlternateContent>
          </a:graphicData>
        </a:graphic>
      </p:graphicFrame>
      <p:sp>
        <p:nvSpPr>
          <p:cNvPr id="7" name="Subtitle 2">
            <a:extLst>
              <a:ext uri="{FF2B5EF4-FFF2-40B4-BE49-F238E27FC236}">
                <a16:creationId xmlns:a16="http://schemas.microsoft.com/office/drawing/2014/main" id="{4DC075CC-3926-EC33-8268-A7D70497C72D}"/>
              </a:ext>
            </a:extLst>
          </p:cNvPr>
          <p:cNvSpPr>
            <a:spLocks noGrp="1"/>
          </p:cNvSpPr>
          <p:nvPr>
            <p:ph type="subTitle" idx="1"/>
          </p:nvPr>
        </p:nvSpPr>
        <p:spPr>
          <a:xfrm>
            <a:off x="311283" y="148967"/>
            <a:ext cx="9601067" cy="506016"/>
          </a:xfrm>
        </p:spPr>
        <p:txBody>
          <a:bodyPr/>
          <a:lstStyle/>
          <a:p>
            <a:r>
              <a:rPr lang="en-CA" dirty="0"/>
              <a:t> Application Example - Adding / Dropping Segments</a:t>
            </a:r>
          </a:p>
          <a:p>
            <a:endParaRPr lang="en-CA" dirty="0"/>
          </a:p>
        </p:txBody>
      </p:sp>
      <p:pic>
        <p:nvPicPr>
          <p:cNvPr id="8" name="Picture 4" descr="Military Watches Waterproof Outdoor ...">
            <a:extLst>
              <a:ext uri="{FF2B5EF4-FFF2-40B4-BE49-F238E27FC236}">
                <a16:creationId xmlns:a16="http://schemas.microsoft.com/office/drawing/2014/main" id="{FA1A9C4D-9975-D255-E262-1A72853F03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16480" y="1340768"/>
            <a:ext cx="1173450" cy="1672791"/>
          </a:xfrm>
          <a:prstGeom prst="rect">
            <a:avLst/>
          </a:prstGeom>
          <a:noFill/>
          <a:extLst>
            <a:ext uri="{909E8E84-426E-40DD-AFC4-6F175D3DCCD1}">
              <a14:hiddenFill xmlns:a14="http://schemas.microsoft.com/office/drawing/2010/main">
                <a:solidFill>
                  <a:srgbClr val="FFFFFF"/>
                </a:solidFill>
              </a14:hiddenFill>
            </a:ext>
          </a:extLst>
        </p:spPr>
      </p:pic>
      <p:sp>
        <p:nvSpPr>
          <p:cNvPr id="9" name="Slide Number Placeholder 8">
            <a:extLst>
              <a:ext uri="{FF2B5EF4-FFF2-40B4-BE49-F238E27FC236}">
                <a16:creationId xmlns:a16="http://schemas.microsoft.com/office/drawing/2014/main" id="{4B4FDF3A-682A-5B66-93B4-00BD6470107E}"/>
              </a:ext>
            </a:extLst>
          </p:cNvPr>
          <p:cNvSpPr>
            <a:spLocks noGrp="1"/>
          </p:cNvSpPr>
          <p:nvPr>
            <p:ph type="sldNum" sz="quarter" idx="12"/>
          </p:nvPr>
        </p:nvSpPr>
        <p:spPr/>
        <p:txBody>
          <a:bodyPr/>
          <a:lstStyle/>
          <a:p>
            <a:fld id="{9B7CDB38-6350-4CC9-AB0E-B9078CE1CE4B}" type="slidenum">
              <a:rPr lang="en-US" smtClean="0"/>
              <a:pPr/>
              <a:t>33</a:t>
            </a:fld>
            <a:endParaRPr lang="en-US"/>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589" name="Rectangle 141">
            <a:extLst>
              <a:ext uri="{FF2B5EF4-FFF2-40B4-BE49-F238E27FC236}">
                <a16:creationId xmlns:a16="http://schemas.microsoft.com/office/drawing/2014/main" id="{8F32EE95-2048-49EC-A7ED-AD89EC1DA531}"/>
              </a:ext>
            </a:extLst>
          </p:cNvPr>
          <p:cNvSpPr>
            <a:spLocks noChangeArrowheads="1"/>
          </p:cNvSpPr>
          <p:nvPr/>
        </p:nvSpPr>
        <p:spPr bwMode="auto">
          <a:xfrm>
            <a:off x="479376" y="692696"/>
            <a:ext cx="10729192" cy="5752857"/>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wrap="square" lIns="90488" tIns="44450" rIns="90488" bIns="4445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buClr>
                <a:srgbClr val="203360"/>
              </a:buClr>
              <a:defRPr/>
            </a:pPr>
            <a:r>
              <a:rPr lang="en-CA" altLang="en-US" sz="2800" dirty="0">
                <a:latin typeface="Arial" panose="020B0604020202020204" pitchFamily="34" charset="0"/>
                <a:cs typeface="Arial" panose="020B0604020202020204" pitchFamily="34" charset="0"/>
              </a:rPr>
              <a:t>Beware of Allocated Fixed Costs:</a:t>
            </a:r>
          </a:p>
          <a:p>
            <a:pPr>
              <a:buClr>
                <a:srgbClr val="203360"/>
              </a:buClr>
              <a:defRPr/>
            </a:pPr>
            <a:endParaRPr lang="en-CA" altLang="en-US" sz="2800" dirty="0">
              <a:latin typeface="Arial" panose="020B0604020202020204" pitchFamily="34" charset="0"/>
              <a:cs typeface="Arial" panose="020B0604020202020204" pitchFamily="34" charset="0"/>
            </a:endParaRPr>
          </a:p>
          <a:p>
            <a:pPr marL="571500" indent="-571500">
              <a:buClr>
                <a:srgbClr val="203360"/>
              </a:buClr>
              <a:buFont typeface="Arial" panose="020B0604020202020204" pitchFamily="34" charset="0"/>
              <a:buChar char="•"/>
              <a:defRPr/>
            </a:pPr>
            <a:r>
              <a:rPr lang="en-CA" altLang="en-US" sz="2800" dirty="0">
                <a:latin typeface="Arial" panose="020B0604020202020204" pitchFamily="34" charset="0"/>
                <a:cs typeface="Arial" panose="020B0604020202020204" pitchFamily="34" charset="0"/>
              </a:rPr>
              <a:t>Why should the digital watch segment be kept when it’s showing a $100,000 loss?</a:t>
            </a:r>
          </a:p>
          <a:p>
            <a:pPr marL="571500" indent="-571500">
              <a:buClr>
                <a:srgbClr val="203360"/>
              </a:buClr>
              <a:buFont typeface="Arial" panose="020B0604020202020204" pitchFamily="34" charset="0"/>
              <a:buChar char="•"/>
              <a:defRPr/>
            </a:pPr>
            <a:endParaRPr lang="en-CA" altLang="en-US" sz="800" dirty="0">
              <a:latin typeface="Arial" panose="020B0604020202020204" pitchFamily="34" charset="0"/>
              <a:cs typeface="Arial" panose="020B0604020202020204" pitchFamily="34" charset="0"/>
            </a:endParaRPr>
          </a:p>
          <a:p>
            <a:pPr marL="571500" indent="-571500">
              <a:buClr>
                <a:srgbClr val="203360"/>
              </a:buClr>
              <a:buFont typeface="Arial" panose="020B0604020202020204" pitchFamily="34" charset="0"/>
              <a:buChar char="•"/>
              <a:defRPr/>
            </a:pPr>
            <a:r>
              <a:rPr lang="en-CA" altLang="en-US" sz="2800" dirty="0">
                <a:latin typeface="Arial" panose="020B0604020202020204" pitchFamily="34" charset="0"/>
                <a:cs typeface="Arial" panose="020B0604020202020204" pitchFamily="34" charset="0"/>
              </a:rPr>
              <a:t>The answer lies in the way common fixed costs are allocated to products.</a:t>
            </a:r>
          </a:p>
          <a:p>
            <a:pPr marL="571500" indent="-571500">
              <a:buClr>
                <a:srgbClr val="203360"/>
              </a:buClr>
              <a:buFont typeface="Arial" panose="020B0604020202020204" pitchFamily="34" charset="0"/>
              <a:buChar char="•"/>
              <a:defRPr/>
            </a:pPr>
            <a:endParaRPr lang="en-CA" altLang="en-US" sz="800" dirty="0">
              <a:latin typeface="Arial" panose="020B0604020202020204" pitchFamily="34" charset="0"/>
              <a:cs typeface="Arial" panose="020B0604020202020204" pitchFamily="34" charset="0"/>
            </a:endParaRPr>
          </a:p>
          <a:p>
            <a:pPr marL="571500" indent="-571500">
              <a:buClr>
                <a:srgbClr val="203360"/>
              </a:buClr>
              <a:buFont typeface="Arial" panose="020B0604020202020204" pitchFamily="34" charset="0"/>
              <a:buChar char="•"/>
              <a:defRPr/>
            </a:pPr>
            <a:r>
              <a:rPr lang="en-CA" altLang="en-US" sz="2800" dirty="0">
                <a:latin typeface="Arial" panose="020B0604020202020204" pitchFamily="34" charset="0"/>
                <a:cs typeface="Arial" panose="020B0604020202020204" pitchFamily="34" charset="0"/>
              </a:rPr>
              <a:t>Allocations can make a segment look less profitable than it really is. </a:t>
            </a:r>
          </a:p>
          <a:p>
            <a:pPr marL="571500" indent="-571500">
              <a:buClr>
                <a:srgbClr val="203360"/>
              </a:buClr>
              <a:buFont typeface="Arial" panose="020B0604020202020204" pitchFamily="34" charset="0"/>
              <a:buChar char="•"/>
              <a:defRPr/>
            </a:pPr>
            <a:endParaRPr lang="en-CA" altLang="en-US" sz="800" dirty="0">
              <a:latin typeface="Arial" panose="020B0604020202020204" pitchFamily="34" charset="0"/>
              <a:cs typeface="Arial" panose="020B0604020202020204" pitchFamily="34" charset="0"/>
            </a:endParaRPr>
          </a:p>
          <a:p>
            <a:pPr marL="571500" indent="-571500">
              <a:buClr>
                <a:srgbClr val="203360"/>
              </a:buClr>
              <a:buFont typeface="Arial" panose="020B0604020202020204" pitchFamily="34" charset="0"/>
              <a:buChar char="•"/>
              <a:defRPr/>
            </a:pPr>
            <a:r>
              <a:rPr lang="en-CA" altLang="en-US" sz="2800" dirty="0">
                <a:latin typeface="Arial" panose="020B0604020202020204" pitchFamily="34" charset="0"/>
                <a:cs typeface="Arial" panose="020B0604020202020204" pitchFamily="34" charset="0"/>
              </a:rPr>
              <a:t>If the segment is dropped, those common fixed costs will need to be transferred to other segments.  </a:t>
            </a:r>
          </a:p>
          <a:p>
            <a:pPr eaLnBrk="1" hangingPunct="1">
              <a:buClr>
                <a:srgbClr val="203360"/>
              </a:buClr>
              <a:defRPr/>
            </a:pPr>
            <a:endParaRPr lang="en-CA" altLang="en-US" sz="800" dirty="0">
              <a:latin typeface="Arial" panose="020B0604020202020204" pitchFamily="34" charset="0"/>
              <a:cs typeface="Arial" panose="020B0604020202020204" pitchFamily="34" charset="0"/>
            </a:endParaRPr>
          </a:p>
          <a:p>
            <a:pPr marL="571500" indent="-571500">
              <a:buClr>
                <a:srgbClr val="203360"/>
              </a:buClr>
              <a:buFont typeface="Arial" panose="020B0604020202020204" pitchFamily="34" charset="0"/>
              <a:buChar char="•"/>
              <a:defRPr/>
            </a:pPr>
            <a:r>
              <a:rPr lang="en-CA" altLang="en-US" sz="2800" dirty="0">
                <a:latin typeface="Arial" panose="020B0604020202020204" pitchFamily="34" charset="0"/>
                <a:cs typeface="Arial" panose="020B0604020202020204" pitchFamily="34" charset="0"/>
              </a:rPr>
              <a:t>The company loses all the contribution margin but does not save all the costs. </a:t>
            </a:r>
            <a:endParaRPr lang="en-CA" altLang="en-US" sz="3000" b="1" dirty="0">
              <a:latin typeface="Arial" panose="020B0604020202020204" pitchFamily="34" charset="0"/>
              <a:cs typeface="Arial" panose="020B0604020202020204" pitchFamily="34" charset="0"/>
            </a:endParaRPr>
          </a:p>
        </p:txBody>
      </p:sp>
      <p:sp>
        <p:nvSpPr>
          <p:cNvPr id="7" name="Subtitle 2">
            <a:extLst>
              <a:ext uri="{FF2B5EF4-FFF2-40B4-BE49-F238E27FC236}">
                <a16:creationId xmlns:a16="http://schemas.microsoft.com/office/drawing/2014/main" id="{A249C034-7942-42E8-E05D-F4C93F0B1BDF}"/>
              </a:ext>
            </a:extLst>
          </p:cNvPr>
          <p:cNvSpPr>
            <a:spLocks noGrp="1"/>
          </p:cNvSpPr>
          <p:nvPr>
            <p:ph type="subTitle" idx="1"/>
          </p:nvPr>
        </p:nvSpPr>
        <p:spPr>
          <a:xfrm>
            <a:off x="311283" y="148967"/>
            <a:ext cx="9601067" cy="506016"/>
          </a:xfrm>
        </p:spPr>
        <p:txBody>
          <a:bodyPr/>
          <a:lstStyle/>
          <a:p>
            <a:r>
              <a:rPr lang="en-CA" dirty="0"/>
              <a:t> Application Example - Adding / Dropping Segments</a:t>
            </a:r>
          </a:p>
          <a:p>
            <a:endParaRPr lang="en-CA" dirty="0"/>
          </a:p>
        </p:txBody>
      </p:sp>
      <p:sp>
        <p:nvSpPr>
          <p:cNvPr id="8" name="Slide Number Placeholder 7">
            <a:extLst>
              <a:ext uri="{FF2B5EF4-FFF2-40B4-BE49-F238E27FC236}">
                <a16:creationId xmlns:a16="http://schemas.microsoft.com/office/drawing/2014/main" id="{3950C934-752C-0EE1-61BB-29600C90B920}"/>
              </a:ext>
            </a:extLst>
          </p:cNvPr>
          <p:cNvSpPr>
            <a:spLocks noGrp="1"/>
          </p:cNvSpPr>
          <p:nvPr>
            <p:ph type="sldNum" sz="quarter" idx="12"/>
          </p:nvPr>
        </p:nvSpPr>
        <p:spPr/>
        <p:txBody>
          <a:bodyPr/>
          <a:lstStyle/>
          <a:p>
            <a:fld id="{9B7CDB38-6350-4CC9-AB0E-B9078CE1CE4B}" type="slidenum">
              <a:rPr lang="en-US" smtClean="0"/>
              <a:pPr/>
              <a:t>34</a:t>
            </a:fld>
            <a:endParaRPr lang="en-US"/>
          </a:p>
        </p:txBody>
      </p:sp>
    </p:spTree>
  </p:cSld>
  <p:clrMapOvr>
    <a:masterClrMapping/>
  </p:clrMapOvr>
  <p:transition>
    <p:zoom dir="in"/>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EB26F7B-AC8B-2B12-A43A-741D6579084C}"/>
              </a:ext>
            </a:extLst>
          </p:cNvPr>
          <p:cNvSpPr>
            <a:spLocks noGrp="1"/>
          </p:cNvSpPr>
          <p:nvPr>
            <p:ph type="ctrTitle"/>
          </p:nvPr>
        </p:nvSpPr>
        <p:spPr/>
        <p:txBody>
          <a:bodyPr/>
          <a:lstStyle/>
          <a:p>
            <a:r>
              <a:rPr lang="en-CA" dirty="0"/>
              <a:t>Make or Buy</a:t>
            </a:r>
          </a:p>
        </p:txBody>
      </p:sp>
      <p:sp>
        <p:nvSpPr>
          <p:cNvPr id="2" name="Slide Number Placeholder 1">
            <a:extLst>
              <a:ext uri="{FF2B5EF4-FFF2-40B4-BE49-F238E27FC236}">
                <a16:creationId xmlns:a16="http://schemas.microsoft.com/office/drawing/2014/main" id="{116E6D32-58AB-CED4-A0E9-44EA390E5606}"/>
              </a:ext>
            </a:extLst>
          </p:cNvPr>
          <p:cNvSpPr>
            <a:spLocks noGrp="1"/>
          </p:cNvSpPr>
          <p:nvPr>
            <p:ph type="sldNum" sz="quarter" idx="4294967295"/>
          </p:nvPr>
        </p:nvSpPr>
        <p:spPr>
          <a:xfrm>
            <a:off x="0" y="6524625"/>
            <a:ext cx="479425" cy="217488"/>
          </a:xfrm>
        </p:spPr>
        <p:txBody>
          <a:bodyPr/>
          <a:lstStyle/>
          <a:p>
            <a:fld id="{9B7CDB38-6350-4CC9-AB0E-B9078CE1CE4B}" type="slidenum">
              <a:rPr lang="en-US" smtClean="0"/>
              <a:pPr/>
              <a:t>35</a:t>
            </a:fld>
            <a:endParaRPr lang="en-US"/>
          </a:p>
        </p:txBody>
      </p:sp>
    </p:spTree>
    <p:extLst>
      <p:ext uri="{BB962C8B-B14F-4D97-AF65-F5344CB8AC3E}">
        <p14:creationId xmlns:p14="http://schemas.microsoft.com/office/powerpoint/2010/main" val="35282163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47" name="Object 2">
            <a:extLst>
              <a:ext uri="{FF2B5EF4-FFF2-40B4-BE49-F238E27FC236}">
                <a16:creationId xmlns:a16="http://schemas.microsoft.com/office/drawing/2014/main" id="{5743D212-0064-4C34-B918-391A7456E503}"/>
              </a:ext>
            </a:extLst>
          </p:cNvPr>
          <p:cNvGraphicFramePr>
            <a:graphicFrameLocks/>
          </p:cNvGraphicFramePr>
          <p:nvPr>
            <p:extLst>
              <p:ext uri="{D42A27DB-BD31-4B8C-83A1-F6EECF244321}">
                <p14:modId xmlns:p14="http://schemas.microsoft.com/office/powerpoint/2010/main" val="929358212"/>
              </p:ext>
            </p:extLst>
          </p:nvPr>
        </p:nvGraphicFramePr>
        <p:xfrm>
          <a:off x="2857500" y="2609850"/>
          <a:ext cx="6040438" cy="3175000"/>
        </p:xfrm>
        <a:graphic>
          <a:graphicData uri="http://schemas.openxmlformats.org/presentationml/2006/ole">
            <mc:AlternateContent xmlns:mc="http://schemas.openxmlformats.org/markup-compatibility/2006">
              <mc:Choice xmlns:v="urn:schemas-microsoft-com:vml" Requires="v">
                <p:oleObj name="Worksheet" r:id="rId3" imgW="2895782" imgH="1466740" progId="Excel.Sheet.8">
                  <p:embed/>
                </p:oleObj>
              </mc:Choice>
              <mc:Fallback>
                <p:oleObj name="Worksheet" r:id="rId3" imgW="2895782" imgH="1466740" progId="Excel.Sheet.8">
                  <p:embed/>
                  <p:pic>
                    <p:nvPicPr>
                      <p:cNvPr id="82947" name="Object 2">
                        <a:extLst>
                          <a:ext uri="{FF2B5EF4-FFF2-40B4-BE49-F238E27FC236}">
                            <a16:creationId xmlns:a16="http://schemas.microsoft.com/office/drawing/2014/main" id="{5743D212-0064-4C34-B918-391A7456E503}"/>
                          </a:ext>
                        </a:extLst>
                      </p:cNvPr>
                      <p:cNvPicPr>
                        <a:picLocks noChangeArrowheads="1"/>
                      </p:cNvPicPr>
                      <p:nvPr/>
                    </p:nvPicPr>
                    <p:blipFill>
                      <a:blip r:embed="rId4"/>
                      <a:srcRect/>
                      <a:stretch>
                        <a:fillRect/>
                      </a:stretch>
                    </p:blipFill>
                    <p:spPr bwMode="auto">
                      <a:xfrm>
                        <a:off x="2857500" y="2609850"/>
                        <a:ext cx="6040438" cy="3175000"/>
                      </a:xfrm>
                      <a:prstGeom prst="rect">
                        <a:avLst/>
                      </a:prstGeom>
                      <a:solidFill>
                        <a:schemeClr val="accent1">
                          <a:lumMod val="20000"/>
                          <a:lumOff val="80000"/>
                        </a:schemeClr>
                      </a:solidFill>
                      <a:ln w="12699">
                        <a:solidFill>
                          <a:srgbClr val="1C3163"/>
                        </a:solidFill>
                        <a:miter lim="800000"/>
                        <a:headEnd/>
                        <a:tailEnd/>
                      </a:ln>
                      <a:effectLst>
                        <a:outerShdw dist="45791" dir="3378596" algn="ctr" rotWithShape="0">
                          <a:srgbClr val="808080">
                            <a:alpha val="74997"/>
                          </a:srgbClr>
                        </a:outerShdw>
                      </a:effectLst>
                    </p:spPr>
                  </p:pic>
                </p:oleObj>
              </mc:Fallback>
            </mc:AlternateContent>
          </a:graphicData>
        </a:graphic>
      </p:graphicFrame>
      <p:sp>
        <p:nvSpPr>
          <p:cNvPr id="4" name="TextBox 3">
            <a:extLst>
              <a:ext uri="{FF2B5EF4-FFF2-40B4-BE49-F238E27FC236}">
                <a16:creationId xmlns:a16="http://schemas.microsoft.com/office/drawing/2014/main" id="{A8D1827D-AFBA-F936-8608-DBCFCEFBAB97}"/>
              </a:ext>
            </a:extLst>
          </p:cNvPr>
          <p:cNvSpPr txBox="1"/>
          <p:nvPr/>
        </p:nvSpPr>
        <p:spPr>
          <a:xfrm>
            <a:off x="865952" y="1052736"/>
            <a:ext cx="10248960" cy="1477328"/>
          </a:xfrm>
          <a:prstGeom prst="rect">
            <a:avLst/>
          </a:prstGeom>
          <a:noFill/>
        </p:spPr>
        <p:txBody>
          <a:bodyPr wrap="none" rtlCol="0">
            <a:spAutoFit/>
          </a:bodyPr>
          <a:lstStyle/>
          <a:p>
            <a:pPr>
              <a:buFont typeface="Arial" panose="020B0604020202020204" pitchFamily="34" charset="0"/>
              <a:buChar char="•"/>
            </a:pPr>
            <a:r>
              <a:rPr lang="en-CA" altLang="en-US" sz="2400" dirty="0">
                <a:latin typeface="Arial" panose="020B0604020202020204" pitchFamily="34" charset="0"/>
                <a:cs typeface="Arial" panose="020B0604020202020204" pitchFamily="34" charset="0"/>
              </a:rPr>
              <a:t>Essex Company manufactures Part 4A that is used in one of its products.</a:t>
            </a:r>
          </a:p>
          <a:p>
            <a:endParaRPr lang="en-CA" altLang="en-US" sz="2400" dirty="0">
              <a:latin typeface="Arial" panose="020B0604020202020204" pitchFamily="34" charset="0"/>
              <a:cs typeface="Arial" panose="020B0604020202020204" pitchFamily="34" charset="0"/>
            </a:endParaRPr>
          </a:p>
          <a:p>
            <a:pPr>
              <a:buFont typeface="Arial" panose="020B0604020202020204" pitchFamily="34" charset="0"/>
              <a:buChar char="•"/>
            </a:pPr>
            <a:r>
              <a:rPr lang="en-CA" altLang="en-US" sz="2400" dirty="0">
                <a:latin typeface="Arial" panose="020B0604020202020204" pitchFamily="34" charset="0"/>
                <a:cs typeface="Arial" panose="020B0604020202020204" pitchFamily="34" charset="0"/>
              </a:rPr>
              <a:t>The unit product cost to make this part is:</a:t>
            </a:r>
          </a:p>
          <a:p>
            <a:pPr>
              <a:buFont typeface="Arial" panose="020B0604020202020204" pitchFamily="34" charset="0"/>
              <a:buChar char="•"/>
            </a:pPr>
            <a:endParaRPr lang="en-CA" dirty="0"/>
          </a:p>
        </p:txBody>
      </p:sp>
      <p:sp>
        <p:nvSpPr>
          <p:cNvPr id="7" name="Subtitle 8">
            <a:extLst>
              <a:ext uri="{FF2B5EF4-FFF2-40B4-BE49-F238E27FC236}">
                <a16:creationId xmlns:a16="http://schemas.microsoft.com/office/drawing/2014/main" id="{F46D441F-801E-B1FA-7A95-B9CFD4EB7600}"/>
              </a:ext>
            </a:extLst>
          </p:cNvPr>
          <p:cNvSpPr>
            <a:spLocks noGrp="1"/>
          </p:cNvSpPr>
          <p:nvPr>
            <p:ph type="subTitle" idx="1"/>
          </p:nvPr>
        </p:nvSpPr>
        <p:spPr>
          <a:xfrm>
            <a:off x="335361" y="-27384"/>
            <a:ext cx="9601067" cy="506016"/>
          </a:xfrm>
        </p:spPr>
        <p:txBody>
          <a:bodyPr/>
          <a:lstStyle/>
          <a:p>
            <a:r>
              <a:rPr lang="en-CA" dirty="0"/>
              <a:t>Application Example: Make or Buy</a:t>
            </a:r>
          </a:p>
        </p:txBody>
      </p:sp>
      <p:sp>
        <p:nvSpPr>
          <p:cNvPr id="10" name="Slide Number Placeholder 9">
            <a:extLst>
              <a:ext uri="{FF2B5EF4-FFF2-40B4-BE49-F238E27FC236}">
                <a16:creationId xmlns:a16="http://schemas.microsoft.com/office/drawing/2014/main" id="{98CCD0B1-F70F-EDD7-DCA9-92532171EDC9}"/>
              </a:ext>
            </a:extLst>
          </p:cNvPr>
          <p:cNvSpPr>
            <a:spLocks noGrp="1"/>
          </p:cNvSpPr>
          <p:nvPr>
            <p:ph type="sldNum" sz="quarter" idx="12"/>
          </p:nvPr>
        </p:nvSpPr>
        <p:spPr/>
        <p:txBody>
          <a:bodyPr/>
          <a:lstStyle/>
          <a:p>
            <a:fld id="{9B7CDB38-6350-4CC9-AB0E-B9078CE1CE4B}" type="slidenum">
              <a:rPr lang="en-US" smtClean="0"/>
              <a:pPr/>
              <a:t>36</a:t>
            </a:fld>
            <a:endParaRPr lang="en-US"/>
          </a:p>
        </p:txBody>
      </p:sp>
    </p:spTree>
  </p:cSld>
  <p:clrMapOvr>
    <a:masterClrMapping/>
  </p:clrMapOvr>
  <p:transition>
    <p:zoom dir="in"/>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8B1921-87BA-5FFD-8EDC-5657E55C1282}"/>
              </a:ext>
            </a:extLst>
          </p:cNvPr>
          <p:cNvSpPr txBox="1"/>
          <p:nvPr/>
        </p:nvSpPr>
        <p:spPr>
          <a:xfrm>
            <a:off x="1271464" y="836712"/>
            <a:ext cx="9793088" cy="4893647"/>
          </a:xfrm>
          <a:prstGeom prst="rect">
            <a:avLst/>
          </a:prstGeom>
          <a:noFill/>
        </p:spPr>
        <p:txBody>
          <a:bodyPr wrap="square">
            <a:spAutoFit/>
          </a:bodyPr>
          <a:lstStyle/>
          <a:p>
            <a:pPr>
              <a:buFont typeface="Arial" panose="020B0604020202020204" pitchFamily="34" charset="0"/>
              <a:buChar char="•"/>
            </a:pPr>
            <a:r>
              <a:rPr lang="en-CA" altLang="en-US" sz="2400" dirty="0">
                <a:solidFill>
                  <a:srgbClr val="000000"/>
                </a:solidFill>
                <a:latin typeface="Arial" panose="020B0604020202020204" pitchFamily="34" charset="0"/>
                <a:cs typeface="Arial" panose="020B0604020202020204" pitchFamily="34" charset="0"/>
              </a:rPr>
              <a:t>The special equipment used to manufacture Part 4A has no resale value.</a:t>
            </a:r>
          </a:p>
          <a:p>
            <a:endParaRPr lang="en-CA" altLang="en-US" sz="2400" dirty="0">
              <a:solidFill>
                <a:srgbClr val="000000"/>
              </a:solidFill>
              <a:latin typeface="Arial" panose="020B0604020202020204" pitchFamily="34" charset="0"/>
              <a:cs typeface="Arial" panose="020B0604020202020204" pitchFamily="34" charset="0"/>
            </a:endParaRPr>
          </a:p>
          <a:p>
            <a:pPr>
              <a:buFont typeface="Arial" panose="020B0604020202020204" pitchFamily="34" charset="0"/>
              <a:buChar char="•"/>
            </a:pPr>
            <a:r>
              <a:rPr lang="en-CA" altLang="en-US" sz="2400" dirty="0">
                <a:solidFill>
                  <a:srgbClr val="000000"/>
                </a:solidFill>
                <a:latin typeface="Arial" panose="020B0604020202020204" pitchFamily="34" charset="0"/>
                <a:cs typeface="Arial" panose="020B0604020202020204" pitchFamily="34" charset="0"/>
              </a:rPr>
              <a:t>The total amount of general factory overhead, which is allocated on the basis of direct labour hours, would be unaffected by this decision.</a:t>
            </a:r>
          </a:p>
          <a:p>
            <a:endParaRPr lang="en-CA" altLang="en-US" sz="2400" dirty="0">
              <a:solidFill>
                <a:srgbClr val="000000"/>
              </a:solidFill>
              <a:latin typeface="Arial" panose="020B0604020202020204" pitchFamily="34" charset="0"/>
              <a:cs typeface="Arial" panose="020B0604020202020204" pitchFamily="34" charset="0"/>
            </a:endParaRPr>
          </a:p>
          <a:p>
            <a:pPr>
              <a:buFont typeface="Arial" panose="020B0604020202020204" pitchFamily="34" charset="0"/>
              <a:buChar char="•"/>
            </a:pPr>
            <a:r>
              <a:rPr lang="en-CA" altLang="en-US" sz="2400" dirty="0">
                <a:solidFill>
                  <a:srgbClr val="000000"/>
                </a:solidFill>
                <a:latin typeface="Arial" panose="020B0604020202020204" pitchFamily="34" charset="0"/>
                <a:cs typeface="Arial" panose="020B0604020202020204" pitchFamily="34" charset="0"/>
              </a:rPr>
              <a:t>The $30 unit product cost is based on 20,000 parts produced each year.</a:t>
            </a:r>
          </a:p>
          <a:p>
            <a:endParaRPr lang="en-CA" altLang="en-US" sz="2400" dirty="0">
              <a:solidFill>
                <a:srgbClr val="000000"/>
              </a:solidFill>
              <a:latin typeface="Arial" panose="020B0604020202020204" pitchFamily="34" charset="0"/>
              <a:cs typeface="Arial" panose="020B0604020202020204" pitchFamily="34" charset="0"/>
            </a:endParaRPr>
          </a:p>
          <a:p>
            <a:pPr>
              <a:buFont typeface="Arial" panose="020B0604020202020204" pitchFamily="34" charset="0"/>
              <a:buChar char="•"/>
            </a:pPr>
            <a:r>
              <a:rPr lang="en-CA" altLang="en-US" sz="2400" dirty="0">
                <a:solidFill>
                  <a:srgbClr val="000000"/>
                </a:solidFill>
                <a:latin typeface="Arial" panose="020B0604020202020204" pitchFamily="34" charset="0"/>
                <a:cs typeface="Arial" panose="020B0604020202020204" pitchFamily="34" charset="0"/>
              </a:rPr>
              <a:t>An outside supplier has offered to provide the 20,000 parts at a cost of $25 per part.</a:t>
            </a:r>
          </a:p>
          <a:p>
            <a:pPr>
              <a:buFont typeface="Wingdings 2" panose="05020102010507070707" pitchFamily="18" charset="2"/>
              <a:buNone/>
            </a:pPr>
            <a:endParaRPr lang="en-CA" altLang="en-US" sz="2400" dirty="0">
              <a:solidFill>
                <a:srgbClr val="000000"/>
              </a:solidFill>
              <a:latin typeface="Arial" panose="020B0604020202020204" pitchFamily="34" charset="0"/>
              <a:cs typeface="Arial" panose="020B0604020202020204" pitchFamily="34" charset="0"/>
            </a:endParaRPr>
          </a:p>
          <a:p>
            <a:pPr algn="ctr">
              <a:buFont typeface="Wingdings 2" panose="05020102010507070707" pitchFamily="18" charset="2"/>
              <a:buNone/>
            </a:pPr>
            <a:r>
              <a:rPr lang="en-CA" altLang="en-US" sz="2400" b="1" dirty="0">
                <a:solidFill>
                  <a:srgbClr val="1C3163"/>
                </a:solidFill>
                <a:latin typeface="Arial" panose="020B0604020202020204" pitchFamily="34" charset="0"/>
                <a:cs typeface="Arial" panose="020B0604020202020204" pitchFamily="34" charset="0"/>
              </a:rPr>
              <a:t>Should the supplier’s offer be accepted?</a:t>
            </a:r>
          </a:p>
        </p:txBody>
      </p:sp>
      <p:sp>
        <p:nvSpPr>
          <p:cNvPr id="6" name="Subtitle 8">
            <a:extLst>
              <a:ext uri="{FF2B5EF4-FFF2-40B4-BE49-F238E27FC236}">
                <a16:creationId xmlns:a16="http://schemas.microsoft.com/office/drawing/2014/main" id="{7FAA08EA-DBE6-D6BD-2A5F-3B49BBFF5CE8}"/>
              </a:ext>
            </a:extLst>
          </p:cNvPr>
          <p:cNvSpPr>
            <a:spLocks noGrp="1"/>
          </p:cNvSpPr>
          <p:nvPr>
            <p:ph type="subTitle" idx="1"/>
          </p:nvPr>
        </p:nvSpPr>
        <p:spPr>
          <a:xfrm>
            <a:off x="335361" y="-27384"/>
            <a:ext cx="9601067" cy="506016"/>
          </a:xfrm>
        </p:spPr>
        <p:txBody>
          <a:bodyPr/>
          <a:lstStyle/>
          <a:p>
            <a:r>
              <a:rPr lang="en-CA" dirty="0"/>
              <a:t>Application Example: Make or Buy</a:t>
            </a:r>
          </a:p>
        </p:txBody>
      </p:sp>
      <p:sp>
        <p:nvSpPr>
          <p:cNvPr id="7" name="Slide Number Placeholder 6">
            <a:extLst>
              <a:ext uri="{FF2B5EF4-FFF2-40B4-BE49-F238E27FC236}">
                <a16:creationId xmlns:a16="http://schemas.microsoft.com/office/drawing/2014/main" id="{6EF09C76-4D16-FC05-3BB2-3C6999A4ACC9}"/>
              </a:ext>
            </a:extLst>
          </p:cNvPr>
          <p:cNvSpPr>
            <a:spLocks noGrp="1"/>
          </p:cNvSpPr>
          <p:nvPr>
            <p:ph type="sldNum" sz="quarter" idx="12"/>
          </p:nvPr>
        </p:nvSpPr>
        <p:spPr/>
        <p:txBody>
          <a:bodyPr/>
          <a:lstStyle/>
          <a:p>
            <a:fld id="{9B7CDB38-6350-4CC9-AB0E-B9078CE1CE4B}" type="slidenum">
              <a:rPr lang="en-US" smtClean="0"/>
              <a:pPr/>
              <a:t>37</a:t>
            </a:fld>
            <a:endParaRPr lang="en-US"/>
          </a:p>
        </p:txBody>
      </p:sp>
    </p:spTree>
  </p:cSld>
  <p:clrMapOvr>
    <a:masterClrMapping/>
  </p:clrMapOvr>
  <p:transition>
    <p:checke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1" name="Object 2">
            <a:extLst>
              <a:ext uri="{FF2B5EF4-FFF2-40B4-BE49-F238E27FC236}">
                <a16:creationId xmlns:a16="http://schemas.microsoft.com/office/drawing/2014/main" id="{8D6E6918-68BC-4DDA-A342-92A27298E9DA}"/>
              </a:ext>
            </a:extLst>
          </p:cNvPr>
          <p:cNvGraphicFramePr>
            <a:graphicFrameLocks/>
          </p:cNvGraphicFramePr>
          <p:nvPr>
            <p:extLst>
              <p:ext uri="{D42A27DB-BD31-4B8C-83A1-F6EECF244321}">
                <p14:modId xmlns:p14="http://schemas.microsoft.com/office/powerpoint/2010/main" val="2541157493"/>
              </p:ext>
            </p:extLst>
          </p:nvPr>
        </p:nvGraphicFramePr>
        <p:xfrm>
          <a:off x="1871663" y="1289050"/>
          <a:ext cx="8447087" cy="3640138"/>
        </p:xfrm>
        <a:graphic>
          <a:graphicData uri="http://schemas.openxmlformats.org/presentationml/2006/ole">
            <mc:AlternateContent xmlns:mc="http://schemas.openxmlformats.org/markup-compatibility/2006">
              <mc:Choice xmlns:v="urn:schemas-microsoft-com:vml" Requires="v">
                <p:oleObj name="Worksheet" r:id="rId3" imgW="4654563" imgH="2076458" progId="Excel.Sheet.8">
                  <p:embed/>
                </p:oleObj>
              </mc:Choice>
              <mc:Fallback>
                <p:oleObj name="Worksheet" r:id="rId3" imgW="4654563" imgH="2076458" progId="Excel.Sheet.8">
                  <p:embed/>
                  <p:pic>
                    <p:nvPicPr>
                      <p:cNvPr id="87041" name="Object 2">
                        <a:extLst>
                          <a:ext uri="{FF2B5EF4-FFF2-40B4-BE49-F238E27FC236}">
                            <a16:creationId xmlns:a16="http://schemas.microsoft.com/office/drawing/2014/main" id="{8D6E6918-68BC-4DDA-A342-92A27298E9DA}"/>
                          </a:ext>
                        </a:extLst>
                      </p:cNvPr>
                      <p:cNvPicPr>
                        <a:picLocks noChangeArrowheads="1"/>
                      </p:cNvPicPr>
                      <p:nvPr/>
                    </p:nvPicPr>
                    <p:blipFill>
                      <a:blip r:embed="rId4"/>
                      <a:srcRect/>
                      <a:stretch>
                        <a:fillRect/>
                      </a:stretch>
                    </p:blipFill>
                    <p:spPr bwMode="auto">
                      <a:xfrm>
                        <a:off x="1871663" y="1289050"/>
                        <a:ext cx="8447087" cy="3640138"/>
                      </a:xfrm>
                      <a:prstGeom prst="rect">
                        <a:avLst/>
                      </a:prstGeom>
                      <a:noFill/>
                      <a:ln>
                        <a:noFill/>
                      </a:ln>
                    </p:spPr>
                  </p:pic>
                </p:oleObj>
              </mc:Fallback>
            </mc:AlternateContent>
          </a:graphicData>
        </a:graphic>
      </p:graphicFrame>
      <p:sp>
        <p:nvSpPr>
          <p:cNvPr id="48131" name="Line 4">
            <a:extLst>
              <a:ext uri="{FF2B5EF4-FFF2-40B4-BE49-F238E27FC236}">
                <a16:creationId xmlns:a16="http://schemas.microsoft.com/office/drawing/2014/main" id="{71303948-02B7-4071-9920-B2EB146B8316}"/>
              </a:ext>
            </a:extLst>
          </p:cNvPr>
          <p:cNvSpPr>
            <a:spLocks noChangeShapeType="1"/>
          </p:cNvSpPr>
          <p:nvPr/>
        </p:nvSpPr>
        <p:spPr bwMode="auto">
          <a:xfrm flipV="1">
            <a:off x="5879976" y="2780928"/>
            <a:ext cx="1440879" cy="2592288"/>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376837" name="Rectangle 5">
            <a:extLst>
              <a:ext uri="{FF2B5EF4-FFF2-40B4-BE49-F238E27FC236}">
                <a16:creationId xmlns:a16="http://schemas.microsoft.com/office/drawing/2014/main" id="{3404C762-3DB6-420F-BBE2-7FA2B8B28E54}"/>
              </a:ext>
            </a:extLst>
          </p:cNvPr>
          <p:cNvSpPr>
            <a:spLocks noChangeArrowheads="1"/>
          </p:cNvSpPr>
          <p:nvPr/>
        </p:nvSpPr>
        <p:spPr bwMode="auto">
          <a:xfrm>
            <a:off x="3215680" y="5508379"/>
            <a:ext cx="4905190" cy="459100"/>
          </a:xfrm>
          <a:prstGeom prst="rect">
            <a:avLst/>
          </a:prstGeom>
          <a:solidFill>
            <a:srgbClr val="FFFFFF"/>
          </a:solidFill>
          <a:ln w="12700">
            <a:solidFill>
              <a:srgbClr val="000000"/>
            </a:solidFill>
            <a:miter lim="800000"/>
            <a:headEnd/>
            <a:tailEnd/>
          </a:ln>
          <a:effectLst>
            <a:outerShdw blurRad="63500" dist="38099" dir="2700000" algn="ctr" rotWithShape="0">
              <a:srgbClr val="000000">
                <a:alpha val="74997"/>
              </a:srgbClr>
            </a:outerShdw>
          </a:effectLst>
        </p:spPr>
        <p:txBody>
          <a:bodyPr wrap="none" lIns="90488" tIns="44450" rIns="90488" bIns="44450">
            <a:spAutoFit/>
          </a:bodyPr>
          <a:lstStyle/>
          <a:p>
            <a:pPr eaLnBrk="1" hangingPunct="1">
              <a:defRPr/>
            </a:pPr>
            <a:r>
              <a:rPr lang="en-CA" sz="2400" dirty="0">
                <a:solidFill>
                  <a:srgbClr val="1C3163"/>
                </a:solidFill>
                <a:latin typeface="Arial" panose="020B0604020202020204" pitchFamily="34" charset="0"/>
                <a:cs typeface="Arial" panose="020B0604020202020204" pitchFamily="34" charset="0"/>
              </a:rPr>
              <a:t>20,000  ×  $9 per unit  =  $180,000</a:t>
            </a:r>
          </a:p>
        </p:txBody>
      </p:sp>
      <p:sp>
        <p:nvSpPr>
          <p:cNvPr id="4" name="Subtitle 8">
            <a:extLst>
              <a:ext uri="{FF2B5EF4-FFF2-40B4-BE49-F238E27FC236}">
                <a16:creationId xmlns:a16="http://schemas.microsoft.com/office/drawing/2014/main" id="{C1E61BE8-246D-65A3-4291-B62458FD2988}"/>
              </a:ext>
            </a:extLst>
          </p:cNvPr>
          <p:cNvSpPr>
            <a:spLocks noGrp="1"/>
          </p:cNvSpPr>
          <p:nvPr>
            <p:ph type="subTitle" idx="1"/>
          </p:nvPr>
        </p:nvSpPr>
        <p:spPr>
          <a:xfrm>
            <a:off x="334963" y="-26988"/>
            <a:ext cx="9601200" cy="506413"/>
          </a:xfrm>
        </p:spPr>
        <p:txBody>
          <a:bodyPr/>
          <a:lstStyle/>
          <a:p>
            <a:r>
              <a:rPr lang="en-CA" dirty="0"/>
              <a:t>Application Example: Make or Buy</a:t>
            </a:r>
          </a:p>
        </p:txBody>
      </p:sp>
      <p:sp>
        <p:nvSpPr>
          <p:cNvPr id="6" name="Slide Number Placeholder 5">
            <a:extLst>
              <a:ext uri="{FF2B5EF4-FFF2-40B4-BE49-F238E27FC236}">
                <a16:creationId xmlns:a16="http://schemas.microsoft.com/office/drawing/2014/main" id="{9D0CB49D-F311-E602-FD32-A971B4559A07}"/>
              </a:ext>
            </a:extLst>
          </p:cNvPr>
          <p:cNvSpPr>
            <a:spLocks noGrp="1"/>
          </p:cNvSpPr>
          <p:nvPr>
            <p:ph type="sldNum" sz="quarter" idx="12"/>
          </p:nvPr>
        </p:nvSpPr>
        <p:spPr/>
        <p:txBody>
          <a:bodyPr/>
          <a:lstStyle/>
          <a:p>
            <a:fld id="{9B7CDB38-6350-4CC9-AB0E-B9078CE1CE4B}" type="slidenum">
              <a:rPr lang="en-US" smtClean="0"/>
              <a:pPr/>
              <a:t>38</a:t>
            </a:fld>
            <a:endParaRPr lang="en-US"/>
          </a:p>
        </p:txBody>
      </p:sp>
    </p:spTree>
  </p:cSld>
  <p:clrMapOvr>
    <a:masterClrMapping/>
  </p:clrMapOvr>
  <p:transition>
    <p:wipe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89" name="Object 2">
            <a:extLst>
              <a:ext uri="{FF2B5EF4-FFF2-40B4-BE49-F238E27FC236}">
                <a16:creationId xmlns:a16="http://schemas.microsoft.com/office/drawing/2014/main" id="{45FD5274-3289-43EF-8773-4239C0B73896}"/>
              </a:ext>
            </a:extLst>
          </p:cNvPr>
          <p:cNvGraphicFramePr>
            <a:graphicFrameLocks/>
          </p:cNvGraphicFramePr>
          <p:nvPr>
            <p:extLst>
              <p:ext uri="{D42A27DB-BD31-4B8C-83A1-F6EECF244321}">
                <p14:modId xmlns:p14="http://schemas.microsoft.com/office/powerpoint/2010/main" val="679042595"/>
              </p:ext>
            </p:extLst>
          </p:nvPr>
        </p:nvGraphicFramePr>
        <p:xfrm>
          <a:off x="1770063" y="1330325"/>
          <a:ext cx="8650287" cy="4197350"/>
        </p:xfrm>
        <a:graphic>
          <a:graphicData uri="http://schemas.openxmlformats.org/presentationml/2006/ole">
            <mc:AlternateContent xmlns:mc="http://schemas.openxmlformats.org/markup-compatibility/2006">
              <mc:Choice xmlns:v="urn:schemas-microsoft-com:vml" Requires="v">
                <p:oleObj name="Worksheet" r:id="rId3" imgW="4654563" imgH="2076458" progId="Excel.Sheet.8">
                  <p:embed/>
                </p:oleObj>
              </mc:Choice>
              <mc:Fallback>
                <p:oleObj name="Worksheet" r:id="rId3" imgW="4654563" imgH="2076458" progId="Excel.Sheet.8">
                  <p:embed/>
                  <p:pic>
                    <p:nvPicPr>
                      <p:cNvPr id="89089" name="Object 2">
                        <a:extLst>
                          <a:ext uri="{FF2B5EF4-FFF2-40B4-BE49-F238E27FC236}">
                            <a16:creationId xmlns:a16="http://schemas.microsoft.com/office/drawing/2014/main" id="{45FD5274-3289-43EF-8773-4239C0B73896}"/>
                          </a:ext>
                        </a:extLst>
                      </p:cNvPr>
                      <p:cNvPicPr>
                        <a:picLocks noChangeArrowheads="1"/>
                      </p:cNvPicPr>
                      <p:nvPr/>
                    </p:nvPicPr>
                    <p:blipFill>
                      <a:blip r:embed="rId4"/>
                      <a:srcRect/>
                      <a:stretch>
                        <a:fillRect/>
                      </a:stretch>
                    </p:blipFill>
                    <p:spPr bwMode="auto">
                      <a:xfrm>
                        <a:off x="1770063" y="1330325"/>
                        <a:ext cx="8650287" cy="4197350"/>
                      </a:xfrm>
                      <a:prstGeom prst="rect">
                        <a:avLst/>
                      </a:prstGeom>
                      <a:noFill/>
                      <a:ln>
                        <a:noFill/>
                      </a:ln>
                      <a:effectLst/>
                    </p:spPr>
                  </p:pic>
                </p:oleObj>
              </mc:Fallback>
            </mc:AlternateContent>
          </a:graphicData>
        </a:graphic>
      </p:graphicFrame>
      <p:sp>
        <p:nvSpPr>
          <p:cNvPr id="378885" name="Rectangle 5">
            <a:extLst>
              <a:ext uri="{FF2B5EF4-FFF2-40B4-BE49-F238E27FC236}">
                <a16:creationId xmlns:a16="http://schemas.microsoft.com/office/drawing/2014/main" id="{455E9461-2DB7-4C03-9D44-E4F9B9A22014}"/>
              </a:ext>
            </a:extLst>
          </p:cNvPr>
          <p:cNvSpPr>
            <a:spLocks noChangeArrowheads="1"/>
          </p:cNvSpPr>
          <p:nvPr/>
        </p:nvSpPr>
        <p:spPr bwMode="auto">
          <a:xfrm>
            <a:off x="3455989" y="5334000"/>
            <a:ext cx="5965825" cy="83185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488" tIns="44450" rIns="90488" bIns="44450">
            <a:spAutoFit/>
          </a:bodyPr>
          <a:lstStyle/>
          <a:p>
            <a:pPr algn="ctr" eaLnBrk="1" hangingPunct="1">
              <a:defRPr/>
            </a:pPr>
            <a:r>
              <a:rPr lang="en-CA" sz="2400" dirty="0">
                <a:latin typeface="Arial" panose="020B0604020202020204" pitchFamily="34" charset="0"/>
                <a:cs typeface="Arial" panose="020B0604020202020204" pitchFamily="34" charset="0"/>
              </a:rPr>
              <a:t>The special equipment has no resale value.  It is a sunk cost.</a:t>
            </a:r>
          </a:p>
        </p:txBody>
      </p:sp>
      <p:cxnSp>
        <p:nvCxnSpPr>
          <p:cNvPr id="3" name="Straight Arrow Connector 2">
            <a:extLst>
              <a:ext uri="{FF2B5EF4-FFF2-40B4-BE49-F238E27FC236}">
                <a16:creationId xmlns:a16="http://schemas.microsoft.com/office/drawing/2014/main" id="{7D1665A7-9D77-2298-189E-5B3EA9D5A790}"/>
              </a:ext>
            </a:extLst>
          </p:cNvPr>
          <p:cNvCxnSpPr>
            <a:cxnSpLocks/>
          </p:cNvCxnSpPr>
          <p:nvPr/>
        </p:nvCxnSpPr>
        <p:spPr>
          <a:xfrm flipH="1" flipV="1">
            <a:off x="4648200" y="4114800"/>
            <a:ext cx="1636712" cy="1219200"/>
          </a:xfrm>
          <a:prstGeom prst="straightConnector1">
            <a:avLst/>
          </a:prstGeom>
          <a:ln w="66675">
            <a:solidFill>
              <a:srgbClr val="ED037C"/>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DB7E8008-96DA-6816-5D06-F6EA69B57B33}"/>
              </a:ext>
            </a:extLst>
          </p:cNvPr>
          <p:cNvCxnSpPr>
            <a:cxnSpLocks/>
          </p:cNvCxnSpPr>
          <p:nvPr/>
        </p:nvCxnSpPr>
        <p:spPr>
          <a:xfrm flipV="1">
            <a:off x="6284912" y="4191000"/>
            <a:ext cx="1348184" cy="1143000"/>
          </a:xfrm>
          <a:prstGeom prst="straightConnector1">
            <a:avLst/>
          </a:prstGeom>
          <a:ln w="66675">
            <a:solidFill>
              <a:srgbClr val="ED037C"/>
            </a:solidFill>
            <a:tailEnd type="triangle"/>
          </a:ln>
        </p:spPr>
        <p:style>
          <a:lnRef idx="1">
            <a:schemeClr val="accent1"/>
          </a:lnRef>
          <a:fillRef idx="0">
            <a:schemeClr val="accent1"/>
          </a:fillRef>
          <a:effectRef idx="0">
            <a:schemeClr val="accent1"/>
          </a:effectRef>
          <a:fontRef idx="minor">
            <a:schemeClr val="tx1"/>
          </a:fontRef>
        </p:style>
      </p:cxnSp>
      <p:sp>
        <p:nvSpPr>
          <p:cNvPr id="5" name="Subtitle 8">
            <a:extLst>
              <a:ext uri="{FF2B5EF4-FFF2-40B4-BE49-F238E27FC236}">
                <a16:creationId xmlns:a16="http://schemas.microsoft.com/office/drawing/2014/main" id="{6200CEC9-3CBA-7DF5-5BF2-426298AEC547}"/>
              </a:ext>
            </a:extLst>
          </p:cNvPr>
          <p:cNvSpPr>
            <a:spLocks noGrp="1"/>
          </p:cNvSpPr>
          <p:nvPr>
            <p:ph type="subTitle" idx="1"/>
          </p:nvPr>
        </p:nvSpPr>
        <p:spPr>
          <a:xfrm>
            <a:off x="334963" y="-26988"/>
            <a:ext cx="9601200" cy="506413"/>
          </a:xfrm>
        </p:spPr>
        <p:txBody>
          <a:bodyPr/>
          <a:lstStyle/>
          <a:p>
            <a:r>
              <a:rPr lang="en-CA" dirty="0"/>
              <a:t>Application Example: Make or Buy</a:t>
            </a:r>
          </a:p>
        </p:txBody>
      </p:sp>
      <p:sp>
        <p:nvSpPr>
          <p:cNvPr id="8" name="Slide Number Placeholder 7">
            <a:extLst>
              <a:ext uri="{FF2B5EF4-FFF2-40B4-BE49-F238E27FC236}">
                <a16:creationId xmlns:a16="http://schemas.microsoft.com/office/drawing/2014/main" id="{3BB876FB-22A1-874E-EE63-8C489099DF69}"/>
              </a:ext>
            </a:extLst>
          </p:cNvPr>
          <p:cNvSpPr>
            <a:spLocks noGrp="1"/>
          </p:cNvSpPr>
          <p:nvPr>
            <p:ph type="sldNum" sz="quarter" idx="12"/>
          </p:nvPr>
        </p:nvSpPr>
        <p:spPr/>
        <p:txBody>
          <a:bodyPr/>
          <a:lstStyle/>
          <a:p>
            <a:fld id="{9B7CDB38-6350-4CC9-AB0E-B9078CE1CE4B}" type="slidenum">
              <a:rPr lang="en-US" smtClean="0"/>
              <a:pPr/>
              <a:t>39</a:t>
            </a:fld>
            <a:endParaRPr lang="en-US"/>
          </a:p>
        </p:txBody>
      </p:sp>
    </p:spTree>
  </p:cSld>
  <p:clrMapOvr>
    <a:masterClrMapping/>
  </p:clrMapOvr>
  <p:transition>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1137" name="Object 2">
            <a:extLst>
              <a:ext uri="{FF2B5EF4-FFF2-40B4-BE49-F238E27FC236}">
                <a16:creationId xmlns:a16="http://schemas.microsoft.com/office/drawing/2014/main" id="{A3BDBEED-3A25-4119-89D5-31D3AE7EC94A}"/>
              </a:ext>
            </a:extLst>
          </p:cNvPr>
          <p:cNvGraphicFramePr>
            <a:graphicFrameLocks/>
          </p:cNvGraphicFramePr>
          <p:nvPr>
            <p:extLst>
              <p:ext uri="{D42A27DB-BD31-4B8C-83A1-F6EECF244321}">
                <p14:modId xmlns:p14="http://schemas.microsoft.com/office/powerpoint/2010/main" val="2226807866"/>
              </p:ext>
            </p:extLst>
          </p:nvPr>
        </p:nvGraphicFramePr>
        <p:xfrm>
          <a:off x="1928813" y="960438"/>
          <a:ext cx="8412162" cy="4767262"/>
        </p:xfrm>
        <a:graphic>
          <a:graphicData uri="http://schemas.openxmlformats.org/presentationml/2006/ole">
            <mc:AlternateContent xmlns:mc="http://schemas.openxmlformats.org/markup-compatibility/2006">
              <mc:Choice xmlns:v="urn:schemas-microsoft-com:vml" Requires="v">
                <p:oleObj name="Worksheet" r:id="rId3" imgW="4648029" imgH="2076458" progId="Excel.Sheet.8">
                  <p:embed/>
                </p:oleObj>
              </mc:Choice>
              <mc:Fallback>
                <p:oleObj name="Worksheet" r:id="rId3" imgW="4648029" imgH="2076458" progId="Excel.Sheet.8">
                  <p:embed/>
                  <p:pic>
                    <p:nvPicPr>
                      <p:cNvPr id="91137" name="Object 2">
                        <a:extLst>
                          <a:ext uri="{FF2B5EF4-FFF2-40B4-BE49-F238E27FC236}">
                            <a16:creationId xmlns:a16="http://schemas.microsoft.com/office/drawing/2014/main" id="{A3BDBEED-3A25-4119-89D5-31D3AE7EC94A}"/>
                          </a:ext>
                        </a:extLst>
                      </p:cNvPr>
                      <p:cNvPicPr>
                        <a:picLocks noChangeArrowheads="1"/>
                      </p:cNvPicPr>
                      <p:nvPr/>
                    </p:nvPicPr>
                    <p:blipFill>
                      <a:blip r:embed="rId4"/>
                      <a:srcRect/>
                      <a:stretch>
                        <a:fillRect/>
                      </a:stretch>
                    </p:blipFill>
                    <p:spPr bwMode="auto">
                      <a:xfrm>
                        <a:off x="1928813" y="960438"/>
                        <a:ext cx="8412162" cy="4767262"/>
                      </a:xfrm>
                      <a:prstGeom prst="rect">
                        <a:avLst/>
                      </a:prstGeom>
                      <a:noFill/>
                      <a:ln>
                        <a:noFill/>
                      </a:ln>
                    </p:spPr>
                  </p:pic>
                </p:oleObj>
              </mc:Fallback>
            </mc:AlternateContent>
          </a:graphicData>
        </a:graphic>
      </p:graphicFrame>
      <p:sp>
        <p:nvSpPr>
          <p:cNvPr id="380933" name="Rectangle 5">
            <a:extLst>
              <a:ext uri="{FF2B5EF4-FFF2-40B4-BE49-F238E27FC236}">
                <a16:creationId xmlns:a16="http://schemas.microsoft.com/office/drawing/2014/main" id="{32F1CC53-5B8E-4313-85DB-DF936D07F15C}"/>
              </a:ext>
            </a:extLst>
          </p:cNvPr>
          <p:cNvSpPr>
            <a:spLocks noChangeArrowheads="1"/>
          </p:cNvSpPr>
          <p:nvPr/>
        </p:nvSpPr>
        <p:spPr bwMode="auto">
          <a:xfrm>
            <a:off x="2249906" y="5375274"/>
            <a:ext cx="7884695" cy="1197764"/>
          </a:xfrm>
          <a:prstGeom prst="rect">
            <a:avLst/>
          </a:prstGeom>
          <a:solidFill>
            <a:schemeClr val="bg1"/>
          </a:solidFill>
          <a:ln w="38100">
            <a:solidFill>
              <a:srgbClr val="0070C0"/>
            </a:solidFill>
            <a:miter lim="800000"/>
            <a:headEnd/>
            <a:tailEnd/>
          </a:ln>
          <a:effectLst/>
        </p:spPr>
        <p:txBody>
          <a:bodyPr wrap="square" lIns="90488" tIns="44450" rIns="90488" bIns="44450">
            <a:spAutoFit/>
          </a:bodyPr>
          <a:lstStyle/>
          <a:p>
            <a:pPr algn="ctr" eaLnBrk="1" hangingPunct="1">
              <a:defRPr/>
            </a:pPr>
            <a:r>
              <a:rPr lang="en-CA" sz="2400" dirty="0">
                <a:latin typeface="Arial" panose="020B0604020202020204" pitchFamily="34" charset="0"/>
                <a:cs typeface="Arial" panose="020B0604020202020204" pitchFamily="34" charset="0"/>
              </a:rPr>
              <a:t>General factory overhead is not avoidable, so it is irrelevant.  If the product is purchased, general factory overhead will be reallocated to other products.</a:t>
            </a:r>
          </a:p>
        </p:txBody>
      </p:sp>
      <p:cxnSp>
        <p:nvCxnSpPr>
          <p:cNvPr id="2" name="Straight Arrow Connector 1">
            <a:extLst>
              <a:ext uri="{FF2B5EF4-FFF2-40B4-BE49-F238E27FC236}">
                <a16:creationId xmlns:a16="http://schemas.microsoft.com/office/drawing/2014/main" id="{B33C6144-B937-F31B-7C6E-CD39A9DBFE5D}"/>
              </a:ext>
            </a:extLst>
          </p:cNvPr>
          <p:cNvCxnSpPr>
            <a:cxnSpLocks/>
          </p:cNvCxnSpPr>
          <p:nvPr/>
        </p:nvCxnSpPr>
        <p:spPr>
          <a:xfrm flipH="1" flipV="1">
            <a:off x="5029200" y="4800600"/>
            <a:ext cx="990600" cy="602258"/>
          </a:xfrm>
          <a:prstGeom prst="straightConnector1">
            <a:avLst/>
          </a:prstGeom>
          <a:ln w="66675">
            <a:solidFill>
              <a:srgbClr val="ED037C"/>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275AF745-4998-A7F3-56C6-ACBC3A49AC3B}"/>
              </a:ext>
            </a:extLst>
          </p:cNvPr>
          <p:cNvCxnSpPr>
            <a:cxnSpLocks/>
          </p:cNvCxnSpPr>
          <p:nvPr/>
        </p:nvCxnSpPr>
        <p:spPr>
          <a:xfrm flipV="1">
            <a:off x="6014121" y="4782615"/>
            <a:ext cx="1676400" cy="629844"/>
          </a:xfrm>
          <a:prstGeom prst="straightConnector1">
            <a:avLst/>
          </a:prstGeom>
          <a:ln w="66675">
            <a:solidFill>
              <a:srgbClr val="ED037C"/>
            </a:solidFill>
            <a:tailEnd type="triangle"/>
          </a:ln>
        </p:spPr>
        <p:style>
          <a:lnRef idx="1">
            <a:schemeClr val="accent1"/>
          </a:lnRef>
          <a:fillRef idx="0">
            <a:schemeClr val="accent1"/>
          </a:fillRef>
          <a:effectRef idx="0">
            <a:schemeClr val="accent1"/>
          </a:effectRef>
          <a:fontRef idx="minor">
            <a:schemeClr val="tx1"/>
          </a:fontRef>
        </p:style>
      </p:cxnSp>
      <p:sp>
        <p:nvSpPr>
          <p:cNvPr id="6" name="Subtitle 8">
            <a:extLst>
              <a:ext uri="{FF2B5EF4-FFF2-40B4-BE49-F238E27FC236}">
                <a16:creationId xmlns:a16="http://schemas.microsoft.com/office/drawing/2014/main" id="{8ADDD945-BBCA-A218-703A-41C96532581F}"/>
              </a:ext>
            </a:extLst>
          </p:cNvPr>
          <p:cNvSpPr>
            <a:spLocks noGrp="1"/>
          </p:cNvSpPr>
          <p:nvPr>
            <p:ph type="subTitle" idx="1"/>
          </p:nvPr>
        </p:nvSpPr>
        <p:spPr>
          <a:xfrm>
            <a:off x="334963" y="-26988"/>
            <a:ext cx="9601200" cy="506413"/>
          </a:xfrm>
        </p:spPr>
        <p:txBody>
          <a:bodyPr/>
          <a:lstStyle/>
          <a:p>
            <a:r>
              <a:rPr lang="en-CA" dirty="0"/>
              <a:t>Application Example: Make or Buy</a:t>
            </a:r>
          </a:p>
        </p:txBody>
      </p:sp>
      <p:sp>
        <p:nvSpPr>
          <p:cNvPr id="8" name="Slide Number Placeholder 7">
            <a:extLst>
              <a:ext uri="{FF2B5EF4-FFF2-40B4-BE49-F238E27FC236}">
                <a16:creationId xmlns:a16="http://schemas.microsoft.com/office/drawing/2014/main" id="{0BA3CC6C-2BD3-1808-BC61-1AD9A73A654E}"/>
              </a:ext>
            </a:extLst>
          </p:cNvPr>
          <p:cNvSpPr>
            <a:spLocks noGrp="1"/>
          </p:cNvSpPr>
          <p:nvPr>
            <p:ph type="sldNum" sz="quarter" idx="12"/>
          </p:nvPr>
        </p:nvSpPr>
        <p:spPr/>
        <p:txBody>
          <a:bodyPr/>
          <a:lstStyle/>
          <a:p>
            <a:fld id="{9B7CDB38-6350-4CC9-AB0E-B9078CE1CE4B}" type="slidenum">
              <a:rPr lang="en-US" smtClean="0"/>
              <a:pPr/>
              <a:t>40</a:t>
            </a:fld>
            <a:endParaRPr lang="en-US"/>
          </a:p>
        </p:txBody>
      </p:sp>
    </p:spTree>
  </p:cSld>
  <p:clrMapOvr>
    <a:masterClrMapping/>
  </p:clrMapOvr>
  <p:transition>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9" name="Rectangle 3">
            <a:extLst>
              <a:ext uri="{FF2B5EF4-FFF2-40B4-BE49-F238E27FC236}">
                <a16:creationId xmlns:a16="http://schemas.microsoft.com/office/drawing/2014/main" id="{BE4D6E16-84DF-46AD-83DA-EC9D863F561C}"/>
              </a:ext>
            </a:extLst>
          </p:cNvPr>
          <p:cNvSpPr>
            <a:spLocks noChangeArrowheads="1"/>
          </p:cNvSpPr>
          <p:nvPr/>
        </p:nvSpPr>
        <p:spPr bwMode="auto">
          <a:xfrm>
            <a:off x="1772803" y="5886854"/>
            <a:ext cx="8539198" cy="582211"/>
          </a:xfrm>
          <a:prstGeom prst="rect">
            <a:avLst/>
          </a:prstGeom>
          <a:noFill/>
          <a:ln w="12699">
            <a:noFill/>
            <a:miter lim="800000"/>
            <a:headEnd/>
            <a:tailEnd/>
          </a:ln>
          <a:effectLst/>
        </p:spPr>
        <p:txBody>
          <a:bodyPr wrap="none" lIns="90488" tIns="44450" rIns="90488" bIns="44450">
            <a:spAutoFit/>
          </a:bodyPr>
          <a:lstStyle/>
          <a:p>
            <a:pPr eaLnBrk="1" hangingPunct="1">
              <a:defRPr/>
            </a:pPr>
            <a:r>
              <a:rPr lang="en-CA" sz="3200" b="1" dirty="0">
                <a:latin typeface="Arial" panose="020B0604020202020204" pitchFamily="34" charset="0"/>
                <a:cs typeface="Arial" panose="020B0604020202020204" pitchFamily="34" charset="0"/>
              </a:rPr>
              <a:t>Should the company make or buy Part 4A?</a:t>
            </a:r>
          </a:p>
        </p:txBody>
      </p:sp>
      <p:graphicFrame>
        <p:nvGraphicFramePr>
          <p:cNvPr id="93186" name="Object 2">
            <a:extLst>
              <a:ext uri="{FF2B5EF4-FFF2-40B4-BE49-F238E27FC236}">
                <a16:creationId xmlns:a16="http://schemas.microsoft.com/office/drawing/2014/main" id="{54197A06-E1E0-4153-B790-D822E259780D}"/>
              </a:ext>
            </a:extLst>
          </p:cNvPr>
          <p:cNvGraphicFramePr>
            <a:graphicFrameLocks/>
          </p:cNvGraphicFramePr>
          <p:nvPr>
            <p:extLst>
              <p:ext uri="{D42A27DB-BD31-4B8C-83A1-F6EECF244321}">
                <p14:modId xmlns:p14="http://schemas.microsoft.com/office/powerpoint/2010/main" val="1660344315"/>
              </p:ext>
            </p:extLst>
          </p:nvPr>
        </p:nvGraphicFramePr>
        <p:xfrm>
          <a:off x="1863725" y="960438"/>
          <a:ext cx="8464550" cy="4700587"/>
        </p:xfrm>
        <a:graphic>
          <a:graphicData uri="http://schemas.openxmlformats.org/presentationml/2006/ole">
            <mc:AlternateContent xmlns:mc="http://schemas.openxmlformats.org/markup-compatibility/2006">
              <mc:Choice xmlns:v="urn:schemas-microsoft-com:vml" Requires="v">
                <p:oleObj name="Worksheet" r:id="rId3" imgW="4654563" imgH="2076458" progId="Excel.Sheet.8">
                  <p:embed/>
                </p:oleObj>
              </mc:Choice>
              <mc:Fallback>
                <p:oleObj name="Worksheet" r:id="rId3" imgW="4654563" imgH="2076458" progId="Excel.Sheet.8">
                  <p:embed/>
                  <p:pic>
                    <p:nvPicPr>
                      <p:cNvPr id="93186" name="Object 2">
                        <a:extLst>
                          <a:ext uri="{FF2B5EF4-FFF2-40B4-BE49-F238E27FC236}">
                            <a16:creationId xmlns:a16="http://schemas.microsoft.com/office/drawing/2014/main" id="{54197A06-E1E0-4153-B790-D822E259780D}"/>
                          </a:ext>
                        </a:extLst>
                      </p:cNvPr>
                      <p:cNvPicPr>
                        <a:picLocks noChangeArrowheads="1"/>
                      </p:cNvPicPr>
                      <p:nvPr/>
                    </p:nvPicPr>
                    <p:blipFill>
                      <a:blip r:embed="rId4"/>
                      <a:srcRect/>
                      <a:stretch>
                        <a:fillRect/>
                      </a:stretch>
                    </p:blipFill>
                    <p:spPr bwMode="auto">
                      <a:xfrm>
                        <a:off x="1863725" y="960438"/>
                        <a:ext cx="8464550" cy="4700587"/>
                      </a:xfrm>
                      <a:prstGeom prst="rect">
                        <a:avLst/>
                      </a:prstGeom>
                      <a:noFill/>
                      <a:ln>
                        <a:noFill/>
                      </a:ln>
                      <a:effectLst/>
                    </p:spPr>
                  </p:pic>
                </p:oleObj>
              </mc:Fallback>
            </mc:AlternateContent>
          </a:graphicData>
        </a:graphic>
      </p:graphicFrame>
      <p:sp>
        <p:nvSpPr>
          <p:cNvPr id="4" name="Subtitle 8">
            <a:extLst>
              <a:ext uri="{FF2B5EF4-FFF2-40B4-BE49-F238E27FC236}">
                <a16:creationId xmlns:a16="http://schemas.microsoft.com/office/drawing/2014/main" id="{C7EC2A6F-DC75-C897-EB04-BD97E0072324}"/>
              </a:ext>
            </a:extLst>
          </p:cNvPr>
          <p:cNvSpPr>
            <a:spLocks noGrp="1"/>
          </p:cNvSpPr>
          <p:nvPr>
            <p:ph type="subTitle" idx="1"/>
          </p:nvPr>
        </p:nvSpPr>
        <p:spPr>
          <a:xfrm>
            <a:off x="334963" y="-26988"/>
            <a:ext cx="9601200" cy="506413"/>
          </a:xfrm>
        </p:spPr>
        <p:txBody>
          <a:bodyPr/>
          <a:lstStyle/>
          <a:p>
            <a:r>
              <a:rPr lang="en-CA" dirty="0"/>
              <a:t>Application Example: Make or Buy</a:t>
            </a:r>
          </a:p>
        </p:txBody>
      </p:sp>
      <p:sp>
        <p:nvSpPr>
          <p:cNvPr id="6" name="Slide Number Placeholder 5">
            <a:extLst>
              <a:ext uri="{FF2B5EF4-FFF2-40B4-BE49-F238E27FC236}">
                <a16:creationId xmlns:a16="http://schemas.microsoft.com/office/drawing/2014/main" id="{AC147BD7-0E5C-5D99-352A-1E817F16BB25}"/>
              </a:ext>
            </a:extLst>
          </p:cNvPr>
          <p:cNvSpPr>
            <a:spLocks noGrp="1"/>
          </p:cNvSpPr>
          <p:nvPr>
            <p:ph type="sldNum" sz="quarter" idx="12"/>
          </p:nvPr>
        </p:nvSpPr>
        <p:spPr/>
        <p:txBody>
          <a:bodyPr/>
          <a:lstStyle/>
          <a:p>
            <a:fld id="{9B7CDB38-6350-4CC9-AB0E-B9078CE1CE4B}" type="slidenum">
              <a:rPr lang="en-US" smtClean="0"/>
              <a:pPr/>
              <a:t>41</a:t>
            </a:fld>
            <a:endParaRPr lang="en-US"/>
          </a:p>
        </p:txBody>
      </p:sp>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3">
            <a:extLst>
              <a:ext uri="{FF2B5EF4-FFF2-40B4-BE49-F238E27FC236}">
                <a16:creationId xmlns:a16="http://schemas.microsoft.com/office/drawing/2014/main" id="{EDAA7026-7B0D-4F34-B03C-B9B3D050B2A7}"/>
              </a:ext>
            </a:extLst>
          </p:cNvPr>
          <p:cNvSpPr>
            <a:spLocks noGrp="1" noChangeArrowheads="1"/>
          </p:cNvSpPr>
          <p:nvPr>
            <p:ph type="subTitle" idx="1"/>
          </p:nvPr>
        </p:nvSpPr>
        <p:spPr bwMode="auto">
          <a:xfrm>
            <a:off x="335360" y="116632"/>
            <a:ext cx="9601067" cy="5060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vert="horz" wrap="square" lIns="90488" tIns="44450" rIns="90488" bIns="44450" numCol="1" rtlCol="0" anchor="t" anchorCtr="0" compatLnSpc="1">
            <a:prstTxWarp prst="textNoShape">
              <a:avLst/>
            </a:prstTxWarp>
            <a:noAutofit/>
          </a:bodyPr>
          <a:lstStyle/>
          <a:p>
            <a:r>
              <a:rPr lang="en-CA" dirty="0"/>
              <a:t>Application Example: Make or Buy</a:t>
            </a:r>
          </a:p>
          <a:p>
            <a:pPr>
              <a:buFont typeface="Arial" panose="020B0604020202020204" pitchFamily="34" charset="0"/>
              <a:buChar char="•"/>
            </a:pPr>
            <a:endParaRPr lang="en-CA" altLang="en-US" sz="2800" dirty="0"/>
          </a:p>
        </p:txBody>
      </p:sp>
      <p:sp>
        <p:nvSpPr>
          <p:cNvPr id="95235" name="Footer Placeholder 1">
            <a:extLst>
              <a:ext uri="{FF2B5EF4-FFF2-40B4-BE49-F238E27FC236}">
                <a16:creationId xmlns:a16="http://schemas.microsoft.com/office/drawing/2014/main" id="{ECE6F856-6B3B-4963-ACC7-4076879B1664}"/>
              </a:ext>
            </a:extLst>
          </p:cNvPr>
          <p:cNvSpPr txBox="1">
            <a:spLocks noChangeArrowheads="1"/>
          </p:cNvSpPr>
          <p:nvPr/>
        </p:nvSpPr>
        <p:spPr bwMode="auto">
          <a:xfrm>
            <a:off x="4079876" y="6491288"/>
            <a:ext cx="39608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CA" altLang="en-US" sz="1200" dirty="0">
                <a:latin typeface="+mn-lt"/>
                <a:cs typeface="Arial" panose="020B0604020202020204" pitchFamily="34" charset="0"/>
              </a:rPr>
              <a:t>© 2024 McGraw Hill Limited</a:t>
            </a:r>
          </a:p>
        </p:txBody>
      </p:sp>
      <p:sp>
        <p:nvSpPr>
          <p:cNvPr id="95236" name="Slide Number Placeholder 72">
            <a:extLst>
              <a:ext uri="{FF2B5EF4-FFF2-40B4-BE49-F238E27FC236}">
                <a16:creationId xmlns:a16="http://schemas.microsoft.com/office/drawing/2014/main" id="{CB79B398-3C43-4351-B5F8-AA025B879C56}"/>
              </a:ext>
            </a:extLst>
          </p:cNvPr>
          <p:cNvSpPr txBox="1">
            <a:spLocks/>
          </p:cNvSpPr>
          <p:nvPr/>
        </p:nvSpPr>
        <p:spPr bwMode="auto">
          <a:xfrm>
            <a:off x="10026650" y="6477000"/>
            <a:ext cx="64135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dirty="0">
                <a:latin typeface="+mn-lt"/>
                <a:ea typeface="MS PGothic" panose="020B0600070205080204" pitchFamily="34" charset="-128"/>
                <a:cs typeface="Arial" panose="020B0604020202020204" pitchFamily="34" charset="0"/>
              </a:rPr>
              <a:t>12-</a:t>
            </a:r>
            <a:fld id="{4E5FBE36-8B43-4C48-9248-D3C471831D90}" type="slidenum">
              <a:rPr lang="en-US" altLang="en-US" sz="1200">
                <a:latin typeface="+mn-lt"/>
                <a:ea typeface="MS PGothic" panose="020B0600070205080204" pitchFamily="34" charset="-128"/>
                <a:cs typeface="Arial" panose="020B0604020202020204" pitchFamily="34" charset="0"/>
              </a:rPr>
              <a:pPr eaLnBrk="1" hangingPunct="1"/>
              <a:t>42</a:t>
            </a:fld>
            <a:endParaRPr lang="en-US" altLang="en-US" sz="1200" dirty="0">
              <a:latin typeface="+mn-lt"/>
              <a:ea typeface="MS PGothic" panose="020B0600070205080204" pitchFamily="34" charset="-128"/>
              <a:cs typeface="Arial" panose="020B0604020202020204" pitchFamily="34" charset="0"/>
            </a:endParaRPr>
          </a:p>
        </p:txBody>
      </p:sp>
      <p:sp>
        <p:nvSpPr>
          <p:cNvPr id="4" name="TextBox 3">
            <a:extLst>
              <a:ext uri="{FF2B5EF4-FFF2-40B4-BE49-F238E27FC236}">
                <a16:creationId xmlns:a16="http://schemas.microsoft.com/office/drawing/2014/main" id="{98F6915F-E442-BFE4-7478-8794DBC8D44B}"/>
              </a:ext>
            </a:extLst>
          </p:cNvPr>
          <p:cNvSpPr txBox="1"/>
          <p:nvPr/>
        </p:nvSpPr>
        <p:spPr>
          <a:xfrm>
            <a:off x="767408" y="1556792"/>
            <a:ext cx="9361040" cy="2677656"/>
          </a:xfrm>
          <a:prstGeom prst="rect">
            <a:avLst/>
          </a:prstGeom>
          <a:noFill/>
        </p:spPr>
        <p:txBody>
          <a:bodyPr wrap="square" rtlCol="0">
            <a:spAutoFit/>
          </a:bodyPr>
          <a:lstStyle/>
          <a:p>
            <a:pPr marL="285750" indent="-285750">
              <a:buFont typeface="Arial" panose="020B0604020202020204" pitchFamily="34" charset="0"/>
              <a:buChar char="•"/>
            </a:pPr>
            <a:r>
              <a:rPr lang="en-CA" altLang="en-US" sz="2400" dirty="0">
                <a:latin typeface="Arial" panose="020B0604020202020204" pitchFamily="34" charset="0"/>
                <a:cs typeface="Arial" panose="020B0604020202020204" pitchFamily="34" charset="0"/>
              </a:rPr>
              <a:t>An </a:t>
            </a:r>
            <a:r>
              <a:rPr lang="en-CA" altLang="en-US" sz="2400" u="sng" dirty="0">
                <a:latin typeface="Arial" panose="020B0604020202020204" pitchFamily="34" charset="0"/>
                <a:cs typeface="Arial" panose="020B0604020202020204" pitchFamily="34" charset="0"/>
              </a:rPr>
              <a:t>opportunity cost</a:t>
            </a:r>
            <a:r>
              <a:rPr lang="en-CA" altLang="en-US" sz="2400" dirty="0">
                <a:latin typeface="Arial" panose="020B0604020202020204" pitchFamily="34" charset="0"/>
                <a:cs typeface="Arial" panose="020B0604020202020204" pitchFamily="34" charset="0"/>
              </a:rPr>
              <a:t> is the benefit that is given up as a result of pursuing some course of action.</a:t>
            </a:r>
          </a:p>
          <a:p>
            <a:pPr marL="171450" indent="-171450">
              <a:buFont typeface="Arial" panose="020B0604020202020204" pitchFamily="34" charset="0"/>
              <a:buChar char="•"/>
            </a:pPr>
            <a:endParaRPr lang="en-CA" alt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A" altLang="en-US" sz="2400" dirty="0">
                <a:latin typeface="Arial" panose="020B0604020202020204" pitchFamily="34" charset="0"/>
                <a:cs typeface="Arial" panose="020B0604020202020204" pitchFamily="34" charset="0"/>
              </a:rPr>
              <a:t>Opportunity costs are not actual dollar outlays and are not recorded in the formal accounts of an organization.</a:t>
            </a:r>
          </a:p>
          <a:p>
            <a:pPr marL="171450" indent="-171450">
              <a:buFont typeface="Arial" panose="020B0604020202020204" pitchFamily="34" charset="0"/>
              <a:buChar char="•"/>
            </a:pPr>
            <a:endParaRPr lang="en-CA" altLang="en-US"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A" altLang="en-US" sz="2400" dirty="0">
                <a:latin typeface="Arial" panose="020B0604020202020204" pitchFamily="34" charset="0"/>
                <a:cs typeface="Arial" panose="020B0604020202020204" pitchFamily="34" charset="0"/>
              </a:rPr>
              <a:t>What opportunity costs should Essex Company consider?</a:t>
            </a:r>
          </a:p>
        </p:txBody>
      </p:sp>
      <p:sp>
        <p:nvSpPr>
          <p:cNvPr id="5" name="Slide Number Placeholder 4">
            <a:extLst>
              <a:ext uri="{FF2B5EF4-FFF2-40B4-BE49-F238E27FC236}">
                <a16:creationId xmlns:a16="http://schemas.microsoft.com/office/drawing/2014/main" id="{F53A41F2-ECAA-8228-7687-889C955D1EEC}"/>
              </a:ext>
            </a:extLst>
          </p:cNvPr>
          <p:cNvSpPr>
            <a:spLocks noGrp="1"/>
          </p:cNvSpPr>
          <p:nvPr>
            <p:ph type="sldNum" sz="quarter" idx="12"/>
          </p:nvPr>
        </p:nvSpPr>
        <p:spPr/>
        <p:txBody>
          <a:bodyPr/>
          <a:lstStyle/>
          <a:p>
            <a:fld id="{9B7CDB38-6350-4CC9-AB0E-B9078CE1CE4B}" type="slidenum">
              <a:rPr lang="en-US" smtClean="0"/>
              <a:pPr/>
              <a:t>42</a:t>
            </a:fld>
            <a:endParaRPr lang="en-US"/>
          </a:p>
        </p:txBody>
      </p:sp>
    </p:spTree>
  </p:cSld>
  <p:clrMapOvr>
    <a:masterClrMapping/>
  </p:clrMapOvr>
  <p:transition>
    <p:checke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A5AD3-C67B-7BD4-9FD6-2336E37BBCB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8450A4F-ACBB-0633-AA8C-6616A40FA334}"/>
              </a:ext>
            </a:extLst>
          </p:cNvPr>
          <p:cNvSpPr>
            <a:spLocks noGrp="1"/>
          </p:cNvSpPr>
          <p:nvPr>
            <p:ph type="ctrTitle"/>
          </p:nvPr>
        </p:nvSpPr>
        <p:spPr>
          <a:xfrm>
            <a:off x="335361" y="1124744"/>
            <a:ext cx="5256583" cy="2448272"/>
          </a:xfrm>
        </p:spPr>
        <p:txBody>
          <a:bodyPr/>
          <a:lstStyle/>
          <a:p>
            <a:r>
              <a:rPr lang="en-CA" dirty="0"/>
              <a:t>Special Order</a:t>
            </a:r>
          </a:p>
        </p:txBody>
      </p:sp>
      <p:sp>
        <p:nvSpPr>
          <p:cNvPr id="2" name="Slide Number Placeholder 1">
            <a:extLst>
              <a:ext uri="{FF2B5EF4-FFF2-40B4-BE49-F238E27FC236}">
                <a16:creationId xmlns:a16="http://schemas.microsoft.com/office/drawing/2014/main" id="{E9ACDD66-0F8D-19C5-E612-27C619C7AC97}"/>
              </a:ext>
            </a:extLst>
          </p:cNvPr>
          <p:cNvSpPr>
            <a:spLocks noGrp="1"/>
          </p:cNvSpPr>
          <p:nvPr>
            <p:ph type="sldNum" sz="quarter" idx="4294967295"/>
          </p:nvPr>
        </p:nvSpPr>
        <p:spPr>
          <a:xfrm>
            <a:off x="0" y="6524625"/>
            <a:ext cx="479425" cy="217488"/>
          </a:xfrm>
        </p:spPr>
        <p:txBody>
          <a:bodyPr/>
          <a:lstStyle/>
          <a:p>
            <a:fld id="{9B7CDB38-6350-4CC9-AB0E-B9078CE1CE4B}" type="slidenum">
              <a:rPr lang="en-US" smtClean="0"/>
              <a:pPr/>
              <a:t>43</a:t>
            </a:fld>
            <a:endParaRPr lang="en-US"/>
          </a:p>
        </p:txBody>
      </p:sp>
    </p:spTree>
    <p:extLst>
      <p:ext uri="{BB962C8B-B14F-4D97-AF65-F5344CB8AC3E}">
        <p14:creationId xmlns:p14="http://schemas.microsoft.com/office/powerpoint/2010/main" val="34391201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CF3781A-4C16-286F-E524-8EA2ECF67E05}"/>
              </a:ext>
            </a:extLst>
          </p:cNvPr>
          <p:cNvSpPr>
            <a:spLocks noGrp="1"/>
          </p:cNvSpPr>
          <p:nvPr>
            <p:ph type="subTitle" idx="1"/>
          </p:nvPr>
        </p:nvSpPr>
        <p:spPr/>
        <p:txBody>
          <a:bodyPr/>
          <a:lstStyle/>
          <a:p>
            <a:r>
              <a:rPr lang="en-CA" dirty="0"/>
              <a:t>Special Order</a:t>
            </a:r>
          </a:p>
        </p:txBody>
      </p:sp>
      <p:sp>
        <p:nvSpPr>
          <p:cNvPr id="93186" name="Rectangle 1027">
            <a:extLst>
              <a:ext uri="{FF2B5EF4-FFF2-40B4-BE49-F238E27FC236}">
                <a16:creationId xmlns:a16="http://schemas.microsoft.com/office/drawing/2014/main" id="{622F6EEC-1DDF-4303-845F-16040CDAD33F}"/>
              </a:ext>
            </a:extLst>
          </p:cNvPr>
          <p:cNvSpPr>
            <a:spLocks noChangeArrowheads="1"/>
          </p:cNvSpPr>
          <p:nvPr/>
        </p:nvSpPr>
        <p:spPr bwMode="auto">
          <a:xfrm>
            <a:off x="551384" y="1333413"/>
            <a:ext cx="10943446" cy="3616499"/>
          </a:xfrm>
          <a:prstGeom prst="rect">
            <a:avLst/>
          </a:prstGeom>
          <a:noFill/>
          <a:ln w="9525">
            <a:noFill/>
            <a:miter lim="800000"/>
            <a:headEnd/>
            <a:tailEnd/>
          </a:ln>
        </p:spPr>
        <p:txBody>
          <a:bodyPr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indent="-457200">
              <a:buClr>
                <a:srgbClr val="213260"/>
              </a:buClr>
              <a:buSzPct val="80000"/>
              <a:buFont typeface="Arial" panose="020B0604020202020204" pitchFamily="34" charset="0"/>
              <a:buChar char="•"/>
              <a:defRPr/>
            </a:pPr>
            <a:r>
              <a:rPr lang="en-CA" altLang="en-US" sz="3200" dirty="0">
                <a:latin typeface="Arial" panose="020B0604020202020204" pitchFamily="34" charset="0"/>
                <a:cs typeface="Arial" panose="020B0604020202020204" pitchFamily="34" charset="0"/>
              </a:rPr>
              <a:t>A </a:t>
            </a:r>
            <a:r>
              <a:rPr lang="en-CA" altLang="en-US" sz="3200" u="sng" dirty="0">
                <a:latin typeface="Arial" panose="020B0604020202020204" pitchFamily="34" charset="0"/>
                <a:cs typeface="Arial" panose="020B0604020202020204" pitchFamily="34" charset="0"/>
              </a:rPr>
              <a:t>special order</a:t>
            </a:r>
            <a:r>
              <a:rPr lang="en-CA" altLang="en-US" sz="3200" dirty="0">
                <a:latin typeface="Arial" panose="020B0604020202020204" pitchFamily="34" charset="0"/>
                <a:cs typeface="Arial" panose="020B0604020202020204" pitchFamily="34" charset="0"/>
              </a:rPr>
              <a:t> is a one-time order that is not considered part of the company’s normal ongoing business.</a:t>
            </a:r>
          </a:p>
          <a:p>
            <a:pPr marL="457200" indent="-457200">
              <a:buClr>
                <a:srgbClr val="213260"/>
              </a:buClr>
              <a:buSzPct val="80000"/>
              <a:buFont typeface="Arial" panose="020B0604020202020204" pitchFamily="34" charset="0"/>
              <a:buChar char="•"/>
              <a:defRPr/>
            </a:pPr>
            <a:endParaRPr lang="en-CA" altLang="en-US" sz="3200" dirty="0">
              <a:latin typeface="Arial" panose="020B0604020202020204" pitchFamily="34" charset="0"/>
              <a:cs typeface="Arial" panose="020B0604020202020204" pitchFamily="34" charset="0"/>
            </a:endParaRPr>
          </a:p>
          <a:p>
            <a:pPr marL="457200" indent="-457200">
              <a:buClr>
                <a:srgbClr val="213260"/>
              </a:buClr>
              <a:buSzPct val="80000"/>
              <a:buFont typeface="Arial" panose="020B0604020202020204" pitchFamily="34" charset="0"/>
              <a:buChar char="•"/>
              <a:defRPr/>
            </a:pPr>
            <a:r>
              <a:rPr lang="en-CA" altLang="en-US" sz="3200" dirty="0">
                <a:latin typeface="Arial" panose="020B0604020202020204" pitchFamily="34" charset="0"/>
                <a:cs typeface="Arial" panose="020B0604020202020204" pitchFamily="34" charset="0"/>
              </a:rPr>
              <a:t>When analyzing a special order, only the </a:t>
            </a:r>
            <a:r>
              <a:rPr lang="en-CA" altLang="en-US" sz="3200" u="sng" dirty="0">
                <a:latin typeface="Arial" panose="020B0604020202020204" pitchFamily="34" charset="0"/>
                <a:cs typeface="Arial" panose="020B0604020202020204" pitchFamily="34" charset="0"/>
              </a:rPr>
              <a:t>incremental costs and benefits</a:t>
            </a:r>
            <a:r>
              <a:rPr lang="en-CA" altLang="en-US" sz="3200" dirty="0">
                <a:latin typeface="Arial" panose="020B0604020202020204" pitchFamily="34" charset="0"/>
                <a:cs typeface="Arial" panose="020B0604020202020204" pitchFamily="34" charset="0"/>
              </a:rPr>
              <a:t> are relevant</a:t>
            </a:r>
            <a:r>
              <a:rPr lang="en-CA" altLang="en-US" sz="3200" dirty="0">
                <a:latin typeface="+mn-lt"/>
              </a:rPr>
              <a:t>.</a:t>
            </a:r>
          </a:p>
          <a:p>
            <a:pPr>
              <a:buClr>
                <a:srgbClr val="213260"/>
              </a:buClr>
              <a:buSzPct val="80000"/>
              <a:defRPr/>
            </a:pPr>
            <a:endParaRPr lang="en-CA" altLang="en-US" sz="3200" dirty="0">
              <a:latin typeface="+mn-lt"/>
            </a:endParaRPr>
          </a:p>
        </p:txBody>
      </p:sp>
      <p:sp>
        <p:nvSpPr>
          <p:cNvPr id="5" name="Slide Number Placeholder 4">
            <a:extLst>
              <a:ext uri="{FF2B5EF4-FFF2-40B4-BE49-F238E27FC236}">
                <a16:creationId xmlns:a16="http://schemas.microsoft.com/office/drawing/2014/main" id="{F47291FC-9EA0-0C31-F780-1DA7073022D1}"/>
              </a:ext>
            </a:extLst>
          </p:cNvPr>
          <p:cNvSpPr>
            <a:spLocks noGrp="1"/>
          </p:cNvSpPr>
          <p:nvPr>
            <p:ph type="sldNum" sz="quarter" idx="12"/>
          </p:nvPr>
        </p:nvSpPr>
        <p:spPr/>
        <p:txBody>
          <a:bodyPr/>
          <a:lstStyle/>
          <a:p>
            <a:fld id="{9B7CDB38-6350-4CC9-AB0E-B9078CE1CE4B}" type="slidenum">
              <a:rPr lang="en-US" smtClean="0"/>
              <a:pPr/>
              <a:t>44</a:t>
            </a:fld>
            <a:endParaRPr lang="en-US"/>
          </a:p>
        </p:txBody>
      </p:sp>
    </p:spTree>
  </p:cSld>
  <p:clrMapOvr>
    <a:masterClrMapping/>
  </p:clrMapOvr>
  <p:transition>
    <p:checke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4">
            <a:extLst>
              <a:ext uri="{FF2B5EF4-FFF2-40B4-BE49-F238E27FC236}">
                <a16:creationId xmlns:a16="http://schemas.microsoft.com/office/drawing/2014/main" id="{C2805466-C90A-4FBD-A7CA-A8F5ACA8B079}"/>
              </a:ext>
            </a:extLst>
          </p:cNvPr>
          <p:cNvSpPr>
            <a:spLocks noChangeArrowheads="1"/>
          </p:cNvSpPr>
          <p:nvPr/>
        </p:nvSpPr>
        <p:spPr bwMode="auto">
          <a:xfrm>
            <a:off x="119336" y="921903"/>
            <a:ext cx="11737304" cy="5014193"/>
          </a:xfrm>
          <a:prstGeom prst="rect">
            <a:avLst/>
          </a:prstGeom>
          <a:noFill/>
          <a:ln>
            <a:noFill/>
          </a:ln>
        </p:spPr>
        <p:txBody>
          <a:bodyPr wrap="square" lIns="90488" tIns="44450" rIns="90488" bIns="4445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indent="-457200">
              <a:buFont typeface="Arial" panose="020B0604020202020204" pitchFamily="34" charset="0"/>
              <a:buChar char="•"/>
            </a:pPr>
            <a:r>
              <a:rPr lang="en-CA" altLang="en-US" sz="3200" dirty="0"/>
              <a:t>Jet, Inc. makes a single product with a normal selling price of $20 per unit.</a:t>
            </a:r>
          </a:p>
          <a:p>
            <a:pPr marL="457200" indent="-457200">
              <a:buFont typeface="Arial" panose="020B0604020202020204" pitchFamily="34" charset="0"/>
              <a:buChar char="•"/>
            </a:pPr>
            <a:r>
              <a:rPr lang="en-CA" altLang="en-US" sz="3200" dirty="0"/>
              <a:t>A foreign distributor has offered to purchase 3,000 units for $10 per unit. </a:t>
            </a:r>
          </a:p>
          <a:p>
            <a:pPr marL="457200" indent="-457200">
              <a:buFont typeface="Arial" panose="020B0604020202020204" pitchFamily="34" charset="0"/>
              <a:buChar char="•"/>
            </a:pPr>
            <a:r>
              <a:rPr lang="en-CA" altLang="en-US" sz="3200" dirty="0"/>
              <a:t>This is a one-time order that would not affect the company’s regular business.</a:t>
            </a:r>
          </a:p>
          <a:p>
            <a:pPr marL="457200" indent="-457200">
              <a:buFont typeface="Arial" panose="020B0604020202020204" pitchFamily="34" charset="0"/>
              <a:buChar char="•"/>
            </a:pPr>
            <a:r>
              <a:rPr lang="en-CA" altLang="en-US" sz="3200" dirty="0"/>
              <a:t>Annual capacity is 10,000 units, but Jet, Inc. is currently producing and selling only 5,000 units.</a:t>
            </a:r>
          </a:p>
          <a:p>
            <a:endParaRPr lang="en-CA" altLang="en-US" sz="3200" b="1" dirty="0">
              <a:solidFill>
                <a:srgbClr val="1C3163"/>
              </a:solidFill>
              <a:latin typeface="+mn-lt"/>
            </a:endParaRPr>
          </a:p>
          <a:p>
            <a:pPr algn="ctr"/>
            <a:r>
              <a:rPr lang="en-CA" altLang="en-US" sz="3200" b="1" dirty="0">
                <a:solidFill>
                  <a:srgbClr val="1C3163"/>
                </a:solidFill>
                <a:latin typeface="+mn-lt"/>
              </a:rPr>
              <a:t>Should Jet accept the offer?</a:t>
            </a:r>
          </a:p>
        </p:txBody>
      </p:sp>
      <p:sp>
        <p:nvSpPr>
          <p:cNvPr id="4" name="Subtitle 8">
            <a:extLst>
              <a:ext uri="{FF2B5EF4-FFF2-40B4-BE49-F238E27FC236}">
                <a16:creationId xmlns:a16="http://schemas.microsoft.com/office/drawing/2014/main" id="{295E8067-EEDF-91C8-7D5B-D5F3157D21A9}"/>
              </a:ext>
            </a:extLst>
          </p:cNvPr>
          <p:cNvSpPr>
            <a:spLocks noGrp="1"/>
          </p:cNvSpPr>
          <p:nvPr>
            <p:ph type="subTitle" idx="1"/>
          </p:nvPr>
        </p:nvSpPr>
        <p:spPr>
          <a:xfrm>
            <a:off x="334963" y="-26988"/>
            <a:ext cx="9601200" cy="506413"/>
          </a:xfrm>
        </p:spPr>
        <p:txBody>
          <a:bodyPr/>
          <a:lstStyle/>
          <a:p>
            <a:r>
              <a:rPr lang="en-CA" dirty="0"/>
              <a:t>Application Example: Special Order</a:t>
            </a:r>
          </a:p>
        </p:txBody>
      </p:sp>
      <p:sp>
        <p:nvSpPr>
          <p:cNvPr id="5" name="Slide Number Placeholder 4">
            <a:extLst>
              <a:ext uri="{FF2B5EF4-FFF2-40B4-BE49-F238E27FC236}">
                <a16:creationId xmlns:a16="http://schemas.microsoft.com/office/drawing/2014/main" id="{ABC5AEBD-FB1B-1686-5274-453801834D7B}"/>
              </a:ext>
            </a:extLst>
          </p:cNvPr>
          <p:cNvSpPr>
            <a:spLocks noGrp="1"/>
          </p:cNvSpPr>
          <p:nvPr>
            <p:ph type="sldNum" sz="quarter" idx="12"/>
          </p:nvPr>
        </p:nvSpPr>
        <p:spPr/>
        <p:txBody>
          <a:bodyPr/>
          <a:lstStyle/>
          <a:p>
            <a:fld id="{9B7CDB38-6350-4CC9-AB0E-B9078CE1CE4B}" type="slidenum">
              <a:rPr lang="en-US" smtClean="0"/>
              <a:pPr/>
              <a:t>45</a:t>
            </a:fld>
            <a:endParaRPr lang="en-US"/>
          </a:p>
        </p:txBody>
      </p:sp>
    </p:spTree>
  </p:cSld>
  <p:clrMapOvr>
    <a:masterClrMapping/>
  </p:clrMapOvr>
  <p:transition>
    <p:randomBar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377" name="Object 2">
            <a:extLst>
              <a:ext uri="{FF2B5EF4-FFF2-40B4-BE49-F238E27FC236}">
                <a16:creationId xmlns:a16="http://schemas.microsoft.com/office/drawing/2014/main" id="{2A482BF9-4B70-4187-A77C-17AA87769E11}"/>
              </a:ext>
            </a:extLst>
          </p:cNvPr>
          <p:cNvGraphicFramePr>
            <a:graphicFrameLocks/>
          </p:cNvGraphicFramePr>
          <p:nvPr>
            <p:extLst>
              <p:ext uri="{D42A27DB-BD31-4B8C-83A1-F6EECF244321}">
                <p14:modId xmlns:p14="http://schemas.microsoft.com/office/powerpoint/2010/main" val="801404740"/>
              </p:ext>
            </p:extLst>
          </p:nvPr>
        </p:nvGraphicFramePr>
        <p:xfrm>
          <a:off x="2562225" y="1042988"/>
          <a:ext cx="7294563" cy="5349875"/>
        </p:xfrm>
        <a:graphic>
          <a:graphicData uri="http://schemas.openxmlformats.org/presentationml/2006/ole">
            <mc:AlternateContent xmlns:mc="http://schemas.openxmlformats.org/markup-compatibility/2006">
              <mc:Choice xmlns:v="urn:schemas-microsoft-com:vml" Requires="v">
                <p:oleObj name="Worksheet" r:id="rId3" imgW="3467298" imgH="2413235" progId="Excel.Sheet.8">
                  <p:embed/>
                </p:oleObj>
              </mc:Choice>
              <mc:Fallback>
                <p:oleObj name="Worksheet" r:id="rId3" imgW="3467298" imgH="2413235" progId="Excel.Sheet.8">
                  <p:embed/>
                  <p:pic>
                    <p:nvPicPr>
                      <p:cNvPr id="101377" name="Object 2">
                        <a:extLst>
                          <a:ext uri="{FF2B5EF4-FFF2-40B4-BE49-F238E27FC236}">
                            <a16:creationId xmlns:a16="http://schemas.microsoft.com/office/drawing/2014/main" id="{2A482BF9-4B70-4187-A77C-17AA87769E11}"/>
                          </a:ext>
                        </a:extLst>
                      </p:cNvPr>
                      <p:cNvPicPr>
                        <a:picLocks noChangeArrowheads="1"/>
                      </p:cNvPicPr>
                      <p:nvPr/>
                    </p:nvPicPr>
                    <p:blipFill>
                      <a:blip r:embed="rId4"/>
                      <a:srcRect/>
                      <a:stretch>
                        <a:fillRect/>
                      </a:stretch>
                    </p:blipFill>
                    <p:spPr bwMode="auto">
                      <a:xfrm>
                        <a:off x="2562225" y="1042988"/>
                        <a:ext cx="7294563" cy="5349875"/>
                      </a:xfrm>
                      <a:prstGeom prst="rect">
                        <a:avLst/>
                      </a:prstGeom>
                      <a:noFill/>
                      <a:ln w="38100">
                        <a:solidFill>
                          <a:schemeClr val="tx1"/>
                        </a:solidFill>
                        <a:miter lim="800000"/>
                        <a:headEnd/>
                        <a:tailEnd/>
                      </a:ln>
                      <a:effectLst/>
                    </p:spPr>
                  </p:pic>
                </p:oleObj>
              </mc:Fallback>
            </mc:AlternateContent>
          </a:graphicData>
        </a:graphic>
      </p:graphicFrame>
      <p:sp>
        <p:nvSpPr>
          <p:cNvPr id="391174" name="Text Box 1030">
            <a:extLst>
              <a:ext uri="{FF2B5EF4-FFF2-40B4-BE49-F238E27FC236}">
                <a16:creationId xmlns:a16="http://schemas.microsoft.com/office/drawing/2014/main" id="{A5AF0D48-77B5-4CD3-8196-7B6CB9C75D95}"/>
              </a:ext>
            </a:extLst>
          </p:cNvPr>
          <p:cNvSpPr txBox="1">
            <a:spLocks noChangeArrowheads="1"/>
          </p:cNvSpPr>
          <p:nvPr/>
        </p:nvSpPr>
        <p:spPr bwMode="auto">
          <a:xfrm>
            <a:off x="6553200" y="4267201"/>
            <a:ext cx="3454792" cy="461665"/>
          </a:xfrm>
          <a:prstGeom prst="rect">
            <a:avLst/>
          </a:prstGeom>
          <a:solidFill>
            <a:schemeClr val="bg1"/>
          </a:solidFill>
          <a:ln w="9525">
            <a:solidFill>
              <a:srgbClr val="000000"/>
            </a:solidFill>
            <a:miter lim="800000"/>
            <a:headEnd/>
            <a:tailEnd/>
          </a:ln>
          <a:effectLst>
            <a:outerShdw blurRad="63500" dist="38099" dir="2700000" algn="ctr" rotWithShape="0">
              <a:srgbClr val="000000">
                <a:alpha val="74997"/>
              </a:srgbClr>
            </a:outerShdw>
          </a:effectLst>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z="2400" dirty="0">
                <a:effectLst>
                  <a:outerShdw blurRad="38100" dist="38100" dir="2700000" algn="tl">
                    <a:srgbClr val="FFFFFF"/>
                  </a:outerShdw>
                </a:effectLst>
              </a:rPr>
              <a:t>$8 per unit variable cost</a:t>
            </a:r>
            <a:endParaRPr lang="en-CA" altLang="en-US" sz="2800" dirty="0">
              <a:effectLst>
                <a:outerShdw blurRad="38100" dist="38100" dir="2700000" algn="tl">
                  <a:srgbClr val="FFFFFF"/>
                </a:outerShdw>
              </a:effectLst>
              <a:latin typeface="Times New Roman" pitchFamily="18" charset="0"/>
            </a:endParaRPr>
          </a:p>
        </p:txBody>
      </p:sp>
      <p:cxnSp>
        <p:nvCxnSpPr>
          <p:cNvPr id="3" name="Straight Arrow Connector 2">
            <a:extLst>
              <a:ext uri="{FF2B5EF4-FFF2-40B4-BE49-F238E27FC236}">
                <a16:creationId xmlns:a16="http://schemas.microsoft.com/office/drawing/2014/main" id="{8C9F3E03-65CF-8FDF-083C-2E91A25774A9}"/>
              </a:ext>
            </a:extLst>
          </p:cNvPr>
          <p:cNvCxnSpPr>
            <a:cxnSpLocks/>
          </p:cNvCxnSpPr>
          <p:nvPr/>
        </p:nvCxnSpPr>
        <p:spPr>
          <a:xfrm flipH="1" flipV="1">
            <a:off x="4572000" y="2057400"/>
            <a:ext cx="4075112" cy="1981200"/>
          </a:xfrm>
          <a:prstGeom prst="straightConnector1">
            <a:avLst/>
          </a:prstGeom>
          <a:ln w="66675">
            <a:solidFill>
              <a:srgbClr val="ED037C"/>
            </a:solidFill>
            <a:tailEnd type="triangle"/>
          </a:ln>
        </p:spPr>
        <p:style>
          <a:lnRef idx="1">
            <a:schemeClr val="accent1"/>
          </a:lnRef>
          <a:fillRef idx="0">
            <a:schemeClr val="accent1"/>
          </a:fillRef>
          <a:effectRef idx="0">
            <a:schemeClr val="accent1"/>
          </a:effectRef>
          <a:fontRef idx="minor">
            <a:schemeClr val="tx1"/>
          </a:fontRef>
        </p:style>
      </p:cxnSp>
      <p:sp>
        <p:nvSpPr>
          <p:cNvPr id="5" name="Subtitle 8">
            <a:extLst>
              <a:ext uri="{FF2B5EF4-FFF2-40B4-BE49-F238E27FC236}">
                <a16:creationId xmlns:a16="http://schemas.microsoft.com/office/drawing/2014/main" id="{5A6C2850-BD32-3A21-E7C5-42E3FE439964}"/>
              </a:ext>
            </a:extLst>
          </p:cNvPr>
          <p:cNvSpPr>
            <a:spLocks noGrp="1"/>
          </p:cNvSpPr>
          <p:nvPr>
            <p:ph type="subTitle" idx="1"/>
          </p:nvPr>
        </p:nvSpPr>
        <p:spPr>
          <a:xfrm>
            <a:off x="334963" y="-26988"/>
            <a:ext cx="9601200" cy="506413"/>
          </a:xfrm>
        </p:spPr>
        <p:txBody>
          <a:bodyPr/>
          <a:lstStyle/>
          <a:p>
            <a:r>
              <a:rPr lang="en-CA" dirty="0"/>
              <a:t>Application Example: Special Order</a:t>
            </a:r>
          </a:p>
        </p:txBody>
      </p:sp>
      <p:sp>
        <p:nvSpPr>
          <p:cNvPr id="7" name="Slide Number Placeholder 6">
            <a:extLst>
              <a:ext uri="{FF2B5EF4-FFF2-40B4-BE49-F238E27FC236}">
                <a16:creationId xmlns:a16="http://schemas.microsoft.com/office/drawing/2014/main" id="{8A0676C1-4CC3-8E1B-77E6-D951C40CDADE}"/>
              </a:ext>
            </a:extLst>
          </p:cNvPr>
          <p:cNvSpPr>
            <a:spLocks noGrp="1"/>
          </p:cNvSpPr>
          <p:nvPr>
            <p:ph type="sldNum" sz="quarter" idx="12"/>
          </p:nvPr>
        </p:nvSpPr>
        <p:spPr/>
        <p:txBody>
          <a:bodyPr/>
          <a:lstStyle/>
          <a:p>
            <a:fld id="{9B7CDB38-6350-4CC9-AB0E-B9078CE1CE4B}" type="slidenum">
              <a:rPr lang="en-US" smtClean="0"/>
              <a:pPr/>
              <a:t>46</a:t>
            </a:fld>
            <a:endParaRPr lang="en-US"/>
          </a:p>
        </p:txBody>
      </p:sp>
    </p:spTree>
  </p:cSld>
  <p:clrMapOvr>
    <a:masterClrMapping/>
  </p:clrMapOvr>
  <p:transition>
    <p:zoom dir="in"/>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426" name="Object 2">
            <a:extLst>
              <a:ext uri="{FF2B5EF4-FFF2-40B4-BE49-F238E27FC236}">
                <a16:creationId xmlns:a16="http://schemas.microsoft.com/office/drawing/2014/main" id="{AC97A90F-EBAE-4250-A016-78548A69FEA7}"/>
              </a:ext>
            </a:extLst>
          </p:cNvPr>
          <p:cNvGraphicFramePr>
            <a:graphicFrameLocks/>
          </p:cNvGraphicFramePr>
          <p:nvPr>
            <p:extLst>
              <p:ext uri="{D42A27DB-BD31-4B8C-83A1-F6EECF244321}">
                <p14:modId xmlns:p14="http://schemas.microsoft.com/office/powerpoint/2010/main" val="1531763040"/>
              </p:ext>
            </p:extLst>
          </p:nvPr>
        </p:nvGraphicFramePr>
        <p:xfrm>
          <a:off x="1992313" y="2565400"/>
          <a:ext cx="7573962" cy="1822450"/>
        </p:xfrm>
        <a:graphic>
          <a:graphicData uri="http://schemas.openxmlformats.org/presentationml/2006/ole">
            <mc:AlternateContent xmlns:mc="http://schemas.openxmlformats.org/markup-compatibility/2006">
              <mc:Choice xmlns:v="urn:schemas-microsoft-com:vml" Requires="v">
                <p:oleObj name="Worksheet" r:id="rId3" imgW="3803572" imgH="844456" progId="Excel.Sheet.8">
                  <p:embed/>
                </p:oleObj>
              </mc:Choice>
              <mc:Fallback>
                <p:oleObj name="Worksheet" r:id="rId3" imgW="3803572" imgH="844456" progId="Excel.Sheet.8">
                  <p:embed/>
                  <p:pic>
                    <p:nvPicPr>
                      <p:cNvPr id="103426" name="Object 2">
                        <a:extLst>
                          <a:ext uri="{FF2B5EF4-FFF2-40B4-BE49-F238E27FC236}">
                            <a16:creationId xmlns:a16="http://schemas.microsoft.com/office/drawing/2014/main" id="{AC97A90F-EBAE-4250-A016-78548A69FEA7}"/>
                          </a:ext>
                        </a:extLst>
                      </p:cNvPr>
                      <p:cNvPicPr>
                        <a:picLocks noChangeArrowheads="1"/>
                      </p:cNvPicPr>
                      <p:nvPr/>
                    </p:nvPicPr>
                    <p:blipFill>
                      <a:blip r:embed="rId4"/>
                      <a:srcRect/>
                      <a:stretch>
                        <a:fillRect/>
                      </a:stretch>
                    </p:blipFill>
                    <p:spPr bwMode="auto">
                      <a:xfrm>
                        <a:off x="1992313" y="2565400"/>
                        <a:ext cx="7573962" cy="1822450"/>
                      </a:xfrm>
                      <a:prstGeom prst="rect">
                        <a:avLst/>
                      </a:prstGeom>
                      <a:noFill/>
                      <a:ln>
                        <a:noFill/>
                      </a:ln>
                      <a:effectLst>
                        <a:outerShdw dist="35921" dir="2700000" algn="ctr" rotWithShape="0">
                          <a:srgbClr val="808080">
                            <a:alpha val="74997"/>
                          </a:srgbClr>
                        </a:outerShdw>
                      </a:effectLst>
                    </p:spPr>
                  </p:pic>
                </p:oleObj>
              </mc:Fallback>
            </mc:AlternateContent>
          </a:graphicData>
        </a:graphic>
      </p:graphicFrame>
      <p:sp>
        <p:nvSpPr>
          <p:cNvPr id="24580" name="Text Box 5">
            <a:extLst>
              <a:ext uri="{FF2B5EF4-FFF2-40B4-BE49-F238E27FC236}">
                <a16:creationId xmlns:a16="http://schemas.microsoft.com/office/drawing/2014/main" id="{5F37F25B-B645-4E4E-A22E-351291AD7696}"/>
              </a:ext>
            </a:extLst>
          </p:cNvPr>
          <p:cNvSpPr txBox="1">
            <a:spLocks noChangeArrowheads="1"/>
          </p:cNvSpPr>
          <p:nvPr/>
        </p:nvSpPr>
        <p:spPr bwMode="auto">
          <a:xfrm>
            <a:off x="2133600" y="5038636"/>
            <a:ext cx="7924800" cy="1200329"/>
          </a:xfrm>
          <a:prstGeom prst="rect">
            <a:avLst/>
          </a:prstGeom>
          <a:noFill/>
          <a:ln w="9525">
            <a:solidFill>
              <a:schemeClr val="tx2"/>
            </a:solidFill>
            <a:miter lim="800000"/>
            <a:headEnd/>
            <a:tailEnd/>
          </a:ln>
        </p:spPr>
        <p:txBody>
          <a:bodyPr wrap="square">
            <a:spAutoFit/>
          </a:bodyPr>
          <a:lstStyle/>
          <a:p>
            <a:pPr algn="ctr" eaLnBrk="1" hangingPunct="1">
              <a:defRPr/>
            </a:pPr>
            <a:r>
              <a:rPr lang="en-CA" sz="2400" dirty="0">
                <a:latin typeface="Arial" panose="020B0604020202020204" pitchFamily="34" charset="0"/>
                <a:cs typeface="Arial" panose="020B0604020202020204" pitchFamily="34" charset="0"/>
              </a:rPr>
              <a:t>This answer assumes that the fixed costs are unavoidable and that variable marketing costs must be incurred on the special order.</a:t>
            </a:r>
          </a:p>
        </p:txBody>
      </p:sp>
      <p:sp>
        <p:nvSpPr>
          <p:cNvPr id="4" name="Subtitle 8">
            <a:extLst>
              <a:ext uri="{FF2B5EF4-FFF2-40B4-BE49-F238E27FC236}">
                <a16:creationId xmlns:a16="http://schemas.microsoft.com/office/drawing/2014/main" id="{94B1A95B-C477-92E9-E52D-2750EBAA0CEE}"/>
              </a:ext>
            </a:extLst>
          </p:cNvPr>
          <p:cNvSpPr txBox="1">
            <a:spLocks/>
          </p:cNvSpPr>
          <p:nvPr/>
        </p:nvSpPr>
        <p:spPr>
          <a:xfrm>
            <a:off x="191344" y="0"/>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Special Order</a:t>
            </a:r>
          </a:p>
        </p:txBody>
      </p:sp>
      <p:sp>
        <p:nvSpPr>
          <p:cNvPr id="6" name="TextBox 5">
            <a:extLst>
              <a:ext uri="{FF2B5EF4-FFF2-40B4-BE49-F238E27FC236}">
                <a16:creationId xmlns:a16="http://schemas.microsoft.com/office/drawing/2014/main" id="{51C79A1A-6061-9128-EF51-A6B7F84B6B00}"/>
              </a:ext>
            </a:extLst>
          </p:cNvPr>
          <p:cNvSpPr txBox="1"/>
          <p:nvPr/>
        </p:nvSpPr>
        <p:spPr>
          <a:xfrm>
            <a:off x="839416" y="778176"/>
            <a:ext cx="9828584" cy="1569660"/>
          </a:xfrm>
          <a:prstGeom prst="rect">
            <a:avLst/>
          </a:prstGeom>
          <a:noFill/>
        </p:spPr>
        <p:txBody>
          <a:bodyPr wrap="square">
            <a:spAutoFit/>
          </a:bodyPr>
          <a:lstStyle/>
          <a:p>
            <a:r>
              <a:rPr lang="en-CA" altLang="en-US" sz="2400" dirty="0">
                <a:solidFill>
                  <a:schemeClr val="tx1"/>
                </a:solidFill>
                <a:latin typeface="Arial" panose="020B0604020202020204" pitchFamily="34" charset="0"/>
                <a:cs typeface="Arial" panose="020B0604020202020204" pitchFamily="34" charset="0"/>
              </a:rPr>
              <a:t>If Jet accepts the special order, the incremental revenue will exceed the incremental costs and operating income will increase by $6,000.        </a:t>
            </a:r>
          </a:p>
          <a:p>
            <a:r>
              <a:rPr lang="en-CA" altLang="en-US" sz="2400" dirty="0">
                <a:solidFill>
                  <a:schemeClr val="tx1"/>
                </a:solidFill>
                <a:latin typeface="Arial" panose="020B0604020202020204" pitchFamily="34" charset="0"/>
                <a:cs typeface="Arial" panose="020B0604020202020204" pitchFamily="34" charset="0"/>
              </a:rPr>
              <a:t>                                                     </a:t>
            </a:r>
          </a:p>
          <a:p>
            <a:r>
              <a:rPr lang="en-CA" altLang="en-US" sz="2400" dirty="0">
                <a:solidFill>
                  <a:schemeClr val="tx1"/>
                </a:solidFill>
                <a:latin typeface="Arial" panose="020B0604020202020204" pitchFamily="34" charset="0"/>
                <a:cs typeface="Arial" panose="020B0604020202020204" pitchFamily="34" charset="0"/>
              </a:rPr>
              <a:t>This suggests that </a:t>
            </a:r>
            <a:r>
              <a:rPr lang="en-CA" altLang="en-US" sz="2400" dirty="0">
                <a:latin typeface="Arial" panose="020B0604020202020204" pitchFamily="34" charset="0"/>
                <a:cs typeface="Arial" panose="020B0604020202020204" pitchFamily="34" charset="0"/>
              </a:rPr>
              <a:t>Jet should accept the order.</a:t>
            </a:r>
          </a:p>
        </p:txBody>
      </p:sp>
      <p:sp>
        <p:nvSpPr>
          <p:cNvPr id="7" name="Slide Number Placeholder 6">
            <a:extLst>
              <a:ext uri="{FF2B5EF4-FFF2-40B4-BE49-F238E27FC236}">
                <a16:creationId xmlns:a16="http://schemas.microsoft.com/office/drawing/2014/main" id="{ADE7B1E9-4873-871A-336F-09E13CD6B539}"/>
              </a:ext>
            </a:extLst>
          </p:cNvPr>
          <p:cNvSpPr>
            <a:spLocks noGrp="1"/>
          </p:cNvSpPr>
          <p:nvPr>
            <p:ph type="sldNum" sz="quarter" idx="12"/>
          </p:nvPr>
        </p:nvSpPr>
        <p:spPr/>
        <p:txBody>
          <a:bodyPr/>
          <a:lstStyle/>
          <a:p>
            <a:fld id="{9B7CDB38-6350-4CC9-AB0E-B9078CE1CE4B}" type="slidenum">
              <a:rPr lang="en-US" smtClean="0"/>
              <a:pPr/>
              <a:t>47</a:t>
            </a:fld>
            <a:endParaRPr lang="en-US"/>
          </a:p>
        </p:txBody>
      </p:sp>
    </p:spTree>
  </p:cSld>
  <p:clrMapOvr>
    <a:masterClrMapping/>
  </p:clrMapOvr>
  <p:transition>
    <p:checke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48</a:t>
            </a:fld>
            <a:endParaRPr spc="-25" dirty="0"/>
          </a:p>
        </p:txBody>
      </p:sp>
      <p:sp>
        <p:nvSpPr>
          <p:cNvPr id="9" name="Subtitle 8">
            <a:extLst>
              <a:ext uri="{FF2B5EF4-FFF2-40B4-BE49-F238E27FC236}">
                <a16:creationId xmlns:a16="http://schemas.microsoft.com/office/drawing/2014/main" id="{2F44EC97-4390-0E93-D24B-14B7E0ABDDB8}"/>
              </a:ext>
            </a:extLst>
          </p:cNvPr>
          <p:cNvSpPr>
            <a:spLocks noGrp="1"/>
          </p:cNvSpPr>
          <p:nvPr>
            <p:ph type="subTitle" idx="1"/>
          </p:nvPr>
        </p:nvSpPr>
        <p:spPr/>
        <p:txBody>
          <a:bodyPr/>
          <a:lstStyle/>
          <a:p>
            <a:r>
              <a:rPr lang="en-CA" dirty="0"/>
              <a:t>Application Example #2: Special Order</a:t>
            </a:r>
          </a:p>
        </p:txBody>
      </p:sp>
      <p:sp>
        <p:nvSpPr>
          <p:cNvPr id="3" name="object 3"/>
          <p:cNvSpPr txBox="1"/>
          <p:nvPr/>
        </p:nvSpPr>
        <p:spPr>
          <a:xfrm>
            <a:off x="622574" y="834323"/>
            <a:ext cx="10751820" cy="2459006"/>
          </a:xfrm>
          <a:prstGeom prst="rect">
            <a:avLst/>
          </a:prstGeom>
        </p:spPr>
        <p:txBody>
          <a:bodyPr vert="horz" wrap="square" lIns="0" tIns="12065" rIns="0" bIns="0" rtlCol="0">
            <a:spAutoFit/>
          </a:bodyPr>
          <a:lstStyle/>
          <a:p>
            <a:pPr marL="469900" marR="144145" indent="-457200">
              <a:lnSpc>
                <a:spcPct val="100000"/>
              </a:lnSpc>
              <a:spcBef>
                <a:spcPts val="95"/>
              </a:spcBef>
              <a:buSzPct val="79545"/>
              <a:buChar char="•"/>
              <a:tabLst>
                <a:tab pos="469900" algn="l"/>
              </a:tabLst>
            </a:pPr>
            <a:r>
              <a:rPr sz="2000" dirty="0">
                <a:latin typeface="Arial" panose="020B0604020202020204" pitchFamily="34" charset="0"/>
                <a:cs typeface="Arial" panose="020B0604020202020204" pitchFamily="34" charset="0"/>
              </a:rPr>
              <a:t>The</a:t>
            </a:r>
            <a:r>
              <a:rPr sz="2000" spc="-6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Canadian</a:t>
            </a:r>
            <a:r>
              <a:rPr sz="2000" spc="-7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Government</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has</a:t>
            </a:r>
            <a:r>
              <a:rPr sz="2000" spc="-7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guaranteed</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7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purchase</a:t>
            </a:r>
            <a:r>
              <a:rPr sz="2000" spc="-8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of</a:t>
            </a:r>
            <a:r>
              <a:rPr sz="2000" spc="-8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10,000</a:t>
            </a:r>
            <a:r>
              <a:rPr sz="2000" spc="-7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bottles</a:t>
            </a:r>
            <a:r>
              <a:rPr sz="2000" spc="-75" dirty="0">
                <a:latin typeface="Arial" panose="020B0604020202020204" pitchFamily="34" charset="0"/>
                <a:cs typeface="Arial" panose="020B0604020202020204" pitchFamily="34" charset="0"/>
              </a:rPr>
              <a:t> </a:t>
            </a:r>
            <a:r>
              <a:rPr sz="2000" spc="-25" dirty="0">
                <a:latin typeface="Arial" panose="020B0604020202020204" pitchFamily="34" charset="0"/>
                <a:cs typeface="Arial" panose="020B0604020202020204" pitchFamily="34" charset="0"/>
              </a:rPr>
              <a:t>of </a:t>
            </a:r>
            <a:r>
              <a:rPr sz="2000" dirty="0">
                <a:latin typeface="Arial" panose="020B0604020202020204" pitchFamily="34" charset="0"/>
                <a:cs typeface="Arial" panose="020B0604020202020204" pitchFamily="34" charset="0"/>
              </a:rPr>
              <a:t>sanitizer</a:t>
            </a:r>
            <a:r>
              <a:rPr sz="2000" spc="-6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for</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$2.50</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each</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and</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potential</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for</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increased</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orders</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and</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cost</a:t>
            </a:r>
            <a:r>
              <a:rPr sz="2000" spc="-60"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depending </a:t>
            </a:r>
            <a:r>
              <a:rPr sz="2000" dirty="0">
                <a:latin typeface="Arial" panose="020B0604020202020204" pitchFamily="34" charset="0"/>
                <a:cs typeface="Arial" panose="020B0604020202020204" pitchFamily="34" charset="0"/>
              </a:rPr>
              <a:t>on</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scarcity</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of</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40"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product.</a:t>
            </a:r>
            <a:endParaRPr sz="2000" dirty="0">
              <a:latin typeface="Arial" panose="020B0604020202020204" pitchFamily="34" charset="0"/>
              <a:cs typeface="Arial" panose="020B0604020202020204" pitchFamily="34" charset="0"/>
            </a:endParaRPr>
          </a:p>
          <a:p>
            <a:pPr marL="918844" lvl="1" indent="-456565">
              <a:lnSpc>
                <a:spcPct val="100000"/>
              </a:lnSpc>
              <a:spcBef>
                <a:spcPts val="605"/>
              </a:spcBef>
              <a:buSzPct val="80000"/>
              <a:buChar char="•"/>
              <a:tabLst>
                <a:tab pos="918844" algn="l"/>
              </a:tabLst>
            </a:pPr>
            <a:r>
              <a:rPr sz="2000" dirty="0">
                <a:latin typeface="Arial" panose="020B0604020202020204" pitchFamily="34" charset="0"/>
                <a:cs typeface="Arial" panose="020B0604020202020204" pitchFamily="34" charset="0"/>
              </a:rPr>
              <a:t>The</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regular</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selling</a:t>
            </a:r>
            <a:r>
              <a:rPr sz="2000" spc="-1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price</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for</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bottle</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of</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beer</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is</a:t>
            </a:r>
            <a:r>
              <a:rPr sz="2000" spc="-30"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$4.75.</a:t>
            </a:r>
            <a:endParaRPr sz="2000" dirty="0">
              <a:latin typeface="Arial" panose="020B0604020202020204" pitchFamily="34" charset="0"/>
              <a:cs typeface="Arial" panose="020B0604020202020204" pitchFamily="34" charset="0"/>
            </a:endParaRPr>
          </a:p>
          <a:p>
            <a:pPr marL="918844" lvl="1" indent="-456565">
              <a:lnSpc>
                <a:spcPct val="100000"/>
              </a:lnSpc>
              <a:spcBef>
                <a:spcPts val="600"/>
              </a:spcBef>
              <a:buSzPct val="80000"/>
              <a:buChar char="•"/>
              <a:tabLst>
                <a:tab pos="918844" algn="l"/>
              </a:tabLst>
            </a:pPr>
            <a:r>
              <a:rPr sz="2000" spc="-105" dirty="0">
                <a:latin typeface="Arial" panose="020B0604020202020204" pitchFamily="34" charset="0"/>
                <a:cs typeface="Arial" panose="020B0604020202020204" pitchFamily="34" charset="0"/>
              </a:rPr>
              <a:t>To</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alter</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manufacturing</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process,</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College</a:t>
            </a:r>
            <a:r>
              <a:rPr sz="2000" spc="-1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Street</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Pubs</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must</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pay</a:t>
            </a:r>
            <a:r>
              <a:rPr sz="2000" spc="-1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a:t>
            </a:r>
            <a:r>
              <a:rPr sz="2000" spc="-20"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one-</a:t>
            </a:r>
            <a:r>
              <a:rPr sz="2000" dirty="0">
                <a:latin typeface="Arial" panose="020B0604020202020204" pitchFamily="34" charset="0"/>
                <a:cs typeface="Arial" panose="020B0604020202020204" pitchFamily="34" charset="0"/>
              </a:rPr>
              <a:t>time</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fee</a:t>
            </a:r>
            <a:r>
              <a:rPr sz="2000" spc="-30" dirty="0">
                <a:latin typeface="Arial" panose="020B0604020202020204" pitchFamily="34" charset="0"/>
                <a:cs typeface="Arial" panose="020B0604020202020204" pitchFamily="34" charset="0"/>
              </a:rPr>
              <a:t> </a:t>
            </a:r>
            <a:r>
              <a:rPr sz="2000" spc="-25" dirty="0">
                <a:latin typeface="Arial" panose="020B0604020202020204" pitchFamily="34" charset="0"/>
                <a:cs typeface="Arial" panose="020B0604020202020204" pitchFamily="34" charset="0"/>
              </a:rPr>
              <a:t>of</a:t>
            </a:r>
            <a:endParaRPr sz="2000" dirty="0">
              <a:latin typeface="Arial" panose="020B0604020202020204" pitchFamily="34" charset="0"/>
              <a:cs typeface="Arial" panose="020B0604020202020204" pitchFamily="34" charset="0"/>
            </a:endParaRPr>
          </a:p>
          <a:p>
            <a:pPr marL="918844">
              <a:lnSpc>
                <a:spcPct val="100000"/>
              </a:lnSpc>
              <a:spcBef>
                <a:spcPts val="5"/>
              </a:spcBef>
            </a:pPr>
            <a:r>
              <a:rPr sz="2000" spc="-10" dirty="0">
                <a:latin typeface="Arial" panose="020B0604020202020204" pitchFamily="34" charset="0"/>
                <a:cs typeface="Arial" panose="020B0604020202020204" pitchFamily="34" charset="0"/>
              </a:rPr>
              <a:t>$5,000</a:t>
            </a:r>
            <a:endParaRPr sz="2000" dirty="0">
              <a:latin typeface="Arial" panose="020B0604020202020204" pitchFamily="34" charset="0"/>
              <a:cs typeface="Arial" panose="020B0604020202020204" pitchFamily="34" charset="0"/>
            </a:endParaRPr>
          </a:p>
          <a:p>
            <a:pPr marL="918844" lvl="1" indent="-456565">
              <a:lnSpc>
                <a:spcPct val="100000"/>
              </a:lnSpc>
              <a:spcBef>
                <a:spcPts val="600"/>
              </a:spcBef>
              <a:buSzPct val="80000"/>
              <a:buChar char="•"/>
              <a:tabLst>
                <a:tab pos="918844" algn="l"/>
              </a:tabLst>
            </a:pPr>
            <a:r>
              <a:rPr sz="2000" dirty="0">
                <a:latin typeface="Arial" panose="020B0604020202020204" pitchFamily="34" charset="0"/>
                <a:cs typeface="Arial" panose="020B0604020202020204" pitchFamily="34" charset="0"/>
              </a:rPr>
              <a:t>The</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management</a:t>
            </a:r>
            <a:r>
              <a:rPr sz="2000" spc="-7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accountant</a:t>
            </a:r>
            <a:r>
              <a:rPr sz="2000" spc="-8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for</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College</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Street</a:t>
            </a:r>
            <a:r>
              <a:rPr sz="2000" spc="-6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Pubs</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has</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produced</a:t>
            </a:r>
            <a:r>
              <a:rPr sz="2000" spc="-7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following</a:t>
            </a:r>
            <a:r>
              <a:rPr sz="2000" spc="-2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costs</a:t>
            </a:r>
            <a:r>
              <a:rPr sz="2400" spc="-10" dirty="0">
                <a:latin typeface="Arial" panose="020B0604020202020204" pitchFamily="34" charset="0"/>
                <a:cs typeface="Arial" panose="020B0604020202020204" pitchFamily="34" charset="0"/>
              </a:rPr>
              <a:t>:</a:t>
            </a:r>
            <a:endParaRPr sz="2400" dirty="0">
              <a:latin typeface="Arial" panose="020B0604020202020204" pitchFamily="34" charset="0"/>
              <a:cs typeface="Arial" panose="020B0604020202020204" pitchFamily="34" charset="0"/>
            </a:endParaRPr>
          </a:p>
        </p:txBody>
      </p:sp>
      <p:graphicFrame>
        <p:nvGraphicFramePr>
          <p:cNvPr id="4" name="object 4"/>
          <p:cNvGraphicFramePr>
            <a:graphicFrameLocks noGrp="1"/>
          </p:cNvGraphicFramePr>
          <p:nvPr/>
        </p:nvGraphicFramePr>
        <p:xfrm>
          <a:off x="2780030" y="3902380"/>
          <a:ext cx="6949440" cy="2131692"/>
        </p:xfrm>
        <a:graphic>
          <a:graphicData uri="http://schemas.openxmlformats.org/drawingml/2006/table">
            <a:tbl>
              <a:tblPr firstRow="1" bandRow="1">
                <a:tableStyleId>{2D5ABB26-0587-4C30-8999-92F81FD0307C}</a:tableStyleId>
              </a:tblPr>
              <a:tblGrid>
                <a:gridCol w="5235575">
                  <a:extLst>
                    <a:ext uri="{9D8B030D-6E8A-4147-A177-3AD203B41FA5}">
                      <a16:colId xmlns:a16="http://schemas.microsoft.com/office/drawing/2014/main" val="20000"/>
                    </a:ext>
                  </a:extLst>
                </a:gridCol>
                <a:gridCol w="1713865">
                  <a:extLst>
                    <a:ext uri="{9D8B030D-6E8A-4147-A177-3AD203B41FA5}">
                      <a16:colId xmlns:a16="http://schemas.microsoft.com/office/drawing/2014/main" val="20001"/>
                    </a:ext>
                  </a:extLst>
                </a:gridCol>
              </a:tblGrid>
              <a:tr h="426084">
                <a:tc>
                  <a:txBody>
                    <a:bodyPr/>
                    <a:lstStyle/>
                    <a:p>
                      <a:pPr marR="98425" algn="ctr">
                        <a:lnSpc>
                          <a:spcPct val="100000"/>
                        </a:lnSpc>
                        <a:spcBef>
                          <a:spcPts val="300"/>
                        </a:spcBef>
                      </a:pPr>
                      <a:r>
                        <a:rPr sz="2200" b="1" spc="-10" dirty="0">
                          <a:solidFill>
                            <a:srgbClr val="FFFFFF"/>
                          </a:solidFill>
                          <a:latin typeface="Arial"/>
                          <a:cs typeface="Arial"/>
                        </a:rPr>
                        <a:t>Variable</a:t>
                      </a:r>
                      <a:r>
                        <a:rPr sz="2200" b="1" spc="-130" dirty="0">
                          <a:solidFill>
                            <a:srgbClr val="FFFFFF"/>
                          </a:solidFill>
                          <a:latin typeface="Arial"/>
                          <a:cs typeface="Arial"/>
                        </a:rPr>
                        <a:t> </a:t>
                      </a:r>
                      <a:r>
                        <a:rPr sz="2200" b="1" spc="-20" dirty="0">
                          <a:solidFill>
                            <a:srgbClr val="FFFFFF"/>
                          </a:solidFill>
                          <a:latin typeface="Arial"/>
                          <a:cs typeface="Arial"/>
                        </a:rPr>
                        <a:t>cost</a:t>
                      </a:r>
                      <a:endParaRPr sz="220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1270" algn="ctr">
                        <a:lnSpc>
                          <a:spcPct val="100000"/>
                        </a:lnSpc>
                        <a:spcBef>
                          <a:spcPts val="300"/>
                        </a:spcBef>
                      </a:pPr>
                      <a:r>
                        <a:rPr sz="2200" b="1" dirty="0">
                          <a:solidFill>
                            <a:srgbClr val="FFFFFF"/>
                          </a:solidFill>
                          <a:latin typeface="Arial"/>
                          <a:cs typeface="Arial"/>
                        </a:rPr>
                        <a:t>Per</a:t>
                      </a:r>
                      <a:r>
                        <a:rPr sz="2200" b="1" spc="-25" dirty="0">
                          <a:solidFill>
                            <a:srgbClr val="FFFFFF"/>
                          </a:solidFill>
                          <a:latin typeface="Arial"/>
                          <a:cs typeface="Arial"/>
                        </a:rPr>
                        <a:t> </a:t>
                      </a:r>
                      <a:r>
                        <a:rPr sz="2200" b="1" spc="-20" dirty="0">
                          <a:solidFill>
                            <a:srgbClr val="FFFFFF"/>
                          </a:solidFill>
                          <a:latin typeface="Arial"/>
                          <a:cs typeface="Arial"/>
                        </a:rPr>
                        <a:t>Unit</a:t>
                      </a:r>
                      <a:endParaRPr sz="2200">
                        <a:latin typeface="Arial"/>
                        <a:cs typeface="Arial"/>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extLst>
                  <a:ext uri="{0D108BD9-81ED-4DB2-BD59-A6C34878D82A}">
                    <a16:rowId xmlns:a16="http://schemas.microsoft.com/office/drawing/2014/main" val="10000"/>
                  </a:ext>
                </a:extLst>
              </a:tr>
              <a:tr h="426720">
                <a:tc>
                  <a:txBody>
                    <a:bodyPr/>
                    <a:lstStyle/>
                    <a:p>
                      <a:pPr marL="1245870">
                        <a:lnSpc>
                          <a:spcPct val="100000"/>
                        </a:lnSpc>
                        <a:spcBef>
                          <a:spcPts val="300"/>
                        </a:spcBef>
                      </a:pPr>
                      <a:r>
                        <a:rPr sz="2200" dirty="0">
                          <a:latin typeface="Arial MT"/>
                          <a:cs typeface="Arial MT"/>
                        </a:rPr>
                        <a:t>Direct</a:t>
                      </a:r>
                      <a:r>
                        <a:rPr sz="2200" spc="-75" dirty="0">
                          <a:latin typeface="Arial MT"/>
                          <a:cs typeface="Arial MT"/>
                        </a:rPr>
                        <a:t> </a:t>
                      </a:r>
                      <a:r>
                        <a:rPr sz="2200" spc="-10" dirty="0">
                          <a:latin typeface="Arial MT"/>
                          <a:cs typeface="Arial MT"/>
                        </a:rPr>
                        <a:t>materials</a:t>
                      </a:r>
                      <a:endParaRPr sz="2200">
                        <a:latin typeface="Arial MT"/>
                        <a:cs typeface="Arial MT"/>
                      </a:endParaRPr>
                    </a:p>
                  </a:txBody>
                  <a:tcPr marL="0" marR="0" marT="381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algn="ctr">
                        <a:lnSpc>
                          <a:spcPct val="100000"/>
                        </a:lnSpc>
                        <a:spcBef>
                          <a:spcPts val="300"/>
                        </a:spcBef>
                      </a:pPr>
                      <a:r>
                        <a:rPr sz="2200" spc="-10" dirty="0">
                          <a:latin typeface="Arial MT"/>
                          <a:cs typeface="Arial MT"/>
                        </a:rPr>
                        <a:t>$1.25</a:t>
                      </a:r>
                      <a:endParaRPr sz="2200">
                        <a:latin typeface="Arial MT"/>
                        <a:cs typeface="Arial MT"/>
                      </a:endParaRPr>
                    </a:p>
                  </a:txBody>
                  <a:tcPr marL="0" marR="0" marT="381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1"/>
                  </a:ext>
                </a:extLst>
              </a:tr>
              <a:tr h="426084">
                <a:tc>
                  <a:txBody>
                    <a:bodyPr/>
                    <a:lstStyle/>
                    <a:p>
                      <a:pPr marR="236854" algn="ctr">
                        <a:lnSpc>
                          <a:spcPct val="100000"/>
                        </a:lnSpc>
                        <a:spcBef>
                          <a:spcPts val="305"/>
                        </a:spcBef>
                      </a:pPr>
                      <a:r>
                        <a:rPr sz="2200" dirty="0">
                          <a:latin typeface="Arial MT"/>
                          <a:cs typeface="Arial MT"/>
                        </a:rPr>
                        <a:t>Direct</a:t>
                      </a:r>
                      <a:r>
                        <a:rPr sz="2200" spc="-75" dirty="0">
                          <a:latin typeface="Arial MT"/>
                          <a:cs typeface="Arial MT"/>
                        </a:rPr>
                        <a:t> </a:t>
                      </a:r>
                      <a:r>
                        <a:rPr sz="2200" spc="-10" dirty="0">
                          <a:latin typeface="Arial MT"/>
                          <a:cs typeface="Arial MT"/>
                        </a:rPr>
                        <a:t>labour</a:t>
                      </a:r>
                      <a:endParaRPr sz="2200">
                        <a:latin typeface="Arial MT"/>
                        <a:cs typeface="Arial MT"/>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algn="ctr">
                        <a:lnSpc>
                          <a:spcPct val="100000"/>
                        </a:lnSpc>
                        <a:spcBef>
                          <a:spcPts val="305"/>
                        </a:spcBef>
                      </a:pPr>
                      <a:r>
                        <a:rPr sz="2200" spc="-20" dirty="0">
                          <a:latin typeface="Arial MT"/>
                          <a:cs typeface="Arial MT"/>
                        </a:rPr>
                        <a:t>$.15</a:t>
                      </a:r>
                      <a:endParaRPr sz="2200">
                        <a:latin typeface="Arial MT"/>
                        <a:cs typeface="Arial MT"/>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2"/>
                  </a:ext>
                </a:extLst>
              </a:tr>
              <a:tr h="426084">
                <a:tc>
                  <a:txBody>
                    <a:bodyPr/>
                    <a:lstStyle/>
                    <a:p>
                      <a:pPr marL="331470">
                        <a:lnSpc>
                          <a:spcPct val="100000"/>
                        </a:lnSpc>
                        <a:spcBef>
                          <a:spcPts val="305"/>
                        </a:spcBef>
                      </a:pPr>
                      <a:r>
                        <a:rPr sz="2200" spc="-20" dirty="0">
                          <a:latin typeface="Arial MT"/>
                          <a:cs typeface="Arial MT"/>
                        </a:rPr>
                        <a:t>Variable</a:t>
                      </a:r>
                      <a:r>
                        <a:rPr sz="2200" spc="-125" dirty="0">
                          <a:latin typeface="Arial MT"/>
                          <a:cs typeface="Arial MT"/>
                        </a:rPr>
                        <a:t> </a:t>
                      </a:r>
                      <a:r>
                        <a:rPr sz="2200" dirty="0">
                          <a:latin typeface="Arial MT"/>
                          <a:cs typeface="Arial MT"/>
                        </a:rPr>
                        <a:t>manufacturing</a:t>
                      </a:r>
                      <a:r>
                        <a:rPr sz="2200" spc="-105" dirty="0">
                          <a:latin typeface="Arial MT"/>
                          <a:cs typeface="Arial MT"/>
                        </a:rPr>
                        <a:t> </a:t>
                      </a:r>
                      <a:r>
                        <a:rPr sz="2200" spc="-10" dirty="0">
                          <a:latin typeface="Arial MT"/>
                          <a:cs typeface="Arial MT"/>
                        </a:rPr>
                        <a:t>overhead</a:t>
                      </a:r>
                      <a:endParaRPr sz="2200">
                        <a:latin typeface="Arial MT"/>
                        <a:cs typeface="Arial MT"/>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algn="ctr">
                        <a:lnSpc>
                          <a:spcPct val="100000"/>
                        </a:lnSpc>
                        <a:spcBef>
                          <a:spcPts val="305"/>
                        </a:spcBef>
                      </a:pPr>
                      <a:r>
                        <a:rPr sz="2200" spc="-20" dirty="0">
                          <a:latin typeface="Arial MT"/>
                          <a:cs typeface="Arial MT"/>
                        </a:rPr>
                        <a:t>$.25</a:t>
                      </a:r>
                      <a:endParaRPr sz="2200">
                        <a:latin typeface="Arial MT"/>
                        <a:cs typeface="Arial MT"/>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3"/>
                  </a:ext>
                </a:extLst>
              </a:tr>
              <a:tr h="426720">
                <a:tc>
                  <a:txBody>
                    <a:bodyPr/>
                    <a:lstStyle/>
                    <a:p>
                      <a:pPr algn="ctr">
                        <a:lnSpc>
                          <a:spcPct val="100000"/>
                        </a:lnSpc>
                        <a:spcBef>
                          <a:spcPts val="305"/>
                        </a:spcBef>
                      </a:pPr>
                      <a:r>
                        <a:rPr sz="2200" dirty="0">
                          <a:latin typeface="Arial MT"/>
                          <a:cs typeface="Arial MT"/>
                        </a:rPr>
                        <a:t>Fixed</a:t>
                      </a:r>
                      <a:r>
                        <a:rPr sz="2200" spc="-60" dirty="0">
                          <a:latin typeface="Arial MT"/>
                          <a:cs typeface="Arial MT"/>
                        </a:rPr>
                        <a:t> </a:t>
                      </a:r>
                      <a:r>
                        <a:rPr sz="2200" dirty="0">
                          <a:latin typeface="Arial MT"/>
                          <a:cs typeface="Arial MT"/>
                        </a:rPr>
                        <a:t>Costs</a:t>
                      </a:r>
                      <a:r>
                        <a:rPr sz="2200" spc="-65" dirty="0">
                          <a:latin typeface="Arial MT"/>
                          <a:cs typeface="Arial MT"/>
                        </a:rPr>
                        <a:t> </a:t>
                      </a:r>
                      <a:r>
                        <a:rPr sz="2200" spc="-10" dirty="0">
                          <a:latin typeface="Arial MT"/>
                          <a:cs typeface="Arial MT"/>
                        </a:rPr>
                        <a:t>(total)</a:t>
                      </a:r>
                      <a:endParaRPr sz="2200">
                        <a:latin typeface="Arial MT"/>
                        <a:cs typeface="Arial MT"/>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algn="ctr">
                        <a:lnSpc>
                          <a:spcPct val="100000"/>
                        </a:lnSpc>
                        <a:spcBef>
                          <a:spcPts val="305"/>
                        </a:spcBef>
                      </a:pPr>
                      <a:r>
                        <a:rPr sz="2200" spc="-10" dirty="0">
                          <a:latin typeface="Arial MT"/>
                          <a:cs typeface="Arial MT"/>
                        </a:rPr>
                        <a:t>$100,000</a:t>
                      </a:r>
                      <a:endParaRPr sz="2200" dirty="0">
                        <a:latin typeface="Arial MT"/>
                        <a:cs typeface="Arial MT"/>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4"/>
                  </a:ext>
                </a:extLst>
              </a:tr>
            </a:tbl>
          </a:graphicData>
        </a:graphic>
      </p:graphicFrame>
      <p:sp>
        <p:nvSpPr>
          <p:cNvPr id="5" name="object 5"/>
          <p:cNvSpPr txBox="1"/>
          <p:nvPr/>
        </p:nvSpPr>
        <p:spPr>
          <a:xfrm>
            <a:off x="10200456" y="4581128"/>
            <a:ext cx="1445260" cy="462280"/>
          </a:xfrm>
          <a:prstGeom prst="rect">
            <a:avLst/>
          </a:prstGeom>
          <a:ln w="38100">
            <a:solidFill>
              <a:srgbClr val="0070C0"/>
            </a:solidFill>
          </a:ln>
        </p:spPr>
        <p:txBody>
          <a:bodyPr vert="horz" wrap="square" lIns="0" tIns="37465" rIns="0" bIns="0" rtlCol="0">
            <a:spAutoFit/>
          </a:bodyPr>
          <a:lstStyle/>
          <a:p>
            <a:pPr marL="172720">
              <a:lnSpc>
                <a:spcPct val="100000"/>
              </a:lnSpc>
              <a:spcBef>
                <a:spcPts val="295"/>
              </a:spcBef>
            </a:pPr>
            <a:r>
              <a:rPr sz="2400" spc="-10" dirty="0">
                <a:latin typeface="Arial MT"/>
                <a:cs typeface="Arial MT"/>
              </a:rPr>
              <a:t>Accept?</a:t>
            </a:r>
            <a:endParaRPr sz="2400">
              <a:latin typeface="Arial MT"/>
              <a:cs typeface="Arial MT"/>
            </a:endParaRPr>
          </a:p>
        </p:txBody>
      </p:sp>
      <p:pic>
        <p:nvPicPr>
          <p:cNvPr id="6" name="object 6"/>
          <p:cNvPicPr/>
          <p:nvPr/>
        </p:nvPicPr>
        <p:blipFill>
          <a:blip r:embed="rId2" cstate="print"/>
          <a:stretch>
            <a:fillRect/>
          </a:stretch>
        </p:blipFill>
        <p:spPr>
          <a:xfrm>
            <a:off x="622574" y="3869858"/>
            <a:ext cx="1889760" cy="1225296"/>
          </a:xfrm>
          <a:prstGeom prst="rect">
            <a:avLst/>
          </a:prstGeom>
        </p:spPr>
      </p:pic>
      <p:pic>
        <p:nvPicPr>
          <p:cNvPr id="7" name="object 7"/>
          <p:cNvPicPr/>
          <p:nvPr/>
        </p:nvPicPr>
        <p:blipFill>
          <a:blip r:embed="rId3" cstate="print"/>
          <a:stretch>
            <a:fillRect/>
          </a:stretch>
        </p:blipFill>
        <p:spPr>
          <a:xfrm>
            <a:off x="627908" y="5218913"/>
            <a:ext cx="1879092" cy="1050036"/>
          </a:xfrm>
          <a:prstGeom prst="rect">
            <a:avLst/>
          </a:prstGeom>
        </p:spPr>
      </p:pic>
    </p:spTree>
    <p:extLst>
      <p:ext uri="{BB962C8B-B14F-4D97-AF65-F5344CB8AC3E}">
        <p14:creationId xmlns:p14="http://schemas.microsoft.com/office/powerpoint/2010/main" val="21745982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49</a:t>
            </a:fld>
            <a:endParaRPr spc="-25" dirty="0"/>
          </a:p>
        </p:txBody>
      </p:sp>
      <p:sp>
        <p:nvSpPr>
          <p:cNvPr id="6" name="Subtitle 5">
            <a:extLst>
              <a:ext uri="{FF2B5EF4-FFF2-40B4-BE49-F238E27FC236}">
                <a16:creationId xmlns:a16="http://schemas.microsoft.com/office/drawing/2014/main" id="{8113D3B3-B231-3CE7-1DCD-00164BBA04BF}"/>
              </a:ext>
            </a:extLst>
          </p:cNvPr>
          <p:cNvSpPr>
            <a:spLocks noGrp="1"/>
          </p:cNvSpPr>
          <p:nvPr>
            <p:ph type="subTitle" idx="1"/>
          </p:nvPr>
        </p:nvSpPr>
        <p:spPr/>
        <p:txBody>
          <a:bodyPr/>
          <a:lstStyle/>
          <a:p>
            <a:r>
              <a:rPr lang="en-CA" dirty="0"/>
              <a:t>Application Example #2: Special Order</a:t>
            </a:r>
          </a:p>
        </p:txBody>
      </p:sp>
      <p:sp>
        <p:nvSpPr>
          <p:cNvPr id="3" name="object 3"/>
          <p:cNvSpPr txBox="1"/>
          <p:nvPr/>
        </p:nvSpPr>
        <p:spPr>
          <a:xfrm>
            <a:off x="5887592" y="1510665"/>
            <a:ext cx="5538470" cy="4286885"/>
          </a:xfrm>
          <a:prstGeom prst="rect">
            <a:avLst/>
          </a:prstGeom>
        </p:spPr>
        <p:txBody>
          <a:bodyPr vert="horz" wrap="square" lIns="0" tIns="12065" rIns="0" bIns="0" rtlCol="0">
            <a:spAutoFit/>
          </a:bodyPr>
          <a:lstStyle/>
          <a:p>
            <a:pPr marL="355600" marR="127000" indent="-342900" algn="just">
              <a:lnSpc>
                <a:spcPct val="100000"/>
              </a:lnSpc>
              <a:spcBef>
                <a:spcPts val="95"/>
              </a:spcBef>
              <a:buSzPct val="79545"/>
              <a:buChar char="•"/>
              <a:tabLst>
                <a:tab pos="355600" algn="l"/>
              </a:tabLst>
            </a:pPr>
            <a:r>
              <a:rPr sz="2200" dirty="0">
                <a:latin typeface="Arial" panose="020B0604020202020204" pitchFamily="34" charset="0"/>
                <a:cs typeface="Arial" panose="020B0604020202020204" pitchFamily="34" charset="0"/>
              </a:rPr>
              <a:t>Fixed</a:t>
            </a:r>
            <a:r>
              <a:rPr sz="2200" spc="-8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Overhead</a:t>
            </a:r>
            <a:r>
              <a:rPr sz="2200" spc="-6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is</a:t>
            </a:r>
            <a:r>
              <a:rPr sz="2200" spc="-7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irrelevant.</a:t>
            </a:r>
            <a:r>
              <a:rPr sz="2200" spc="-7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Whether</a:t>
            </a:r>
            <a:r>
              <a:rPr sz="2200" spc="-75" dirty="0">
                <a:latin typeface="Arial" panose="020B0604020202020204" pitchFamily="34" charset="0"/>
                <a:cs typeface="Arial" panose="020B0604020202020204" pitchFamily="34" charset="0"/>
              </a:rPr>
              <a:t> </a:t>
            </a:r>
            <a:r>
              <a:rPr sz="2200" spc="-25" dirty="0">
                <a:latin typeface="Arial" panose="020B0604020202020204" pitchFamily="34" charset="0"/>
                <a:cs typeface="Arial" panose="020B0604020202020204" pitchFamily="34" charset="0"/>
              </a:rPr>
              <a:t>or </a:t>
            </a:r>
            <a:r>
              <a:rPr sz="2200" dirty="0">
                <a:latin typeface="Arial" panose="020B0604020202020204" pitchFamily="34" charset="0"/>
                <a:cs typeface="Arial" panose="020B0604020202020204" pitchFamily="34" charset="0"/>
              </a:rPr>
              <a:t>not</a:t>
            </a:r>
            <a:r>
              <a:rPr sz="2200" spc="-5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this</a:t>
            </a:r>
            <a:r>
              <a:rPr sz="2200" spc="-5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order</a:t>
            </a:r>
            <a:r>
              <a:rPr sz="2200" spc="-4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is</a:t>
            </a:r>
            <a:r>
              <a:rPr sz="2200" spc="-6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accepted,</a:t>
            </a:r>
            <a:r>
              <a:rPr sz="2200" spc="-6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College</a:t>
            </a:r>
            <a:r>
              <a:rPr sz="2200" spc="-50" dirty="0">
                <a:latin typeface="Arial" panose="020B0604020202020204" pitchFamily="34" charset="0"/>
                <a:cs typeface="Arial" panose="020B0604020202020204" pitchFamily="34" charset="0"/>
              </a:rPr>
              <a:t> </a:t>
            </a:r>
            <a:r>
              <a:rPr sz="2200" spc="-10" dirty="0">
                <a:latin typeface="Arial" panose="020B0604020202020204" pitchFamily="34" charset="0"/>
                <a:cs typeface="Arial" panose="020B0604020202020204" pitchFamily="34" charset="0"/>
              </a:rPr>
              <a:t>Street </a:t>
            </a:r>
            <a:r>
              <a:rPr sz="2200" dirty="0">
                <a:latin typeface="Arial" panose="020B0604020202020204" pitchFamily="34" charset="0"/>
                <a:cs typeface="Arial" panose="020B0604020202020204" pitchFamily="34" charset="0"/>
              </a:rPr>
              <a:t>Pubs</a:t>
            </a:r>
            <a:r>
              <a:rPr sz="2200" spc="-3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will</a:t>
            </a:r>
            <a:r>
              <a:rPr sz="2200" spc="-4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have</a:t>
            </a:r>
            <a:r>
              <a:rPr sz="2200" spc="-3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to</a:t>
            </a:r>
            <a:r>
              <a:rPr sz="2200" spc="-4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pay</a:t>
            </a:r>
            <a:r>
              <a:rPr sz="2200" spc="-35" dirty="0">
                <a:latin typeface="Arial" panose="020B0604020202020204" pitchFamily="34" charset="0"/>
                <a:cs typeface="Arial" panose="020B0604020202020204" pitchFamily="34" charset="0"/>
              </a:rPr>
              <a:t> </a:t>
            </a:r>
            <a:r>
              <a:rPr sz="2200" spc="-25" dirty="0">
                <a:latin typeface="Arial" panose="020B0604020202020204" pitchFamily="34" charset="0"/>
                <a:cs typeface="Arial" panose="020B0604020202020204" pitchFamily="34" charset="0"/>
              </a:rPr>
              <a:t>it</a:t>
            </a:r>
            <a:endParaRPr sz="2200" dirty="0">
              <a:latin typeface="Arial" panose="020B0604020202020204" pitchFamily="34" charset="0"/>
              <a:cs typeface="Arial" panose="020B0604020202020204" pitchFamily="34" charset="0"/>
            </a:endParaRPr>
          </a:p>
          <a:p>
            <a:pPr marL="355600" marR="5080" indent="-342900">
              <a:lnSpc>
                <a:spcPct val="100000"/>
              </a:lnSpc>
              <a:spcBef>
                <a:spcPts val="1130"/>
              </a:spcBef>
              <a:buSzPct val="79545"/>
              <a:buChar char="•"/>
              <a:tabLst>
                <a:tab pos="355600" algn="l"/>
              </a:tabLst>
            </a:pPr>
            <a:r>
              <a:rPr sz="2200" dirty="0">
                <a:latin typeface="Arial" panose="020B0604020202020204" pitchFamily="34" charset="0"/>
                <a:cs typeface="Arial" panose="020B0604020202020204" pitchFamily="34" charset="0"/>
              </a:rPr>
              <a:t>What</a:t>
            </a:r>
            <a:r>
              <a:rPr sz="2200" spc="-7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if</a:t>
            </a:r>
            <a:r>
              <a:rPr sz="2200" spc="-7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the</a:t>
            </a:r>
            <a:r>
              <a:rPr sz="2200" spc="-7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Canadian</a:t>
            </a:r>
            <a:r>
              <a:rPr sz="2200" spc="-5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Government</a:t>
            </a:r>
            <a:r>
              <a:rPr sz="2200" spc="-35" dirty="0">
                <a:latin typeface="Arial" panose="020B0604020202020204" pitchFamily="34" charset="0"/>
                <a:cs typeface="Arial" panose="020B0604020202020204" pitchFamily="34" charset="0"/>
              </a:rPr>
              <a:t> </a:t>
            </a:r>
            <a:r>
              <a:rPr sz="2200" spc="-10" dirty="0">
                <a:latin typeface="Arial" panose="020B0604020202020204" pitchFamily="34" charset="0"/>
                <a:cs typeface="Arial" panose="020B0604020202020204" pitchFamily="34" charset="0"/>
              </a:rPr>
              <a:t>offered </a:t>
            </a:r>
            <a:r>
              <a:rPr sz="2200" dirty="0">
                <a:latin typeface="Arial" panose="020B0604020202020204" pitchFamily="34" charset="0"/>
                <a:cs typeface="Arial" panose="020B0604020202020204" pitchFamily="34" charset="0"/>
              </a:rPr>
              <a:t>to</a:t>
            </a:r>
            <a:r>
              <a:rPr sz="2200" spc="-7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reduce</a:t>
            </a:r>
            <a:r>
              <a:rPr sz="2200" spc="-6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Income</a:t>
            </a:r>
            <a:r>
              <a:rPr sz="2200" spc="-95" dirty="0">
                <a:latin typeface="Arial" panose="020B0604020202020204" pitchFamily="34" charset="0"/>
                <a:cs typeface="Arial" panose="020B0604020202020204" pitchFamily="34" charset="0"/>
              </a:rPr>
              <a:t> </a:t>
            </a:r>
            <a:r>
              <a:rPr sz="2200" spc="-35" dirty="0">
                <a:latin typeface="Arial" panose="020B0604020202020204" pitchFamily="34" charset="0"/>
                <a:cs typeface="Arial" panose="020B0604020202020204" pitchFamily="34" charset="0"/>
              </a:rPr>
              <a:t>Taxes,</a:t>
            </a:r>
            <a:r>
              <a:rPr sz="2200" spc="-7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Property</a:t>
            </a:r>
            <a:r>
              <a:rPr sz="2200" spc="-90" dirty="0">
                <a:latin typeface="Arial" panose="020B0604020202020204" pitchFamily="34" charset="0"/>
                <a:cs typeface="Arial" panose="020B0604020202020204" pitchFamily="34" charset="0"/>
              </a:rPr>
              <a:t> </a:t>
            </a:r>
            <a:r>
              <a:rPr sz="2200" spc="-10" dirty="0">
                <a:latin typeface="Arial" panose="020B0604020202020204" pitchFamily="34" charset="0"/>
                <a:cs typeface="Arial" panose="020B0604020202020204" pitchFamily="34" charset="0"/>
              </a:rPr>
              <a:t>Taxes, </a:t>
            </a:r>
            <a:r>
              <a:rPr sz="2200" dirty="0">
                <a:latin typeface="Arial" panose="020B0604020202020204" pitchFamily="34" charset="0"/>
                <a:cs typeface="Arial" panose="020B0604020202020204" pitchFamily="34" charset="0"/>
              </a:rPr>
              <a:t>labour</a:t>
            </a:r>
            <a:r>
              <a:rPr sz="2200" spc="-6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costs</a:t>
            </a:r>
            <a:r>
              <a:rPr sz="2200" spc="-5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etc.</a:t>
            </a:r>
            <a:r>
              <a:rPr sz="2200" spc="-6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for</a:t>
            </a:r>
            <a:r>
              <a:rPr sz="2200" spc="-6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College</a:t>
            </a:r>
            <a:r>
              <a:rPr sz="2200" spc="-5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Street</a:t>
            </a:r>
            <a:r>
              <a:rPr sz="2200" spc="-50" dirty="0">
                <a:latin typeface="Arial" panose="020B0604020202020204" pitchFamily="34" charset="0"/>
                <a:cs typeface="Arial" panose="020B0604020202020204" pitchFamily="34" charset="0"/>
              </a:rPr>
              <a:t> </a:t>
            </a:r>
            <a:r>
              <a:rPr sz="2200" spc="-20" dirty="0">
                <a:latin typeface="Arial" panose="020B0604020202020204" pitchFamily="34" charset="0"/>
                <a:cs typeface="Arial" panose="020B0604020202020204" pitchFamily="34" charset="0"/>
              </a:rPr>
              <a:t>Pubs </a:t>
            </a:r>
            <a:r>
              <a:rPr sz="2200" dirty="0">
                <a:latin typeface="Arial" panose="020B0604020202020204" pitchFamily="34" charset="0"/>
                <a:cs typeface="Arial" panose="020B0604020202020204" pitchFamily="34" charset="0"/>
              </a:rPr>
              <a:t>to</a:t>
            </a:r>
            <a:r>
              <a:rPr sz="2200" spc="-30" dirty="0">
                <a:latin typeface="Arial" panose="020B0604020202020204" pitchFamily="34" charset="0"/>
                <a:cs typeface="Arial" panose="020B0604020202020204" pitchFamily="34" charset="0"/>
              </a:rPr>
              <a:t> </a:t>
            </a:r>
            <a:r>
              <a:rPr sz="2200" spc="-10" dirty="0">
                <a:latin typeface="Arial" panose="020B0604020202020204" pitchFamily="34" charset="0"/>
                <a:cs typeface="Arial" panose="020B0604020202020204" pitchFamily="34" charset="0"/>
              </a:rPr>
              <a:t>produce?</a:t>
            </a:r>
            <a:endParaRPr sz="2200" dirty="0">
              <a:latin typeface="Arial" panose="020B0604020202020204" pitchFamily="34" charset="0"/>
              <a:cs typeface="Arial" panose="020B0604020202020204" pitchFamily="34" charset="0"/>
            </a:endParaRPr>
          </a:p>
          <a:p>
            <a:pPr marL="354965" indent="-342265">
              <a:lnSpc>
                <a:spcPct val="100000"/>
              </a:lnSpc>
              <a:spcBef>
                <a:spcPts val="1130"/>
              </a:spcBef>
              <a:buSzPct val="79545"/>
              <a:buChar char="•"/>
              <a:tabLst>
                <a:tab pos="354965" algn="l"/>
              </a:tabLst>
            </a:pPr>
            <a:r>
              <a:rPr sz="2200" dirty="0">
                <a:latin typeface="Arial" panose="020B0604020202020204" pitchFamily="34" charset="0"/>
                <a:cs typeface="Arial" panose="020B0604020202020204" pitchFamily="34" charset="0"/>
              </a:rPr>
              <a:t>Why</a:t>
            </a:r>
            <a:r>
              <a:rPr sz="2200" spc="-5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is</a:t>
            </a:r>
            <a:r>
              <a:rPr sz="2200" spc="-5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there</a:t>
            </a:r>
            <a:r>
              <a:rPr sz="2200" spc="-4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no</a:t>
            </a:r>
            <a:r>
              <a:rPr sz="2200" spc="-5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Opportunity</a:t>
            </a:r>
            <a:r>
              <a:rPr sz="2200" spc="-40" dirty="0">
                <a:latin typeface="Arial" panose="020B0604020202020204" pitchFamily="34" charset="0"/>
                <a:cs typeface="Arial" panose="020B0604020202020204" pitchFamily="34" charset="0"/>
              </a:rPr>
              <a:t> </a:t>
            </a:r>
            <a:r>
              <a:rPr sz="2200" spc="-10" dirty="0">
                <a:latin typeface="Arial" panose="020B0604020202020204" pitchFamily="34" charset="0"/>
                <a:cs typeface="Arial" panose="020B0604020202020204" pitchFamily="34" charset="0"/>
              </a:rPr>
              <a:t>Cost?</a:t>
            </a:r>
            <a:endParaRPr sz="2200" dirty="0">
              <a:latin typeface="Arial" panose="020B0604020202020204" pitchFamily="34" charset="0"/>
              <a:cs typeface="Arial" panose="020B0604020202020204" pitchFamily="34" charset="0"/>
            </a:endParaRPr>
          </a:p>
          <a:p>
            <a:pPr marL="355600" marR="1195705" indent="-342900">
              <a:lnSpc>
                <a:spcPct val="100000"/>
              </a:lnSpc>
              <a:spcBef>
                <a:spcPts val="1130"/>
              </a:spcBef>
              <a:buSzPct val="79545"/>
              <a:buChar char="•"/>
              <a:tabLst>
                <a:tab pos="355600" algn="l"/>
              </a:tabLst>
            </a:pPr>
            <a:r>
              <a:rPr sz="2200" dirty="0">
                <a:latin typeface="Arial" panose="020B0604020202020204" pitchFamily="34" charset="0"/>
                <a:cs typeface="Arial" panose="020B0604020202020204" pitchFamily="34" charset="0"/>
              </a:rPr>
              <a:t>Consider</a:t>
            </a:r>
            <a:r>
              <a:rPr sz="2200" spc="-100" dirty="0">
                <a:latin typeface="Arial" panose="020B0604020202020204" pitchFamily="34" charset="0"/>
                <a:cs typeface="Arial" panose="020B0604020202020204" pitchFamily="34" charset="0"/>
              </a:rPr>
              <a:t> </a:t>
            </a:r>
            <a:r>
              <a:rPr sz="2200" u="sng" dirty="0">
                <a:uFill>
                  <a:solidFill>
                    <a:srgbClr val="000000"/>
                  </a:solidFill>
                </a:uFill>
                <a:latin typeface="Arial" panose="020B0604020202020204" pitchFamily="34" charset="0"/>
                <a:cs typeface="Arial" panose="020B0604020202020204" pitchFamily="34" charset="0"/>
              </a:rPr>
              <a:t>Qualitative</a:t>
            </a:r>
            <a:r>
              <a:rPr sz="2200" u="sng" spc="-100" dirty="0">
                <a:uFill>
                  <a:solidFill>
                    <a:srgbClr val="000000"/>
                  </a:solidFill>
                </a:uFill>
                <a:latin typeface="Arial" panose="020B0604020202020204" pitchFamily="34" charset="0"/>
                <a:cs typeface="Arial" panose="020B0604020202020204" pitchFamily="34" charset="0"/>
              </a:rPr>
              <a:t> </a:t>
            </a:r>
            <a:r>
              <a:rPr sz="2200" u="sng" dirty="0">
                <a:uFill>
                  <a:solidFill>
                    <a:srgbClr val="000000"/>
                  </a:solidFill>
                </a:uFill>
                <a:latin typeface="Arial" panose="020B0604020202020204" pitchFamily="34" charset="0"/>
                <a:cs typeface="Arial" panose="020B0604020202020204" pitchFamily="34" charset="0"/>
              </a:rPr>
              <a:t>Support</a:t>
            </a:r>
            <a:r>
              <a:rPr sz="2200" u="sng" spc="-85" dirty="0">
                <a:uFill>
                  <a:solidFill>
                    <a:srgbClr val="000000"/>
                  </a:solidFill>
                </a:uFill>
                <a:latin typeface="Arial" panose="020B0604020202020204" pitchFamily="34" charset="0"/>
                <a:cs typeface="Arial" panose="020B0604020202020204" pitchFamily="34" charset="0"/>
              </a:rPr>
              <a:t> </a:t>
            </a:r>
            <a:r>
              <a:rPr sz="2200" spc="-25" dirty="0">
                <a:latin typeface="Arial" panose="020B0604020202020204" pitchFamily="34" charset="0"/>
                <a:cs typeface="Arial" panose="020B0604020202020204" pitchFamily="34" charset="0"/>
              </a:rPr>
              <a:t>for </a:t>
            </a:r>
            <a:r>
              <a:rPr sz="2200" spc="-10" dirty="0">
                <a:latin typeface="Arial" panose="020B0604020202020204" pitchFamily="34" charset="0"/>
                <a:cs typeface="Arial" panose="020B0604020202020204" pitchFamily="34" charset="0"/>
              </a:rPr>
              <a:t>accepting/rejecting</a:t>
            </a:r>
            <a:r>
              <a:rPr sz="2200" spc="-3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this</a:t>
            </a:r>
            <a:r>
              <a:rPr sz="2200" spc="-20" dirty="0">
                <a:latin typeface="Arial" panose="020B0604020202020204" pitchFamily="34" charset="0"/>
                <a:cs typeface="Arial" panose="020B0604020202020204" pitchFamily="34" charset="0"/>
              </a:rPr>
              <a:t> order</a:t>
            </a:r>
            <a:endParaRPr sz="2200" dirty="0">
              <a:latin typeface="Arial" panose="020B0604020202020204" pitchFamily="34" charset="0"/>
              <a:cs typeface="Arial" panose="020B0604020202020204" pitchFamily="34" charset="0"/>
            </a:endParaRPr>
          </a:p>
          <a:p>
            <a:pPr marL="1087120" lvl="1" indent="-160020">
              <a:lnSpc>
                <a:spcPct val="100000"/>
              </a:lnSpc>
              <a:spcBef>
                <a:spcPts val="1125"/>
              </a:spcBef>
              <a:buSzPct val="79545"/>
              <a:buChar char="•"/>
              <a:tabLst>
                <a:tab pos="1087120" algn="l"/>
              </a:tabLst>
            </a:pPr>
            <a:r>
              <a:rPr sz="2200" dirty="0">
                <a:latin typeface="Arial" panose="020B0604020202020204" pitchFamily="34" charset="0"/>
                <a:cs typeface="Arial" panose="020B0604020202020204" pitchFamily="34" charset="0"/>
              </a:rPr>
              <a:t>Reputation,</a:t>
            </a:r>
            <a:r>
              <a:rPr sz="2200" spc="-6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Sense</a:t>
            </a:r>
            <a:r>
              <a:rPr sz="2200" spc="-8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of</a:t>
            </a:r>
            <a:r>
              <a:rPr sz="2200" spc="-6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Service,</a:t>
            </a:r>
            <a:r>
              <a:rPr sz="2200" spc="-75" dirty="0">
                <a:latin typeface="Arial" panose="020B0604020202020204" pitchFamily="34" charset="0"/>
                <a:cs typeface="Arial" panose="020B0604020202020204" pitchFamily="34" charset="0"/>
              </a:rPr>
              <a:t> </a:t>
            </a:r>
            <a:r>
              <a:rPr sz="2200" spc="-20" dirty="0">
                <a:latin typeface="Arial" panose="020B0604020202020204" pitchFamily="34" charset="0"/>
                <a:cs typeface="Arial" panose="020B0604020202020204" pitchFamily="34" charset="0"/>
              </a:rPr>
              <a:t>etc</a:t>
            </a:r>
            <a:r>
              <a:rPr sz="2200" spc="-20" dirty="0">
                <a:latin typeface="Arial MT"/>
                <a:cs typeface="Arial MT"/>
              </a:rPr>
              <a:t>.</a:t>
            </a:r>
            <a:endParaRPr sz="2200" dirty="0">
              <a:latin typeface="Arial MT"/>
              <a:cs typeface="Arial MT"/>
            </a:endParaRPr>
          </a:p>
        </p:txBody>
      </p:sp>
      <p:graphicFrame>
        <p:nvGraphicFramePr>
          <p:cNvPr id="4" name="object 4"/>
          <p:cNvGraphicFramePr>
            <a:graphicFrameLocks noGrp="1"/>
          </p:cNvGraphicFramePr>
          <p:nvPr/>
        </p:nvGraphicFramePr>
        <p:xfrm>
          <a:off x="479377" y="1196752"/>
          <a:ext cx="4867274" cy="4536503"/>
        </p:xfrm>
        <a:graphic>
          <a:graphicData uri="http://schemas.openxmlformats.org/drawingml/2006/table">
            <a:tbl>
              <a:tblPr firstRow="1" bandRow="1">
                <a:tableStyleId>{2D5ABB26-0587-4C30-8999-92F81FD0307C}</a:tableStyleId>
              </a:tblPr>
              <a:tblGrid>
                <a:gridCol w="2520315">
                  <a:extLst>
                    <a:ext uri="{9D8B030D-6E8A-4147-A177-3AD203B41FA5}">
                      <a16:colId xmlns:a16="http://schemas.microsoft.com/office/drawing/2014/main" val="20000"/>
                    </a:ext>
                  </a:extLst>
                </a:gridCol>
                <a:gridCol w="1122680">
                  <a:extLst>
                    <a:ext uri="{9D8B030D-6E8A-4147-A177-3AD203B41FA5}">
                      <a16:colId xmlns:a16="http://schemas.microsoft.com/office/drawing/2014/main" val="20001"/>
                    </a:ext>
                  </a:extLst>
                </a:gridCol>
                <a:gridCol w="1224279">
                  <a:extLst>
                    <a:ext uri="{9D8B030D-6E8A-4147-A177-3AD203B41FA5}">
                      <a16:colId xmlns:a16="http://schemas.microsoft.com/office/drawing/2014/main" val="20002"/>
                    </a:ext>
                  </a:extLst>
                </a:gridCol>
              </a:tblGrid>
              <a:tr h="593996">
                <a:tc>
                  <a:txBody>
                    <a:bodyPr/>
                    <a:lstStyle/>
                    <a:p>
                      <a:pPr>
                        <a:lnSpc>
                          <a:spcPct val="100000"/>
                        </a:lnSpc>
                      </a:pPr>
                      <a:endParaRPr sz="20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172720">
                        <a:lnSpc>
                          <a:spcPct val="100000"/>
                        </a:lnSpc>
                        <a:spcBef>
                          <a:spcPts val="1040"/>
                        </a:spcBef>
                      </a:pPr>
                      <a:r>
                        <a:rPr sz="1600" b="1" dirty="0">
                          <a:solidFill>
                            <a:srgbClr val="FFFFFF"/>
                          </a:solidFill>
                          <a:latin typeface="Arial"/>
                          <a:cs typeface="Arial"/>
                        </a:rPr>
                        <a:t>Per</a:t>
                      </a:r>
                      <a:r>
                        <a:rPr sz="1600" b="1" spc="-35" dirty="0">
                          <a:solidFill>
                            <a:srgbClr val="FFFFFF"/>
                          </a:solidFill>
                          <a:latin typeface="Arial"/>
                          <a:cs typeface="Arial"/>
                        </a:rPr>
                        <a:t> </a:t>
                      </a:r>
                      <a:r>
                        <a:rPr sz="1600" b="1" spc="-20" dirty="0">
                          <a:solidFill>
                            <a:srgbClr val="FFFFFF"/>
                          </a:solidFill>
                          <a:latin typeface="Arial"/>
                          <a:cs typeface="Arial"/>
                        </a:rPr>
                        <a:t>Unit</a:t>
                      </a:r>
                      <a:endParaRPr sz="1600">
                        <a:latin typeface="Arial"/>
                        <a:cs typeface="Arial"/>
                      </a:endParaRPr>
                    </a:p>
                  </a:txBody>
                  <a:tcPr marL="0" marR="0" marT="1320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tc>
                  <a:txBody>
                    <a:bodyPr/>
                    <a:lstStyle/>
                    <a:p>
                      <a:pPr marL="378460">
                        <a:lnSpc>
                          <a:spcPct val="100000"/>
                        </a:lnSpc>
                        <a:spcBef>
                          <a:spcPts val="1040"/>
                        </a:spcBef>
                      </a:pPr>
                      <a:r>
                        <a:rPr sz="1600" b="1" spc="-10" dirty="0">
                          <a:solidFill>
                            <a:srgbClr val="FFFFFF"/>
                          </a:solidFill>
                          <a:latin typeface="Arial"/>
                          <a:cs typeface="Arial"/>
                        </a:rPr>
                        <a:t>Total</a:t>
                      </a:r>
                      <a:endParaRPr sz="1600">
                        <a:latin typeface="Arial"/>
                        <a:cs typeface="Arial"/>
                      </a:endParaRPr>
                    </a:p>
                  </a:txBody>
                  <a:tcPr marL="0" marR="0" marT="1320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0000"/>
                    </a:solidFill>
                  </a:tcPr>
                </a:tc>
                <a:extLst>
                  <a:ext uri="{0D108BD9-81ED-4DB2-BD59-A6C34878D82A}">
                    <a16:rowId xmlns:a16="http://schemas.microsoft.com/office/drawing/2014/main" val="10000"/>
                  </a:ext>
                </a:extLst>
              </a:tr>
              <a:tr h="660967">
                <a:tc>
                  <a:txBody>
                    <a:bodyPr/>
                    <a:lstStyle/>
                    <a:p>
                      <a:pPr marL="91440">
                        <a:lnSpc>
                          <a:spcPct val="100000"/>
                        </a:lnSpc>
                        <a:spcBef>
                          <a:spcPts val="320"/>
                        </a:spcBef>
                      </a:pPr>
                      <a:r>
                        <a:rPr sz="1600" spc="-10" dirty="0">
                          <a:latin typeface="Arial MT"/>
                          <a:cs typeface="Arial MT"/>
                        </a:rPr>
                        <a:t>Revenue</a:t>
                      </a:r>
                      <a:endParaRPr sz="1600">
                        <a:latin typeface="Arial MT"/>
                        <a:cs typeface="Arial MT"/>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20"/>
                        </a:spcBef>
                      </a:pPr>
                      <a:r>
                        <a:rPr sz="1600" spc="-10" dirty="0">
                          <a:latin typeface="Arial MT"/>
                          <a:cs typeface="Arial MT"/>
                        </a:rPr>
                        <a:t>$2.50</a:t>
                      </a:r>
                      <a:endParaRPr sz="1600">
                        <a:latin typeface="Arial MT"/>
                        <a:cs typeface="Arial MT"/>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20"/>
                        </a:spcBef>
                      </a:pPr>
                      <a:r>
                        <a:rPr sz="1600" spc="-10" dirty="0">
                          <a:latin typeface="Arial MT"/>
                          <a:cs typeface="Arial MT"/>
                        </a:rPr>
                        <a:t>$25,000</a:t>
                      </a:r>
                      <a:endParaRPr sz="1600">
                        <a:latin typeface="Arial MT"/>
                        <a:cs typeface="Arial MT"/>
                      </a:endParaRPr>
                    </a:p>
                  </a:txBody>
                  <a:tcPr marL="0" marR="0" marT="4064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1"/>
                  </a:ext>
                </a:extLst>
              </a:tr>
              <a:tr h="668246">
                <a:tc>
                  <a:txBody>
                    <a:bodyPr/>
                    <a:lstStyle/>
                    <a:p>
                      <a:pPr marL="91440">
                        <a:lnSpc>
                          <a:spcPct val="100000"/>
                        </a:lnSpc>
                        <a:spcBef>
                          <a:spcPts val="325"/>
                        </a:spcBef>
                      </a:pPr>
                      <a:r>
                        <a:rPr sz="1600" dirty="0">
                          <a:latin typeface="Arial MT"/>
                          <a:cs typeface="Arial MT"/>
                        </a:rPr>
                        <a:t>Direct</a:t>
                      </a:r>
                      <a:r>
                        <a:rPr sz="1600" spc="-40" dirty="0">
                          <a:latin typeface="Arial MT"/>
                          <a:cs typeface="Arial MT"/>
                        </a:rPr>
                        <a:t> </a:t>
                      </a:r>
                      <a:r>
                        <a:rPr sz="1600" spc="-10" dirty="0">
                          <a:latin typeface="Arial MT"/>
                          <a:cs typeface="Arial MT"/>
                        </a:rPr>
                        <a:t>Materials</a:t>
                      </a:r>
                      <a:endParaRPr sz="16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325"/>
                        </a:spcBef>
                      </a:pPr>
                      <a:r>
                        <a:rPr sz="1600" spc="-10" dirty="0">
                          <a:latin typeface="Arial MT"/>
                          <a:cs typeface="Arial MT"/>
                        </a:rPr>
                        <a:t>($1.25)</a:t>
                      </a:r>
                      <a:endParaRPr sz="16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325"/>
                        </a:spcBef>
                      </a:pPr>
                      <a:r>
                        <a:rPr sz="1600" spc="-10" dirty="0">
                          <a:latin typeface="Arial MT"/>
                          <a:cs typeface="Arial MT"/>
                        </a:rPr>
                        <a:t>($12,500)</a:t>
                      </a:r>
                      <a:endParaRPr sz="16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2"/>
                  </a:ext>
                </a:extLst>
              </a:tr>
              <a:tr h="486262">
                <a:tc>
                  <a:txBody>
                    <a:bodyPr/>
                    <a:lstStyle/>
                    <a:p>
                      <a:pPr marL="91440">
                        <a:lnSpc>
                          <a:spcPct val="100000"/>
                        </a:lnSpc>
                        <a:spcBef>
                          <a:spcPts val="325"/>
                        </a:spcBef>
                      </a:pPr>
                      <a:r>
                        <a:rPr sz="1600" dirty="0">
                          <a:latin typeface="Arial MT"/>
                          <a:cs typeface="Arial MT"/>
                        </a:rPr>
                        <a:t>Direct</a:t>
                      </a:r>
                      <a:r>
                        <a:rPr sz="1600" spc="-40" dirty="0">
                          <a:latin typeface="Arial MT"/>
                          <a:cs typeface="Arial MT"/>
                        </a:rPr>
                        <a:t> </a:t>
                      </a:r>
                      <a:r>
                        <a:rPr sz="1600" spc="-10" dirty="0">
                          <a:latin typeface="Arial MT"/>
                          <a:cs typeface="Arial MT"/>
                        </a:rPr>
                        <a:t>Labour</a:t>
                      </a:r>
                      <a:endParaRPr sz="16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25"/>
                        </a:spcBef>
                      </a:pPr>
                      <a:r>
                        <a:rPr sz="1600" spc="-10" dirty="0">
                          <a:latin typeface="Arial MT"/>
                          <a:cs typeface="Arial MT"/>
                        </a:rPr>
                        <a:t>($.15)</a:t>
                      </a:r>
                      <a:endParaRPr sz="16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325"/>
                        </a:spcBef>
                      </a:pPr>
                      <a:r>
                        <a:rPr sz="1600" spc="-10" dirty="0">
                          <a:latin typeface="Arial MT"/>
                          <a:cs typeface="Arial MT"/>
                        </a:rPr>
                        <a:t>($1,500)</a:t>
                      </a:r>
                      <a:endParaRPr sz="16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3"/>
                  </a:ext>
                </a:extLst>
              </a:tr>
              <a:tr h="668246">
                <a:tc>
                  <a:txBody>
                    <a:bodyPr/>
                    <a:lstStyle/>
                    <a:p>
                      <a:pPr marL="91440" marR="351155">
                        <a:lnSpc>
                          <a:spcPct val="100000"/>
                        </a:lnSpc>
                        <a:spcBef>
                          <a:spcPts val="325"/>
                        </a:spcBef>
                      </a:pPr>
                      <a:r>
                        <a:rPr sz="1600" spc="-10" dirty="0">
                          <a:latin typeface="Arial MT"/>
                          <a:cs typeface="Arial MT"/>
                        </a:rPr>
                        <a:t>Variable</a:t>
                      </a:r>
                      <a:r>
                        <a:rPr sz="1600" spc="-75" dirty="0">
                          <a:latin typeface="Arial MT"/>
                          <a:cs typeface="Arial MT"/>
                        </a:rPr>
                        <a:t> </a:t>
                      </a:r>
                      <a:r>
                        <a:rPr sz="1600" spc="-10" dirty="0">
                          <a:latin typeface="Arial MT"/>
                          <a:cs typeface="Arial MT"/>
                        </a:rPr>
                        <a:t>manufacturing overhead</a:t>
                      </a:r>
                      <a:endParaRPr sz="16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325"/>
                        </a:spcBef>
                      </a:pPr>
                      <a:r>
                        <a:rPr sz="1600" spc="-10" dirty="0">
                          <a:latin typeface="Arial MT"/>
                          <a:cs typeface="Arial MT"/>
                        </a:rPr>
                        <a:t>($.25)</a:t>
                      </a:r>
                      <a:endParaRPr sz="160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325"/>
                        </a:spcBef>
                      </a:pPr>
                      <a:r>
                        <a:rPr sz="1600" spc="-10" dirty="0">
                          <a:latin typeface="Arial MT"/>
                          <a:cs typeface="Arial MT"/>
                        </a:rPr>
                        <a:t>($2,500)</a:t>
                      </a:r>
                      <a:endParaRPr sz="1600" dirty="0">
                        <a:latin typeface="Arial MT"/>
                        <a:cs typeface="Arial MT"/>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4"/>
                  </a:ext>
                </a:extLst>
              </a:tr>
              <a:tr h="486262">
                <a:tc>
                  <a:txBody>
                    <a:bodyPr/>
                    <a:lstStyle/>
                    <a:p>
                      <a:pPr marL="91440">
                        <a:lnSpc>
                          <a:spcPct val="100000"/>
                        </a:lnSpc>
                        <a:spcBef>
                          <a:spcPts val="680"/>
                        </a:spcBef>
                      </a:pPr>
                      <a:r>
                        <a:rPr sz="1600" dirty="0">
                          <a:latin typeface="Arial MT"/>
                          <a:cs typeface="Arial MT"/>
                        </a:rPr>
                        <a:t>Contribution</a:t>
                      </a:r>
                      <a:r>
                        <a:rPr sz="1600" spc="-75" dirty="0">
                          <a:latin typeface="Arial MT"/>
                          <a:cs typeface="Arial MT"/>
                        </a:rPr>
                        <a:t> </a:t>
                      </a:r>
                      <a:r>
                        <a:rPr sz="1600" spc="-10" dirty="0">
                          <a:latin typeface="Arial MT"/>
                          <a:cs typeface="Arial MT"/>
                        </a:rPr>
                        <a:t>Margin</a:t>
                      </a:r>
                      <a:endParaRPr sz="1600">
                        <a:latin typeface="Arial MT"/>
                        <a:cs typeface="Arial MT"/>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680"/>
                        </a:spcBef>
                      </a:pPr>
                      <a:r>
                        <a:rPr sz="1600" spc="-20" dirty="0">
                          <a:latin typeface="Arial MT"/>
                          <a:cs typeface="Arial MT"/>
                        </a:rPr>
                        <a:t>$.85</a:t>
                      </a:r>
                      <a:endParaRPr sz="1600">
                        <a:latin typeface="Arial MT"/>
                        <a:cs typeface="Arial MT"/>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680"/>
                        </a:spcBef>
                      </a:pPr>
                      <a:r>
                        <a:rPr sz="1600" spc="-10" dirty="0">
                          <a:latin typeface="Arial MT"/>
                          <a:cs typeface="Arial MT"/>
                        </a:rPr>
                        <a:t>$8,500</a:t>
                      </a:r>
                      <a:endParaRPr sz="1600">
                        <a:latin typeface="Arial MT"/>
                        <a:cs typeface="Arial MT"/>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5"/>
                  </a:ext>
                </a:extLst>
              </a:tr>
              <a:tr h="486262">
                <a:tc>
                  <a:txBody>
                    <a:bodyPr/>
                    <a:lstStyle/>
                    <a:p>
                      <a:pPr marL="91440">
                        <a:lnSpc>
                          <a:spcPct val="100000"/>
                        </a:lnSpc>
                        <a:spcBef>
                          <a:spcPts val="675"/>
                        </a:spcBef>
                      </a:pPr>
                      <a:r>
                        <a:rPr sz="1600" dirty="0">
                          <a:latin typeface="Arial MT"/>
                          <a:cs typeface="Arial MT"/>
                        </a:rPr>
                        <a:t>Added</a:t>
                      </a:r>
                      <a:r>
                        <a:rPr sz="1600" spc="-35" dirty="0">
                          <a:latin typeface="Arial MT"/>
                          <a:cs typeface="Arial MT"/>
                        </a:rPr>
                        <a:t> </a:t>
                      </a:r>
                      <a:r>
                        <a:rPr sz="1600" dirty="0">
                          <a:latin typeface="Arial MT"/>
                          <a:cs typeface="Arial MT"/>
                        </a:rPr>
                        <a:t>“Fixed</a:t>
                      </a:r>
                      <a:r>
                        <a:rPr sz="1600" spc="-20" dirty="0">
                          <a:latin typeface="Arial MT"/>
                          <a:cs typeface="Arial MT"/>
                        </a:rPr>
                        <a:t> Cost”</a:t>
                      </a:r>
                      <a:endParaRPr sz="1600">
                        <a:latin typeface="Arial MT"/>
                        <a:cs typeface="Arial MT"/>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marL="91440">
                        <a:lnSpc>
                          <a:spcPct val="100000"/>
                        </a:lnSpc>
                        <a:spcBef>
                          <a:spcPts val="675"/>
                        </a:spcBef>
                      </a:pPr>
                      <a:r>
                        <a:rPr sz="1600" spc="-10" dirty="0">
                          <a:latin typeface="Arial MT"/>
                          <a:cs typeface="Arial MT"/>
                        </a:rPr>
                        <a:t>($5,000)</a:t>
                      </a:r>
                      <a:endParaRPr sz="1600">
                        <a:latin typeface="Arial MT"/>
                        <a:cs typeface="Arial MT"/>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6"/>
                  </a:ext>
                </a:extLst>
              </a:tr>
              <a:tr h="486262">
                <a:tc>
                  <a:txBody>
                    <a:bodyPr/>
                    <a:lstStyle/>
                    <a:p>
                      <a:pPr marL="91440">
                        <a:lnSpc>
                          <a:spcPct val="100000"/>
                        </a:lnSpc>
                        <a:spcBef>
                          <a:spcPts val="680"/>
                        </a:spcBef>
                      </a:pPr>
                      <a:r>
                        <a:rPr sz="1600" dirty="0">
                          <a:latin typeface="Arial MT"/>
                          <a:cs typeface="Arial MT"/>
                        </a:rPr>
                        <a:t>Incremental</a:t>
                      </a:r>
                      <a:r>
                        <a:rPr sz="1600" spc="-105" dirty="0">
                          <a:latin typeface="Arial MT"/>
                          <a:cs typeface="Arial MT"/>
                        </a:rPr>
                        <a:t> </a:t>
                      </a:r>
                      <a:r>
                        <a:rPr sz="1600" spc="-10" dirty="0">
                          <a:latin typeface="Arial MT"/>
                          <a:cs typeface="Arial MT"/>
                        </a:rPr>
                        <a:t>Profit</a:t>
                      </a:r>
                      <a:endParaRPr sz="1600">
                        <a:latin typeface="Arial MT"/>
                        <a:cs typeface="Arial MT"/>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a:lnSpc>
                          <a:spcPct val="100000"/>
                        </a:lnSpc>
                      </a:pPr>
                      <a:endParaRPr sz="20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tc>
                  <a:txBody>
                    <a:bodyPr/>
                    <a:lstStyle/>
                    <a:p>
                      <a:pPr marL="91440">
                        <a:lnSpc>
                          <a:spcPct val="100000"/>
                        </a:lnSpc>
                        <a:spcBef>
                          <a:spcPts val="680"/>
                        </a:spcBef>
                      </a:pPr>
                      <a:r>
                        <a:rPr sz="1600" u="sng" spc="-10" dirty="0">
                          <a:uFill>
                            <a:solidFill>
                              <a:srgbClr val="000000"/>
                            </a:solidFill>
                          </a:uFill>
                          <a:latin typeface="Arial MT"/>
                          <a:cs typeface="Arial MT"/>
                        </a:rPr>
                        <a:t>$3,500</a:t>
                      </a:r>
                      <a:endParaRPr sz="1600" dirty="0">
                        <a:latin typeface="Arial MT"/>
                        <a:cs typeface="Arial MT"/>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222402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8419E-1EEB-BDDF-3B7F-D23D12B2B2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A021FC3-3F97-AC60-92CC-5746EFA17A48}"/>
              </a:ext>
            </a:extLst>
          </p:cNvPr>
          <p:cNvSpPr>
            <a:spLocks noGrp="1"/>
          </p:cNvSpPr>
          <p:nvPr>
            <p:ph type="ctrTitle"/>
          </p:nvPr>
        </p:nvSpPr>
        <p:spPr>
          <a:xfrm>
            <a:off x="335361" y="1124744"/>
            <a:ext cx="5256583" cy="2448272"/>
          </a:xfrm>
        </p:spPr>
        <p:txBody>
          <a:bodyPr/>
          <a:lstStyle/>
          <a:p>
            <a:r>
              <a:rPr lang="en-CA" dirty="0"/>
              <a:t>Sell or Process Further</a:t>
            </a:r>
          </a:p>
        </p:txBody>
      </p:sp>
      <p:sp>
        <p:nvSpPr>
          <p:cNvPr id="2" name="Slide Number Placeholder 1">
            <a:extLst>
              <a:ext uri="{FF2B5EF4-FFF2-40B4-BE49-F238E27FC236}">
                <a16:creationId xmlns:a16="http://schemas.microsoft.com/office/drawing/2014/main" id="{16C33406-1E79-D6AF-4C38-35971BABB0E6}"/>
              </a:ext>
            </a:extLst>
          </p:cNvPr>
          <p:cNvSpPr>
            <a:spLocks noGrp="1"/>
          </p:cNvSpPr>
          <p:nvPr>
            <p:ph type="sldNum" sz="quarter" idx="4294967295"/>
          </p:nvPr>
        </p:nvSpPr>
        <p:spPr>
          <a:xfrm>
            <a:off x="0" y="6524625"/>
            <a:ext cx="479425" cy="217488"/>
          </a:xfrm>
        </p:spPr>
        <p:txBody>
          <a:bodyPr/>
          <a:lstStyle/>
          <a:p>
            <a:fld id="{9B7CDB38-6350-4CC9-AB0E-B9078CE1CE4B}" type="slidenum">
              <a:rPr lang="en-US" smtClean="0"/>
              <a:pPr/>
              <a:t>50</a:t>
            </a:fld>
            <a:endParaRPr lang="en-US"/>
          </a:p>
        </p:txBody>
      </p:sp>
    </p:spTree>
    <p:extLst>
      <p:ext uri="{BB962C8B-B14F-4D97-AF65-F5344CB8AC3E}">
        <p14:creationId xmlns:p14="http://schemas.microsoft.com/office/powerpoint/2010/main" val="35548937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FB9888-B3BF-60D5-977A-2FD0D0ED1FD0}"/>
              </a:ext>
            </a:extLst>
          </p:cNvPr>
          <p:cNvSpPr txBox="1"/>
          <p:nvPr/>
        </p:nvSpPr>
        <p:spPr>
          <a:xfrm>
            <a:off x="1415480" y="1196752"/>
            <a:ext cx="8424936" cy="3046988"/>
          </a:xfrm>
          <a:prstGeom prst="rect">
            <a:avLst/>
          </a:prstGeom>
          <a:noFill/>
        </p:spPr>
        <p:txBody>
          <a:bodyPr wrap="square">
            <a:spAutoFit/>
          </a:bodyPr>
          <a:lstStyle/>
          <a:p>
            <a:pPr marL="285750" indent="-285750">
              <a:buFont typeface="Arial" panose="020B0604020202020204" pitchFamily="34" charset="0"/>
              <a:buChar char="•"/>
            </a:pPr>
            <a:r>
              <a:rPr lang="en-CA" altLang="en-US" sz="2400" dirty="0">
                <a:solidFill>
                  <a:schemeClr val="tx1"/>
                </a:solidFill>
                <a:latin typeface="Arial" panose="020B0604020202020204" pitchFamily="34" charset="0"/>
                <a:cs typeface="Arial" panose="020B0604020202020204" pitchFamily="34" charset="0"/>
              </a:rPr>
              <a:t>In some industries, multiple end products are produced from a single raw material input.</a:t>
            </a:r>
          </a:p>
          <a:p>
            <a:pPr marL="171450" indent="-171450">
              <a:buFont typeface="Arial" panose="020B0604020202020204" pitchFamily="34" charset="0"/>
              <a:buChar char="•"/>
            </a:pPr>
            <a:endParaRPr lang="en-CA" altLang="en-US" sz="24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A" altLang="en-US" sz="2400" dirty="0">
                <a:solidFill>
                  <a:schemeClr val="tx1"/>
                </a:solidFill>
                <a:latin typeface="Arial" panose="020B0604020202020204" pitchFamily="34" charset="0"/>
                <a:cs typeface="Arial" panose="020B0604020202020204" pitchFamily="34" charset="0"/>
              </a:rPr>
              <a:t>Two or more products produced from a common input are called joint products.</a:t>
            </a:r>
          </a:p>
          <a:p>
            <a:pPr marL="171450" indent="-171450">
              <a:buFont typeface="Arial" panose="020B0604020202020204" pitchFamily="34" charset="0"/>
              <a:buChar char="•"/>
            </a:pPr>
            <a:endParaRPr lang="en-CA" altLang="en-US" sz="2400" dirty="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A" altLang="en-US" sz="2400" dirty="0">
                <a:solidFill>
                  <a:schemeClr val="tx1"/>
                </a:solidFill>
                <a:latin typeface="Arial" panose="020B0604020202020204" pitchFamily="34" charset="0"/>
                <a:cs typeface="Arial" panose="020B0604020202020204" pitchFamily="34" charset="0"/>
              </a:rPr>
              <a:t>The point in the manufacturing process where multiple products can be produced is called the split-off </a:t>
            </a:r>
            <a:r>
              <a:rPr lang="en-CA" altLang="en-US" sz="2400" dirty="0">
                <a:latin typeface="Arial" panose="020B0604020202020204" pitchFamily="34" charset="0"/>
                <a:cs typeface="Arial" panose="020B0604020202020204" pitchFamily="34" charset="0"/>
              </a:rPr>
              <a:t>point</a:t>
            </a:r>
            <a:endParaRPr lang="en-CA" sz="2400" dirty="0">
              <a:latin typeface="Arial" panose="020B0604020202020204" pitchFamily="34" charset="0"/>
              <a:cs typeface="Arial" panose="020B0604020202020204" pitchFamily="34" charset="0"/>
            </a:endParaRPr>
          </a:p>
        </p:txBody>
      </p:sp>
      <p:sp>
        <p:nvSpPr>
          <p:cNvPr id="6" name="Subtitle 8">
            <a:extLst>
              <a:ext uri="{FF2B5EF4-FFF2-40B4-BE49-F238E27FC236}">
                <a16:creationId xmlns:a16="http://schemas.microsoft.com/office/drawing/2014/main" id="{B99B61E9-B2C3-348A-2CB1-7B73B6EA5885}"/>
              </a:ext>
            </a:extLst>
          </p:cNvPr>
          <p:cNvSpPr txBox="1">
            <a:spLocks/>
          </p:cNvSpPr>
          <p:nvPr/>
        </p:nvSpPr>
        <p:spPr>
          <a:xfrm>
            <a:off x="191344" y="0"/>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Joint Product Costs</a:t>
            </a:r>
          </a:p>
        </p:txBody>
      </p:sp>
      <p:sp>
        <p:nvSpPr>
          <p:cNvPr id="7" name="Slide Number Placeholder 6">
            <a:extLst>
              <a:ext uri="{FF2B5EF4-FFF2-40B4-BE49-F238E27FC236}">
                <a16:creationId xmlns:a16="http://schemas.microsoft.com/office/drawing/2014/main" id="{84FC1A05-AB9D-49B5-49EB-A0069D8093E7}"/>
              </a:ext>
            </a:extLst>
          </p:cNvPr>
          <p:cNvSpPr>
            <a:spLocks noGrp="1"/>
          </p:cNvSpPr>
          <p:nvPr>
            <p:ph type="sldNum" sz="quarter" idx="12"/>
          </p:nvPr>
        </p:nvSpPr>
        <p:spPr/>
        <p:txBody>
          <a:bodyPr/>
          <a:lstStyle/>
          <a:p>
            <a:fld id="{9B7CDB38-6350-4CC9-AB0E-B9078CE1CE4B}" type="slidenum">
              <a:rPr lang="en-US" smtClean="0"/>
              <a:pPr/>
              <a:t>51</a:t>
            </a:fld>
            <a:endParaRPr lang="en-US"/>
          </a:p>
        </p:txBody>
      </p:sp>
    </p:spTree>
  </p:cSld>
  <p:clrMapOvr>
    <a:masterClrMapping/>
  </p:clrMapOvr>
  <p:transition>
    <p:strips dir="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Oval 3">
            <a:extLst>
              <a:ext uri="{FF2B5EF4-FFF2-40B4-BE49-F238E27FC236}">
                <a16:creationId xmlns:a16="http://schemas.microsoft.com/office/drawing/2014/main" id="{71A80B70-F269-42A3-8A56-5FF3EA27492C}"/>
              </a:ext>
            </a:extLst>
          </p:cNvPr>
          <p:cNvSpPr>
            <a:spLocks noChangeArrowheads="1"/>
          </p:cNvSpPr>
          <p:nvPr/>
        </p:nvSpPr>
        <p:spPr bwMode="auto">
          <a:xfrm>
            <a:off x="1917700" y="2930525"/>
            <a:ext cx="1346200" cy="812800"/>
          </a:xfrm>
          <a:prstGeom prst="ellipse">
            <a:avLst/>
          </a:prstGeom>
          <a:solidFill>
            <a:srgbClr val="1C3163"/>
          </a:solidFill>
          <a:ln w="25399">
            <a:solidFill>
              <a:schemeClr val="accent1">
                <a:lumMod val="50000"/>
              </a:schemeClr>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CA" altLang="en-US">
              <a:solidFill>
                <a:schemeClr val="bg1"/>
              </a:solidFill>
            </a:endParaRPr>
          </a:p>
        </p:txBody>
      </p:sp>
      <p:sp>
        <p:nvSpPr>
          <p:cNvPr id="113667" name="Rectangle 4">
            <a:extLst>
              <a:ext uri="{FF2B5EF4-FFF2-40B4-BE49-F238E27FC236}">
                <a16:creationId xmlns:a16="http://schemas.microsoft.com/office/drawing/2014/main" id="{D05FBD25-F422-4D61-AA5E-EF15C62C42B1}"/>
              </a:ext>
            </a:extLst>
          </p:cNvPr>
          <p:cNvSpPr>
            <a:spLocks noChangeArrowheads="1"/>
          </p:cNvSpPr>
          <p:nvPr/>
        </p:nvSpPr>
        <p:spPr bwMode="auto">
          <a:xfrm>
            <a:off x="2217739" y="2987675"/>
            <a:ext cx="75247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000">
                <a:solidFill>
                  <a:schemeClr val="bg1"/>
                </a:solidFill>
              </a:rPr>
              <a:t>Joint</a:t>
            </a:r>
          </a:p>
          <a:p>
            <a:pPr eaLnBrk="1" hangingPunct="1"/>
            <a:r>
              <a:rPr lang="en-CA" altLang="en-US" sz="2000">
                <a:solidFill>
                  <a:schemeClr val="bg1"/>
                </a:solidFill>
              </a:rPr>
              <a:t>Input</a:t>
            </a:r>
          </a:p>
        </p:txBody>
      </p:sp>
      <p:sp>
        <p:nvSpPr>
          <p:cNvPr id="113668" name="Rectangle 5">
            <a:extLst>
              <a:ext uri="{FF2B5EF4-FFF2-40B4-BE49-F238E27FC236}">
                <a16:creationId xmlns:a16="http://schemas.microsoft.com/office/drawing/2014/main" id="{43CC0FF3-73E3-4EEB-8B20-E7E8005C3AC4}"/>
              </a:ext>
            </a:extLst>
          </p:cNvPr>
          <p:cNvSpPr>
            <a:spLocks noChangeArrowheads="1"/>
          </p:cNvSpPr>
          <p:nvPr/>
        </p:nvSpPr>
        <p:spPr bwMode="auto">
          <a:xfrm>
            <a:off x="3716338" y="2851150"/>
            <a:ext cx="1408112" cy="1016000"/>
          </a:xfrm>
          <a:prstGeom prst="rect">
            <a:avLst/>
          </a:prstGeom>
          <a:solidFill>
            <a:srgbClr val="C0C0C0"/>
          </a:solidFill>
          <a:ln w="12700">
            <a:solidFill>
              <a:srgbClr val="0000CC"/>
            </a:solidFill>
            <a:miter lim="800000"/>
            <a:headEnd/>
            <a:tailEnd/>
          </a:ln>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CA" altLang="en-US" sz="2000"/>
              <a:t>Common</a:t>
            </a:r>
          </a:p>
          <a:p>
            <a:pPr algn="ctr" eaLnBrk="1" hangingPunct="1"/>
            <a:r>
              <a:rPr lang="en-CA" altLang="en-US" sz="2000"/>
              <a:t>Production</a:t>
            </a:r>
          </a:p>
          <a:p>
            <a:pPr algn="ctr" eaLnBrk="1" hangingPunct="1"/>
            <a:r>
              <a:rPr lang="en-CA" altLang="en-US" sz="2000"/>
              <a:t>Process</a:t>
            </a:r>
          </a:p>
        </p:txBody>
      </p:sp>
      <p:sp>
        <p:nvSpPr>
          <p:cNvPr id="61446" name="Line 6">
            <a:extLst>
              <a:ext uri="{FF2B5EF4-FFF2-40B4-BE49-F238E27FC236}">
                <a16:creationId xmlns:a16="http://schemas.microsoft.com/office/drawing/2014/main" id="{5C84F2C6-4599-4DB5-BFA2-8F10DC47A843}"/>
              </a:ext>
            </a:extLst>
          </p:cNvPr>
          <p:cNvSpPr>
            <a:spLocks noChangeShapeType="1"/>
          </p:cNvSpPr>
          <p:nvPr/>
        </p:nvSpPr>
        <p:spPr bwMode="auto">
          <a:xfrm>
            <a:off x="3282950" y="3352800"/>
            <a:ext cx="368300" cy="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61447" name="Line 7">
            <a:extLst>
              <a:ext uri="{FF2B5EF4-FFF2-40B4-BE49-F238E27FC236}">
                <a16:creationId xmlns:a16="http://schemas.microsoft.com/office/drawing/2014/main" id="{8B411D52-86E3-4EDF-97DF-388C16883579}"/>
              </a:ext>
            </a:extLst>
          </p:cNvPr>
          <p:cNvSpPr>
            <a:spLocks noChangeShapeType="1"/>
          </p:cNvSpPr>
          <p:nvPr/>
        </p:nvSpPr>
        <p:spPr bwMode="auto">
          <a:xfrm flipV="1">
            <a:off x="5187950" y="2432050"/>
            <a:ext cx="673100" cy="92710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61448" name="Line 8">
            <a:extLst>
              <a:ext uri="{FF2B5EF4-FFF2-40B4-BE49-F238E27FC236}">
                <a16:creationId xmlns:a16="http://schemas.microsoft.com/office/drawing/2014/main" id="{2B323842-05A2-4E0F-A823-60B98417D17A}"/>
              </a:ext>
            </a:extLst>
          </p:cNvPr>
          <p:cNvSpPr>
            <a:spLocks noChangeShapeType="1"/>
          </p:cNvSpPr>
          <p:nvPr/>
        </p:nvSpPr>
        <p:spPr bwMode="auto">
          <a:xfrm>
            <a:off x="5187950" y="3352800"/>
            <a:ext cx="444500" cy="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61449" name="Line 9">
            <a:extLst>
              <a:ext uri="{FF2B5EF4-FFF2-40B4-BE49-F238E27FC236}">
                <a16:creationId xmlns:a16="http://schemas.microsoft.com/office/drawing/2014/main" id="{B6179A38-A635-496D-81EE-99C194DF0EFF}"/>
              </a:ext>
            </a:extLst>
          </p:cNvPr>
          <p:cNvSpPr>
            <a:spLocks noChangeShapeType="1"/>
          </p:cNvSpPr>
          <p:nvPr/>
        </p:nvSpPr>
        <p:spPr bwMode="auto">
          <a:xfrm>
            <a:off x="5187950" y="3359150"/>
            <a:ext cx="749300" cy="90170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446474" name="Rectangle 10">
            <a:extLst>
              <a:ext uri="{FF2B5EF4-FFF2-40B4-BE49-F238E27FC236}">
                <a16:creationId xmlns:a16="http://schemas.microsoft.com/office/drawing/2014/main" id="{30562166-8346-41DD-99D7-293495C9D2F1}"/>
              </a:ext>
            </a:extLst>
          </p:cNvPr>
          <p:cNvSpPr>
            <a:spLocks noChangeArrowheads="1"/>
          </p:cNvSpPr>
          <p:nvPr/>
        </p:nvSpPr>
        <p:spPr bwMode="auto">
          <a:xfrm>
            <a:off x="4611402" y="5395913"/>
            <a:ext cx="1175323" cy="828432"/>
          </a:xfrm>
          <a:prstGeom prst="rect">
            <a:avLst/>
          </a:prstGeom>
          <a:noFill/>
          <a:ln w="12699">
            <a:noFill/>
            <a:miter lim="800000"/>
            <a:headEnd/>
            <a:tailEnd/>
          </a:ln>
          <a:effectLst/>
        </p:spPr>
        <p:txBody>
          <a:bodyPr wrap="none" lIns="90488" tIns="44450" rIns="90488" bIns="44450">
            <a:spAutoFit/>
          </a:bodyPr>
          <a:lstStyle/>
          <a:p>
            <a:pPr algn="ctr" eaLnBrk="1" hangingPunct="1">
              <a:defRPr/>
            </a:pPr>
            <a:r>
              <a:rPr lang="en-CA" sz="2400" b="1">
                <a:solidFill>
                  <a:srgbClr val="1C3163"/>
                </a:solidFill>
                <a:effectLst>
                  <a:outerShdw blurRad="38100" dist="38100" dir="2700000" algn="tl">
                    <a:srgbClr val="C0C0C0"/>
                  </a:outerShdw>
                </a:effectLst>
              </a:rPr>
              <a:t>Split-Off</a:t>
            </a:r>
          </a:p>
          <a:p>
            <a:pPr algn="ctr" eaLnBrk="1" hangingPunct="1">
              <a:defRPr/>
            </a:pPr>
            <a:r>
              <a:rPr lang="en-CA" sz="2400" b="1" dirty="0">
                <a:solidFill>
                  <a:srgbClr val="1C3163"/>
                </a:solidFill>
                <a:effectLst>
                  <a:outerShdw blurRad="38100" dist="38100" dir="2700000" algn="tl">
                    <a:srgbClr val="C0C0C0"/>
                  </a:outerShdw>
                </a:effectLst>
              </a:rPr>
              <a:t>Point</a:t>
            </a:r>
          </a:p>
        </p:txBody>
      </p:sp>
      <p:sp>
        <p:nvSpPr>
          <p:cNvPr id="61451" name="Line 11">
            <a:extLst>
              <a:ext uri="{FF2B5EF4-FFF2-40B4-BE49-F238E27FC236}">
                <a16:creationId xmlns:a16="http://schemas.microsoft.com/office/drawing/2014/main" id="{B3A7412D-3B4A-4758-A125-2F9FAA2F238E}"/>
              </a:ext>
            </a:extLst>
          </p:cNvPr>
          <p:cNvSpPr>
            <a:spLocks noChangeShapeType="1"/>
          </p:cNvSpPr>
          <p:nvPr/>
        </p:nvSpPr>
        <p:spPr bwMode="auto">
          <a:xfrm>
            <a:off x="5199063" y="3359150"/>
            <a:ext cx="0" cy="1968500"/>
          </a:xfrm>
          <a:prstGeom prst="line">
            <a:avLst/>
          </a:prstGeom>
          <a:noFill/>
          <a:ln w="38100">
            <a:solidFill>
              <a:srgbClr val="ED037C"/>
            </a:solidFill>
            <a:prstDash val="dash"/>
            <a:round/>
            <a:headEnd type="triangle" w="med" len="med"/>
            <a:tailEn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25617" name="Oval 120">
            <a:extLst>
              <a:ext uri="{FF2B5EF4-FFF2-40B4-BE49-F238E27FC236}">
                <a16:creationId xmlns:a16="http://schemas.microsoft.com/office/drawing/2014/main" id="{FC785CCA-6121-4204-88CB-9C92E22AFA68}"/>
              </a:ext>
            </a:extLst>
          </p:cNvPr>
          <p:cNvSpPr>
            <a:spLocks noChangeArrowheads="1"/>
          </p:cNvSpPr>
          <p:nvPr/>
        </p:nvSpPr>
        <p:spPr bwMode="auto">
          <a:xfrm>
            <a:off x="5754688" y="1651000"/>
            <a:ext cx="1346200" cy="812800"/>
          </a:xfrm>
          <a:prstGeom prst="ellipse">
            <a:avLst/>
          </a:prstGeom>
          <a:solidFill>
            <a:srgbClr val="FFFFFF"/>
          </a:solidFill>
          <a:ln w="25399">
            <a:solidFill>
              <a:schemeClr val="accent1">
                <a:lumMod val="50000"/>
              </a:schemeClr>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CA" altLang="en-US"/>
          </a:p>
        </p:txBody>
      </p:sp>
      <p:sp>
        <p:nvSpPr>
          <p:cNvPr id="113676" name="Rectangle 121">
            <a:extLst>
              <a:ext uri="{FF2B5EF4-FFF2-40B4-BE49-F238E27FC236}">
                <a16:creationId xmlns:a16="http://schemas.microsoft.com/office/drawing/2014/main" id="{6D40690D-FA7A-43B9-870E-E0EFC2B915D8}"/>
              </a:ext>
            </a:extLst>
          </p:cNvPr>
          <p:cNvSpPr>
            <a:spLocks noChangeArrowheads="1"/>
          </p:cNvSpPr>
          <p:nvPr/>
        </p:nvSpPr>
        <p:spPr bwMode="auto">
          <a:xfrm>
            <a:off x="6186489" y="1860551"/>
            <a:ext cx="496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000"/>
              <a:t>Oil</a:t>
            </a:r>
          </a:p>
        </p:txBody>
      </p:sp>
      <p:sp>
        <p:nvSpPr>
          <p:cNvPr id="25619" name="Oval 122">
            <a:extLst>
              <a:ext uri="{FF2B5EF4-FFF2-40B4-BE49-F238E27FC236}">
                <a16:creationId xmlns:a16="http://schemas.microsoft.com/office/drawing/2014/main" id="{39530ECE-BC36-4F85-9818-53AA6C808167}"/>
              </a:ext>
            </a:extLst>
          </p:cNvPr>
          <p:cNvSpPr>
            <a:spLocks noChangeArrowheads="1"/>
          </p:cNvSpPr>
          <p:nvPr/>
        </p:nvSpPr>
        <p:spPr bwMode="auto">
          <a:xfrm>
            <a:off x="5754688" y="2930525"/>
            <a:ext cx="1346200" cy="812800"/>
          </a:xfrm>
          <a:prstGeom prst="ellipse">
            <a:avLst/>
          </a:prstGeom>
          <a:solidFill>
            <a:srgbClr val="FFFFFF"/>
          </a:solidFill>
          <a:ln w="25399">
            <a:solidFill>
              <a:schemeClr val="accent1">
                <a:lumMod val="50000"/>
              </a:schemeClr>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CA" altLang="en-US"/>
          </a:p>
        </p:txBody>
      </p:sp>
      <p:sp>
        <p:nvSpPr>
          <p:cNvPr id="113678" name="Rectangle 123">
            <a:extLst>
              <a:ext uri="{FF2B5EF4-FFF2-40B4-BE49-F238E27FC236}">
                <a16:creationId xmlns:a16="http://schemas.microsoft.com/office/drawing/2014/main" id="{3A66CBF8-7CEB-495A-9DA9-E4F4737024B8}"/>
              </a:ext>
            </a:extLst>
          </p:cNvPr>
          <p:cNvSpPr>
            <a:spLocks noChangeArrowheads="1"/>
          </p:cNvSpPr>
          <p:nvPr/>
        </p:nvSpPr>
        <p:spPr bwMode="auto">
          <a:xfrm>
            <a:off x="5848350" y="3140076"/>
            <a:ext cx="1195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000"/>
              <a:t>Gasoline</a:t>
            </a:r>
          </a:p>
        </p:txBody>
      </p:sp>
      <p:sp>
        <p:nvSpPr>
          <p:cNvPr id="25621" name="Oval 124">
            <a:extLst>
              <a:ext uri="{FF2B5EF4-FFF2-40B4-BE49-F238E27FC236}">
                <a16:creationId xmlns:a16="http://schemas.microsoft.com/office/drawing/2014/main" id="{DECD35B9-D0B1-45F1-9FDC-FF6DC81F9BD8}"/>
              </a:ext>
            </a:extLst>
          </p:cNvPr>
          <p:cNvSpPr>
            <a:spLocks noChangeArrowheads="1"/>
          </p:cNvSpPr>
          <p:nvPr/>
        </p:nvSpPr>
        <p:spPr bwMode="auto">
          <a:xfrm>
            <a:off x="5754688" y="4203700"/>
            <a:ext cx="1346200" cy="812800"/>
          </a:xfrm>
          <a:prstGeom prst="ellipse">
            <a:avLst/>
          </a:prstGeom>
          <a:solidFill>
            <a:srgbClr val="FFFFFF"/>
          </a:solidFill>
          <a:ln w="25399">
            <a:solidFill>
              <a:schemeClr val="accent1">
                <a:lumMod val="50000"/>
              </a:schemeClr>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CA" altLang="en-US"/>
          </a:p>
        </p:txBody>
      </p:sp>
      <p:sp>
        <p:nvSpPr>
          <p:cNvPr id="113680" name="Rectangle 125">
            <a:extLst>
              <a:ext uri="{FF2B5EF4-FFF2-40B4-BE49-F238E27FC236}">
                <a16:creationId xmlns:a16="http://schemas.microsoft.com/office/drawing/2014/main" id="{E32C8822-02B2-4329-A6A5-D6A3ED5C99D5}"/>
              </a:ext>
            </a:extLst>
          </p:cNvPr>
          <p:cNvSpPr>
            <a:spLocks noChangeArrowheads="1"/>
          </p:cNvSpPr>
          <p:nvPr/>
        </p:nvSpPr>
        <p:spPr bwMode="auto">
          <a:xfrm>
            <a:off x="5775326" y="4413251"/>
            <a:ext cx="1381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000"/>
              <a:t>Chemicals</a:t>
            </a:r>
          </a:p>
        </p:txBody>
      </p:sp>
      <p:sp>
        <p:nvSpPr>
          <p:cNvPr id="132" name="Rectangle 26">
            <a:extLst>
              <a:ext uri="{FF2B5EF4-FFF2-40B4-BE49-F238E27FC236}">
                <a16:creationId xmlns:a16="http://schemas.microsoft.com/office/drawing/2014/main" id="{40262286-698F-4026-B666-C2A2D4C851BF}"/>
              </a:ext>
            </a:extLst>
          </p:cNvPr>
          <p:cNvSpPr>
            <a:spLocks noChangeArrowheads="1"/>
          </p:cNvSpPr>
          <p:nvPr/>
        </p:nvSpPr>
        <p:spPr bwMode="auto">
          <a:xfrm>
            <a:off x="4013434" y="1433513"/>
            <a:ext cx="831382" cy="828432"/>
          </a:xfrm>
          <a:prstGeom prst="rect">
            <a:avLst/>
          </a:prstGeom>
          <a:noFill/>
          <a:ln w="12699">
            <a:noFill/>
            <a:miter lim="800000"/>
            <a:headEnd/>
            <a:tailEnd/>
          </a:ln>
          <a:effectLst/>
        </p:spPr>
        <p:txBody>
          <a:bodyPr wrap="none" lIns="90488" tIns="44450" rIns="90488" bIns="44450">
            <a:spAutoFit/>
          </a:bodyPr>
          <a:lstStyle/>
          <a:p>
            <a:pPr algn="ctr" eaLnBrk="1" hangingPunct="1">
              <a:defRPr/>
            </a:pPr>
            <a:r>
              <a:rPr lang="en-CA" sz="2400" b="1" dirty="0">
                <a:solidFill>
                  <a:srgbClr val="1C3163"/>
                </a:solidFill>
                <a:effectLst>
                  <a:outerShdw blurRad="38100" dist="38100" dir="2700000" algn="tl">
                    <a:srgbClr val="C0C0C0"/>
                  </a:outerShdw>
                </a:effectLst>
              </a:rPr>
              <a:t>Joint</a:t>
            </a:r>
          </a:p>
          <a:p>
            <a:pPr algn="ctr" eaLnBrk="1" hangingPunct="1">
              <a:defRPr/>
            </a:pPr>
            <a:r>
              <a:rPr lang="en-CA" sz="2400" b="1" dirty="0">
                <a:solidFill>
                  <a:srgbClr val="1C3163"/>
                </a:solidFill>
                <a:effectLst>
                  <a:outerShdw blurRad="38100" dist="38100" dir="2700000" algn="tl">
                    <a:srgbClr val="C0C0C0"/>
                  </a:outerShdw>
                </a:effectLst>
              </a:rPr>
              <a:t>Costs</a:t>
            </a:r>
          </a:p>
        </p:txBody>
      </p:sp>
      <p:cxnSp>
        <p:nvCxnSpPr>
          <p:cNvPr id="113682" name="AutoShape 144">
            <a:extLst>
              <a:ext uri="{FF2B5EF4-FFF2-40B4-BE49-F238E27FC236}">
                <a16:creationId xmlns:a16="http://schemas.microsoft.com/office/drawing/2014/main" id="{7847A2CD-A369-4F65-9689-061AA8C4F58D}"/>
              </a:ext>
            </a:extLst>
          </p:cNvPr>
          <p:cNvCxnSpPr>
            <a:cxnSpLocks noChangeShapeType="1"/>
          </p:cNvCxnSpPr>
          <p:nvPr/>
        </p:nvCxnSpPr>
        <p:spPr bwMode="auto">
          <a:xfrm>
            <a:off x="4419600" y="2216150"/>
            <a:ext cx="0" cy="596900"/>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sp>
        <p:nvSpPr>
          <p:cNvPr id="5" name="Subtitle 8">
            <a:extLst>
              <a:ext uri="{FF2B5EF4-FFF2-40B4-BE49-F238E27FC236}">
                <a16:creationId xmlns:a16="http://schemas.microsoft.com/office/drawing/2014/main" id="{6A1859E6-EFA6-02AE-7403-08128884F24B}"/>
              </a:ext>
            </a:extLst>
          </p:cNvPr>
          <p:cNvSpPr txBox="1">
            <a:spLocks/>
          </p:cNvSpPr>
          <p:nvPr/>
        </p:nvSpPr>
        <p:spPr>
          <a:xfrm>
            <a:off x="191344" y="0"/>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Joint Product Costs</a:t>
            </a:r>
          </a:p>
        </p:txBody>
      </p:sp>
      <p:sp>
        <p:nvSpPr>
          <p:cNvPr id="7" name="Slide Number Placeholder 6">
            <a:extLst>
              <a:ext uri="{FF2B5EF4-FFF2-40B4-BE49-F238E27FC236}">
                <a16:creationId xmlns:a16="http://schemas.microsoft.com/office/drawing/2014/main" id="{A559FE60-BDB4-99C3-42F6-D793AF39AB1E}"/>
              </a:ext>
            </a:extLst>
          </p:cNvPr>
          <p:cNvSpPr>
            <a:spLocks noGrp="1"/>
          </p:cNvSpPr>
          <p:nvPr>
            <p:ph type="sldNum" sz="quarter" idx="12"/>
          </p:nvPr>
        </p:nvSpPr>
        <p:spPr/>
        <p:txBody>
          <a:bodyPr/>
          <a:lstStyle/>
          <a:p>
            <a:fld id="{9B7CDB38-6350-4CC9-AB0E-B9078CE1CE4B}" type="slidenum">
              <a:rPr lang="en-US" smtClean="0"/>
              <a:pPr/>
              <a:t>52</a:t>
            </a:fld>
            <a:endParaRPr lang="en-US"/>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Oval 3">
            <a:extLst>
              <a:ext uri="{FF2B5EF4-FFF2-40B4-BE49-F238E27FC236}">
                <a16:creationId xmlns:a16="http://schemas.microsoft.com/office/drawing/2014/main" id="{F2B912C0-9638-4ACF-ACC7-5F5490CA6AD7}"/>
              </a:ext>
            </a:extLst>
          </p:cNvPr>
          <p:cNvSpPr>
            <a:spLocks noChangeArrowheads="1"/>
          </p:cNvSpPr>
          <p:nvPr/>
        </p:nvSpPr>
        <p:spPr bwMode="auto">
          <a:xfrm>
            <a:off x="1917700" y="2930525"/>
            <a:ext cx="1346200" cy="812800"/>
          </a:xfrm>
          <a:prstGeom prst="ellipse">
            <a:avLst/>
          </a:prstGeom>
          <a:solidFill>
            <a:srgbClr val="1C3163"/>
          </a:solidFill>
          <a:ln w="25399">
            <a:solidFill>
              <a:schemeClr val="accent1">
                <a:lumMod val="50000"/>
              </a:schemeClr>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CA" altLang="en-US">
              <a:solidFill>
                <a:schemeClr val="bg1"/>
              </a:solidFill>
            </a:endParaRPr>
          </a:p>
        </p:txBody>
      </p:sp>
      <p:sp>
        <p:nvSpPr>
          <p:cNvPr id="115715" name="Rectangle 4">
            <a:extLst>
              <a:ext uri="{FF2B5EF4-FFF2-40B4-BE49-F238E27FC236}">
                <a16:creationId xmlns:a16="http://schemas.microsoft.com/office/drawing/2014/main" id="{BA9B81BC-1D13-49C9-9F2B-061C43ED083B}"/>
              </a:ext>
            </a:extLst>
          </p:cNvPr>
          <p:cNvSpPr>
            <a:spLocks noChangeArrowheads="1"/>
          </p:cNvSpPr>
          <p:nvPr/>
        </p:nvSpPr>
        <p:spPr bwMode="auto">
          <a:xfrm>
            <a:off x="2217739" y="2987675"/>
            <a:ext cx="75247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000" dirty="0">
                <a:solidFill>
                  <a:schemeClr val="bg1"/>
                </a:solidFill>
              </a:rPr>
              <a:t>Joint</a:t>
            </a:r>
          </a:p>
          <a:p>
            <a:pPr eaLnBrk="1" hangingPunct="1"/>
            <a:r>
              <a:rPr lang="en-CA" altLang="en-US" sz="2000" dirty="0">
                <a:solidFill>
                  <a:schemeClr val="bg1"/>
                </a:solidFill>
              </a:rPr>
              <a:t>Input</a:t>
            </a:r>
          </a:p>
        </p:txBody>
      </p:sp>
      <p:sp>
        <p:nvSpPr>
          <p:cNvPr id="115716" name="Rectangle 5">
            <a:extLst>
              <a:ext uri="{FF2B5EF4-FFF2-40B4-BE49-F238E27FC236}">
                <a16:creationId xmlns:a16="http://schemas.microsoft.com/office/drawing/2014/main" id="{6D462850-ED3E-4D7B-A14E-D7487B3D511E}"/>
              </a:ext>
            </a:extLst>
          </p:cNvPr>
          <p:cNvSpPr>
            <a:spLocks noChangeArrowheads="1"/>
          </p:cNvSpPr>
          <p:nvPr/>
        </p:nvSpPr>
        <p:spPr bwMode="auto">
          <a:xfrm>
            <a:off x="3716338" y="2851150"/>
            <a:ext cx="1408112" cy="1016000"/>
          </a:xfrm>
          <a:prstGeom prst="rect">
            <a:avLst/>
          </a:prstGeom>
          <a:solidFill>
            <a:srgbClr val="C0C0C0"/>
          </a:solidFill>
          <a:ln w="12700">
            <a:solidFill>
              <a:srgbClr val="0000CC"/>
            </a:solidFill>
            <a:miter lim="800000"/>
            <a:headEnd/>
            <a:tailEnd/>
          </a:ln>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CA" altLang="en-US" sz="2000" dirty="0"/>
              <a:t>Common</a:t>
            </a:r>
          </a:p>
          <a:p>
            <a:pPr algn="ctr" eaLnBrk="1" hangingPunct="1"/>
            <a:r>
              <a:rPr lang="en-CA" altLang="en-US" sz="2000" dirty="0"/>
              <a:t>Production</a:t>
            </a:r>
          </a:p>
          <a:p>
            <a:pPr algn="ctr" eaLnBrk="1" hangingPunct="1"/>
            <a:r>
              <a:rPr lang="en-CA" altLang="en-US" sz="2000" dirty="0"/>
              <a:t>Process</a:t>
            </a:r>
          </a:p>
        </p:txBody>
      </p:sp>
      <p:sp>
        <p:nvSpPr>
          <p:cNvPr id="62470" name="Line 6">
            <a:extLst>
              <a:ext uri="{FF2B5EF4-FFF2-40B4-BE49-F238E27FC236}">
                <a16:creationId xmlns:a16="http://schemas.microsoft.com/office/drawing/2014/main" id="{D4A2A4CC-E39B-4FB5-8316-20C02A2DD2C6}"/>
              </a:ext>
            </a:extLst>
          </p:cNvPr>
          <p:cNvSpPr>
            <a:spLocks noChangeShapeType="1"/>
          </p:cNvSpPr>
          <p:nvPr/>
        </p:nvSpPr>
        <p:spPr bwMode="auto">
          <a:xfrm>
            <a:off x="3282950" y="3352800"/>
            <a:ext cx="368300" cy="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62471" name="Line 7">
            <a:extLst>
              <a:ext uri="{FF2B5EF4-FFF2-40B4-BE49-F238E27FC236}">
                <a16:creationId xmlns:a16="http://schemas.microsoft.com/office/drawing/2014/main" id="{7CF75B25-FA4C-4D20-B4FE-91470540E594}"/>
              </a:ext>
            </a:extLst>
          </p:cNvPr>
          <p:cNvSpPr>
            <a:spLocks noChangeShapeType="1"/>
          </p:cNvSpPr>
          <p:nvPr/>
        </p:nvSpPr>
        <p:spPr bwMode="auto">
          <a:xfrm flipV="1">
            <a:off x="5187950" y="2432050"/>
            <a:ext cx="673100" cy="92710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62472" name="Line 8">
            <a:extLst>
              <a:ext uri="{FF2B5EF4-FFF2-40B4-BE49-F238E27FC236}">
                <a16:creationId xmlns:a16="http://schemas.microsoft.com/office/drawing/2014/main" id="{4C6C0E86-046B-4114-B261-376B22CC4A2B}"/>
              </a:ext>
            </a:extLst>
          </p:cNvPr>
          <p:cNvSpPr>
            <a:spLocks noChangeShapeType="1"/>
          </p:cNvSpPr>
          <p:nvPr/>
        </p:nvSpPr>
        <p:spPr bwMode="auto">
          <a:xfrm>
            <a:off x="5187950" y="3352800"/>
            <a:ext cx="444500" cy="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62473" name="Line 9">
            <a:extLst>
              <a:ext uri="{FF2B5EF4-FFF2-40B4-BE49-F238E27FC236}">
                <a16:creationId xmlns:a16="http://schemas.microsoft.com/office/drawing/2014/main" id="{495D4A26-A4EA-493C-9358-81A303F9576F}"/>
              </a:ext>
            </a:extLst>
          </p:cNvPr>
          <p:cNvSpPr>
            <a:spLocks noChangeShapeType="1"/>
          </p:cNvSpPr>
          <p:nvPr/>
        </p:nvSpPr>
        <p:spPr bwMode="auto">
          <a:xfrm>
            <a:off x="5187950" y="3359150"/>
            <a:ext cx="749300" cy="90170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446474" name="Rectangle 10">
            <a:extLst>
              <a:ext uri="{FF2B5EF4-FFF2-40B4-BE49-F238E27FC236}">
                <a16:creationId xmlns:a16="http://schemas.microsoft.com/office/drawing/2014/main" id="{C3809286-3AEA-474B-9320-4F3D9081CAA2}"/>
              </a:ext>
            </a:extLst>
          </p:cNvPr>
          <p:cNvSpPr>
            <a:spLocks noChangeArrowheads="1"/>
          </p:cNvSpPr>
          <p:nvPr/>
        </p:nvSpPr>
        <p:spPr bwMode="auto">
          <a:xfrm>
            <a:off x="4611402" y="5395913"/>
            <a:ext cx="1175323" cy="828432"/>
          </a:xfrm>
          <a:prstGeom prst="rect">
            <a:avLst/>
          </a:prstGeom>
          <a:noFill/>
          <a:ln w="12699">
            <a:noFill/>
            <a:miter lim="800000"/>
            <a:headEnd/>
            <a:tailEnd/>
          </a:ln>
          <a:effectLst/>
        </p:spPr>
        <p:txBody>
          <a:bodyPr wrap="none" lIns="90488" tIns="44450" rIns="90488" bIns="44450">
            <a:spAutoFit/>
          </a:bodyPr>
          <a:lstStyle/>
          <a:p>
            <a:pPr algn="ctr" eaLnBrk="1" hangingPunct="1">
              <a:defRPr/>
            </a:pPr>
            <a:r>
              <a:rPr lang="en-CA" sz="2400" b="1" dirty="0">
                <a:solidFill>
                  <a:srgbClr val="1C3163"/>
                </a:solidFill>
                <a:effectLst>
                  <a:outerShdw blurRad="38100" dist="38100" dir="2700000" algn="tl">
                    <a:srgbClr val="C0C0C0"/>
                  </a:outerShdw>
                </a:effectLst>
              </a:rPr>
              <a:t>Split-Off</a:t>
            </a:r>
          </a:p>
          <a:p>
            <a:pPr algn="ctr" eaLnBrk="1" hangingPunct="1">
              <a:defRPr/>
            </a:pPr>
            <a:r>
              <a:rPr lang="en-CA" sz="2400" b="1" dirty="0">
                <a:solidFill>
                  <a:srgbClr val="1C3163"/>
                </a:solidFill>
                <a:effectLst>
                  <a:outerShdw blurRad="38100" dist="38100" dir="2700000" algn="tl">
                    <a:srgbClr val="C0C0C0"/>
                  </a:outerShdw>
                </a:effectLst>
              </a:rPr>
              <a:t>Point</a:t>
            </a:r>
          </a:p>
        </p:txBody>
      </p:sp>
      <p:sp>
        <p:nvSpPr>
          <p:cNvPr id="62475" name="Line 11">
            <a:extLst>
              <a:ext uri="{FF2B5EF4-FFF2-40B4-BE49-F238E27FC236}">
                <a16:creationId xmlns:a16="http://schemas.microsoft.com/office/drawing/2014/main" id="{5BACA71D-40D6-423B-88CF-1BC26BD47C27}"/>
              </a:ext>
            </a:extLst>
          </p:cNvPr>
          <p:cNvSpPr>
            <a:spLocks noChangeShapeType="1"/>
          </p:cNvSpPr>
          <p:nvPr/>
        </p:nvSpPr>
        <p:spPr bwMode="auto">
          <a:xfrm>
            <a:off x="5199063" y="3359150"/>
            <a:ext cx="0" cy="1968500"/>
          </a:xfrm>
          <a:prstGeom prst="line">
            <a:avLst/>
          </a:prstGeom>
          <a:noFill/>
          <a:ln w="38100">
            <a:solidFill>
              <a:srgbClr val="ED037C"/>
            </a:solidFill>
            <a:prstDash val="dash"/>
            <a:round/>
            <a:headEnd type="triangle" w="med" len="med"/>
            <a:tailEn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25617" name="Oval 120">
            <a:extLst>
              <a:ext uri="{FF2B5EF4-FFF2-40B4-BE49-F238E27FC236}">
                <a16:creationId xmlns:a16="http://schemas.microsoft.com/office/drawing/2014/main" id="{D88059DA-59BE-4E77-AB42-A0A85C019F66}"/>
              </a:ext>
            </a:extLst>
          </p:cNvPr>
          <p:cNvSpPr>
            <a:spLocks noChangeArrowheads="1"/>
          </p:cNvSpPr>
          <p:nvPr/>
        </p:nvSpPr>
        <p:spPr bwMode="auto">
          <a:xfrm>
            <a:off x="5754688" y="1651000"/>
            <a:ext cx="1346200" cy="812800"/>
          </a:xfrm>
          <a:prstGeom prst="ellipse">
            <a:avLst/>
          </a:prstGeom>
          <a:solidFill>
            <a:srgbClr val="FFFFFF"/>
          </a:solidFill>
          <a:ln w="25399">
            <a:solidFill>
              <a:schemeClr val="accent1">
                <a:lumMod val="50000"/>
              </a:schemeClr>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CA" altLang="en-US"/>
          </a:p>
        </p:txBody>
      </p:sp>
      <p:sp>
        <p:nvSpPr>
          <p:cNvPr id="115724" name="Rectangle 121">
            <a:extLst>
              <a:ext uri="{FF2B5EF4-FFF2-40B4-BE49-F238E27FC236}">
                <a16:creationId xmlns:a16="http://schemas.microsoft.com/office/drawing/2014/main" id="{F391249D-FBF4-433C-BD94-F57A47D70DF1}"/>
              </a:ext>
            </a:extLst>
          </p:cNvPr>
          <p:cNvSpPr>
            <a:spLocks noChangeArrowheads="1"/>
          </p:cNvSpPr>
          <p:nvPr/>
        </p:nvSpPr>
        <p:spPr bwMode="auto">
          <a:xfrm>
            <a:off x="6186489" y="1860551"/>
            <a:ext cx="496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000" dirty="0"/>
              <a:t>Oil</a:t>
            </a:r>
          </a:p>
        </p:txBody>
      </p:sp>
      <p:sp>
        <p:nvSpPr>
          <p:cNvPr id="25619" name="Oval 122">
            <a:extLst>
              <a:ext uri="{FF2B5EF4-FFF2-40B4-BE49-F238E27FC236}">
                <a16:creationId xmlns:a16="http://schemas.microsoft.com/office/drawing/2014/main" id="{CF8F2118-A9AF-4603-BB50-8AB30D822EE0}"/>
              </a:ext>
            </a:extLst>
          </p:cNvPr>
          <p:cNvSpPr>
            <a:spLocks noChangeArrowheads="1"/>
          </p:cNvSpPr>
          <p:nvPr/>
        </p:nvSpPr>
        <p:spPr bwMode="auto">
          <a:xfrm>
            <a:off x="5754688" y="2930525"/>
            <a:ext cx="1346200" cy="812800"/>
          </a:xfrm>
          <a:prstGeom prst="ellipse">
            <a:avLst/>
          </a:prstGeom>
          <a:solidFill>
            <a:srgbClr val="FFFFFF"/>
          </a:solidFill>
          <a:ln w="25399">
            <a:solidFill>
              <a:schemeClr val="accent1">
                <a:lumMod val="50000"/>
              </a:schemeClr>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CA" altLang="en-US"/>
          </a:p>
        </p:txBody>
      </p:sp>
      <p:sp>
        <p:nvSpPr>
          <p:cNvPr id="115726" name="Rectangle 123">
            <a:extLst>
              <a:ext uri="{FF2B5EF4-FFF2-40B4-BE49-F238E27FC236}">
                <a16:creationId xmlns:a16="http://schemas.microsoft.com/office/drawing/2014/main" id="{79D953F3-F8F1-43D1-B4F9-AA557378E2A8}"/>
              </a:ext>
            </a:extLst>
          </p:cNvPr>
          <p:cNvSpPr>
            <a:spLocks noChangeArrowheads="1"/>
          </p:cNvSpPr>
          <p:nvPr/>
        </p:nvSpPr>
        <p:spPr bwMode="auto">
          <a:xfrm>
            <a:off x="5848350" y="3140076"/>
            <a:ext cx="1195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000" dirty="0"/>
              <a:t>Gasoline</a:t>
            </a:r>
          </a:p>
        </p:txBody>
      </p:sp>
      <p:sp>
        <p:nvSpPr>
          <p:cNvPr id="25621" name="Oval 124">
            <a:extLst>
              <a:ext uri="{FF2B5EF4-FFF2-40B4-BE49-F238E27FC236}">
                <a16:creationId xmlns:a16="http://schemas.microsoft.com/office/drawing/2014/main" id="{A93C40C6-6E6D-485F-BBF9-679CE9377895}"/>
              </a:ext>
            </a:extLst>
          </p:cNvPr>
          <p:cNvSpPr>
            <a:spLocks noChangeArrowheads="1"/>
          </p:cNvSpPr>
          <p:nvPr/>
        </p:nvSpPr>
        <p:spPr bwMode="auto">
          <a:xfrm>
            <a:off x="5754688" y="4203700"/>
            <a:ext cx="1346200" cy="812800"/>
          </a:xfrm>
          <a:prstGeom prst="ellipse">
            <a:avLst/>
          </a:prstGeom>
          <a:solidFill>
            <a:srgbClr val="FFFFFF"/>
          </a:solidFill>
          <a:ln w="25399">
            <a:solidFill>
              <a:schemeClr val="accent1">
                <a:lumMod val="50000"/>
              </a:schemeClr>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CA" altLang="en-US"/>
          </a:p>
        </p:txBody>
      </p:sp>
      <p:sp>
        <p:nvSpPr>
          <p:cNvPr id="115728" name="Rectangle 125">
            <a:extLst>
              <a:ext uri="{FF2B5EF4-FFF2-40B4-BE49-F238E27FC236}">
                <a16:creationId xmlns:a16="http://schemas.microsoft.com/office/drawing/2014/main" id="{1525E255-CA8A-4D0F-9A5E-FB1A32314706}"/>
              </a:ext>
            </a:extLst>
          </p:cNvPr>
          <p:cNvSpPr>
            <a:spLocks noChangeArrowheads="1"/>
          </p:cNvSpPr>
          <p:nvPr/>
        </p:nvSpPr>
        <p:spPr bwMode="auto">
          <a:xfrm>
            <a:off x="5775326" y="4413251"/>
            <a:ext cx="1381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000" dirty="0"/>
              <a:t>Chemicals</a:t>
            </a:r>
          </a:p>
        </p:txBody>
      </p:sp>
      <p:sp>
        <p:nvSpPr>
          <p:cNvPr id="132" name="Rectangle 26">
            <a:extLst>
              <a:ext uri="{FF2B5EF4-FFF2-40B4-BE49-F238E27FC236}">
                <a16:creationId xmlns:a16="http://schemas.microsoft.com/office/drawing/2014/main" id="{CF043D4C-BF34-452C-81B9-BD8DCBA58C18}"/>
              </a:ext>
            </a:extLst>
          </p:cNvPr>
          <p:cNvSpPr>
            <a:spLocks noChangeArrowheads="1"/>
          </p:cNvSpPr>
          <p:nvPr/>
        </p:nvSpPr>
        <p:spPr bwMode="auto">
          <a:xfrm>
            <a:off x="4013434" y="1433513"/>
            <a:ext cx="831382" cy="828432"/>
          </a:xfrm>
          <a:prstGeom prst="rect">
            <a:avLst/>
          </a:prstGeom>
          <a:noFill/>
          <a:ln w="12699">
            <a:noFill/>
            <a:miter lim="800000"/>
            <a:headEnd/>
            <a:tailEnd/>
          </a:ln>
          <a:effectLst/>
        </p:spPr>
        <p:txBody>
          <a:bodyPr wrap="none" lIns="90488" tIns="44450" rIns="90488" bIns="44450">
            <a:spAutoFit/>
          </a:bodyPr>
          <a:lstStyle/>
          <a:p>
            <a:pPr algn="ctr" eaLnBrk="1" hangingPunct="1">
              <a:defRPr/>
            </a:pPr>
            <a:r>
              <a:rPr lang="en-CA" sz="2400" b="1" dirty="0">
                <a:solidFill>
                  <a:srgbClr val="1C3163"/>
                </a:solidFill>
                <a:effectLst>
                  <a:outerShdw blurRad="38100" dist="38100" dir="2700000" algn="tl">
                    <a:srgbClr val="C0C0C0"/>
                  </a:outerShdw>
                </a:effectLst>
              </a:rPr>
              <a:t>Joint</a:t>
            </a:r>
          </a:p>
          <a:p>
            <a:pPr algn="ctr" eaLnBrk="1" hangingPunct="1">
              <a:defRPr/>
            </a:pPr>
            <a:r>
              <a:rPr lang="en-CA" sz="2400" b="1" dirty="0">
                <a:solidFill>
                  <a:srgbClr val="1C3163"/>
                </a:solidFill>
                <a:effectLst>
                  <a:outerShdw blurRad="38100" dist="38100" dir="2700000" algn="tl">
                    <a:srgbClr val="C0C0C0"/>
                  </a:outerShdw>
                </a:effectLst>
              </a:rPr>
              <a:t>Costs</a:t>
            </a:r>
          </a:p>
        </p:txBody>
      </p:sp>
      <p:cxnSp>
        <p:nvCxnSpPr>
          <p:cNvPr id="115730" name="AutoShape 144">
            <a:extLst>
              <a:ext uri="{FF2B5EF4-FFF2-40B4-BE49-F238E27FC236}">
                <a16:creationId xmlns:a16="http://schemas.microsoft.com/office/drawing/2014/main" id="{135A05C6-0317-40E4-9B1A-82B7C0D7ED71}"/>
              </a:ext>
            </a:extLst>
          </p:cNvPr>
          <p:cNvCxnSpPr>
            <a:cxnSpLocks noChangeShapeType="1"/>
          </p:cNvCxnSpPr>
          <p:nvPr/>
        </p:nvCxnSpPr>
        <p:spPr bwMode="auto">
          <a:xfrm>
            <a:off x="4419600" y="2216150"/>
            <a:ext cx="0" cy="596900"/>
          </a:xfrm>
          <a:prstGeom prst="straightConnector1">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cxnSp>
      <p:sp>
        <p:nvSpPr>
          <p:cNvPr id="115731" name="Rectangle 3">
            <a:extLst>
              <a:ext uri="{FF2B5EF4-FFF2-40B4-BE49-F238E27FC236}">
                <a16:creationId xmlns:a16="http://schemas.microsoft.com/office/drawing/2014/main" id="{A03B6B6F-8570-4BA9-B9FA-4892724AEE4E}"/>
              </a:ext>
            </a:extLst>
          </p:cNvPr>
          <p:cNvSpPr>
            <a:spLocks noChangeArrowheads="1"/>
          </p:cNvSpPr>
          <p:nvPr/>
        </p:nvSpPr>
        <p:spPr bwMode="auto">
          <a:xfrm>
            <a:off x="7556500" y="1574800"/>
            <a:ext cx="1498600" cy="965200"/>
          </a:xfrm>
          <a:prstGeom prst="rect">
            <a:avLst/>
          </a:prstGeom>
          <a:solidFill>
            <a:srgbClr val="1C3163"/>
          </a:solidFill>
          <a:ln w="25399">
            <a:solidFill>
              <a:srgbClr val="1C3163"/>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CA" altLang="en-US"/>
          </a:p>
        </p:txBody>
      </p:sp>
      <p:sp>
        <p:nvSpPr>
          <p:cNvPr id="115732" name="Rectangle 5">
            <a:extLst>
              <a:ext uri="{FF2B5EF4-FFF2-40B4-BE49-F238E27FC236}">
                <a16:creationId xmlns:a16="http://schemas.microsoft.com/office/drawing/2014/main" id="{2F9ECC05-5342-4969-B145-2A5EB6A18916}"/>
              </a:ext>
            </a:extLst>
          </p:cNvPr>
          <p:cNvSpPr>
            <a:spLocks noChangeArrowheads="1"/>
          </p:cNvSpPr>
          <p:nvPr/>
        </p:nvSpPr>
        <p:spPr bwMode="auto">
          <a:xfrm>
            <a:off x="7632700" y="4127500"/>
            <a:ext cx="1498600" cy="965200"/>
          </a:xfrm>
          <a:prstGeom prst="rect">
            <a:avLst/>
          </a:prstGeom>
          <a:solidFill>
            <a:srgbClr val="1C3163"/>
          </a:solidFill>
          <a:ln w="25399">
            <a:solidFill>
              <a:srgbClr val="1C3163"/>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CA" altLang="en-US"/>
          </a:p>
        </p:txBody>
      </p:sp>
      <p:sp>
        <p:nvSpPr>
          <p:cNvPr id="62489" name="Line 7">
            <a:extLst>
              <a:ext uri="{FF2B5EF4-FFF2-40B4-BE49-F238E27FC236}">
                <a16:creationId xmlns:a16="http://schemas.microsoft.com/office/drawing/2014/main" id="{13C5E59B-BFEE-4580-8886-E39486A44FB4}"/>
              </a:ext>
            </a:extLst>
          </p:cNvPr>
          <p:cNvSpPr>
            <a:spLocks noChangeShapeType="1"/>
          </p:cNvSpPr>
          <p:nvPr/>
        </p:nvSpPr>
        <p:spPr bwMode="auto">
          <a:xfrm>
            <a:off x="7092950" y="2057400"/>
            <a:ext cx="444500" cy="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62490" name="Line 8">
            <a:extLst>
              <a:ext uri="{FF2B5EF4-FFF2-40B4-BE49-F238E27FC236}">
                <a16:creationId xmlns:a16="http://schemas.microsoft.com/office/drawing/2014/main" id="{D89CE297-2D00-4526-80B5-CF458F3ED705}"/>
              </a:ext>
            </a:extLst>
          </p:cNvPr>
          <p:cNvSpPr>
            <a:spLocks noChangeShapeType="1"/>
          </p:cNvSpPr>
          <p:nvPr/>
        </p:nvSpPr>
        <p:spPr bwMode="auto">
          <a:xfrm>
            <a:off x="7169150" y="4648200"/>
            <a:ext cx="444500" cy="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115735" name="Rectangle 9">
            <a:extLst>
              <a:ext uri="{FF2B5EF4-FFF2-40B4-BE49-F238E27FC236}">
                <a16:creationId xmlns:a16="http://schemas.microsoft.com/office/drawing/2014/main" id="{D460C240-3248-4C92-A9E5-2623202BE434}"/>
              </a:ext>
            </a:extLst>
          </p:cNvPr>
          <p:cNvSpPr>
            <a:spLocks noChangeArrowheads="1"/>
          </p:cNvSpPr>
          <p:nvPr/>
        </p:nvSpPr>
        <p:spPr bwMode="auto">
          <a:xfrm>
            <a:off x="9663114" y="1693864"/>
            <a:ext cx="8985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400" b="1">
                <a:solidFill>
                  <a:srgbClr val="1C3163"/>
                </a:solidFill>
              </a:rPr>
              <a:t>Final</a:t>
            </a:r>
          </a:p>
          <a:p>
            <a:pPr eaLnBrk="1" hangingPunct="1"/>
            <a:r>
              <a:rPr lang="en-CA" altLang="en-US" sz="2400" b="1">
                <a:solidFill>
                  <a:srgbClr val="1C3163"/>
                </a:solidFill>
              </a:rPr>
              <a:t>Sale</a:t>
            </a:r>
          </a:p>
        </p:txBody>
      </p:sp>
      <p:sp>
        <p:nvSpPr>
          <p:cNvPr id="62492" name="Line 10">
            <a:extLst>
              <a:ext uri="{FF2B5EF4-FFF2-40B4-BE49-F238E27FC236}">
                <a16:creationId xmlns:a16="http://schemas.microsoft.com/office/drawing/2014/main" id="{85E78FF0-6D25-45D6-87B5-1F1177C031E4}"/>
              </a:ext>
            </a:extLst>
          </p:cNvPr>
          <p:cNvSpPr>
            <a:spLocks noChangeShapeType="1"/>
          </p:cNvSpPr>
          <p:nvPr/>
        </p:nvSpPr>
        <p:spPr bwMode="auto">
          <a:xfrm>
            <a:off x="9074150" y="2057400"/>
            <a:ext cx="596900" cy="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115737" name="Rectangle 11">
            <a:extLst>
              <a:ext uri="{FF2B5EF4-FFF2-40B4-BE49-F238E27FC236}">
                <a16:creationId xmlns:a16="http://schemas.microsoft.com/office/drawing/2014/main" id="{5B5D4C72-7250-47B0-8C99-69D716671892}"/>
              </a:ext>
            </a:extLst>
          </p:cNvPr>
          <p:cNvSpPr>
            <a:spLocks noChangeArrowheads="1"/>
          </p:cNvSpPr>
          <p:nvPr/>
        </p:nvSpPr>
        <p:spPr bwMode="auto">
          <a:xfrm>
            <a:off x="9663114" y="4284664"/>
            <a:ext cx="8985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400" b="1">
                <a:solidFill>
                  <a:srgbClr val="1C3163"/>
                </a:solidFill>
              </a:rPr>
              <a:t>Final</a:t>
            </a:r>
          </a:p>
          <a:p>
            <a:pPr eaLnBrk="1" hangingPunct="1"/>
            <a:r>
              <a:rPr lang="en-CA" altLang="en-US" sz="2400" b="1">
                <a:solidFill>
                  <a:srgbClr val="1C3163"/>
                </a:solidFill>
              </a:rPr>
              <a:t>Sale</a:t>
            </a:r>
          </a:p>
        </p:txBody>
      </p:sp>
      <p:sp>
        <p:nvSpPr>
          <p:cNvPr id="62494" name="Line 12">
            <a:extLst>
              <a:ext uri="{FF2B5EF4-FFF2-40B4-BE49-F238E27FC236}">
                <a16:creationId xmlns:a16="http://schemas.microsoft.com/office/drawing/2014/main" id="{FD684F0A-6C5C-4B28-A5BD-0B3928981FC5}"/>
              </a:ext>
            </a:extLst>
          </p:cNvPr>
          <p:cNvSpPr>
            <a:spLocks noChangeShapeType="1"/>
          </p:cNvSpPr>
          <p:nvPr/>
        </p:nvSpPr>
        <p:spPr bwMode="auto">
          <a:xfrm>
            <a:off x="9150350" y="4648200"/>
            <a:ext cx="596900" cy="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115739" name="Rectangle 13">
            <a:extLst>
              <a:ext uri="{FF2B5EF4-FFF2-40B4-BE49-F238E27FC236}">
                <a16:creationId xmlns:a16="http://schemas.microsoft.com/office/drawing/2014/main" id="{3BF3E005-E176-41CA-B3F3-0E67668549A0}"/>
              </a:ext>
            </a:extLst>
          </p:cNvPr>
          <p:cNvSpPr>
            <a:spLocks noChangeArrowheads="1"/>
          </p:cNvSpPr>
          <p:nvPr/>
        </p:nvSpPr>
        <p:spPr bwMode="auto">
          <a:xfrm>
            <a:off x="7848601" y="3006725"/>
            <a:ext cx="741363"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000"/>
              <a:t>Final</a:t>
            </a:r>
          </a:p>
          <a:p>
            <a:pPr eaLnBrk="1" hangingPunct="1"/>
            <a:r>
              <a:rPr lang="en-CA" altLang="en-US" sz="2000"/>
              <a:t>Sale</a:t>
            </a:r>
          </a:p>
        </p:txBody>
      </p:sp>
      <p:sp>
        <p:nvSpPr>
          <p:cNvPr id="62496" name="Line 14">
            <a:extLst>
              <a:ext uri="{FF2B5EF4-FFF2-40B4-BE49-F238E27FC236}">
                <a16:creationId xmlns:a16="http://schemas.microsoft.com/office/drawing/2014/main" id="{AF14AFED-92C1-4EAC-80E2-C070D13CDD4F}"/>
              </a:ext>
            </a:extLst>
          </p:cNvPr>
          <p:cNvSpPr>
            <a:spLocks noChangeShapeType="1"/>
          </p:cNvSpPr>
          <p:nvPr/>
        </p:nvSpPr>
        <p:spPr bwMode="auto">
          <a:xfrm>
            <a:off x="7169150" y="3352800"/>
            <a:ext cx="603250" cy="0"/>
          </a:xfrm>
          <a:prstGeom prst="line">
            <a:avLst/>
          </a:prstGeom>
          <a:noFill/>
          <a:ln w="38100">
            <a:solidFill>
              <a:srgbClr val="ED037C"/>
            </a:solidFill>
            <a:round/>
            <a:headEnd/>
            <a:tailEnd type="triangle" w="med" len="med"/>
          </a:ln>
          <a:effectLst>
            <a:outerShdw blurRad="63500" dist="17961" dir="2700000" algn="ctr" rotWithShape="0">
              <a:srgbClr val="000000">
                <a:alpha val="74997"/>
              </a:srgbClr>
            </a:outerShdw>
          </a:effectLst>
        </p:spPr>
        <p:txBody>
          <a:bodyPr wrap="none" anchor="ctr"/>
          <a:lstStyle/>
          <a:p>
            <a:pPr>
              <a:defRPr/>
            </a:pPr>
            <a:endParaRPr lang="en-US">
              <a:latin typeface="Arial" charset="0"/>
            </a:endParaRPr>
          </a:p>
        </p:txBody>
      </p:sp>
      <p:sp>
        <p:nvSpPr>
          <p:cNvPr id="33" name="Rectangle 15">
            <a:extLst>
              <a:ext uri="{FF2B5EF4-FFF2-40B4-BE49-F238E27FC236}">
                <a16:creationId xmlns:a16="http://schemas.microsoft.com/office/drawing/2014/main" id="{95EED3FE-343D-4059-B5AF-CBFEEC5F37AD}"/>
              </a:ext>
            </a:extLst>
          </p:cNvPr>
          <p:cNvSpPr>
            <a:spLocks noChangeArrowheads="1"/>
          </p:cNvSpPr>
          <p:nvPr/>
        </p:nvSpPr>
        <p:spPr bwMode="auto">
          <a:xfrm>
            <a:off x="7764382" y="5319713"/>
            <a:ext cx="1251113" cy="1197764"/>
          </a:xfrm>
          <a:prstGeom prst="rect">
            <a:avLst/>
          </a:prstGeom>
          <a:noFill/>
          <a:ln w="12699">
            <a:noFill/>
            <a:miter lim="800000"/>
            <a:headEnd/>
            <a:tailEnd/>
          </a:ln>
          <a:effectLst/>
        </p:spPr>
        <p:txBody>
          <a:bodyPr wrap="none" lIns="90488" tIns="44450" rIns="90488" bIns="44450">
            <a:spAutoFit/>
          </a:bodyPr>
          <a:lstStyle/>
          <a:p>
            <a:pPr algn="ctr" eaLnBrk="1" hangingPunct="1">
              <a:defRPr/>
            </a:pPr>
            <a:r>
              <a:rPr lang="en-CA" sz="2400" b="1" dirty="0">
                <a:solidFill>
                  <a:srgbClr val="1C3163"/>
                </a:solidFill>
                <a:effectLst>
                  <a:outerShdw blurRad="38100" dist="38100" dir="2700000" algn="tl">
                    <a:srgbClr val="C0C0C0"/>
                  </a:outerShdw>
                </a:effectLst>
              </a:rPr>
              <a:t>Separate</a:t>
            </a:r>
          </a:p>
          <a:p>
            <a:pPr algn="ctr" eaLnBrk="1" hangingPunct="1">
              <a:defRPr/>
            </a:pPr>
            <a:r>
              <a:rPr lang="en-CA" sz="2400" b="1" dirty="0">
                <a:solidFill>
                  <a:srgbClr val="1C3163"/>
                </a:solidFill>
                <a:effectLst>
                  <a:outerShdw blurRad="38100" dist="38100" dir="2700000" algn="tl">
                    <a:srgbClr val="C0C0C0"/>
                  </a:outerShdw>
                </a:effectLst>
              </a:rPr>
              <a:t>Product</a:t>
            </a:r>
          </a:p>
          <a:p>
            <a:pPr algn="ctr" eaLnBrk="1" hangingPunct="1">
              <a:defRPr/>
            </a:pPr>
            <a:r>
              <a:rPr lang="en-CA" sz="2400" b="1" dirty="0">
                <a:solidFill>
                  <a:srgbClr val="1C3163"/>
                </a:solidFill>
                <a:effectLst>
                  <a:outerShdw blurRad="38100" dist="38100" dir="2700000" algn="tl">
                    <a:srgbClr val="C0C0C0"/>
                  </a:outerShdw>
                </a:effectLst>
              </a:rPr>
              <a:t>Costs</a:t>
            </a:r>
          </a:p>
        </p:txBody>
      </p:sp>
      <p:sp>
        <p:nvSpPr>
          <p:cNvPr id="115742" name="Rectangle 4">
            <a:extLst>
              <a:ext uri="{FF2B5EF4-FFF2-40B4-BE49-F238E27FC236}">
                <a16:creationId xmlns:a16="http://schemas.microsoft.com/office/drawing/2014/main" id="{F00494CC-9138-4154-A137-6CD1F5F3A8A9}"/>
              </a:ext>
            </a:extLst>
          </p:cNvPr>
          <p:cNvSpPr>
            <a:spLocks noChangeArrowheads="1"/>
          </p:cNvSpPr>
          <p:nvPr/>
        </p:nvSpPr>
        <p:spPr bwMode="auto">
          <a:xfrm>
            <a:off x="7580314" y="1708150"/>
            <a:ext cx="145097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CA" altLang="en-US" sz="2000">
                <a:solidFill>
                  <a:schemeClr val="bg1"/>
                </a:solidFill>
              </a:rPr>
              <a:t>Separate</a:t>
            </a:r>
          </a:p>
          <a:p>
            <a:pPr algn="ctr" eaLnBrk="1" hangingPunct="1"/>
            <a:r>
              <a:rPr lang="en-CA" altLang="en-US" sz="2000">
                <a:solidFill>
                  <a:schemeClr val="bg1"/>
                </a:solidFill>
              </a:rPr>
              <a:t>Processing</a:t>
            </a:r>
          </a:p>
        </p:txBody>
      </p:sp>
      <p:sp>
        <p:nvSpPr>
          <p:cNvPr id="115743" name="Rectangle 6">
            <a:extLst>
              <a:ext uri="{FF2B5EF4-FFF2-40B4-BE49-F238E27FC236}">
                <a16:creationId xmlns:a16="http://schemas.microsoft.com/office/drawing/2014/main" id="{C507A7C4-6A19-418B-ADDD-0F86E27A8FC8}"/>
              </a:ext>
            </a:extLst>
          </p:cNvPr>
          <p:cNvSpPr>
            <a:spLocks noChangeArrowheads="1"/>
          </p:cNvSpPr>
          <p:nvPr/>
        </p:nvSpPr>
        <p:spPr bwMode="auto">
          <a:xfrm>
            <a:off x="7656514" y="4260850"/>
            <a:ext cx="145097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CA" altLang="en-US" sz="2000">
                <a:solidFill>
                  <a:schemeClr val="bg1"/>
                </a:solidFill>
              </a:rPr>
              <a:t>Separate</a:t>
            </a:r>
          </a:p>
          <a:p>
            <a:pPr algn="ctr" eaLnBrk="1" hangingPunct="1"/>
            <a:r>
              <a:rPr lang="en-CA" altLang="en-US" sz="2000">
                <a:solidFill>
                  <a:schemeClr val="bg1"/>
                </a:solidFill>
              </a:rPr>
              <a:t>Processing</a:t>
            </a:r>
          </a:p>
        </p:txBody>
      </p:sp>
      <p:sp>
        <p:nvSpPr>
          <p:cNvPr id="4" name="Subtitle 8">
            <a:extLst>
              <a:ext uri="{FF2B5EF4-FFF2-40B4-BE49-F238E27FC236}">
                <a16:creationId xmlns:a16="http://schemas.microsoft.com/office/drawing/2014/main" id="{A4DC17B6-C52D-D228-C937-854A5B4C9FFC}"/>
              </a:ext>
            </a:extLst>
          </p:cNvPr>
          <p:cNvSpPr txBox="1">
            <a:spLocks noGrp="1"/>
          </p:cNvSpPr>
          <p:nvPr>
            <p:ph type="subTitle" idx="1"/>
          </p:nvPr>
        </p:nvSpPr>
        <p:spPr>
          <a:xfrm>
            <a:off x="334963" y="-26988"/>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Joint Product Costs</a:t>
            </a:r>
          </a:p>
        </p:txBody>
      </p:sp>
      <p:sp>
        <p:nvSpPr>
          <p:cNvPr id="6" name="Slide Number Placeholder 5">
            <a:extLst>
              <a:ext uri="{FF2B5EF4-FFF2-40B4-BE49-F238E27FC236}">
                <a16:creationId xmlns:a16="http://schemas.microsoft.com/office/drawing/2014/main" id="{97B9F507-0A01-C3CD-9110-4DDCB5F1985E}"/>
              </a:ext>
            </a:extLst>
          </p:cNvPr>
          <p:cNvSpPr>
            <a:spLocks noGrp="1"/>
          </p:cNvSpPr>
          <p:nvPr>
            <p:ph type="sldNum" sz="quarter" idx="12"/>
          </p:nvPr>
        </p:nvSpPr>
        <p:spPr/>
        <p:txBody>
          <a:bodyPr/>
          <a:lstStyle/>
          <a:p>
            <a:fld id="{9B7CDB38-6350-4CC9-AB0E-B9078CE1CE4B}" type="slidenum">
              <a:rPr lang="en-US" smtClean="0"/>
              <a:pPr/>
              <a:t>53</a:t>
            </a:fld>
            <a:endParaRPr lang="en-US"/>
          </a:p>
        </p:txBody>
      </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
            <a:extLst>
              <a:ext uri="{FF2B5EF4-FFF2-40B4-BE49-F238E27FC236}">
                <a16:creationId xmlns:a16="http://schemas.microsoft.com/office/drawing/2014/main" id="{C95CB0B5-2520-4ED3-8434-3F361CAB8C4D}"/>
              </a:ext>
            </a:extLst>
          </p:cNvPr>
          <p:cNvSpPr>
            <a:spLocks noChangeArrowheads="1"/>
          </p:cNvSpPr>
          <p:nvPr/>
        </p:nvSpPr>
        <p:spPr bwMode="auto">
          <a:xfrm>
            <a:off x="2217739" y="2987675"/>
            <a:ext cx="75247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000">
                <a:solidFill>
                  <a:schemeClr val="bg1"/>
                </a:solidFill>
              </a:rPr>
              <a:t>Joint</a:t>
            </a:r>
          </a:p>
          <a:p>
            <a:pPr eaLnBrk="1" hangingPunct="1"/>
            <a:r>
              <a:rPr lang="en-CA" altLang="en-US" sz="2000">
                <a:solidFill>
                  <a:schemeClr val="bg1"/>
                </a:solidFill>
              </a:rPr>
              <a:t>Input</a:t>
            </a:r>
          </a:p>
        </p:txBody>
      </p:sp>
      <p:pic>
        <p:nvPicPr>
          <p:cNvPr id="117764" name="Picture 2">
            <a:extLst>
              <a:ext uri="{FF2B5EF4-FFF2-40B4-BE49-F238E27FC236}">
                <a16:creationId xmlns:a16="http://schemas.microsoft.com/office/drawing/2014/main" id="{2BA9F4BD-6D3E-47FE-883A-4E96CB70F9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3962400" y="944564"/>
            <a:ext cx="4477016" cy="5486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5" name="TextBox 3">
            <a:extLst>
              <a:ext uri="{FF2B5EF4-FFF2-40B4-BE49-F238E27FC236}">
                <a16:creationId xmlns:a16="http://schemas.microsoft.com/office/drawing/2014/main" id="{48F310B1-A96D-4620-9653-3EDAE3B56080}"/>
              </a:ext>
            </a:extLst>
          </p:cNvPr>
          <p:cNvSpPr txBox="1">
            <a:spLocks noChangeArrowheads="1"/>
          </p:cNvSpPr>
          <p:nvPr/>
        </p:nvSpPr>
        <p:spPr bwMode="auto">
          <a:xfrm>
            <a:off x="3276600" y="985839"/>
            <a:ext cx="1290638" cy="338137"/>
          </a:xfrm>
          <a:prstGeom prst="rect">
            <a:avLst/>
          </a:prstGeom>
          <a:solidFill>
            <a:srgbClr val="37406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dirty="0">
                <a:solidFill>
                  <a:schemeClr val="bg1"/>
                </a:solidFill>
                <a:ea typeface="MS PGothic" panose="020B0600070205080204" pitchFamily="34" charset="-128"/>
              </a:rPr>
              <a:t>Exhibit 12-6</a:t>
            </a:r>
          </a:p>
        </p:txBody>
      </p:sp>
      <p:sp>
        <p:nvSpPr>
          <p:cNvPr id="4" name="Subtitle 8">
            <a:extLst>
              <a:ext uri="{FF2B5EF4-FFF2-40B4-BE49-F238E27FC236}">
                <a16:creationId xmlns:a16="http://schemas.microsoft.com/office/drawing/2014/main" id="{00F40D6B-FE6F-4BFE-4923-29EE3820158D}"/>
              </a:ext>
            </a:extLst>
          </p:cNvPr>
          <p:cNvSpPr txBox="1">
            <a:spLocks noGrp="1"/>
          </p:cNvSpPr>
          <p:nvPr>
            <p:ph type="subTitle" idx="1"/>
          </p:nvPr>
        </p:nvSpPr>
        <p:spPr>
          <a:xfrm>
            <a:off x="334963" y="-26988"/>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Joint Product Costs</a:t>
            </a:r>
          </a:p>
        </p:txBody>
      </p:sp>
      <p:sp>
        <p:nvSpPr>
          <p:cNvPr id="6" name="Slide Number Placeholder 5">
            <a:extLst>
              <a:ext uri="{FF2B5EF4-FFF2-40B4-BE49-F238E27FC236}">
                <a16:creationId xmlns:a16="http://schemas.microsoft.com/office/drawing/2014/main" id="{68B59617-C25D-205E-D765-7346527B152D}"/>
              </a:ext>
            </a:extLst>
          </p:cNvPr>
          <p:cNvSpPr>
            <a:spLocks noGrp="1"/>
          </p:cNvSpPr>
          <p:nvPr>
            <p:ph type="sldNum" sz="quarter" idx="12"/>
          </p:nvPr>
        </p:nvSpPr>
        <p:spPr/>
        <p:txBody>
          <a:bodyPr/>
          <a:lstStyle/>
          <a:p>
            <a:fld id="{9B7CDB38-6350-4CC9-AB0E-B9078CE1CE4B}" type="slidenum">
              <a:rPr lang="en-US" smtClean="0"/>
              <a:pPr/>
              <a:t>54</a:t>
            </a:fld>
            <a:endParaRPr lang="en-US"/>
          </a:p>
        </p:txBody>
      </p:sp>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9">
            <a:extLst>
              <a:ext uri="{FF2B5EF4-FFF2-40B4-BE49-F238E27FC236}">
                <a16:creationId xmlns:a16="http://schemas.microsoft.com/office/drawing/2014/main" id="{204FEB09-41B2-44E6-BBC0-901C85ABA500}"/>
              </a:ext>
            </a:extLst>
          </p:cNvPr>
          <p:cNvSpPr>
            <a:spLocks noChangeArrowheads="1"/>
          </p:cNvSpPr>
          <p:nvPr/>
        </p:nvSpPr>
        <p:spPr bwMode="auto">
          <a:xfrm>
            <a:off x="695400" y="946525"/>
            <a:ext cx="10153128" cy="4964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square" lIns="90488" tIns="44450" rIns="90488" bIns="44450">
            <a:spAutoFit/>
          </a:bodyPr>
          <a:lstStyle>
            <a:lvl1pPr marL="457200" indent="-4572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rgbClr val="1C3163"/>
              </a:buClr>
              <a:buFont typeface="Arial" panose="020B0604020202020204" pitchFamily="34" charset="0"/>
              <a:buChar char="•"/>
            </a:pPr>
            <a:r>
              <a:rPr lang="en-CA" altLang="en-US" sz="2400" dirty="0">
                <a:cs typeface="Arial" panose="020B0604020202020204" pitchFamily="34" charset="0"/>
              </a:rPr>
              <a:t>Joint costs are often allocated to end products on the basis of the </a:t>
            </a:r>
            <a:r>
              <a:rPr lang="en-CA" altLang="en-US" sz="2400" b="1" dirty="0">
                <a:cs typeface="Arial" panose="020B0604020202020204" pitchFamily="34" charset="0"/>
              </a:rPr>
              <a:t>relative sales value </a:t>
            </a:r>
            <a:r>
              <a:rPr lang="en-CA" altLang="en-US" sz="2400" dirty="0">
                <a:cs typeface="Arial" panose="020B0604020202020204" pitchFamily="34" charset="0"/>
              </a:rPr>
              <a:t>of each product or on some other basis.</a:t>
            </a:r>
          </a:p>
          <a:p>
            <a:pPr marL="0" indent="0" eaLnBrk="1" hangingPunct="1">
              <a:spcBef>
                <a:spcPct val="20000"/>
              </a:spcBef>
              <a:buClr>
                <a:srgbClr val="1C3163"/>
              </a:buClr>
            </a:pPr>
            <a:endParaRPr lang="en-CA" altLang="en-US" sz="2400" dirty="0">
              <a:cs typeface="Arial" panose="020B0604020202020204" pitchFamily="34" charset="0"/>
            </a:endParaRPr>
          </a:p>
          <a:p>
            <a:pPr eaLnBrk="1" hangingPunct="1">
              <a:spcBef>
                <a:spcPct val="20000"/>
              </a:spcBef>
              <a:buClr>
                <a:srgbClr val="1C3163"/>
              </a:buClr>
              <a:buFont typeface="Arial" panose="020B0604020202020204" pitchFamily="34" charset="0"/>
              <a:buChar char="•"/>
            </a:pPr>
            <a:r>
              <a:rPr lang="en-CA" altLang="en-US" sz="2400" dirty="0">
                <a:cs typeface="Arial" panose="020B0604020202020204" pitchFamily="34" charset="0"/>
              </a:rPr>
              <a:t>Although allocation is needed for balance sheet inventory valuation, allocations of this kind </a:t>
            </a:r>
            <a:r>
              <a:rPr lang="en-CA" altLang="en-US" sz="2400" b="1" dirty="0">
                <a:cs typeface="Arial" panose="020B0604020202020204" pitchFamily="34" charset="0"/>
              </a:rPr>
              <a:t>should be avoided </a:t>
            </a:r>
            <a:r>
              <a:rPr lang="en-CA" altLang="en-US" sz="2400" dirty="0">
                <a:cs typeface="Arial" panose="020B0604020202020204" pitchFamily="34" charset="0"/>
              </a:rPr>
              <a:t>for decision making.</a:t>
            </a:r>
          </a:p>
          <a:p>
            <a:pPr eaLnBrk="1" hangingPunct="1">
              <a:spcBef>
                <a:spcPct val="20000"/>
              </a:spcBef>
              <a:buClr>
                <a:srgbClr val="1C3163"/>
              </a:buClr>
              <a:buFont typeface="Arial" panose="020B0604020202020204" pitchFamily="34" charset="0"/>
              <a:buChar char="•"/>
            </a:pPr>
            <a:endParaRPr lang="en-CA" altLang="en-US" sz="2400" dirty="0">
              <a:cs typeface="Arial" panose="020B0604020202020204" pitchFamily="34" charset="0"/>
            </a:endParaRPr>
          </a:p>
          <a:p>
            <a:pPr eaLnBrk="1" hangingPunct="1">
              <a:spcBef>
                <a:spcPct val="20000"/>
              </a:spcBef>
              <a:buClr>
                <a:srgbClr val="1C3163"/>
              </a:buClr>
              <a:buFont typeface="Arial" panose="020B0604020202020204" pitchFamily="34" charset="0"/>
              <a:buChar char="•"/>
            </a:pPr>
            <a:r>
              <a:rPr lang="en-CA" altLang="en-US" sz="2400" dirty="0">
                <a:cs typeface="Arial" panose="020B0604020202020204" pitchFamily="34" charset="0"/>
              </a:rPr>
              <a:t>Joint costs are irrelevant in decisions regarding what to do with a product from the split-off point forward.</a:t>
            </a:r>
          </a:p>
          <a:p>
            <a:pPr eaLnBrk="1" hangingPunct="1">
              <a:spcBef>
                <a:spcPct val="20000"/>
              </a:spcBef>
              <a:buClr>
                <a:srgbClr val="1C3163"/>
              </a:buClr>
              <a:buFont typeface="Arial" panose="020B0604020202020204" pitchFamily="34" charset="0"/>
              <a:buChar char="•"/>
            </a:pPr>
            <a:endParaRPr lang="en-CA" altLang="en-US" sz="2400" dirty="0">
              <a:cs typeface="Arial" panose="020B0604020202020204" pitchFamily="34" charset="0"/>
            </a:endParaRPr>
          </a:p>
          <a:p>
            <a:pPr eaLnBrk="1" hangingPunct="1">
              <a:spcBef>
                <a:spcPct val="20000"/>
              </a:spcBef>
              <a:buClr>
                <a:srgbClr val="1C3163"/>
              </a:buClr>
              <a:buFont typeface="Arial" panose="020B0604020202020204" pitchFamily="34" charset="0"/>
              <a:buChar char="•"/>
            </a:pPr>
            <a:r>
              <a:rPr lang="en-CA" altLang="en-US" sz="2400" dirty="0">
                <a:cs typeface="Arial" panose="020B0604020202020204" pitchFamily="34" charset="0"/>
              </a:rPr>
              <a:t>It will always be profitable to continue processing a joint product after the split-off point if the incremental revenue exceeds the incremental processing costs incurred after the split-off point.</a:t>
            </a:r>
          </a:p>
        </p:txBody>
      </p:sp>
      <p:sp>
        <p:nvSpPr>
          <p:cNvPr id="4" name="Subtitle 8">
            <a:extLst>
              <a:ext uri="{FF2B5EF4-FFF2-40B4-BE49-F238E27FC236}">
                <a16:creationId xmlns:a16="http://schemas.microsoft.com/office/drawing/2014/main" id="{2533ECC5-4862-E09B-EAC6-748F9BB62DAC}"/>
              </a:ext>
            </a:extLst>
          </p:cNvPr>
          <p:cNvSpPr txBox="1">
            <a:spLocks noGrp="1"/>
          </p:cNvSpPr>
          <p:nvPr>
            <p:ph type="subTitle" idx="1"/>
          </p:nvPr>
        </p:nvSpPr>
        <p:spPr>
          <a:xfrm>
            <a:off x="334963" y="-26988"/>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Sell or Process Further</a:t>
            </a:r>
          </a:p>
        </p:txBody>
      </p:sp>
      <p:sp>
        <p:nvSpPr>
          <p:cNvPr id="6" name="Slide Number Placeholder 5">
            <a:extLst>
              <a:ext uri="{FF2B5EF4-FFF2-40B4-BE49-F238E27FC236}">
                <a16:creationId xmlns:a16="http://schemas.microsoft.com/office/drawing/2014/main" id="{D015C6E8-0D9F-72F7-C808-3054D1ABA99F}"/>
              </a:ext>
            </a:extLst>
          </p:cNvPr>
          <p:cNvSpPr>
            <a:spLocks noGrp="1"/>
          </p:cNvSpPr>
          <p:nvPr>
            <p:ph type="sldNum" sz="quarter" idx="12"/>
          </p:nvPr>
        </p:nvSpPr>
        <p:spPr/>
        <p:txBody>
          <a:bodyPr/>
          <a:lstStyle/>
          <a:p>
            <a:fld id="{9B7CDB38-6350-4CC9-AB0E-B9078CE1CE4B}" type="slidenum">
              <a:rPr lang="en-US" smtClean="0"/>
              <a:pPr/>
              <a:t>55</a:t>
            </a:fld>
            <a:endParaRPr lang="en-US"/>
          </a:p>
        </p:txBody>
      </p:sp>
    </p:spTree>
  </p:cSld>
  <p:clrMapOvr>
    <a:masterClrMapping/>
  </p:clrMapOvr>
  <p:transition>
    <p:strips dir="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8">
            <a:extLst>
              <a:ext uri="{FF2B5EF4-FFF2-40B4-BE49-F238E27FC236}">
                <a16:creationId xmlns:a16="http://schemas.microsoft.com/office/drawing/2014/main" id="{075EF69F-8482-1E51-6FBA-FF0CB7F766C9}"/>
              </a:ext>
            </a:extLst>
          </p:cNvPr>
          <p:cNvSpPr txBox="1">
            <a:spLocks noGrp="1"/>
          </p:cNvSpPr>
          <p:nvPr>
            <p:ph type="subTitle" idx="1"/>
          </p:nvPr>
        </p:nvSpPr>
        <p:spPr>
          <a:xfrm>
            <a:off x="334963" y="-26988"/>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Sell or Process Further</a:t>
            </a:r>
          </a:p>
        </p:txBody>
      </p:sp>
      <p:sp>
        <p:nvSpPr>
          <p:cNvPr id="8" name="TextBox 7">
            <a:extLst>
              <a:ext uri="{FF2B5EF4-FFF2-40B4-BE49-F238E27FC236}">
                <a16:creationId xmlns:a16="http://schemas.microsoft.com/office/drawing/2014/main" id="{56F219D0-BAAB-DBD4-4CFB-03C9369E986A}"/>
              </a:ext>
            </a:extLst>
          </p:cNvPr>
          <p:cNvSpPr txBox="1"/>
          <p:nvPr/>
        </p:nvSpPr>
        <p:spPr>
          <a:xfrm>
            <a:off x="1847528" y="1268760"/>
            <a:ext cx="8424936" cy="3046988"/>
          </a:xfrm>
          <a:prstGeom prst="rect">
            <a:avLst/>
          </a:prstGeom>
          <a:noFill/>
        </p:spPr>
        <p:txBody>
          <a:bodyPr wrap="square">
            <a:spAutoFit/>
          </a:bodyPr>
          <a:lstStyle/>
          <a:p>
            <a:pPr marL="342900" indent="-342900">
              <a:buFont typeface="Arial" panose="020B0604020202020204" pitchFamily="34" charset="0"/>
              <a:buChar char="•"/>
              <a:defRPr/>
            </a:pPr>
            <a:r>
              <a:rPr lang="en-CA" altLang="en-US" sz="2400" dirty="0">
                <a:solidFill>
                  <a:srgbClr val="000000"/>
                </a:solidFill>
                <a:latin typeface="Arial" panose="020B0604020202020204" pitchFamily="34" charset="0"/>
                <a:cs typeface="Arial" panose="020B0604020202020204" pitchFamily="34" charset="0"/>
              </a:rPr>
              <a:t>Sawmill, Inc. cuts logs from which unfinished lumber and sawdust are the immediate joint products.</a:t>
            </a:r>
          </a:p>
          <a:p>
            <a:pPr marL="342900" indent="-342900">
              <a:buFont typeface="Arial" panose="020B0604020202020204" pitchFamily="34" charset="0"/>
              <a:buChar char="•"/>
              <a:defRPr/>
            </a:pPr>
            <a:endParaRPr lang="en-CA" altLang="en-US" sz="2400" dirty="0">
              <a:solidFill>
                <a:srgbClr val="000000"/>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defRPr/>
            </a:pPr>
            <a:r>
              <a:rPr lang="en-CA" altLang="en-US" sz="2400" dirty="0">
                <a:solidFill>
                  <a:srgbClr val="000000"/>
                </a:solidFill>
                <a:latin typeface="Arial" panose="020B0604020202020204" pitchFamily="34" charset="0"/>
                <a:cs typeface="Arial" panose="020B0604020202020204" pitchFamily="34" charset="0"/>
              </a:rPr>
              <a:t>Unfinished lumber can be sold ‘as is’ or processed further into finished lumber.</a:t>
            </a:r>
          </a:p>
          <a:p>
            <a:pPr marL="342900" indent="-342900">
              <a:buFont typeface="Arial" panose="020B0604020202020204" pitchFamily="34" charset="0"/>
              <a:buChar char="•"/>
              <a:defRPr/>
            </a:pPr>
            <a:endParaRPr lang="en-CA" altLang="en-US" sz="2400" dirty="0">
              <a:solidFill>
                <a:srgbClr val="000000"/>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defRPr/>
            </a:pPr>
            <a:r>
              <a:rPr lang="en-CA" altLang="en-US" sz="2400" dirty="0">
                <a:solidFill>
                  <a:srgbClr val="000000"/>
                </a:solidFill>
                <a:latin typeface="Arial" panose="020B0604020202020204" pitchFamily="34" charset="0"/>
                <a:cs typeface="Arial" panose="020B0604020202020204" pitchFamily="34" charset="0"/>
              </a:rPr>
              <a:t>Sawdust can also be sold ‘as is’ to gardening wholesalers or processed further into ‘presto-logs.’</a:t>
            </a:r>
          </a:p>
        </p:txBody>
      </p:sp>
      <p:sp>
        <p:nvSpPr>
          <p:cNvPr id="9" name="Slide Number Placeholder 8">
            <a:extLst>
              <a:ext uri="{FF2B5EF4-FFF2-40B4-BE49-F238E27FC236}">
                <a16:creationId xmlns:a16="http://schemas.microsoft.com/office/drawing/2014/main" id="{F04D48DF-EA9F-514C-B767-247A2F833089}"/>
              </a:ext>
            </a:extLst>
          </p:cNvPr>
          <p:cNvSpPr>
            <a:spLocks noGrp="1"/>
          </p:cNvSpPr>
          <p:nvPr>
            <p:ph type="sldNum" sz="quarter" idx="12"/>
          </p:nvPr>
        </p:nvSpPr>
        <p:spPr/>
        <p:txBody>
          <a:bodyPr/>
          <a:lstStyle/>
          <a:p>
            <a:fld id="{9B7CDB38-6350-4CC9-AB0E-B9078CE1CE4B}" type="slidenum">
              <a:rPr lang="en-US" smtClean="0"/>
              <a:pPr/>
              <a:t>56</a:t>
            </a:fld>
            <a:endParaRPr lang="en-US"/>
          </a:p>
        </p:txBody>
      </p:sp>
    </p:spTree>
  </p:cSld>
  <p:clrMapOvr>
    <a:masterClrMapping/>
  </p:clrMapOvr>
  <p:transition>
    <p:checke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5955" name="Object 2">
            <a:extLst>
              <a:ext uri="{FF2B5EF4-FFF2-40B4-BE49-F238E27FC236}">
                <a16:creationId xmlns:a16="http://schemas.microsoft.com/office/drawing/2014/main" id="{720D5697-8C1E-496C-939F-95A9974CC66C}"/>
              </a:ext>
            </a:extLst>
          </p:cNvPr>
          <p:cNvGraphicFramePr>
            <a:graphicFrameLocks/>
          </p:cNvGraphicFramePr>
          <p:nvPr>
            <p:extLst>
              <p:ext uri="{D42A27DB-BD31-4B8C-83A1-F6EECF244321}">
                <p14:modId xmlns:p14="http://schemas.microsoft.com/office/powerpoint/2010/main" val="710945363"/>
              </p:ext>
            </p:extLst>
          </p:nvPr>
        </p:nvGraphicFramePr>
        <p:xfrm>
          <a:off x="1965325" y="2647950"/>
          <a:ext cx="8047038" cy="2563813"/>
        </p:xfrm>
        <a:graphic>
          <a:graphicData uri="http://schemas.openxmlformats.org/presentationml/2006/ole">
            <mc:AlternateContent xmlns:mc="http://schemas.openxmlformats.org/markup-compatibility/2006">
              <mc:Choice xmlns:v="urn:schemas-microsoft-com:vml" Requires="v">
                <p:oleObj name="Worksheet" r:id="rId3" imgW="4140350" imgH="1320971" progId="Excel.Sheet.8">
                  <p:embed/>
                </p:oleObj>
              </mc:Choice>
              <mc:Fallback>
                <p:oleObj name="Worksheet" r:id="rId3" imgW="4140350" imgH="1320971" progId="Excel.Sheet.8">
                  <p:embed/>
                  <p:pic>
                    <p:nvPicPr>
                      <p:cNvPr id="125955" name="Object 2">
                        <a:extLst>
                          <a:ext uri="{FF2B5EF4-FFF2-40B4-BE49-F238E27FC236}">
                            <a16:creationId xmlns:a16="http://schemas.microsoft.com/office/drawing/2014/main" id="{720D5697-8C1E-496C-939F-95A9974CC66C}"/>
                          </a:ext>
                        </a:extLst>
                      </p:cNvPr>
                      <p:cNvPicPr>
                        <a:picLocks noChangeArrowheads="1"/>
                      </p:cNvPicPr>
                      <p:nvPr/>
                    </p:nvPicPr>
                    <p:blipFill>
                      <a:blip r:embed="rId4"/>
                      <a:srcRect/>
                      <a:stretch>
                        <a:fillRect/>
                      </a:stretch>
                    </p:blipFill>
                    <p:spPr bwMode="auto">
                      <a:xfrm>
                        <a:off x="1965325" y="2647950"/>
                        <a:ext cx="8047038" cy="2563813"/>
                      </a:xfrm>
                      <a:prstGeom prst="rect">
                        <a:avLst/>
                      </a:prstGeom>
                      <a:noFill/>
                      <a:ln>
                        <a:noFill/>
                      </a:ln>
                    </p:spPr>
                  </p:pic>
                </p:oleObj>
              </mc:Fallback>
            </mc:AlternateContent>
          </a:graphicData>
        </a:graphic>
      </p:graphicFrame>
      <p:sp>
        <p:nvSpPr>
          <p:cNvPr id="2" name="Rectangle 1">
            <a:extLst>
              <a:ext uri="{FF2B5EF4-FFF2-40B4-BE49-F238E27FC236}">
                <a16:creationId xmlns:a16="http://schemas.microsoft.com/office/drawing/2014/main" id="{F195396E-7BA4-EE34-12F4-5992EC313A74}"/>
              </a:ext>
            </a:extLst>
          </p:cNvPr>
          <p:cNvSpPr/>
          <p:nvPr/>
        </p:nvSpPr>
        <p:spPr>
          <a:xfrm>
            <a:off x="1965581" y="2616156"/>
            <a:ext cx="8229600" cy="25908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19602B83-314A-16AA-CA74-8A2CAFCB330F}"/>
              </a:ext>
            </a:extLst>
          </p:cNvPr>
          <p:cNvSpPr txBox="1"/>
          <p:nvPr/>
        </p:nvSpPr>
        <p:spPr>
          <a:xfrm>
            <a:off x="1847528" y="1491734"/>
            <a:ext cx="6096000" cy="523220"/>
          </a:xfrm>
          <a:prstGeom prst="rect">
            <a:avLst/>
          </a:prstGeom>
          <a:noFill/>
        </p:spPr>
        <p:txBody>
          <a:bodyPr wrap="square">
            <a:spAutoFit/>
          </a:bodyPr>
          <a:lstStyle/>
          <a:p>
            <a:pPr marL="0" indent="0">
              <a:buNone/>
            </a:pPr>
            <a:r>
              <a:rPr lang="en-CA" altLang="en-US" sz="2800" dirty="0">
                <a:solidFill>
                  <a:schemeClr val="tx1"/>
                </a:solidFill>
                <a:latin typeface="Arial" panose="020B0604020202020204" pitchFamily="34" charset="0"/>
                <a:cs typeface="Arial" panose="020B0604020202020204" pitchFamily="34" charset="0"/>
              </a:rPr>
              <a:t>Data about Sawmill’s joint products:</a:t>
            </a:r>
          </a:p>
        </p:txBody>
      </p:sp>
      <p:sp>
        <p:nvSpPr>
          <p:cNvPr id="7" name="Subtitle 8">
            <a:extLst>
              <a:ext uri="{FF2B5EF4-FFF2-40B4-BE49-F238E27FC236}">
                <a16:creationId xmlns:a16="http://schemas.microsoft.com/office/drawing/2014/main" id="{BB3BA62C-3FDE-7F1F-2936-142C0F2CA872}"/>
              </a:ext>
            </a:extLst>
          </p:cNvPr>
          <p:cNvSpPr txBox="1">
            <a:spLocks noGrp="1"/>
          </p:cNvSpPr>
          <p:nvPr>
            <p:ph type="subTitle" idx="1"/>
          </p:nvPr>
        </p:nvSpPr>
        <p:spPr>
          <a:xfrm>
            <a:off x="334963" y="-26988"/>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Sell or Process Further</a:t>
            </a:r>
          </a:p>
        </p:txBody>
      </p:sp>
      <p:sp>
        <p:nvSpPr>
          <p:cNvPr id="8" name="Slide Number Placeholder 7">
            <a:extLst>
              <a:ext uri="{FF2B5EF4-FFF2-40B4-BE49-F238E27FC236}">
                <a16:creationId xmlns:a16="http://schemas.microsoft.com/office/drawing/2014/main" id="{80105CDF-72AC-27E5-CFAC-E3AFC90B8963}"/>
              </a:ext>
            </a:extLst>
          </p:cNvPr>
          <p:cNvSpPr>
            <a:spLocks noGrp="1"/>
          </p:cNvSpPr>
          <p:nvPr>
            <p:ph type="sldNum" sz="quarter" idx="12"/>
          </p:nvPr>
        </p:nvSpPr>
        <p:spPr/>
        <p:txBody>
          <a:bodyPr/>
          <a:lstStyle/>
          <a:p>
            <a:fld id="{9B7CDB38-6350-4CC9-AB0E-B9078CE1CE4B}" type="slidenum">
              <a:rPr lang="en-US" smtClean="0"/>
              <a:pPr/>
              <a:t>57</a:t>
            </a:fld>
            <a:endParaRPr lang="en-US"/>
          </a:p>
        </p:txBody>
      </p:sp>
    </p:spTree>
  </p:cSld>
  <p:clrMapOvr>
    <a:masterClrMapping/>
  </p:clrMapOvr>
  <p:transition>
    <p:zoom dir="in"/>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8001" name="Object 2">
            <a:extLst>
              <a:ext uri="{FF2B5EF4-FFF2-40B4-BE49-F238E27FC236}">
                <a16:creationId xmlns:a16="http://schemas.microsoft.com/office/drawing/2014/main" id="{BEE6E70A-5ADB-4812-B548-5D80DEFFB0B6}"/>
              </a:ext>
            </a:extLst>
          </p:cNvPr>
          <p:cNvGraphicFramePr>
            <a:graphicFrameLocks/>
          </p:cNvGraphicFramePr>
          <p:nvPr>
            <p:extLst>
              <p:ext uri="{D42A27DB-BD31-4B8C-83A1-F6EECF244321}">
                <p14:modId xmlns:p14="http://schemas.microsoft.com/office/powerpoint/2010/main" val="1012060165"/>
              </p:ext>
            </p:extLst>
          </p:nvPr>
        </p:nvGraphicFramePr>
        <p:xfrm>
          <a:off x="1652588" y="1511300"/>
          <a:ext cx="8885237" cy="3957638"/>
        </p:xfrm>
        <a:graphic>
          <a:graphicData uri="http://schemas.openxmlformats.org/presentationml/2006/ole">
            <mc:AlternateContent xmlns:mc="http://schemas.openxmlformats.org/markup-compatibility/2006">
              <mc:Choice xmlns:v="urn:schemas-microsoft-com:vml" Requires="v">
                <p:oleObj name="Worksheet" r:id="rId3" imgW="4070481" imgH="1536609" progId="Excel.Sheet.8">
                  <p:embed/>
                </p:oleObj>
              </mc:Choice>
              <mc:Fallback>
                <p:oleObj name="Worksheet" r:id="rId3" imgW="4070481" imgH="1536609" progId="Excel.Sheet.8">
                  <p:embed/>
                  <p:pic>
                    <p:nvPicPr>
                      <p:cNvPr id="128001" name="Object 2">
                        <a:extLst>
                          <a:ext uri="{FF2B5EF4-FFF2-40B4-BE49-F238E27FC236}">
                            <a16:creationId xmlns:a16="http://schemas.microsoft.com/office/drawing/2014/main" id="{BEE6E70A-5ADB-4812-B548-5D80DEFFB0B6}"/>
                          </a:ext>
                        </a:extLst>
                      </p:cNvPr>
                      <p:cNvPicPr>
                        <a:picLocks noChangeArrowheads="1"/>
                      </p:cNvPicPr>
                      <p:nvPr/>
                    </p:nvPicPr>
                    <p:blipFill>
                      <a:blip r:embed="rId4"/>
                      <a:srcRect/>
                      <a:stretch>
                        <a:fillRect/>
                      </a:stretch>
                    </p:blipFill>
                    <p:spPr bwMode="auto">
                      <a:xfrm>
                        <a:off x="1652588" y="1511300"/>
                        <a:ext cx="8885237" cy="3957638"/>
                      </a:xfrm>
                      <a:prstGeom prst="rect">
                        <a:avLst/>
                      </a:prstGeom>
                      <a:noFill/>
                      <a:ln>
                        <a:noFill/>
                      </a:ln>
                      <a:effectLst/>
                    </p:spPr>
                  </p:pic>
                </p:oleObj>
              </mc:Fallback>
            </mc:AlternateContent>
          </a:graphicData>
        </a:graphic>
      </p:graphicFrame>
      <p:sp>
        <p:nvSpPr>
          <p:cNvPr id="4" name="Subtitle 8">
            <a:extLst>
              <a:ext uri="{FF2B5EF4-FFF2-40B4-BE49-F238E27FC236}">
                <a16:creationId xmlns:a16="http://schemas.microsoft.com/office/drawing/2014/main" id="{A0062A0C-C98E-E811-106E-7B1C3768FEFA}"/>
              </a:ext>
            </a:extLst>
          </p:cNvPr>
          <p:cNvSpPr txBox="1">
            <a:spLocks noGrp="1"/>
          </p:cNvSpPr>
          <p:nvPr>
            <p:ph type="subTitle" idx="1"/>
          </p:nvPr>
        </p:nvSpPr>
        <p:spPr>
          <a:xfrm>
            <a:off x="334963" y="-26988"/>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Sell or Process Further</a:t>
            </a:r>
          </a:p>
        </p:txBody>
      </p:sp>
      <p:sp>
        <p:nvSpPr>
          <p:cNvPr id="6" name="Slide Number Placeholder 5">
            <a:extLst>
              <a:ext uri="{FF2B5EF4-FFF2-40B4-BE49-F238E27FC236}">
                <a16:creationId xmlns:a16="http://schemas.microsoft.com/office/drawing/2014/main" id="{9630B331-E635-E4BE-CD27-F013D7D3283D}"/>
              </a:ext>
            </a:extLst>
          </p:cNvPr>
          <p:cNvSpPr>
            <a:spLocks noGrp="1"/>
          </p:cNvSpPr>
          <p:nvPr>
            <p:ph type="sldNum" sz="quarter" idx="12"/>
          </p:nvPr>
        </p:nvSpPr>
        <p:spPr/>
        <p:txBody>
          <a:bodyPr/>
          <a:lstStyle/>
          <a:p>
            <a:fld id="{9B7CDB38-6350-4CC9-AB0E-B9078CE1CE4B}" type="slidenum">
              <a:rPr lang="en-US" smtClean="0"/>
              <a:pPr/>
              <a:t>58</a:t>
            </a:fld>
            <a:endParaRPr lang="en-US"/>
          </a:p>
        </p:txBody>
      </p:sp>
    </p:spTree>
  </p:cSld>
  <p:clrMapOvr>
    <a:masterClrMapping/>
  </p:clrMapOvr>
  <p:transition>
    <p:wipe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0049" name="Object 2">
            <a:extLst>
              <a:ext uri="{FF2B5EF4-FFF2-40B4-BE49-F238E27FC236}">
                <a16:creationId xmlns:a16="http://schemas.microsoft.com/office/drawing/2014/main" id="{BA90C81B-2CD3-4052-941A-4015BF26A2CD}"/>
              </a:ext>
            </a:extLst>
          </p:cNvPr>
          <p:cNvGraphicFramePr>
            <a:graphicFrameLocks/>
          </p:cNvGraphicFramePr>
          <p:nvPr>
            <p:extLst>
              <p:ext uri="{D42A27DB-BD31-4B8C-83A1-F6EECF244321}">
                <p14:modId xmlns:p14="http://schemas.microsoft.com/office/powerpoint/2010/main" val="3994674652"/>
              </p:ext>
            </p:extLst>
          </p:nvPr>
        </p:nvGraphicFramePr>
        <p:xfrm>
          <a:off x="1909763" y="1546225"/>
          <a:ext cx="8509000" cy="3384550"/>
        </p:xfrm>
        <a:graphic>
          <a:graphicData uri="http://schemas.openxmlformats.org/presentationml/2006/ole">
            <mc:AlternateContent xmlns:mc="http://schemas.openxmlformats.org/markup-compatibility/2006">
              <mc:Choice xmlns:v="urn:schemas-microsoft-com:vml" Requires="v">
                <p:oleObj name="Worksheet" r:id="rId3" imgW="4070481" imgH="1536609" progId="Excel.Sheet.8">
                  <p:embed/>
                </p:oleObj>
              </mc:Choice>
              <mc:Fallback>
                <p:oleObj name="Worksheet" r:id="rId3" imgW="4070481" imgH="1536609" progId="Excel.Sheet.8">
                  <p:embed/>
                  <p:pic>
                    <p:nvPicPr>
                      <p:cNvPr id="130049" name="Object 2">
                        <a:extLst>
                          <a:ext uri="{FF2B5EF4-FFF2-40B4-BE49-F238E27FC236}">
                            <a16:creationId xmlns:a16="http://schemas.microsoft.com/office/drawing/2014/main" id="{BA90C81B-2CD3-4052-941A-4015BF26A2CD}"/>
                          </a:ext>
                        </a:extLst>
                      </p:cNvPr>
                      <p:cNvPicPr>
                        <a:picLocks noChangeArrowheads="1"/>
                      </p:cNvPicPr>
                      <p:nvPr/>
                    </p:nvPicPr>
                    <p:blipFill>
                      <a:blip r:embed="rId4"/>
                      <a:srcRect/>
                      <a:stretch>
                        <a:fillRect/>
                      </a:stretch>
                    </p:blipFill>
                    <p:spPr bwMode="auto">
                      <a:xfrm>
                        <a:off x="1909763" y="1546225"/>
                        <a:ext cx="8509000" cy="3384550"/>
                      </a:xfrm>
                      <a:prstGeom prst="rect">
                        <a:avLst/>
                      </a:prstGeom>
                      <a:noFill/>
                      <a:ln>
                        <a:noFill/>
                      </a:ln>
                      <a:effectLst/>
                    </p:spPr>
                  </p:pic>
                </p:oleObj>
              </mc:Fallback>
            </mc:AlternateContent>
          </a:graphicData>
        </a:graphic>
      </p:graphicFrame>
      <p:sp>
        <p:nvSpPr>
          <p:cNvPr id="4" name="Subtitle 8">
            <a:extLst>
              <a:ext uri="{FF2B5EF4-FFF2-40B4-BE49-F238E27FC236}">
                <a16:creationId xmlns:a16="http://schemas.microsoft.com/office/drawing/2014/main" id="{BE757676-E5DC-315C-EF4C-199C57809B4F}"/>
              </a:ext>
            </a:extLst>
          </p:cNvPr>
          <p:cNvSpPr txBox="1">
            <a:spLocks noGrp="1"/>
          </p:cNvSpPr>
          <p:nvPr>
            <p:ph type="subTitle" idx="1"/>
          </p:nvPr>
        </p:nvSpPr>
        <p:spPr>
          <a:xfrm>
            <a:off x="334963" y="-26988"/>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Sell or Process Further</a:t>
            </a:r>
          </a:p>
        </p:txBody>
      </p:sp>
      <p:sp>
        <p:nvSpPr>
          <p:cNvPr id="6" name="Slide Number Placeholder 5">
            <a:extLst>
              <a:ext uri="{FF2B5EF4-FFF2-40B4-BE49-F238E27FC236}">
                <a16:creationId xmlns:a16="http://schemas.microsoft.com/office/drawing/2014/main" id="{74A191EE-032A-48C8-AF01-48C37E48B0A3}"/>
              </a:ext>
            </a:extLst>
          </p:cNvPr>
          <p:cNvSpPr>
            <a:spLocks noGrp="1"/>
          </p:cNvSpPr>
          <p:nvPr>
            <p:ph type="sldNum" sz="quarter" idx="12"/>
          </p:nvPr>
        </p:nvSpPr>
        <p:spPr/>
        <p:txBody>
          <a:bodyPr/>
          <a:lstStyle/>
          <a:p>
            <a:fld id="{9B7CDB38-6350-4CC9-AB0E-B9078CE1CE4B}" type="slidenum">
              <a:rPr lang="en-US" smtClean="0"/>
              <a:pPr/>
              <a:t>59</a:t>
            </a:fld>
            <a:endParaRPr lang="en-US"/>
          </a:p>
        </p:txBody>
      </p:sp>
    </p:spTree>
  </p:cSld>
  <p:clrMapOvr>
    <a:masterClrMapping/>
  </p:clrMapOvr>
  <p:transition>
    <p:wipe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2097" name="Object 2">
            <a:extLst>
              <a:ext uri="{FF2B5EF4-FFF2-40B4-BE49-F238E27FC236}">
                <a16:creationId xmlns:a16="http://schemas.microsoft.com/office/drawing/2014/main" id="{2B0E62C3-F7CC-40E0-9CE9-772981B46E24}"/>
              </a:ext>
            </a:extLst>
          </p:cNvPr>
          <p:cNvGraphicFramePr>
            <a:graphicFrameLocks/>
          </p:cNvGraphicFramePr>
          <p:nvPr>
            <p:extLst>
              <p:ext uri="{D42A27DB-BD31-4B8C-83A1-F6EECF244321}">
                <p14:modId xmlns:p14="http://schemas.microsoft.com/office/powerpoint/2010/main" val="3443736888"/>
              </p:ext>
            </p:extLst>
          </p:nvPr>
        </p:nvGraphicFramePr>
        <p:xfrm>
          <a:off x="1846263" y="1093788"/>
          <a:ext cx="8345487" cy="4014787"/>
        </p:xfrm>
        <a:graphic>
          <a:graphicData uri="http://schemas.openxmlformats.org/presentationml/2006/ole">
            <mc:AlternateContent xmlns:mc="http://schemas.openxmlformats.org/markup-compatibility/2006">
              <mc:Choice xmlns:v="urn:schemas-microsoft-com:vml" Requires="v">
                <p:oleObj name="Worksheet" r:id="rId3" imgW="4070481" imgH="1536609" progId="Excel.Sheet.8">
                  <p:embed/>
                </p:oleObj>
              </mc:Choice>
              <mc:Fallback>
                <p:oleObj name="Worksheet" r:id="rId3" imgW="4070481" imgH="1536609" progId="Excel.Sheet.8">
                  <p:embed/>
                  <p:pic>
                    <p:nvPicPr>
                      <p:cNvPr id="132097" name="Object 2">
                        <a:extLst>
                          <a:ext uri="{FF2B5EF4-FFF2-40B4-BE49-F238E27FC236}">
                            <a16:creationId xmlns:a16="http://schemas.microsoft.com/office/drawing/2014/main" id="{2B0E62C3-F7CC-40E0-9CE9-772981B46E24}"/>
                          </a:ext>
                        </a:extLst>
                      </p:cNvPr>
                      <p:cNvPicPr>
                        <a:picLocks noChangeArrowheads="1"/>
                      </p:cNvPicPr>
                      <p:nvPr/>
                    </p:nvPicPr>
                    <p:blipFill>
                      <a:blip r:embed="rId4"/>
                      <a:srcRect/>
                      <a:stretch>
                        <a:fillRect/>
                      </a:stretch>
                    </p:blipFill>
                    <p:spPr bwMode="auto">
                      <a:xfrm>
                        <a:off x="1846263" y="1093788"/>
                        <a:ext cx="8345487" cy="4014787"/>
                      </a:xfrm>
                      <a:prstGeom prst="rect">
                        <a:avLst/>
                      </a:prstGeom>
                      <a:noFill/>
                      <a:ln>
                        <a:noFill/>
                      </a:ln>
                      <a:effectLst/>
                    </p:spPr>
                  </p:pic>
                </p:oleObj>
              </mc:Fallback>
            </mc:AlternateContent>
          </a:graphicData>
        </a:graphic>
      </p:graphicFrame>
      <p:sp>
        <p:nvSpPr>
          <p:cNvPr id="462853" name="Rectangle 5">
            <a:extLst>
              <a:ext uri="{FF2B5EF4-FFF2-40B4-BE49-F238E27FC236}">
                <a16:creationId xmlns:a16="http://schemas.microsoft.com/office/drawing/2014/main" id="{C7E73726-CB80-4B2C-88BF-1734689B2D67}"/>
              </a:ext>
            </a:extLst>
          </p:cNvPr>
          <p:cNvSpPr>
            <a:spLocks noChangeArrowheads="1"/>
          </p:cNvSpPr>
          <p:nvPr/>
        </p:nvSpPr>
        <p:spPr bwMode="auto">
          <a:xfrm>
            <a:off x="2149475" y="5526534"/>
            <a:ext cx="7893050" cy="520655"/>
          </a:xfrm>
          <a:prstGeom prst="rect">
            <a:avLst/>
          </a:prstGeom>
          <a:solidFill>
            <a:srgbClr val="1C3163"/>
          </a:solidFill>
          <a:ln w="12700">
            <a:solidFill>
              <a:srgbClr val="000000"/>
            </a:solidFill>
            <a:miter lim="800000"/>
            <a:headEnd/>
            <a:tailEnd/>
          </a:ln>
          <a:effectLst>
            <a:outerShdw blurRad="63500" dist="46662" dir="3284183" algn="ctr" rotWithShape="0">
              <a:srgbClr val="000000">
                <a:alpha val="74997"/>
              </a:srgbClr>
            </a:outerShdw>
          </a:effectLst>
        </p:spPr>
        <p:txBody>
          <a:bodyPr wrap="square" lIns="90488" tIns="44450" rIns="90488" bIns="4445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CA" altLang="en-US" sz="2800" dirty="0">
                <a:solidFill>
                  <a:schemeClr val="bg1"/>
                </a:solidFill>
                <a:latin typeface="Arial" panose="020B0604020202020204" pitchFamily="34" charset="0"/>
                <a:cs typeface="Arial" panose="020B0604020202020204" pitchFamily="34" charset="0"/>
              </a:rPr>
              <a:t>Which product should be processed further?</a:t>
            </a:r>
          </a:p>
        </p:txBody>
      </p:sp>
      <p:sp>
        <p:nvSpPr>
          <p:cNvPr id="4" name="Subtitle 8">
            <a:extLst>
              <a:ext uri="{FF2B5EF4-FFF2-40B4-BE49-F238E27FC236}">
                <a16:creationId xmlns:a16="http://schemas.microsoft.com/office/drawing/2014/main" id="{D42DF60C-7529-A4F7-8A70-2D05AD422B73}"/>
              </a:ext>
            </a:extLst>
          </p:cNvPr>
          <p:cNvSpPr txBox="1">
            <a:spLocks noGrp="1"/>
          </p:cNvSpPr>
          <p:nvPr>
            <p:ph type="subTitle" idx="1"/>
          </p:nvPr>
        </p:nvSpPr>
        <p:spPr>
          <a:xfrm>
            <a:off x="334963" y="-26988"/>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Sell or Process Further</a:t>
            </a:r>
          </a:p>
        </p:txBody>
      </p:sp>
      <p:sp>
        <p:nvSpPr>
          <p:cNvPr id="6" name="Slide Number Placeholder 5">
            <a:extLst>
              <a:ext uri="{FF2B5EF4-FFF2-40B4-BE49-F238E27FC236}">
                <a16:creationId xmlns:a16="http://schemas.microsoft.com/office/drawing/2014/main" id="{57F2B6AB-DC25-E6FE-91AA-F903A13E73F9}"/>
              </a:ext>
            </a:extLst>
          </p:cNvPr>
          <p:cNvSpPr>
            <a:spLocks noGrp="1"/>
          </p:cNvSpPr>
          <p:nvPr>
            <p:ph type="sldNum" sz="quarter" idx="12"/>
          </p:nvPr>
        </p:nvSpPr>
        <p:spPr/>
        <p:txBody>
          <a:bodyPr/>
          <a:lstStyle/>
          <a:p>
            <a:fld id="{9B7CDB38-6350-4CC9-AB0E-B9078CE1CE4B}" type="slidenum">
              <a:rPr lang="en-US" smtClean="0"/>
              <a:pPr/>
              <a:t>60</a:t>
            </a:fld>
            <a:endParaRPr lang="en-US"/>
          </a:p>
        </p:txBody>
      </p:sp>
    </p:spTree>
  </p:cSld>
  <p:clrMapOvr>
    <a:masterClrMapping/>
  </p:clrMapOvr>
  <p:transition>
    <p:wipe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4CC74-8F40-5EA1-F8C3-A67AD937A5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8FD79BB-66E8-6CCC-8E39-6C093DA2063B}"/>
              </a:ext>
            </a:extLst>
          </p:cNvPr>
          <p:cNvSpPr>
            <a:spLocks noGrp="1"/>
          </p:cNvSpPr>
          <p:nvPr>
            <p:ph type="ctrTitle"/>
          </p:nvPr>
        </p:nvSpPr>
        <p:spPr>
          <a:xfrm>
            <a:off x="335361" y="1124744"/>
            <a:ext cx="5256583" cy="2448272"/>
          </a:xfrm>
        </p:spPr>
        <p:txBody>
          <a:bodyPr/>
          <a:lstStyle/>
          <a:p>
            <a:r>
              <a:rPr lang="en-CA" dirty="0"/>
              <a:t>Utilization of Constrained Resource</a:t>
            </a:r>
          </a:p>
        </p:txBody>
      </p:sp>
      <p:sp>
        <p:nvSpPr>
          <p:cNvPr id="2" name="Slide Number Placeholder 1">
            <a:extLst>
              <a:ext uri="{FF2B5EF4-FFF2-40B4-BE49-F238E27FC236}">
                <a16:creationId xmlns:a16="http://schemas.microsoft.com/office/drawing/2014/main" id="{C25CA5F9-CFAF-6974-F489-6F00B1BA8A8A}"/>
              </a:ext>
            </a:extLst>
          </p:cNvPr>
          <p:cNvSpPr>
            <a:spLocks noGrp="1"/>
          </p:cNvSpPr>
          <p:nvPr>
            <p:ph type="sldNum" sz="quarter" idx="4294967295"/>
          </p:nvPr>
        </p:nvSpPr>
        <p:spPr>
          <a:xfrm>
            <a:off x="0" y="6524625"/>
            <a:ext cx="479425" cy="217488"/>
          </a:xfrm>
        </p:spPr>
        <p:txBody>
          <a:bodyPr/>
          <a:lstStyle/>
          <a:p>
            <a:fld id="{9B7CDB38-6350-4CC9-AB0E-B9078CE1CE4B}" type="slidenum">
              <a:rPr lang="en-US" smtClean="0"/>
              <a:pPr/>
              <a:t>61</a:t>
            </a:fld>
            <a:endParaRPr lang="en-US"/>
          </a:p>
        </p:txBody>
      </p:sp>
    </p:spTree>
    <p:extLst>
      <p:ext uri="{BB962C8B-B14F-4D97-AF65-F5344CB8AC3E}">
        <p14:creationId xmlns:p14="http://schemas.microsoft.com/office/powerpoint/2010/main" val="40290497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5474682-6D72-5E73-97AD-95C4E14B62B6}"/>
              </a:ext>
            </a:extLst>
          </p:cNvPr>
          <p:cNvSpPr>
            <a:spLocks noGrp="1"/>
          </p:cNvSpPr>
          <p:nvPr>
            <p:ph type="subTitle" idx="1"/>
          </p:nvPr>
        </p:nvSpPr>
        <p:spPr/>
        <p:txBody>
          <a:bodyPr/>
          <a:lstStyle/>
          <a:p>
            <a:r>
              <a:rPr lang="en-CA" dirty="0"/>
              <a:t>Utilization of a Constrained Resource</a:t>
            </a:r>
          </a:p>
        </p:txBody>
      </p:sp>
      <p:sp>
        <p:nvSpPr>
          <p:cNvPr id="134146" name="TextBox 128022">
            <a:extLst>
              <a:ext uri="{FF2B5EF4-FFF2-40B4-BE49-F238E27FC236}">
                <a16:creationId xmlns:a16="http://schemas.microsoft.com/office/drawing/2014/main" id="{C545F7C2-D13F-44D6-AFAE-AFAA4946E91F}"/>
              </a:ext>
            </a:extLst>
          </p:cNvPr>
          <p:cNvSpPr txBox="1">
            <a:spLocks noChangeArrowheads="1"/>
          </p:cNvSpPr>
          <p:nvPr/>
        </p:nvSpPr>
        <p:spPr bwMode="auto">
          <a:xfrm>
            <a:off x="1021094" y="908720"/>
            <a:ext cx="8747314"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Clr>
                <a:srgbClr val="1C3163"/>
              </a:buClr>
              <a:buFont typeface="Arial" panose="020B0604020202020204" pitchFamily="34" charset="0"/>
              <a:buChar char="•"/>
            </a:pPr>
            <a:r>
              <a:rPr lang="en-CA" altLang="en-US" sz="2800" dirty="0">
                <a:cs typeface="Arial" panose="020B0604020202020204" pitchFamily="34" charset="0"/>
              </a:rPr>
              <a:t>When a limited resource of some type restricts the company’s ability to satisfy demand, the company is said to have a </a:t>
            </a:r>
            <a:r>
              <a:rPr lang="en-CA" altLang="en-US" sz="2800" b="1" dirty="0">
                <a:cs typeface="Arial" panose="020B0604020202020204" pitchFamily="34" charset="0"/>
              </a:rPr>
              <a:t>constraint</a:t>
            </a:r>
            <a:r>
              <a:rPr lang="en-CA" altLang="en-US" sz="2800" dirty="0">
                <a:cs typeface="Arial" panose="020B0604020202020204" pitchFamily="34" charset="0"/>
              </a:rPr>
              <a:t>.</a:t>
            </a:r>
          </a:p>
          <a:p>
            <a:pPr eaLnBrk="1" hangingPunct="1">
              <a:buClr>
                <a:srgbClr val="1C3163"/>
              </a:buClr>
              <a:buFont typeface="Arial" panose="020B0604020202020204" pitchFamily="34" charset="0"/>
              <a:buChar char="•"/>
            </a:pPr>
            <a:endParaRPr lang="en-CA" altLang="en-US" sz="2800" dirty="0">
              <a:cs typeface="Arial" panose="020B0604020202020204" pitchFamily="34" charset="0"/>
            </a:endParaRPr>
          </a:p>
          <a:p>
            <a:pPr eaLnBrk="1" hangingPunct="1">
              <a:buClr>
                <a:srgbClr val="1C3163"/>
              </a:buClr>
              <a:buFont typeface="Arial" panose="020B0604020202020204" pitchFamily="34" charset="0"/>
              <a:buChar char="•"/>
            </a:pPr>
            <a:r>
              <a:rPr lang="en-CA" altLang="en-US" sz="2800" dirty="0">
                <a:cs typeface="Arial" panose="020B0604020202020204" pitchFamily="34" charset="0"/>
              </a:rPr>
              <a:t>The </a:t>
            </a:r>
            <a:r>
              <a:rPr lang="en-CA" altLang="en-US" sz="2800" b="1" dirty="0">
                <a:cs typeface="Arial" panose="020B0604020202020204" pitchFamily="34" charset="0"/>
              </a:rPr>
              <a:t>theory of constraints </a:t>
            </a:r>
            <a:r>
              <a:rPr lang="en-CA" altLang="en-US" sz="2800" dirty="0">
                <a:cs typeface="Arial" panose="020B0604020202020204" pitchFamily="34" charset="0"/>
              </a:rPr>
              <a:t>(TOC) maintains that effectively managing a constraint is important to the financial success of an organization.</a:t>
            </a:r>
          </a:p>
          <a:p>
            <a:pPr eaLnBrk="1" hangingPunct="1">
              <a:buClr>
                <a:srgbClr val="1C3163"/>
              </a:buClr>
              <a:buFont typeface="Arial" panose="020B0604020202020204" pitchFamily="34" charset="0"/>
              <a:buChar char="•"/>
            </a:pPr>
            <a:endParaRPr lang="en-CA" altLang="en-US" sz="2800" dirty="0">
              <a:cs typeface="Arial" panose="020B0604020202020204" pitchFamily="34" charset="0"/>
            </a:endParaRPr>
          </a:p>
          <a:p>
            <a:pPr eaLnBrk="1" hangingPunct="1">
              <a:buClr>
                <a:srgbClr val="1C3163"/>
              </a:buClr>
              <a:buFont typeface="Arial" panose="020B0604020202020204" pitchFamily="34" charset="0"/>
              <a:buChar char="•"/>
            </a:pPr>
            <a:r>
              <a:rPr lang="en-CA" altLang="en-US" sz="2800" dirty="0">
                <a:cs typeface="Arial" panose="020B0604020202020204" pitchFamily="34" charset="0"/>
              </a:rPr>
              <a:t>The challenge is deciding how to best utilize the constrained resource to maximize the company’s profits.</a:t>
            </a:r>
          </a:p>
        </p:txBody>
      </p:sp>
      <p:sp>
        <p:nvSpPr>
          <p:cNvPr id="5" name="Slide Number Placeholder 4">
            <a:extLst>
              <a:ext uri="{FF2B5EF4-FFF2-40B4-BE49-F238E27FC236}">
                <a16:creationId xmlns:a16="http://schemas.microsoft.com/office/drawing/2014/main" id="{552A386F-5015-6A68-08B4-3CAA6FC95918}"/>
              </a:ext>
            </a:extLst>
          </p:cNvPr>
          <p:cNvSpPr>
            <a:spLocks noGrp="1"/>
          </p:cNvSpPr>
          <p:nvPr>
            <p:ph type="sldNum" sz="quarter" idx="12"/>
          </p:nvPr>
        </p:nvSpPr>
        <p:spPr/>
        <p:txBody>
          <a:bodyPr/>
          <a:lstStyle/>
          <a:p>
            <a:fld id="{9B7CDB38-6350-4CC9-AB0E-B9078CE1CE4B}" type="slidenum">
              <a:rPr lang="en-US" smtClean="0"/>
              <a:pPr/>
              <a:t>62</a:t>
            </a:fld>
            <a:endParaRPr lang="en-US"/>
          </a:p>
        </p:txBody>
      </p:sp>
    </p:spTree>
  </p:cSld>
  <p:clrMapOvr>
    <a:masterClrMapping/>
  </p:clrMapOvr>
  <p:transition>
    <p:checke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B3FE7-1354-23F3-29F7-BF0F00D4BBCC}"/>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AA406494-4DC7-22AB-2B62-1C2EECE5C51F}"/>
              </a:ext>
            </a:extLst>
          </p:cNvPr>
          <p:cNvSpPr>
            <a:spLocks noGrp="1"/>
          </p:cNvSpPr>
          <p:nvPr>
            <p:ph type="subTitle" idx="1"/>
          </p:nvPr>
        </p:nvSpPr>
        <p:spPr/>
        <p:txBody>
          <a:bodyPr/>
          <a:lstStyle/>
          <a:p>
            <a:r>
              <a:rPr lang="en-CA" dirty="0"/>
              <a:t>Utilization of a Constrained Resource</a:t>
            </a:r>
          </a:p>
        </p:txBody>
      </p:sp>
      <p:sp>
        <p:nvSpPr>
          <p:cNvPr id="134146" name="TextBox 128022">
            <a:extLst>
              <a:ext uri="{FF2B5EF4-FFF2-40B4-BE49-F238E27FC236}">
                <a16:creationId xmlns:a16="http://schemas.microsoft.com/office/drawing/2014/main" id="{38935098-012A-1443-87CE-1C6C710E3CAF}"/>
              </a:ext>
            </a:extLst>
          </p:cNvPr>
          <p:cNvSpPr txBox="1">
            <a:spLocks noChangeArrowheads="1"/>
          </p:cNvSpPr>
          <p:nvPr/>
        </p:nvSpPr>
        <p:spPr bwMode="auto">
          <a:xfrm>
            <a:off x="1021094" y="908720"/>
            <a:ext cx="10043458"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buSzPct val="100000"/>
              <a:buFont typeface="Arial" panose="020B0604020202020204" pitchFamily="34" charset="0"/>
              <a:buChar char="•"/>
            </a:pPr>
            <a:r>
              <a:rPr lang="en-CA" altLang="en-US" sz="2800" dirty="0"/>
              <a:t>When a constraint exists, a company should select a product mix that </a:t>
            </a:r>
            <a:r>
              <a:rPr lang="en-CA" altLang="en-US" sz="2800" b="1" dirty="0"/>
              <a:t>maximizes the total contribution margin </a:t>
            </a:r>
            <a:r>
              <a:rPr lang="en-CA" altLang="en-US" sz="2800" dirty="0"/>
              <a:t>earned, since fixed costs usually remain unchanged.</a:t>
            </a:r>
          </a:p>
          <a:p>
            <a:pPr>
              <a:lnSpc>
                <a:spcPct val="90000"/>
              </a:lnSpc>
              <a:buSzPct val="100000"/>
              <a:buFont typeface="Arial" panose="020B0604020202020204" pitchFamily="34" charset="0"/>
              <a:buChar char="•"/>
            </a:pPr>
            <a:endParaRPr lang="en-CA" altLang="en-US" sz="2800" dirty="0"/>
          </a:p>
          <a:p>
            <a:pPr>
              <a:lnSpc>
                <a:spcPct val="90000"/>
              </a:lnSpc>
              <a:buSzPct val="100000"/>
              <a:buFont typeface="Arial" panose="020B0604020202020204" pitchFamily="34" charset="0"/>
              <a:buChar char="•"/>
            </a:pPr>
            <a:r>
              <a:rPr lang="en-CA" altLang="en-US" sz="2800" dirty="0"/>
              <a:t>A company should not necessarily promote those products that have the highest unit contribution margin. </a:t>
            </a:r>
          </a:p>
          <a:p>
            <a:pPr>
              <a:lnSpc>
                <a:spcPct val="90000"/>
              </a:lnSpc>
              <a:buSzPct val="100000"/>
              <a:buFont typeface="Arial" panose="020B0604020202020204" pitchFamily="34" charset="0"/>
              <a:buChar char="•"/>
            </a:pPr>
            <a:endParaRPr lang="en-CA" altLang="en-US" sz="2800" dirty="0"/>
          </a:p>
          <a:p>
            <a:pPr>
              <a:lnSpc>
                <a:spcPct val="90000"/>
              </a:lnSpc>
              <a:buSzPct val="100000"/>
              <a:buFont typeface="Arial" panose="020B0604020202020204" pitchFamily="34" charset="0"/>
              <a:buChar char="•"/>
            </a:pPr>
            <a:r>
              <a:rPr lang="en-CA" altLang="en-US" sz="2800" dirty="0"/>
              <a:t>Rather, it should promote those products that earn the </a:t>
            </a:r>
            <a:r>
              <a:rPr lang="en-CA" altLang="en-US" sz="2800" b="1" dirty="0"/>
              <a:t>highest contribution margin in relation to the constrained resource</a:t>
            </a:r>
            <a:r>
              <a:rPr lang="en-CA" altLang="en-US" sz="2800" dirty="0"/>
              <a:t>. </a:t>
            </a:r>
          </a:p>
          <a:p>
            <a:pPr eaLnBrk="1" hangingPunct="1">
              <a:buClr>
                <a:srgbClr val="1C3163"/>
              </a:buClr>
              <a:buFont typeface="Arial" panose="020B0604020202020204" pitchFamily="34" charset="0"/>
              <a:buChar char="•"/>
            </a:pPr>
            <a:endParaRPr lang="en-CA" altLang="en-US" sz="2800" dirty="0">
              <a:cs typeface="Arial" panose="020B0604020202020204" pitchFamily="34" charset="0"/>
            </a:endParaRPr>
          </a:p>
        </p:txBody>
      </p:sp>
      <p:sp>
        <p:nvSpPr>
          <p:cNvPr id="3" name="Slide Number Placeholder 2">
            <a:extLst>
              <a:ext uri="{FF2B5EF4-FFF2-40B4-BE49-F238E27FC236}">
                <a16:creationId xmlns:a16="http://schemas.microsoft.com/office/drawing/2014/main" id="{35BCF91D-BBEA-8355-88E8-C03975414BB7}"/>
              </a:ext>
            </a:extLst>
          </p:cNvPr>
          <p:cNvSpPr>
            <a:spLocks noGrp="1"/>
          </p:cNvSpPr>
          <p:nvPr>
            <p:ph type="sldNum" sz="quarter" idx="12"/>
          </p:nvPr>
        </p:nvSpPr>
        <p:spPr/>
        <p:txBody>
          <a:bodyPr/>
          <a:lstStyle/>
          <a:p>
            <a:fld id="{9B7CDB38-6350-4CC9-AB0E-B9078CE1CE4B}" type="slidenum">
              <a:rPr lang="en-US" smtClean="0"/>
              <a:pPr/>
              <a:t>63</a:t>
            </a:fld>
            <a:endParaRPr lang="en-US"/>
          </a:p>
        </p:txBody>
      </p:sp>
    </p:spTree>
    <p:extLst>
      <p:ext uri="{BB962C8B-B14F-4D97-AF65-F5344CB8AC3E}">
        <p14:creationId xmlns:p14="http://schemas.microsoft.com/office/powerpoint/2010/main" val="3553435054"/>
      </p:ext>
    </p:extLst>
  </p:cSld>
  <p:clrMapOvr>
    <a:masterClrMapping/>
  </p:clrMapOvr>
  <p:transition>
    <p:checke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8242" name="Object 2">
            <a:extLst>
              <a:ext uri="{FF2B5EF4-FFF2-40B4-BE49-F238E27FC236}">
                <a16:creationId xmlns:a16="http://schemas.microsoft.com/office/drawing/2014/main" id="{FA461967-591B-48D3-B4CC-ACCDB6F308D5}"/>
              </a:ext>
            </a:extLst>
          </p:cNvPr>
          <p:cNvGraphicFramePr>
            <a:graphicFrameLocks/>
          </p:cNvGraphicFramePr>
          <p:nvPr>
            <p:extLst>
              <p:ext uri="{D42A27DB-BD31-4B8C-83A1-F6EECF244321}">
                <p14:modId xmlns:p14="http://schemas.microsoft.com/office/powerpoint/2010/main" val="1186200650"/>
              </p:ext>
            </p:extLst>
          </p:nvPr>
        </p:nvGraphicFramePr>
        <p:xfrm>
          <a:off x="2279650" y="2228850"/>
          <a:ext cx="7186613" cy="3470275"/>
        </p:xfrm>
        <a:graphic>
          <a:graphicData uri="http://schemas.openxmlformats.org/presentationml/2006/ole">
            <mc:AlternateContent xmlns:mc="http://schemas.openxmlformats.org/markup-compatibility/2006">
              <mc:Choice xmlns:v="urn:schemas-microsoft-com:vml" Requires="v">
                <p:oleObj name="Worksheet" r:id="rId3" imgW="5454786" imgH="1651214" progId="Excel.Sheet.8">
                  <p:embed/>
                </p:oleObj>
              </mc:Choice>
              <mc:Fallback>
                <p:oleObj name="Worksheet" r:id="rId3" imgW="5454786" imgH="1651214" progId="Excel.Sheet.8">
                  <p:embed/>
                  <p:pic>
                    <p:nvPicPr>
                      <p:cNvPr id="138242" name="Object 2">
                        <a:extLst>
                          <a:ext uri="{FF2B5EF4-FFF2-40B4-BE49-F238E27FC236}">
                            <a16:creationId xmlns:a16="http://schemas.microsoft.com/office/drawing/2014/main" id="{FA461967-591B-48D3-B4CC-ACCDB6F308D5}"/>
                          </a:ext>
                        </a:extLst>
                      </p:cNvPr>
                      <p:cNvPicPr>
                        <a:picLocks noChangeArrowheads="1"/>
                      </p:cNvPicPr>
                      <p:nvPr/>
                    </p:nvPicPr>
                    <p:blipFill>
                      <a:blip r:embed="rId4"/>
                      <a:srcRect r="21870"/>
                      <a:stretch>
                        <a:fillRect/>
                      </a:stretch>
                    </p:blipFill>
                    <p:spPr bwMode="auto">
                      <a:xfrm>
                        <a:off x="2279650" y="2228850"/>
                        <a:ext cx="7186613" cy="3470275"/>
                      </a:xfrm>
                      <a:prstGeom prst="rect">
                        <a:avLst/>
                      </a:prstGeom>
                      <a:noFill/>
                      <a:ln>
                        <a:noFill/>
                      </a:ln>
                      <a:effectLst/>
                    </p:spPr>
                  </p:pic>
                </p:oleObj>
              </mc:Fallback>
            </mc:AlternateContent>
          </a:graphicData>
        </a:graphic>
      </p:graphicFrame>
      <p:sp>
        <p:nvSpPr>
          <p:cNvPr id="5" name="TextBox 4">
            <a:extLst>
              <a:ext uri="{FF2B5EF4-FFF2-40B4-BE49-F238E27FC236}">
                <a16:creationId xmlns:a16="http://schemas.microsoft.com/office/drawing/2014/main" id="{50C7FB77-21C9-F86A-3B66-4DB78AF68C1B}"/>
              </a:ext>
            </a:extLst>
          </p:cNvPr>
          <p:cNvSpPr txBox="1"/>
          <p:nvPr/>
        </p:nvSpPr>
        <p:spPr>
          <a:xfrm>
            <a:off x="2423592" y="1124744"/>
            <a:ext cx="6096000" cy="830997"/>
          </a:xfrm>
          <a:prstGeom prst="rect">
            <a:avLst/>
          </a:prstGeom>
          <a:noFill/>
        </p:spPr>
        <p:txBody>
          <a:bodyPr wrap="square">
            <a:spAutoFit/>
          </a:bodyPr>
          <a:lstStyle/>
          <a:p>
            <a:pPr algn="ctr">
              <a:buFont typeface="Wingdings 3" panose="05040102010807070707" pitchFamily="18" charset="2"/>
              <a:buNone/>
            </a:pPr>
            <a:r>
              <a:rPr lang="en-CA" altLang="en-US" sz="2400" dirty="0">
                <a:latin typeface="Arial" panose="020B0604020202020204" pitchFamily="34" charset="0"/>
                <a:cs typeface="Arial" panose="020B0604020202020204" pitchFamily="34" charset="0"/>
              </a:rPr>
              <a:t>Ensign Company produces two products.   </a:t>
            </a:r>
          </a:p>
          <a:p>
            <a:pPr algn="ctr">
              <a:buFont typeface="Wingdings 3" panose="05040102010807070707" pitchFamily="18" charset="2"/>
              <a:buNone/>
            </a:pPr>
            <a:r>
              <a:rPr lang="en-CA" altLang="en-US" sz="2400" dirty="0">
                <a:latin typeface="Arial" panose="020B0604020202020204" pitchFamily="34" charset="0"/>
                <a:cs typeface="Arial" panose="020B0604020202020204" pitchFamily="34" charset="0"/>
              </a:rPr>
              <a:t>Selected </a:t>
            </a:r>
            <a:r>
              <a:rPr lang="en-CA" altLang="en-US" sz="2400" dirty="0">
                <a:solidFill>
                  <a:schemeClr val="tx1"/>
                </a:solidFill>
                <a:latin typeface="Arial" panose="020B0604020202020204" pitchFamily="34" charset="0"/>
                <a:cs typeface="Arial" panose="020B0604020202020204" pitchFamily="34" charset="0"/>
              </a:rPr>
              <a:t>data are shown below:</a:t>
            </a:r>
          </a:p>
        </p:txBody>
      </p:sp>
      <p:sp>
        <p:nvSpPr>
          <p:cNvPr id="6" name="Subtitle 8">
            <a:extLst>
              <a:ext uri="{FF2B5EF4-FFF2-40B4-BE49-F238E27FC236}">
                <a16:creationId xmlns:a16="http://schemas.microsoft.com/office/drawing/2014/main" id="{7679088A-44F9-F70C-800D-6B042206F591}"/>
              </a:ext>
            </a:extLst>
          </p:cNvPr>
          <p:cNvSpPr txBox="1">
            <a:spLocks noGrp="1"/>
          </p:cNvSpPr>
          <p:nvPr>
            <p:ph type="subTitle" idx="1"/>
          </p:nvPr>
        </p:nvSpPr>
        <p:spPr>
          <a:xfrm>
            <a:off x="335360" y="-17532"/>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Constrained Resource</a:t>
            </a:r>
          </a:p>
        </p:txBody>
      </p:sp>
      <p:sp>
        <p:nvSpPr>
          <p:cNvPr id="7" name="Slide Number Placeholder 6">
            <a:extLst>
              <a:ext uri="{FF2B5EF4-FFF2-40B4-BE49-F238E27FC236}">
                <a16:creationId xmlns:a16="http://schemas.microsoft.com/office/drawing/2014/main" id="{077681B2-8C0E-7C61-EB6F-4405224FD1DD}"/>
              </a:ext>
            </a:extLst>
          </p:cNvPr>
          <p:cNvSpPr>
            <a:spLocks noGrp="1"/>
          </p:cNvSpPr>
          <p:nvPr>
            <p:ph type="sldNum" sz="quarter" idx="12"/>
          </p:nvPr>
        </p:nvSpPr>
        <p:spPr/>
        <p:txBody>
          <a:bodyPr/>
          <a:lstStyle/>
          <a:p>
            <a:fld id="{9B7CDB38-6350-4CC9-AB0E-B9078CE1CE4B}" type="slidenum">
              <a:rPr lang="en-US" smtClean="0"/>
              <a:pPr/>
              <a:t>64</a:t>
            </a:fld>
            <a:endParaRPr lang="en-US"/>
          </a:p>
        </p:txBody>
      </p:sp>
    </p:spTree>
  </p:cSld>
  <p:clrMapOvr>
    <a:masterClrMapping/>
  </p:clrMapOvr>
  <p:transition>
    <p:zoom dir="in"/>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1027">
            <a:extLst>
              <a:ext uri="{FF2B5EF4-FFF2-40B4-BE49-F238E27FC236}">
                <a16:creationId xmlns:a16="http://schemas.microsoft.com/office/drawing/2014/main" id="{73F2D104-A4C6-457F-A575-C6C2F77B9635}"/>
              </a:ext>
            </a:extLst>
          </p:cNvPr>
          <p:cNvSpPr>
            <a:spLocks noGrp="1"/>
          </p:cNvSpPr>
          <p:nvPr>
            <p:ph type="subTitle"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vert="horz" wrap="square" lIns="90488" tIns="44450" rIns="90488" bIns="44450" numCol="1" rtlCol="0" anchor="t" anchorCtr="0" compatLnSpc="1">
            <a:prstTxWarp prst="textNoShape">
              <a:avLst/>
            </a:prstTxWarp>
            <a:noAutofit/>
          </a:bodyPr>
          <a:lstStyle/>
          <a:p>
            <a:pPr>
              <a:lnSpc>
                <a:spcPct val="90000"/>
              </a:lnSpc>
              <a:buFont typeface="Arial" panose="020B0604020202020204" pitchFamily="34" charset="0"/>
              <a:buChar char="•"/>
            </a:pPr>
            <a:endParaRPr lang="en-CA" altLang="en-US" sz="800">
              <a:solidFill>
                <a:schemeClr val="tx1"/>
              </a:solidFill>
            </a:endParaRPr>
          </a:p>
          <a:p>
            <a:pPr>
              <a:lnSpc>
                <a:spcPct val="90000"/>
              </a:lnSpc>
              <a:buFont typeface="Arial" panose="020B0604020202020204" pitchFamily="34" charset="0"/>
              <a:buChar char="•"/>
            </a:pPr>
            <a:endParaRPr lang="en-CA" altLang="en-US" sz="1000" dirty="0"/>
          </a:p>
        </p:txBody>
      </p:sp>
      <p:sp>
        <p:nvSpPr>
          <p:cNvPr id="4" name="TextBox 3">
            <a:extLst>
              <a:ext uri="{FF2B5EF4-FFF2-40B4-BE49-F238E27FC236}">
                <a16:creationId xmlns:a16="http://schemas.microsoft.com/office/drawing/2014/main" id="{89CD94A4-90D5-BA3D-0AD1-98698985AC00}"/>
              </a:ext>
            </a:extLst>
          </p:cNvPr>
          <p:cNvSpPr txBox="1"/>
          <p:nvPr/>
        </p:nvSpPr>
        <p:spPr>
          <a:xfrm>
            <a:off x="1055440" y="1556792"/>
            <a:ext cx="10513168" cy="3582519"/>
          </a:xfrm>
          <a:prstGeom prst="rect">
            <a:avLst/>
          </a:prstGeom>
          <a:noFill/>
        </p:spPr>
        <p:txBody>
          <a:bodyPr wrap="square">
            <a:spAutoFit/>
          </a:bodyPr>
          <a:lstStyle/>
          <a:p>
            <a:pPr>
              <a:lnSpc>
                <a:spcPct val="90000"/>
              </a:lnSpc>
              <a:buFont typeface="Arial" panose="020B0604020202020204" pitchFamily="34" charset="0"/>
              <a:buChar char="•"/>
            </a:pPr>
            <a:r>
              <a:rPr lang="en-CA" altLang="en-US" sz="2800" dirty="0">
                <a:solidFill>
                  <a:schemeClr val="tx1"/>
                </a:solidFill>
                <a:latin typeface="Arial" panose="020B0604020202020204" pitchFamily="34" charset="0"/>
                <a:cs typeface="Arial" panose="020B0604020202020204" pitchFamily="34" charset="0"/>
              </a:rPr>
              <a:t>Machine A1 is the constrained resource.     </a:t>
            </a:r>
          </a:p>
          <a:p>
            <a:pPr>
              <a:lnSpc>
                <a:spcPct val="90000"/>
              </a:lnSpc>
              <a:buFont typeface="Arial" panose="020B0604020202020204" pitchFamily="34" charset="0"/>
              <a:buChar char="•"/>
            </a:pPr>
            <a:endParaRPr lang="en-CA" altLang="en-US" sz="2800" dirty="0">
              <a:latin typeface="Arial" panose="020B0604020202020204" pitchFamily="34" charset="0"/>
              <a:cs typeface="Arial" panose="020B0604020202020204" pitchFamily="34" charset="0"/>
            </a:endParaRPr>
          </a:p>
          <a:p>
            <a:pPr>
              <a:lnSpc>
                <a:spcPct val="90000"/>
              </a:lnSpc>
              <a:buFont typeface="Arial" panose="020B0604020202020204" pitchFamily="34" charset="0"/>
              <a:buChar char="•"/>
            </a:pPr>
            <a:r>
              <a:rPr lang="en-CA" altLang="en-US" sz="2800" dirty="0">
                <a:solidFill>
                  <a:schemeClr val="tx1"/>
                </a:solidFill>
                <a:latin typeface="Arial" panose="020B0604020202020204" pitchFamily="34" charset="0"/>
                <a:cs typeface="Arial" panose="020B0604020202020204" pitchFamily="34" charset="0"/>
              </a:rPr>
              <a:t>It is currently being used at 100% of its capacity of 2,400 minutes per week.</a:t>
            </a:r>
          </a:p>
          <a:p>
            <a:pPr>
              <a:lnSpc>
                <a:spcPct val="90000"/>
              </a:lnSpc>
              <a:buFont typeface="Arial" panose="020B0604020202020204" pitchFamily="34" charset="0"/>
              <a:buChar char="•"/>
            </a:pPr>
            <a:endParaRPr lang="en-CA" altLang="en-US" sz="2800" dirty="0">
              <a:solidFill>
                <a:schemeClr val="tx1"/>
              </a:solidFill>
              <a:latin typeface="Arial" panose="020B0604020202020204" pitchFamily="34" charset="0"/>
              <a:cs typeface="Arial" panose="020B0604020202020204" pitchFamily="34" charset="0"/>
            </a:endParaRPr>
          </a:p>
          <a:p>
            <a:pPr>
              <a:lnSpc>
                <a:spcPct val="90000"/>
              </a:lnSpc>
              <a:buFont typeface="Arial" panose="020B0604020202020204" pitchFamily="34" charset="0"/>
              <a:buChar char="•"/>
            </a:pPr>
            <a:endParaRPr lang="en-CA" altLang="en-US" sz="2800" dirty="0">
              <a:solidFill>
                <a:schemeClr val="tx1"/>
              </a:solidFill>
              <a:latin typeface="Arial" panose="020B0604020202020204" pitchFamily="34" charset="0"/>
              <a:cs typeface="Arial" panose="020B0604020202020204" pitchFamily="34" charset="0"/>
            </a:endParaRPr>
          </a:p>
          <a:p>
            <a:pPr>
              <a:lnSpc>
                <a:spcPct val="90000"/>
              </a:lnSpc>
              <a:buFont typeface="Arial" panose="020B0604020202020204" pitchFamily="34" charset="0"/>
              <a:buChar char="•"/>
            </a:pPr>
            <a:r>
              <a:rPr lang="en-CA" altLang="en-US" sz="2800" dirty="0">
                <a:solidFill>
                  <a:schemeClr val="tx1"/>
                </a:solidFill>
                <a:latin typeface="Arial" panose="020B0604020202020204" pitchFamily="34" charset="0"/>
                <a:cs typeface="Arial" panose="020B0604020202020204" pitchFamily="34" charset="0"/>
              </a:rPr>
              <a:t>There is excess capacity on all other machines.  </a:t>
            </a:r>
          </a:p>
          <a:p>
            <a:pPr>
              <a:lnSpc>
                <a:spcPct val="90000"/>
              </a:lnSpc>
              <a:buFont typeface="Arial" panose="020B0604020202020204" pitchFamily="34" charset="0"/>
              <a:buChar char="•"/>
            </a:pPr>
            <a:endParaRPr lang="en-CA" altLang="en-US" sz="2800" dirty="0">
              <a:solidFill>
                <a:schemeClr val="tx1"/>
              </a:solidFill>
              <a:latin typeface="Arial" panose="020B0604020202020204" pitchFamily="34" charset="0"/>
              <a:cs typeface="Arial" panose="020B0604020202020204" pitchFamily="34" charset="0"/>
            </a:endParaRPr>
          </a:p>
          <a:p>
            <a:pPr algn="ctr">
              <a:lnSpc>
                <a:spcPct val="90000"/>
              </a:lnSpc>
              <a:buFont typeface="Wingdings 3" panose="05040102010807070707" pitchFamily="18" charset="2"/>
              <a:buNone/>
            </a:pPr>
            <a:r>
              <a:rPr lang="en-CA" altLang="en-US" sz="2800" b="1" dirty="0">
                <a:solidFill>
                  <a:srgbClr val="0070C0"/>
                </a:solidFill>
                <a:latin typeface="Arial" panose="020B0604020202020204" pitchFamily="34" charset="0"/>
                <a:cs typeface="Arial" panose="020B0604020202020204" pitchFamily="34" charset="0"/>
              </a:rPr>
              <a:t>Should Ensign focus its efforts on Product 1 or Product 2?</a:t>
            </a:r>
          </a:p>
        </p:txBody>
      </p:sp>
      <p:sp>
        <p:nvSpPr>
          <p:cNvPr id="5" name="Subtitle 8">
            <a:extLst>
              <a:ext uri="{FF2B5EF4-FFF2-40B4-BE49-F238E27FC236}">
                <a16:creationId xmlns:a16="http://schemas.microsoft.com/office/drawing/2014/main" id="{49BE05CB-8DC7-3AD8-8FF5-C9B849BA09E1}"/>
              </a:ext>
            </a:extLst>
          </p:cNvPr>
          <p:cNvSpPr txBox="1">
            <a:spLocks/>
          </p:cNvSpPr>
          <p:nvPr/>
        </p:nvSpPr>
        <p:spPr>
          <a:xfrm>
            <a:off x="335360" y="-17532"/>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a:t>Application Example: Constrained Resource</a:t>
            </a:r>
            <a:endParaRPr lang="en-CA" dirty="0"/>
          </a:p>
        </p:txBody>
      </p:sp>
      <p:sp>
        <p:nvSpPr>
          <p:cNvPr id="7" name="Slide Number Placeholder 6">
            <a:extLst>
              <a:ext uri="{FF2B5EF4-FFF2-40B4-BE49-F238E27FC236}">
                <a16:creationId xmlns:a16="http://schemas.microsoft.com/office/drawing/2014/main" id="{27004D61-DC7B-2D5E-E2C5-BD6721AD6109}"/>
              </a:ext>
            </a:extLst>
          </p:cNvPr>
          <p:cNvSpPr>
            <a:spLocks noGrp="1"/>
          </p:cNvSpPr>
          <p:nvPr>
            <p:ph type="sldNum" sz="quarter" idx="12"/>
          </p:nvPr>
        </p:nvSpPr>
        <p:spPr/>
        <p:txBody>
          <a:bodyPr/>
          <a:lstStyle/>
          <a:p>
            <a:fld id="{9B7CDB38-6350-4CC9-AB0E-B9078CE1CE4B}" type="slidenum">
              <a:rPr lang="en-US" smtClean="0"/>
              <a:pPr/>
              <a:t>65</a:t>
            </a:fld>
            <a:endParaRPr lang="en-US"/>
          </a:p>
        </p:txBody>
      </p:sp>
    </p:spTree>
  </p:cSld>
  <p:clrMapOvr>
    <a:masterClrMapping/>
  </p:clrMapOvr>
  <p:transition>
    <p:strips dir="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0532" name="Object 2">
            <a:extLst>
              <a:ext uri="{FF2B5EF4-FFF2-40B4-BE49-F238E27FC236}">
                <a16:creationId xmlns:a16="http://schemas.microsoft.com/office/drawing/2014/main" id="{33B4B926-D278-44FE-AF74-3A5489C1A560}"/>
              </a:ext>
            </a:extLst>
          </p:cNvPr>
          <p:cNvGraphicFramePr>
            <a:graphicFrameLocks/>
          </p:cNvGraphicFramePr>
          <p:nvPr>
            <p:extLst>
              <p:ext uri="{D42A27DB-BD31-4B8C-83A1-F6EECF244321}">
                <p14:modId xmlns:p14="http://schemas.microsoft.com/office/powerpoint/2010/main" val="3873891520"/>
              </p:ext>
            </p:extLst>
          </p:nvPr>
        </p:nvGraphicFramePr>
        <p:xfrm>
          <a:off x="2930525" y="2419350"/>
          <a:ext cx="6330950" cy="1727200"/>
        </p:xfrm>
        <a:graphic>
          <a:graphicData uri="http://schemas.openxmlformats.org/presentationml/2006/ole">
            <mc:AlternateContent xmlns:mc="http://schemas.openxmlformats.org/markup-compatibility/2006">
              <mc:Choice xmlns:v="urn:schemas-microsoft-com:vml" Requires="v">
                <p:oleObj name="Worksheet" r:id="rId3" imgW="4464058" imgH="3041551" progId="Excel.Sheet.8">
                  <p:embed/>
                </p:oleObj>
              </mc:Choice>
              <mc:Fallback>
                <p:oleObj name="Worksheet" r:id="rId3" imgW="4464058" imgH="3041551" progId="Excel.Sheet.8">
                  <p:embed/>
                  <p:pic>
                    <p:nvPicPr>
                      <p:cNvPr id="150532" name="Object 2">
                        <a:extLst>
                          <a:ext uri="{FF2B5EF4-FFF2-40B4-BE49-F238E27FC236}">
                            <a16:creationId xmlns:a16="http://schemas.microsoft.com/office/drawing/2014/main" id="{33B4B926-D278-44FE-AF74-3A5489C1A560}"/>
                          </a:ext>
                        </a:extLst>
                      </p:cNvPr>
                      <p:cNvPicPr>
                        <a:picLocks noChangeArrowheads="1"/>
                      </p:cNvPicPr>
                      <p:nvPr/>
                    </p:nvPicPr>
                    <p:blipFill>
                      <a:blip r:embed="rId4"/>
                      <a:srcRect b="68401"/>
                      <a:stretch>
                        <a:fillRect/>
                      </a:stretch>
                    </p:blipFill>
                    <p:spPr bwMode="auto">
                      <a:xfrm>
                        <a:off x="2930525" y="2419350"/>
                        <a:ext cx="6330950" cy="1727200"/>
                      </a:xfrm>
                      <a:prstGeom prst="rect">
                        <a:avLst/>
                      </a:prstGeom>
                      <a:noFill/>
                      <a:ln w="28575">
                        <a:solidFill>
                          <a:srgbClr val="1C3163"/>
                        </a:solidFill>
                        <a:miter lim="800000"/>
                        <a:headEnd/>
                        <a:tailEnd/>
                      </a:ln>
                    </p:spPr>
                  </p:pic>
                </p:oleObj>
              </mc:Fallback>
            </mc:AlternateContent>
          </a:graphicData>
        </a:graphic>
      </p:graphicFrame>
      <p:sp>
        <p:nvSpPr>
          <p:cNvPr id="3" name="Text Box 4">
            <a:extLst>
              <a:ext uri="{FF2B5EF4-FFF2-40B4-BE49-F238E27FC236}">
                <a16:creationId xmlns:a16="http://schemas.microsoft.com/office/drawing/2014/main" id="{ED04E123-F745-2658-3909-6412B6E3D5AF}"/>
              </a:ext>
            </a:extLst>
          </p:cNvPr>
          <p:cNvSpPr txBox="1">
            <a:spLocks noChangeArrowheads="1"/>
          </p:cNvSpPr>
          <p:nvPr/>
        </p:nvSpPr>
        <p:spPr bwMode="auto">
          <a:xfrm>
            <a:off x="1956383" y="4480286"/>
            <a:ext cx="8568160" cy="1446550"/>
          </a:xfrm>
          <a:prstGeom prst="rect">
            <a:avLst/>
          </a:prstGeom>
          <a:solidFill>
            <a:schemeClr val="bg1"/>
          </a:solidFill>
          <a:ln w="28575">
            <a:solidFill>
              <a:srgbClr val="0070C0"/>
            </a:solidFill>
            <a:miter lim="800000"/>
            <a:headEnd/>
            <a:tailEnd/>
          </a:ln>
          <a:effectLst>
            <a:outerShdw blurRad="63500" dist="38099" dir="2700000" algn="ctr" rotWithShape="0">
              <a:srgbClr val="000000">
                <a:alpha val="74997"/>
              </a:srgbClr>
            </a:outerShdw>
          </a:effectLst>
        </p:spPr>
        <p:txBody>
          <a:bodyPr wrap="square">
            <a:spAutoFit/>
          </a:bodyPr>
          <a:lstStyle/>
          <a:p>
            <a:pPr algn="ctr" eaLnBrk="1" hangingPunct="1">
              <a:spcBef>
                <a:spcPct val="50000"/>
              </a:spcBef>
              <a:defRPr/>
            </a:pPr>
            <a:r>
              <a:rPr lang="en-CA" sz="2200" dirty="0">
                <a:latin typeface="Arial" panose="020B0604020202020204" pitchFamily="34" charset="0"/>
                <a:cs typeface="Arial" panose="020B0604020202020204" pitchFamily="34" charset="0"/>
              </a:rPr>
              <a:t>Product 2 should be emphasized.  It provides more valuable use of the constrained resource, Machine A1, because it provides a contribution margin of $30 per minute as opposed to $24 per minute for Product 1.</a:t>
            </a:r>
          </a:p>
        </p:txBody>
      </p:sp>
      <p:sp>
        <p:nvSpPr>
          <p:cNvPr id="6" name="TextBox 5">
            <a:extLst>
              <a:ext uri="{FF2B5EF4-FFF2-40B4-BE49-F238E27FC236}">
                <a16:creationId xmlns:a16="http://schemas.microsoft.com/office/drawing/2014/main" id="{8608ACB9-587B-3FB0-1C92-027393A34ABE}"/>
              </a:ext>
            </a:extLst>
          </p:cNvPr>
          <p:cNvSpPr txBox="1"/>
          <p:nvPr/>
        </p:nvSpPr>
        <p:spPr>
          <a:xfrm>
            <a:off x="2195736" y="1130787"/>
            <a:ext cx="7800528" cy="954107"/>
          </a:xfrm>
          <a:prstGeom prst="rect">
            <a:avLst/>
          </a:prstGeom>
          <a:noFill/>
        </p:spPr>
        <p:txBody>
          <a:bodyPr wrap="square">
            <a:spAutoFit/>
          </a:bodyPr>
          <a:lstStyle/>
          <a:p>
            <a:pPr algn="ctr"/>
            <a:r>
              <a:rPr lang="en-CA" altLang="en-US" sz="2800" dirty="0">
                <a:solidFill>
                  <a:schemeClr val="tx1"/>
                </a:solidFill>
                <a:latin typeface="Arial" panose="020B0604020202020204" pitchFamily="34" charset="0"/>
                <a:cs typeface="Arial" panose="020B0604020202020204" pitchFamily="34" charset="0"/>
              </a:rPr>
              <a:t>The key is the contribution margin per unit of the constrained resource.</a:t>
            </a:r>
          </a:p>
        </p:txBody>
      </p:sp>
      <p:sp>
        <p:nvSpPr>
          <p:cNvPr id="7" name="Subtitle 8">
            <a:extLst>
              <a:ext uri="{FF2B5EF4-FFF2-40B4-BE49-F238E27FC236}">
                <a16:creationId xmlns:a16="http://schemas.microsoft.com/office/drawing/2014/main" id="{4D5D7696-92E7-C2AE-042F-157ADBD6A815}"/>
              </a:ext>
            </a:extLst>
          </p:cNvPr>
          <p:cNvSpPr txBox="1">
            <a:spLocks noGrp="1"/>
          </p:cNvSpPr>
          <p:nvPr>
            <p:ph type="subTitle" idx="1"/>
          </p:nvPr>
        </p:nvSpPr>
        <p:spPr>
          <a:xfrm>
            <a:off x="335360" y="-17532"/>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Constrained Resource</a:t>
            </a:r>
          </a:p>
        </p:txBody>
      </p:sp>
      <p:sp>
        <p:nvSpPr>
          <p:cNvPr id="8" name="Slide Number Placeholder 7">
            <a:extLst>
              <a:ext uri="{FF2B5EF4-FFF2-40B4-BE49-F238E27FC236}">
                <a16:creationId xmlns:a16="http://schemas.microsoft.com/office/drawing/2014/main" id="{539A5B02-50AD-C55F-511F-F373D05A2415}"/>
              </a:ext>
            </a:extLst>
          </p:cNvPr>
          <p:cNvSpPr>
            <a:spLocks noGrp="1"/>
          </p:cNvSpPr>
          <p:nvPr>
            <p:ph type="sldNum" sz="quarter" idx="12"/>
          </p:nvPr>
        </p:nvSpPr>
        <p:spPr/>
        <p:txBody>
          <a:bodyPr/>
          <a:lstStyle/>
          <a:p>
            <a:fld id="{9B7CDB38-6350-4CC9-AB0E-B9078CE1CE4B}" type="slidenum">
              <a:rPr lang="en-US" smtClean="0"/>
              <a:pPr/>
              <a:t>66</a:t>
            </a:fld>
            <a:endParaRPr lang="en-US"/>
          </a:p>
        </p:txBody>
      </p:sp>
    </p:spTree>
  </p:cSld>
  <p:clrMapOvr>
    <a:masterClrMapping/>
  </p:clrMapOvr>
  <p:transition>
    <p:wipe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E15EF-95C4-AD8A-A355-F6692F2614F2}"/>
            </a:ext>
          </a:extLst>
        </p:cNvPr>
        <p:cNvGrpSpPr/>
        <p:nvPr/>
      </p:nvGrpSpPr>
      <p:grpSpPr>
        <a:xfrm>
          <a:off x="0" y="0"/>
          <a:ext cx="0" cy="0"/>
          <a:chOff x="0" y="0"/>
          <a:chExt cx="0" cy="0"/>
        </a:xfrm>
      </p:grpSpPr>
      <p:graphicFrame>
        <p:nvGraphicFramePr>
          <p:cNvPr id="150532" name="Object 2">
            <a:extLst>
              <a:ext uri="{FF2B5EF4-FFF2-40B4-BE49-F238E27FC236}">
                <a16:creationId xmlns:a16="http://schemas.microsoft.com/office/drawing/2014/main" id="{E3BF23C3-0DC7-7E4B-128F-6F3F49D07821}"/>
              </a:ext>
            </a:extLst>
          </p:cNvPr>
          <p:cNvGraphicFramePr>
            <a:graphicFrameLocks/>
          </p:cNvGraphicFramePr>
          <p:nvPr>
            <p:extLst>
              <p:ext uri="{D42A27DB-BD31-4B8C-83A1-F6EECF244321}">
                <p14:modId xmlns:p14="http://schemas.microsoft.com/office/powerpoint/2010/main" val="908338215"/>
              </p:ext>
            </p:extLst>
          </p:nvPr>
        </p:nvGraphicFramePr>
        <p:xfrm>
          <a:off x="2930525" y="2419350"/>
          <a:ext cx="6330950" cy="1727200"/>
        </p:xfrm>
        <a:graphic>
          <a:graphicData uri="http://schemas.openxmlformats.org/presentationml/2006/ole">
            <mc:AlternateContent xmlns:mc="http://schemas.openxmlformats.org/markup-compatibility/2006">
              <mc:Choice xmlns:v="urn:schemas-microsoft-com:vml" Requires="v">
                <p:oleObj name="Worksheet" r:id="rId3" imgW="4464058" imgH="3041551" progId="Excel.Sheet.8">
                  <p:embed/>
                </p:oleObj>
              </mc:Choice>
              <mc:Fallback>
                <p:oleObj name="Worksheet" r:id="rId3" imgW="4464058" imgH="3041551" progId="Excel.Sheet.8">
                  <p:embed/>
                  <p:pic>
                    <p:nvPicPr>
                      <p:cNvPr id="150532" name="Object 2">
                        <a:extLst>
                          <a:ext uri="{FF2B5EF4-FFF2-40B4-BE49-F238E27FC236}">
                            <a16:creationId xmlns:a16="http://schemas.microsoft.com/office/drawing/2014/main" id="{E3BF23C3-0DC7-7E4B-128F-6F3F49D07821}"/>
                          </a:ext>
                        </a:extLst>
                      </p:cNvPr>
                      <p:cNvPicPr>
                        <a:picLocks noChangeArrowheads="1"/>
                      </p:cNvPicPr>
                      <p:nvPr/>
                    </p:nvPicPr>
                    <p:blipFill>
                      <a:blip r:embed="rId4"/>
                      <a:srcRect b="68401"/>
                      <a:stretch>
                        <a:fillRect/>
                      </a:stretch>
                    </p:blipFill>
                    <p:spPr bwMode="auto">
                      <a:xfrm>
                        <a:off x="2930525" y="2419350"/>
                        <a:ext cx="6330950" cy="1727200"/>
                      </a:xfrm>
                      <a:prstGeom prst="rect">
                        <a:avLst/>
                      </a:prstGeom>
                      <a:noFill/>
                      <a:ln w="28575">
                        <a:solidFill>
                          <a:srgbClr val="1C3163"/>
                        </a:solidFill>
                        <a:miter lim="800000"/>
                        <a:headEnd/>
                        <a:tailEnd/>
                      </a:ln>
                    </p:spPr>
                  </p:pic>
                </p:oleObj>
              </mc:Fallback>
            </mc:AlternateContent>
          </a:graphicData>
        </a:graphic>
      </p:graphicFrame>
      <p:sp>
        <p:nvSpPr>
          <p:cNvPr id="3" name="Text Box 4">
            <a:extLst>
              <a:ext uri="{FF2B5EF4-FFF2-40B4-BE49-F238E27FC236}">
                <a16:creationId xmlns:a16="http://schemas.microsoft.com/office/drawing/2014/main" id="{EDC69CAD-B62C-B24F-7E91-865B346705AD}"/>
              </a:ext>
            </a:extLst>
          </p:cNvPr>
          <p:cNvSpPr txBox="1">
            <a:spLocks noChangeArrowheads="1"/>
          </p:cNvSpPr>
          <p:nvPr/>
        </p:nvSpPr>
        <p:spPr bwMode="auto">
          <a:xfrm>
            <a:off x="1956383" y="4480286"/>
            <a:ext cx="8568160" cy="1107996"/>
          </a:xfrm>
          <a:prstGeom prst="rect">
            <a:avLst/>
          </a:prstGeom>
          <a:solidFill>
            <a:schemeClr val="bg1"/>
          </a:solidFill>
          <a:ln w="28575">
            <a:solidFill>
              <a:srgbClr val="0070C0"/>
            </a:solidFill>
            <a:miter lim="800000"/>
            <a:headEnd/>
            <a:tailEnd/>
          </a:ln>
          <a:effectLst>
            <a:outerShdw blurRad="63500" dist="38099" dir="2700000" algn="ctr" rotWithShape="0">
              <a:srgbClr val="000000">
                <a:alpha val="74997"/>
              </a:srgbClr>
            </a:outerShdw>
          </a:effectLst>
        </p:spPr>
        <p:txBody>
          <a:bodyPr wrap="square">
            <a:spAutoFit/>
          </a:bodyPr>
          <a:lstStyle/>
          <a:p>
            <a:pPr algn="ctr">
              <a:spcBef>
                <a:spcPct val="50000"/>
              </a:spcBef>
              <a:defRPr/>
            </a:pPr>
            <a:r>
              <a:rPr lang="en-CA" sz="2200" dirty="0">
                <a:latin typeface="Arial" panose="020B0604020202020204" pitchFamily="34" charset="0"/>
                <a:cs typeface="Arial" panose="020B0604020202020204" pitchFamily="34" charset="0"/>
              </a:rPr>
              <a:t>If there are no other considerations, the best plan is to produce enough Product 2 to meet current demand and then use any remaining capacity of Machine A1 to produce Product 1.</a:t>
            </a:r>
          </a:p>
        </p:txBody>
      </p:sp>
      <p:sp>
        <p:nvSpPr>
          <p:cNvPr id="6" name="TextBox 5">
            <a:extLst>
              <a:ext uri="{FF2B5EF4-FFF2-40B4-BE49-F238E27FC236}">
                <a16:creationId xmlns:a16="http://schemas.microsoft.com/office/drawing/2014/main" id="{C1696ECF-4DC1-BD8F-0239-09D6BDCB47ED}"/>
              </a:ext>
            </a:extLst>
          </p:cNvPr>
          <p:cNvSpPr txBox="1"/>
          <p:nvPr/>
        </p:nvSpPr>
        <p:spPr>
          <a:xfrm>
            <a:off x="1127448" y="1130787"/>
            <a:ext cx="8868816" cy="954107"/>
          </a:xfrm>
          <a:prstGeom prst="rect">
            <a:avLst/>
          </a:prstGeom>
          <a:noFill/>
        </p:spPr>
        <p:txBody>
          <a:bodyPr wrap="square">
            <a:spAutoFit/>
          </a:bodyPr>
          <a:lstStyle/>
          <a:p>
            <a:pPr algn="ctr"/>
            <a:r>
              <a:rPr lang="en-CA" altLang="en-US" sz="2800" dirty="0">
                <a:solidFill>
                  <a:schemeClr val="tx1"/>
                </a:solidFill>
                <a:latin typeface="Arial" panose="020B0604020202020204" pitchFamily="34" charset="0"/>
                <a:cs typeface="Arial" panose="020B0604020202020204" pitchFamily="34" charset="0"/>
              </a:rPr>
              <a:t>The key is the contribution margin per unit of the constrained resource.</a:t>
            </a:r>
          </a:p>
        </p:txBody>
      </p:sp>
      <p:sp>
        <p:nvSpPr>
          <p:cNvPr id="7" name="Subtitle 8">
            <a:extLst>
              <a:ext uri="{FF2B5EF4-FFF2-40B4-BE49-F238E27FC236}">
                <a16:creationId xmlns:a16="http://schemas.microsoft.com/office/drawing/2014/main" id="{25DB9534-1326-6C97-D648-94C402F4C6FE}"/>
              </a:ext>
            </a:extLst>
          </p:cNvPr>
          <p:cNvSpPr txBox="1">
            <a:spLocks noGrp="1"/>
          </p:cNvSpPr>
          <p:nvPr>
            <p:ph type="subTitle" idx="1"/>
          </p:nvPr>
        </p:nvSpPr>
        <p:spPr>
          <a:xfrm>
            <a:off x="335360" y="-17532"/>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Constrained Resource</a:t>
            </a:r>
          </a:p>
        </p:txBody>
      </p:sp>
      <p:sp>
        <p:nvSpPr>
          <p:cNvPr id="2" name="Slide Number Placeholder 1">
            <a:extLst>
              <a:ext uri="{FF2B5EF4-FFF2-40B4-BE49-F238E27FC236}">
                <a16:creationId xmlns:a16="http://schemas.microsoft.com/office/drawing/2014/main" id="{2877C06B-3718-78D4-2D53-37D38D2344D8}"/>
              </a:ext>
            </a:extLst>
          </p:cNvPr>
          <p:cNvSpPr>
            <a:spLocks noGrp="1"/>
          </p:cNvSpPr>
          <p:nvPr>
            <p:ph type="sldNum" sz="quarter" idx="12"/>
          </p:nvPr>
        </p:nvSpPr>
        <p:spPr/>
        <p:txBody>
          <a:bodyPr/>
          <a:lstStyle/>
          <a:p>
            <a:fld id="{9B7CDB38-6350-4CC9-AB0E-B9078CE1CE4B}" type="slidenum">
              <a:rPr lang="en-US" smtClean="0"/>
              <a:pPr/>
              <a:t>67</a:t>
            </a:fld>
            <a:endParaRPr lang="en-US"/>
          </a:p>
        </p:txBody>
      </p:sp>
    </p:spTree>
    <p:extLst>
      <p:ext uri="{BB962C8B-B14F-4D97-AF65-F5344CB8AC3E}">
        <p14:creationId xmlns:p14="http://schemas.microsoft.com/office/powerpoint/2010/main" val="1136658783"/>
      </p:ext>
    </p:extLst>
  </p:cSld>
  <p:clrMapOvr>
    <a:masterClrMapping/>
  </p:clrMapOvr>
  <p:transition>
    <p:wipe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4627" name="Object 2">
            <a:extLst>
              <a:ext uri="{FF2B5EF4-FFF2-40B4-BE49-F238E27FC236}">
                <a16:creationId xmlns:a16="http://schemas.microsoft.com/office/drawing/2014/main" id="{94D1427E-4580-4A80-B976-D2EB14E7F4D2}"/>
              </a:ext>
            </a:extLst>
          </p:cNvPr>
          <p:cNvGraphicFramePr>
            <a:graphicFrameLocks/>
          </p:cNvGraphicFramePr>
          <p:nvPr>
            <p:extLst>
              <p:ext uri="{D42A27DB-BD31-4B8C-83A1-F6EECF244321}">
                <p14:modId xmlns:p14="http://schemas.microsoft.com/office/powerpoint/2010/main" val="1625785493"/>
              </p:ext>
            </p:extLst>
          </p:nvPr>
        </p:nvGraphicFramePr>
        <p:xfrm>
          <a:off x="3030538" y="2157413"/>
          <a:ext cx="6130925" cy="3679825"/>
        </p:xfrm>
        <a:graphic>
          <a:graphicData uri="http://schemas.openxmlformats.org/presentationml/2006/ole">
            <mc:AlternateContent xmlns:mc="http://schemas.openxmlformats.org/markup-compatibility/2006">
              <mc:Choice xmlns:v="urn:schemas-microsoft-com:vml" Requires="v">
                <p:oleObj name="Worksheet" r:id="rId3" imgW="3333592" imgH="2114660" progId="Excel.Sheet.8">
                  <p:embed/>
                </p:oleObj>
              </mc:Choice>
              <mc:Fallback>
                <p:oleObj name="Worksheet" r:id="rId3" imgW="3333592" imgH="2114660" progId="Excel.Sheet.8">
                  <p:embed/>
                  <p:pic>
                    <p:nvPicPr>
                      <p:cNvPr id="154627" name="Object 2">
                        <a:extLst>
                          <a:ext uri="{FF2B5EF4-FFF2-40B4-BE49-F238E27FC236}">
                            <a16:creationId xmlns:a16="http://schemas.microsoft.com/office/drawing/2014/main" id="{94D1427E-4580-4A80-B976-D2EB14E7F4D2}"/>
                          </a:ext>
                        </a:extLst>
                      </p:cNvPr>
                      <p:cNvPicPr>
                        <a:picLocks noChangeArrowheads="1"/>
                      </p:cNvPicPr>
                      <p:nvPr/>
                    </p:nvPicPr>
                    <p:blipFill>
                      <a:blip r:embed="rId4"/>
                      <a:srcRect/>
                      <a:stretch>
                        <a:fillRect/>
                      </a:stretch>
                    </p:blipFill>
                    <p:spPr bwMode="auto">
                      <a:xfrm>
                        <a:off x="3030538" y="2157413"/>
                        <a:ext cx="6130925" cy="3679825"/>
                      </a:xfrm>
                      <a:prstGeom prst="rect">
                        <a:avLst/>
                      </a:prstGeom>
                      <a:noFill/>
                      <a:ln w="9525">
                        <a:solidFill>
                          <a:srgbClr val="1C3163"/>
                        </a:solidFill>
                        <a:miter lim="800000"/>
                        <a:headEnd/>
                        <a:tailEnd/>
                      </a:ln>
                      <a:effectLst>
                        <a:outerShdw dist="107763" dir="2700000" algn="ctr" rotWithShape="0">
                          <a:srgbClr val="808080">
                            <a:alpha val="74997"/>
                          </a:srgbClr>
                        </a:outerShdw>
                      </a:effectLst>
                    </p:spPr>
                  </p:pic>
                </p:oleObj>
              </mc:Fallback>
            </mc:AlternateContent>
          </a:graphicData>
        </a:graphic>
      </p:graphicFrame>
      <p:sp>
        <p:nvSpPr>
          <p:cNvPr id="5" name="TextBox 4">
            <a:extLst>
              <a:ext uri="{FF2B5EF4-FFF2-40B4-BE49-F238E27FC236}">
                <a16:creationId xmlns:a16="http://schemas.microsoft.com/office/drawing/2014/main" id="{160C4569-D921-8439-6254-F35405A46C05}"/>
              </a:ext>
            </a:extLst>
          </p:cNvPr>
          <p:cNvSpPr txBox="1"/>
          <p:nvPr/>
        </p:nvSpPr>
        <p:spPr>
          <a:xfrm>
            <a:off x="1919536" y="1124744"/>
            <a:ext cx="8064896" cy="523220"/>
          </a:xfrm>
          <a:prstGeom prst="rect">
            <a:avLst/>
          </a:prstGeom>
          <a:noFill/>
        </p:spPr>
        <p:txBody>
          <a:bodyPr wrap="square">
            <a:spAutoFit/>
          </a:bodyPr>
          <a:lstStyle/>
          <a:p>
            <a:pPr marL="0" indent="0" algn="ctr">
              <a:buNone/>
            </a:pPr>
            <a:r>
              <a:rPr lang="en-CA" altLang="en-US" sz="2800" dirty="0">
                <a:solidFill>
                  <a:schemeClr val="tx1"/>
                </a:solidFill>
                <a:latin typeface="Arial" panose="020B0604020202020204" pitchFamily="34" charset="0"/>
                <a:cs typeface="Arial" panose="020B0604020202020204" pitchFamily="34" charset="0"/>
              </a:rPr>
              <a:t>Determine how many units should be made.</a:t>
            </a:r>
          </a:p>
        </p:txBody>
      </p:sp>
      <p:sp>
        <p:nvSpPr>
          <p:cNvPr id="6" name="Subtitle 8">
            <a:extLst>
              <a:ext uri="{FF2B5EF4-FFF2-40B4-BE49-F238E27FC236}">
                <a16:creationId xmlns:a16="http://schemas.microsoft.com/office/drawing/2014/main" id="{4E898231-9A34-831E-CAAD-E920D685D73A}"/>
              </a:ext>
            </a:extLst>
          </p:cNvPr>
          <p:cNvSpPr txBox="1">
            <a:spLocks noGrp="1"/>
          </p:cNvSpPr>
          <p:nvPr>
            <p:ph type="subTitle" idx="1"/>
          </p:nvPr>
        </p:nvSpPr>
        <p:spPr>
          <a:xfrm>
            <a:off x="335360" y="-17532"/>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Constrained Resource</a:t>
            </a:r>
          </a:p>
        </p:txBody>
      </p:sp>
      <p:sp>
        <p:nvSpPr>
          <p:cNvPr id="7" name="Slide Number Placeholder 6">
            <a:extLst>
              <a:ext uri="{FF2B5EF4-FFF2-40B4-BE49-F238E27FC236}">
                <a16:creationId xmlns:a16="http://schemas.microsoft.com/office/drawing/2014/main" id="{4A66D51A-FADD-03AD-9218-B4CD547B542C}"/>
              </a:ext>
            </a:extLst>
          </p:cNvPr>
          <p:cNvSpPr>
            <a:spLocks noGrp="1"/>
          </p:cNvSpPr>
          <p:nvPr>
            <p:ph type="sldNum" sz="quarter" idx="12"/>
          </p:nvPr>
        </p:nvSpPr>
        <p:spPr/>
        <p:txBody>
          <a:bodyPr/>
          <a:lstStyle/>
          <a:p>
            <a:fld id="{9B7CDB38-6350-4CC9-AB0E-B9078CE1CE4B}" type="slidenum">
              <a:rPr lang="en-US" smtClean="0"/>
              <a:pPr/>
              <a:t>68</a:t>
            </a:fld>
            <a:endParaRPr lang="en-US"/>
          </a:p>
        </p:txBody>
      </p:sp>
    </p:spTree>
  </p:cSld>
  <p:clrMapOvr>
    <a:masterClrMapping/>
  </p:clrMapOvr>
  <p:transition>
    <p:zoom dir="in"/>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E4C67-8A7E-7ECD-0001-8A238B88F8D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B9A397A-8B47-B791-5A26-5AA13BA23364}"/>
              </a:ext>
            </a:extLst>
          </p:cNvPr>
          <p:cNvSpPr txBox="1"/>
          <p:nvPr/>
        </p:nvSpPr>
        <p:spPr>
          <a:xfrm>
            <a:off x="1919536" y="1124744"/>
            <a:ext cx="8064896" cy="523220"/>
          </a:xfrm>
          <a:prstGeom prst="rect">
            <a:avLst/>
          </a:prstGeom>
          <a:noFill/>
        </p:spPr>
        <p:txBody>
          <a:bodyPr wrap="square">
            <a:spAutoFit/>
          </a:bodyPr>
          <a:lstStyle/>
          <a:p>
            <a:pPr marL="0" indent="0" algn="ctr">
              <a:buNone/>
            </a:pPr>
            <a:r>
              <a:rPr lang="en-CA" altLang="en-US" sz="2800" dirty="0">
                <a:solidFill>
                  <a:schemeClr val="tx1"/>
                </a:solidFill>
                <a:latin typeface="Arial" panose="020B0604020202020204" pitchFamily="34" charset="0"/>
                <a:cs typeface="Arial" panose="020B0604020202020204" pitchFamily="34" charset="0"/>
              </a:rPr>
              <a:t>Determine how many units should be made.</a:t>
            </a:r>
          </a:p>
        </p:txBody>
      </p:sp>
      <p:sp>
        <p:nvSpPr>
          <p:cNvPr id="6" name="Subtitle 8">
            <a:extLst>
              <a:ext uri="{FF2B5EF4-FFF2-40B4-BE49-F238E27FC236}">
                <a16:creationId xmlns:a16="http://schemas.microsoft.com/office/drawing/2014/main" id="{AEB518AB-2587-3D33-54AA-5B9AC058977A}"/>
              </a:ext>
            </a:extLst>
          </p:cNvPr>
          <p:cNvSpPr txBox="1">
            <a:spLocks noGrp="1"/>
          </p:cNvSpPr>
          <p:nvPr>
            <p:ph type="subTitle" idx="1"/>
          </p:nvPr>
        </p:nvSpPr>
        <p:spPr>
          <a:xfrm>
            <a:off x="335360" y="-17532"/>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Constrained Resource</a:t>
            </a:r>
          </a:p>
        </p:txBody>
      </p:sp>
      <p:graphicFrame>
        <p:nvGraphicFramePr>
          <p:cNvPr id="2" name="Object 2">
            <a:extLst>
              <a:ext uri="{FF2B5EF4-FFF2-40B4-BE49-F238E27FC236}">
                <a16:creationId xmlns:a16="http://schemas.microsoft.com/office/drawing/2014/main" id="{1E689F97-72ED-B105-D5F7-B6C9A95EAE72}"/>
              </a:ext>
            </a:extLst>
          </p:cNvPr>
          <p:cNvGraphicFramePr>
            <a:graphicFrameLocks/>
          </p:cNvGraphicFramePr>
          <p:nvPr>
            <p:extLst>
              <p:ext uri="{D42A27DB-BD31-4B8C-83A1-F6EECF244321}">
                <p14:modId xmlns:p14="http://schemas.microsoft.com/office/powerpoint/2010/main" val="2905357057"/>
              </p:ext>
            </p:extLst>
          </p:nvPr>
        </p:nvGraphicFramePr>
        <p:xfrm>
          <a:off x="2090738" y="2066925"/>
          <a:ext cx="7513637" cy="4300538"/>
        </p:xfrm>
        <a:graphic>
          <a:graphicData uri="http://schemas.openxmlformats.org/presentationml/2006/ole">
            <mc:AlternateContent xmlns:mc="http://schemas.openxmlformats.org/markup-compatibility/2006">
              <mc:Choice xmlns:v="urn:schemas-microsoft-com:vml" Requires="v">
                <p:oleObj name="Worksheet" r:id="rId3" imgW="3333592" imgH="2114660" progId="Excel.Sheet.8">
                  <p:embed/>
                </p:oleObj>
              </mc:Choice>
              <mc:Fallback>
                <p:oleObj name="Worksheet" r:id="rId3" imgW="3333592" imgH="2114660" progId="Excel.Sheet.8">
                  <p:embed/>
                  <p:pic>
                    <p:nvPicPr>
                      <p:cNvPr id="2" name="Object 2">
                        <a:extLst>
                          <a:ext uri="{FF2B5EF4-FFF2-40B4-BE49-F238E27FC236}">
                            <a16:creationId xmlns:a16="http://schemas.microsoft.com/office/drawing/2014/main" id="{1E689F97-72ED-B105-D5F7-B6C9A95EAE72}"/>
                          </a:ext>
                        </a:extLst>
                      </p:cNvPr>
                      <p:cNvPicPr>
                        <a:picLocks noChangeArrowheads="1"/>
                      </p:cNvPicPr>
                      <p:nvPr/>
                    </p:nvPicPr>
                    <p:blipFill>
                      <a:blip r:embed="rId4"/>
                      <a:srcRect/>
                      <a:stretch>
                        <a:fillRect/>
                      </a:stretch>
                    </p:blipFill>
                    <p:spPr bwMode="auto">
                      <a:xfrm>
                        <a:off x="2090738" y="2066925"/>
                        <a:ext cx="7513637" cy="4300538"/>
                      </a:xfrm>
                      <a:prstGeom prst="rect">
                        <a:avLst/>
                      </a:prstGeom>
                      <a:noFill/>
                      <a:ln w="9525">
                        <a:solidFill>
                          <a:srgbClr val="1C3163"/>
                        </a:solidFill>
                        <a:miter lim="800000"/>
                        <a:headEnd/>
                        <a:tailEnd/>
                      </a:ln>
                      <a:effectLst>
                        <a:outerShdw dist="107763" dir="2700000" algn="ctr" rotWithShape="0">
                          <a:srgbClr val="808080">
                            <a:alpha val="74997"/>
                          </a:srgbClr>
                        </a:outerShdw>
                      </a:effectLst>
                    </p:spPr>
                  </p:pic>
                </p:oleObj>
              </mc:Fallback>
            </mc:AlternateContent>
          </a:graphicData>
        </a:graphic>
      </p:graphicFrame>
      <p:sp>
        <p:nvSpPr>
          <p:cNvPr id="3" name="Line 7">
            <a:extLst>
              <a:ext uri="{FF2B5EF4-FFF2-40B4-BE49-F238E27FC236}">
                <a16:creationId xmlns:a16="http://schemas.microsoft.com/office/drawing/2014/main" id="{93A7EA60-A052-E6F1-2296-1A615F478DCB}"/>
              </a:ext>
            </a:extLst>
          </p:cNvPr>
          <p:cNvSpPr>
            <a:spLocks noChangeShapeType="1"/>
          </p:cNvSpPr>
          <p:nvPr/>
        </p:nvSpPr>
        <p:spPr bwMode="auto">
          <a:xfrm flipH="1">
            <a:off x="9575800" y="4953000"/>
            <a:ext cx="711200" cy="1"/>
          </a:xfrm>
          <a:prstGeom prst="line">
            <a:avLst/>
          </a:prstGeom>
          <a:noFill/>
          <a:ln w="50799">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 name="Line 6">
            <a:extLst>
              <a:ext uri="{FF2B5EF4-FFF2-40B4-BE49-F238E27FC236}">
                <a16:creationId xmlns:a16="http://schemas.microsoft.com/office/drawing/2014/main" id="{F8ABC99D-72AD-DC16-4812-75EC2CE685B3}"/>
              </a:ext>
            </a:extLst>
          </p:cNvPr>
          <p:cNvSpPr>
            <a:spLocks noChangeShapeType="1"/>
          </p:cNvSpPr>
          <p:nvPr/>
        </p:nvSpPr>
        <p:spPr bwMode="auto">
          <a:xfrm flipH="1">
            <a:off x="10272464" y="3953121"/>
            <a:ext cx="0" cy="999879"/>
          </a:xfrm>
          <a:prstGeom prst="line">
            <a:avLst/>
          </a:prstGeom>
          <a:noFill/>
          <a:ln w="50799">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 name="Line 5">
            <a:extLst>
              <a:ext uri="{FF2B5EF4-FFF2-40B4-BE49-F238E27FC236}">
                <a16:creationId xmlns:a16="http://schemas.microsoft.com/office/drawing/2014/main" id="{DA514EE1-A2BA-7E12-8C5C-D1100E71F7C5}"/>
              </a:ext>
            </a:extLst>
          </p:cNvPr>
          <p:cNvSpPr>
            <a:spLocks noChangeShapeType="1"/>
          </p:cNvSpPr>
          <p:nvPr/>
        </p:nvSpPr>
        <p:spPr bwMode="auto">
          <a:xfrm>
            <a:off x="9561264" y="3957095"/>
            <a:ext cx="711200" cy="0"/>
          </a:xfrm>
          <a:prstGeom prst="line">
            <a:avLst/>
          </a:prstGeom>
          <a:noFill/>
          <a:ln w="50799">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Slide Number Placeholder 7">
            <a:extLst>
              <a:ext uri="{FF2B5EF4-FFF2-40B4-BE49-F238E27FC236}">
                <a16:creationId xmlns:a16="http://schemas.microsoft.com/office/drawing/2014/main" id="{30F17EB8-882F-E863-FE20-A9E77FA14CA2}"/>
              </a:ext>
            </a:extLst>
          </p:cNvPr>
          <p:cNvSpPr>
            <a:spLocks noGrp="1"/>
          </p:cNvSpPr>
          <p:nvPr>
            <p:ph type="sldNum" sz="quarter" idx="12"/>
          </p:nvPr>
        </p:nvSpPr>
        <p:spPr/>
        <p:txBody>
          <a:bodyPr/>
          <a:lstStyle/>
          <a:p>
            <a:fld id="{9B7CDB38-6350-4CC9-AB0E-B9078CE1CE4B}" type="slidenum">
              <a:rPr lang="en-US" smtClean="0"/>
              <a:pPr/>
              <a:t>69</a:t>
            </a:fld>
            <a:endParaRPr lang="en-US"/>
          </a:p>
        </p:txBody>
      </p:sp>
    </p:spTree>
    <p:extLst>
      <p:ext uri="{BB962C8B-B14F-4D97-AF65-F5344CB8AC3E}">
        <p14:creationId xmlns:p14="http://schemas.microsoft.com/office/powerpoint/2010/main" val="3269387259"/>
      </p:ext>
    </p:extLst>
  </p:cSld>
  <p:clrMapOvr>
    <a:masterClrMapping/>
  </p:clrMapOvr>
  <p:transition>
    <p:zoom dir="in"/>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76FA9-BD8E-987E-4B63-7AEEC793836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06FBBA5-3033-3B48-C8D1-9C412E5EC5E7}"/>
              </a:ext>
            </a:extLst>
          </p:cNvPr>
          <p:cNvSpPr txBox="1"/>
          <p:nvPr/>
        </p:nvSpPr>
        <p:spPr>
          <a:xfrm>
            <a:off x="1919536" y="1124744"/>
            <a:ext cx="8064896" cy="523220"/>
          </a:xfrm>
          <a:prstGeom prst="rect">
            <a:avLst/>
          </a:prstGeom>
          <a:noFill/>
        </p:spPr>
        <p:txBody>
          <a:bodyPr wrap="square">
            <a:spAutoFit/>
          </a:bodyPr>
          <a:lstStyle/>
          <a:p>
            <a:pPr marL="0" indent="0" algn="ctr">
              <a:buNone/>
            </a:pPr>
            <a:r>
              <a:rPr lang="en-CA" altLang="en-US" sz="2800" dirty="0">
                <a:solidFill>
                  <a:schemeClr val="tx1"/>
                </a:solidFill>
                <a:latin typeface="Arial" panose="020B0604020202020204" pitchFamily="34" charset="0"/>
                <a:cs typeface="Arial" panose="020B0604020202020204" pitchFamily="34" charset="0"/>
              </a:rPr>
              <a:t>Determine how many units should be made.</a:t>
            </a:r>
          </a:p>
        </p:txBody>
      </p:sp>
      <p:graphicFrame>
        <p:nvGraphicFramePr>
          <p:cNvPr id="8" name="Object 2">
            <a:extLst>
              <a:ext uri="{FF2B5EF4-FFF2-40B4-BE49-F238E27FC236}">
                <a16:creationId xmlns:a16="http://schemas.microsoft.com/office/drawing/2014/main" id="{5DDDF0C9-8D3A-7D3D-4F09-536694D4C0CF}"/>
              </a:ext>
            </a:extLst>
          </p:cNvPr>
          <p:cNvGraphicFramePr>
            <a:graphicFrameLocks/>
          </p:cNvGraphicFramePr>
          <p:nvPr/>
        </p:nvGraphicFramePr>
        <p:xfrm>
          <a:off x="2958306" y="2062164"/>
          <a:ext cx="6275388" cy="4175125"/>
        </p:xfrm>
        <a:graphic>
          <a:graphicData uri="http://schemas.openxmlformats.org/presentationml/2006/ole">
            <mc:AlternateContent xmlns:mc="http://schemas.openxmlformats.org/markup-compatibility/2006">
              <mc:Choice xmlns:v="urn:schemas-microsoft-com:vml" Requires="v">
                <p:oleObj name="Worksheet" r:id="rId3" imgW="3414483" imgH="2143094" progId="Excel.Sheet.8">
                  <p:embed/>
                </p:oleObj>
              </mc:Choice>
              <mc:Fallback>
                <p:oleObj name="Worksheet" r:id="rId3" imgW="3414483" imgH="2143094" progId="Excel.Sheet.8">
                  <p:embed/>
                  <p:pic>
                    <p:nvPicPr>
                      <p:cNvPr id="8" name="Object 2">
                        <a:extLst>
                          <a:ext uri="{FF2B5EF4-FFF2-40B4-BE49-F238E27FC236}">
                            <a16:creationId xmlns:a16="http://schemas.microsoft.com/office/drawing/2014/main" id="{5DDDF0C9-8D3A-7D3D-4F09-536694D4C0CF}"/>
                          </a:ext>
                        </a:extLst>
                      </p:cNvPr>
                      <p:cNvPicPr>
                        <a:picLocks noChangeArrowheads="1"/>
                      </p:cNvPicPr>
                      <p:nvPr/>
                    </p:nvPicPr>
                    <p:blipFill>
                      <a:blip r:embed="rId4"/>
                      <a:srcRect/>
                      <a:stretch>
                        <a:fillRect/>
                      </a:stretch>
                    </p:blipFill>
                    <p:spPr bwMode="auto">
                      <a:xfrm>
                        <a:off x="2958306" y="2062164"/>
                        <a:ext cx="6275388" cy="4175125"/>
                      </a:xfrm>
                      <a:prstGeom prst="rect">
                        <a:avLst/>
                      </a:prstGeom>
                      <a:noFill/>
                      <a:ln w="9525">
                        <a:solidFill>
                          <a:srgbClr val="1C3163"/>
                        </a:solidFill>
                        <a:miter lim="800000"/>
                        <a:headEnd/>
                        <a:tailEnd/>
                      </a:ln>
                      <a:effectLst>
                        <a:outerShdw dist="107763" dir="2700000" algn="ctr" rotWithShape="0">
                          <a:srgbClr val="808080">
                            <a:alpha val="74997"/>
                          </a:srgbClr>
                        </a:outerShdw>
                      </a:effectLst>
                    </p:spPr>
                  </p:pic>
                </p:oleObj>
              </mc:Fallback>
            </mc:AlternateContent>
          </a:graphicData>
        </a:graphic>
      </p:graphicFrame>
      <p:sp>
        <p:nvSpPr>
          <p:cNvPr id="10" name="Subtitle 9">
            <a:extLst>
              <a:ext uri="{FF2B5EF4-FFF2-40B4-BE49-F238E27FC236}">
                <a16:creationId xmlns:a16="http://schemas.microsoft.com/office/drawing/2014/main" id="{50B5F7C3-1E70-E8CC-A7F7-553F2189DCB0}"/>
              </a:ext>
            </a:extLst>
          </p:cNvPr>
          <p:cNvSpPr>
            <a:spLocks noGrp="1"/>
          </p:cNvSpPr>
          <p:nvPr>
            <p:ph type="subTitle" idx="1"/>
          </p:nvPr>
        </p:nvSpPr>
        <p:spPr/>
        <p:txBody>
          <a:bodyPr/>
          <a:lstStyle/>
          <a:p>
            <a:endParaRPr lang="en-CA"/>
          </a:p>
        </p:txBody>
      </p:sp>
      <p:sp>
        <p:nvSpPr>
          <p:cNvPr id="11" name="Slide Number Placeholder 10">
            <a:extLst>
              <a:ext uri="{FF2B5EF4-FFF2-40B4-BE49-F238E27FC236}">
                <a16:creationId xmlns:a16="http://schemas.microsoft.com/office/drawing/2014/main" id="{FCD09DB4-9BD9-A1BB-A5C8-6CE435A3FCEB}"/>
              </a:ext>
            </a:extLst>
          </p:cNvPr>
          <p:cNvSpPr>
            <a:spLocks noGrp="1"/>
          </p:cNvSpPr>
          <p:nvPr>
            <p:ph type="sldNum" sz="quarter" idx="12"/>
          </p:nvPr>
        </p:nvSpPr>
        <p:spPr/>
        <p:txBody>
          <a:bodyPr/>
          <a:lstStyle/>
          <a:p>
            <a:fld id="{9B7CDB38-6350-4CC9-AB0E-B9078CE1CE4B}" type="slidenum">
              <a:rPr lang="en-US" smtClean="0"/>
              <a:pPr/>
              <a:t>70</a:t>
            </a:fld>
            <a:endParaRPr lang="en-US"/>
          </a:p>
        </p:txBody>
      </p:sp>
    </p:spTree>
    <p:extLst>
      <p:ext uri="{BB962C8B-B14F-4D97-AF65-F5344CB8AC3E}">
        <p14:creationId xmlns:p14="http://schemas.microsoft.com/office/powerpoint/2010/main" val="1871362130"/>
      </p:ext>
    </p:extLst>
  </p:cSld>
  <p:clrMapOvr>
    <a:masterClrMapping/>
  </p:clrMapOvr>
  <p:transition>
    <p:zoom dir="in"/>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0770" name="Object 2">
            <a:extLst>
              <a:ext uri="{FF2B5EF4-FFF2-40B4-BE49-F238E27FC236}">
                <a16:creationId xmlns:a16="http://schemas.microsoft.com/office/drawing/2014/main" id="{D0B356CC-9447-48BA-B4EC-998C1571736A}"/>
              </a:ext>
            </a:extLst>
          </p:cNvPr>
          <p:cNvGraphicFramePr>
            <a:graphicFrameLocks/>
          </p:cNvGraphicFramePr>
          <p:nvPr>
            <p:extLst>
              <p:ext uri="{D42A27DB-BD31-4B8C-83A1-F6EECF244321}">
                <p14:modId xmlns:p14="http://schemas.microsoft.com/office/powerpoint/2010/main" val="3326525624"/>
              </p:ext>
            </p:extLst>
          </p:nvPr>
        </p:nvGraphicFramePr>
        <p:xfrm>
          <a:off x="2067868" y="2543467"/>
          <a:ext cx="6375400" cy="2147887"/>
        </p:xfrm>
        <a:graphic>
          <a:graphicData uri="http://schemas.openxmlformats.org/presentationml/2006/ole">
            <mc:AlternateContent xmlns:mc="http://schemas.openxmlformats.org/markup-compatibility/2006">
              <mc:Choice xmlns:v="urn:schemas-microsoft-com:vml" Requires="v">
                <p:oleObj name="Worksheet" r:id="rId3" imgW="3914566" imgH="961869" progId="Excel.Sheet.8">
                  <p:embed/>
                </p:oleObj>
              </mc:Choice>
              <mc:Fallback>
                <p:oleObj name="Worksheet" r:id="rId3" imgW="3914566" imgH="961869" progId="Excel.Sheet.8">
                  <p:embed/>
                  <p:pic>
                    <p:nvPicPr>
                      <p:cNvPr id="160770" name="Object 2">
                        <a:extLst>
                          <a:ext uri="{FF2B5EF4-FFF2-40B4-BE49-F238E27FC236}">
                            <a16:creationId xmlns:a16="http://schemas.microsoft.com/office/drawing/2014/main" id="{D0B356CC-9447-48BA-B4EC-998C1571736A}"/>
                          </a:ext>
                        </a:extLst>
                      </p:cNvPr>
                      <p:cNvPicPr>
                        <a:picLocks noChangeArrowheads="1"/>
                      </p:cNvPicPr>
                      <p:nvPr/>
                    </p:nvPicPr>
                    <p:blipFill>
                      <a:blip r:embed="rId4"/>
                      <a:srcRect/>
                      <a:stretch>
                        <a:fillRect/>
                      </a:stretch>
                    </p:blipFill>
                    <p:spPr bwMode="auto">
                      <a:xfrm>
                        <a:off x="2067868" y="2543467"/>
                        <a:ext cx="6375400" cy="2147887"/>
                      </a:xfrm>
                      <a:prstGeom prst="rect">
                        <a:avLst/>
                      </a:prstGeom>
                      <a:noFill/>
                      <a:ln>
                        <a:noFill/>
                      </a:ln>
                    </p:spPr>
                  </p:pic>
                </p:oleObj>
              </mc:Fallback>
            </mc:AlternateContent>
          </a:graphicData>
        </a:graphic>
      </p:graphicFrame>
      <p:sp>
        <p:nvSpPr>
          <p:cNvPr id="2" name="Text Box 4">
            <a:extLst>
              <a:ext uri="{FF2B5EF4-FFF2-40B4-BE49-F238E27FC236}">
                <a16:creationId xmlns:a16="http://schemas.microsoft.com/office/drawing/2014/main" id="{C37EDA1D-2276-F510-B749-CF4B24690DC1}"/>
              </a:ext>
            </a:extLst>
          </p:cNvPr>
          <p:cNvSpPr txBox="1">
            <a:spLocks noChangeArrowheads="1"/>
          </p:cNvSpPr>
          <p:nvPr/>
        </p:nvSpPr>
        <p:spPr bwMode="auto">
          <a:xfrm>
            <a:off x="1271464" y="5085184"/>
            <a:ext cx="8568160" cy="461665"/>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ctr" eaLnBrk="1" hangingPunct="1">
              <a:spcBef>
                <a:spcPct val="50000"/>
              </a:spcBef>
              <a:defRPr/>
            </a:pPr>
            <a:r>
              <a:rPr lang="en-CA" sz="2400" dirty="0">
                <a:latin typeface="Arial" panose="020B0604020202020204" pitchFamily="34" charset="0"/>
                <a:cs typeface="Arial" panose="020B0604020202020204" pitchFamily="34" charset="0"/>
              </a:rPr>
              <a:t>Ensign’s total contribution margin is $64,200.</a:t>
            </a:r>
          </a:p>
        </p:txBody>
      </p:sp>
      <p:sp>
        <p:nvSpPr>
          <p:cNvPr id="5" name="TextBox 4">
            <a:extLst>
              <a:ext uri="{FF2B5EF4-FFF2-40B4-BE49-F238E27FC236}">
                <a16:creationId xmlns:a16="http://schemas.microsoft.com/office/drawing/2014/main" id="{FE4804F0-6AA9-EF5D-A9A2-A4CC94D0AFFD}"/>
              </a:ext>
            </a:extLst>
          </p:cNvPr>
          <p:cNvSpPr txBox="1"/>
          <p:nvPr/>
        </p:nvSpPr>
        <p:spPr>
          <a:xfrm>
            <a:off x="1601729" y="1101711"/>
            <a:ext cx="8348612" cy="1107996"/>
          </a:xfrm>
          <a:prstGeom prst="rect">
            <a:avLst/>
          </a:prstGeom>
          <a:noFill/>
        </p:spPr>
        <p:txBody>
          <a:bodyPr wrap="square">
            <a:spAutoFit/>
          </a:bodyPr>
          <a:lstStyle/>
          <a:p>
            <a:pPr algn="ctr"/>
            <a:r>
              <a:rPr lang="en-CA" altLang="en-US" sz="2400" dirty="0">
                <a:solidFill>
                  <a:schemeClr val="tx1"/>
                </a:solidFill>
                <a:latin typeface="Arial" panose="020B0604020202020204" pitchFamily="34" charset="0"/>
                <a:cs typeface="Arial" panose="020B0604020202020204" pitchFamily="34" charset="0"/>
              </a:rPr>
              <a:t>For maximum contribution margin, 1,300 units of Product 1 and 2,200 units of Product 2 and should be </a:t>
            </a:r>
            <a:r>
              <a:rPr lang="en-CA" altLang="en-US" sz="2400" dirty="0">
                <a:latin typeface="Arial" panose="020B0604020202020204" pitchFamily="34" charset="0"/>
                <a:cs typeface="Arial" panose="020B0604020202020204" pitchFamily="34" charset="0"/>
              </a:rPr>
              <a:t>produced.</a:t>
            </a:r>
          </a:p>
          <a:p>
            <a:endParaRPr lang="en-CA" dirty="0"/>
          </a:p>
        </p:txBody>
      </p:sp>
      <p:sp>
        <p:nvSpPr>
          <p:cNvPr id="6" name="Subtitle 8">
            <a:extLst>
              <a:ext uri="{FF2B5EF4-FFF2-40B4-BE49-F238E27FC236}">
                <a16:creationId xmlns:a16="http://schemas.microsoft.com/office/drawing/2014/main" id="{26B49597-BDE1-FECC-4117-72F9B240B8CF}"/>
              </a:ext>
            </a:extLst>
          </p:cNvPr>
          <p:cNvSpPr txBox="1">
            <a:spLocks noGrp="1"/>
          </p:cNvSpPr>
          <p:nvPr>
            <p:ph type="subTitle" idx="1"/>
          </p:nvPr>
        </p:nvSpPr>
        <p:spPr>
          <a:xfrm>
            <a:off x="335360" y="-17532"/>
            <a:ext cx="9601200" cy="506413"/>
          </a:xfrm>
          <a:prstGeom prst="rect">
            <a:avLst/>
          </a:prstGeom>
        </p:spPr>
        <p:txBody>
          <a:bodyPr vert="horz" lIns="91440" tIns="45720" rIns="91440" bIns="45720" numCol="1" rtlCol="0" anchor="ctr">
            <a:normAutofit/>
          </a:bodyPr>
          <a:lstStyle>
            <a:lvl1pPr marL="0" indent="0" algn="l" defTabSz="914400" rtl="0" eaLnBrk="1" latinLnBrk="0" hangingPunct="1">
              <a:spcBef>
                <a:spcPct val="20000"/>
              </a:spcBef>
              <a:spcAft>
                <a:spcPts val="600"/>
              </a:spcAft>
              <a:buSzPct val="80000"/>
              <a:buFont typeface="Arial" pitchFamily="34" charset="0"/>
              <a:buNone/>
              <a:defRPr sz="1800" b="1"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6pPr>
            <a:lvl7pPr marL="2743200" indent="0" algn="ctr" defTabSz="914400" rtl="0" eaLnBrk="1" latinLnBrk="0" hangingPunct="1">
              <a:spcBef>
                <a:spcPct val="20000"/>
              </a:spcBef>
              <a:spcAft>
                <a:spcPts val="600"/>
              </a:spcAft>
              <a:buSzPct val="80000"/>
              <a:buFont typeface="Arial" pitchFamily="34" charset="0"/>
              <a:buNone/>
              <a:tabLst/>
              <a:defRPr sz="1300" kern="1200">
                <a:solidFill>
                  <a:schemeClr val="tx1">
                    <a:tint val="75000"/>
                  </a:schemeClr>
                </a:solidFill>
                <a:latin typeface="Arial" panose="020B0604020202020204" pitchFamily="34" charset="0"/>
                <a:ea typeface="+mn-ea"/>
                <a:cs typeface="Arial" panose="020B0604020202020204" pitchFamily="34" charset="0"/>
              </a:defRPr>
            </a:lvl7pPr>
            <a:lvl8pPr marL="3200400" indent="0" algn="ctr" defTabSz="914400" rtl="0" eaLnBrk="1" latinLnBrk="0" hangingPunct="1">
              <a:spcBef>
                <a:spcPct val="20000"/>
              </a:spcBef>
              <a:spcAft>
                <a:spcPts val="600"/>
              </a:spcAft>
              <a:buSzPct val="80000"/>
              <a:buFont typeface="Arial" pitchFamily="34" charset="0"/>
              <a:buNone/>
              <a:defRPr sz="1300" kern="1200" baseline="0">
                <a:solidFill>
                  <a:schemeClr val="tx1">
                    <a:tint val="75000"/>
                  </a:schemeClr>
                </a:solidFill>
                <a:latin typeface="Arial" panose="020B0604020202020204" pitchFamily="34" charset="0"/>
                <a:ea typeface="+mn-ea"/>
                <a:cs typeface="Arial" panose="020B0604020202020204" pitchFamily="34" charset="0"/>
              </a:defRPr>
            </a:lvl8pPr>
            <a:lvl9pPr marL="3657600" indent="0" algn="ctr" defTabSz="914400" rtl="0" eaLnBrk="1" latinLnBrk="0" hangingPunct="1">
              <a:spcBef>
                <a:spcPct val="20000"/>
              </a:spcBef>
              <a:spcAft>
                <a:spcPts val="600"/>
              </a:spcAft>
              <a:buSzPct val="80000"/>
              <a:buFont typeface="Arial" pitchFamily="34" charset="0"/>
              <a:buNone/>
              <a:defRPr sz="1300" kern="1200">
                <a:solidFill>
                  <a:schemeClr val="tx1">
                    <a:tint val="75000"/>
                  </a:schemeClr>
                </a:solidFill>
                <a:latin typeface="Arial" panose="020B0604020202020204" pitchFamily="34" charset="0"/>
                <a:ea typeface="+mn-ea"/>
                <a:cs typeface="Arial" panose="020B0604020202020204" pitchFamily="34" charset="0"/>
              </a:defRPr>
            </a:lvl9pPr>
          </a:lstStyle>
          <a:p>
            <a:r>
              <a:rPr lang="en-CA" dirty="0"/>
              <a:t>Application Example: Constrained Resource</a:t>
            </a:r>
          </a:p>
        </p:txBody>
      </p:sp>
      <p:sp>
        <p:nvSpPr>
          <p:cNvPr id="8" name="Slide Number Placeholder 7">
            <a:extLst>
              <a:ext uri="{FF2B5EF4-FFF2-40B4-BE49-F238E27FC236}">
                <a16:creationId xmlns:a16="http://schemas.microsoft.com/office/drawing/2014/main" id="{DC855449-9D18-FA87-795C-999BA29A5171}"/>
              </a:ext>
            </a:extLst>
          </p:cNvPr>
          <p:cNvSpPr>
            <a:spLocks noGrp="1"/>
          </p:cNvSpPr>
          <p:nvPr>
            <p:ph type="sldNum" sz="quarter" idx="12"/>
          </p:nvPr>
        </p:nvSpPr>
        <p:spPr/>
        <p:txBody>
          <a:bodyPr/>
          <a:lstStyle/>
          <a:p>
            <a:fld id="{9B7CDB38-6350-4CC9-AB0E-B9078CE1CE4B}" type="slidenum">
              <a:rPr lang="en-US" smtClean="0"/>
              <a:pPr/>
              <a:t>71</a:t>
            </a:fld>
            <a:endParaRPr lang="en-US"/>
          </a:p>
        </p:txBody>
      </p:sp>
    </p:spTree>
  </p:cSld>
  <p:clrMapOvr>
    <a:masterClrMapping/>
  </p:clrMapOvr>
  <p:transition>
    <p:wipe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72</a:t>
            </a:fld>
            <a:endParaRPr spc="-25" dirty="0"/>
          </a:p>
        </p:txBody>
      </p:sp>
      <p:sp>
        <p:nvSpPr>
          <p:cNvPr id="8" name="Subtitle 7">
            <a:extLst>
              <a:ext uri="{FF2B5EF4-FFF2-40B4-BE49-F238E27FC236}">
                <a16:creationId xmlns:a16="http://schemas.microsoft.com/office/drawing/2014/main" id="{E8164962-7979-5697-DC60-0D1DCAB581EA}"/>
              </a:ext>
            </a:extLst>
          </p:cNvPr>
          <p:cNvSpPr>
            <a:spLocks noGrp="1"/>
          </p:cNvSpPr>
          <p:nvPr>
            <p:ph type="subTitle" idx="1"/>
          </p:nvPr>
        </p:nvSpPr>
        <p:spPr/>
        <p:txBody>
          <a:bodyPr/>
          <a:lstStyle/>
          <a:p>
            <a:r>
              <a:rPr lang="en-CA" dirty="0" err="1"/>
              <a:t>Applicaton</a:t>
            </a:r>
            <a:r>
              <a:rPr lang="en-CA" dirty="0"/>
              <a:t> Example #2 : Special Order with Constraints</a:t>
            </a:r>
          </a:p>
        </p:txBody>
      </p:sp>
      <p:sp>
        <p:nvSpPr>
          <p:cNvPr id="3" name="object 3"/>
          <p:cNvSpPr txBox="1"/>
          <p:nvPr/>
        </p:nvSpPr>
        <p:spPr>
          <a:xfrm>
            <a:off x="637394" y="1052736"/>
            <a:ext cx="10918190" cy="4950714"/>
          </a:xfrm>
          <a:prstGeom prst="rect">
            <a:avLst/>
          </a:prstGeom>
        </p:spPr>
        <p:txBody>
          <a:bodyPr vert="horz" wrap="square" lIns="0" tIns="13335" rIns="0" bIns="0" rtlCol="0">
            <a:spAutoFit/>
          </a:bodyPr>
          <a:lstStyle/>
          <a:p>
            <a:pPr marL="299085" marR="5080" indent="-287020">
              <a:lnSpc>
                <a:spcPct val="100000"/>
              </a:lnSpc>
              <a:spcBef>
                <a:spcPts val="105"/>
              </a:spcBef>
              <a:buChar char="•"/>
              <a:tabLst>
                <a:tab pos="299085" algn="l"/>
              </a:tabLst>
            </a:pPr>
            <a:r>
              <a:rPr sz="2000" dirty="0">
                <a:latin typeface="Arial MT"/>
                <a:cs typeface="Arial MT"/>
              </a:rPr>
              <a:t>Dineen</a:t>
            </a:r>
            <a:r>
              <a:rPr sz="2000" spc="-35" dirty="0">
                <a:latin typeface="Arial MT"/>
                <a:cs typeface="Arial MT"/>
              </a:rPr>
              <a:t> </a:t>
            </a:r>
            <a:r>
              <a:rPr sz="2000" dirty="0">
                <a:latin typeface="Arial MT"/>
                <a:cs typeface="Arial MT"/>
              </a:rPr>
              <a:t>was</a:t>
            </a:r>
            <a:r>
              <a:rPr sz="2000" spc="-30" dirty="0">
                <a:latin typeface="Arial MT"/>
                <a:cs typeface="Arial MT"/>
              </a:rPr>
              <a:t> </a:t>
            </a:r>
            <a:r>
              <a:rPr sz="2000" dirty="0">
                <a:latin typeface="Arial MT"/>
                <a:cs typeface="Arial MT"/>
              </a:rPr>
              <a:t>asked</a:t>
            </a:r>
            <a:r>
              <a:rPr sz="2000" spc="-50" dirty="0">
                <a:latin typeface="Arial MT"/>
                <a:cs typeface="Arial MT"/>
              </a:rPr>
              <a:t> </a:t>
            </a:r>
            <a:r>
              <a:rPr sz="2000" dirty="0">
                <a:latin typeface="Arial MT"/>
                <a:cs typeface="Arial MT"/>
              </a:rPr>
              <a:t>to</a:t>
            </a:r>
            <a:r>
              <a:rPr sz="2000" spc="-25" dirty="0">
                <a:latin typeface="Arial MT"/>
                <a:cs typeface="Arial MT"/>
              </a:rPr>
              <a:t> </a:t>
            </a:r>
            <a:r>
              <a:rPr sz="2000" dirty="0">
                <a:latin typeface="Arial MT"/>
                <a:cs typeface="Arial MT"/>
              </a:rPr>
              <a:t>make</a:t>
            </a:r>
            <a:r>
              <a:rPr sz="2000" spc="-45" dirty="0">
                <a:latin typeface="Arial MT"/>
                <a:cs typeface="Arial MT"/>
              </a:rPr>
              <a:t> </a:t>
            </a:r>
            <a:r>
              <a:rPr sz="2000" dirty="0">
                <a:latin typeface="Arial MT"/>
                <a:cs typeface="Arial MT"/>
              </a:rPr>
              <a:t>200</a:t>
            </a:r>
            <a:r>
              <a:rPr sz="2000" spc="-30" dirty="0">
                <a:latin typeface="Arial MT"/>
                <a:cs typeface="Arial MT"/>
              </a:rPr>
              <a:t> </a:t>
            </a:r>
            <a:r>
              <a:rPr sz="2000" dirty="0">
                <a:latin typeface="Arial MT"/>
                <a:cs typeface="Arial MT"/>
              </a:rPr>
              <a:t>cakes</a:t>
            </a:r>
            <a:r>
              <a:rPr sz="2000" spc="-50" dirty="0">
                <a:latin typeface="Arial MT"/>
                <a:cs typeface="Arial MT"/>
              </a:rPr>
              <a:t> </a:t>
            </a:r>
            <a:r>
              <a:rPr sz="2000" dirty="0">
                <a:latin typeface="Arial MT"/>
                <a:cs typeface="Arial MT"/>
              </a:rPr>
              <a:t>@</a:t>
            </a:r>
            <a:r>
              <a:rPr sz="2000" spc="-30" dirty="0">
                <a:latin typeface="Arial MT"/>
                <a:cs typeface="Arial MT"/>
              </a:rPr>
              <a:t> </a:t>
            </a:r>
            <a:r>
              <a:rPr sz="2000" dirty="0">
                <a:latin typeface="Arial MT"/>
                <a:cs typeface="Arial MT"/>
              </a:rPr>
              <a:t>$12.50</a:t>
            </a:r>
            <a:r>
              <a:rPr sz="2000" spc="-40" dirty="0">
                <a:latin typeface="Arial MT"/>
                <a:cs typeface="Arial MT"/>
              </a:rPr>
              <a:t> </a:t>
            </a:r>
            <a:r>
              <a:rPr sz="2000" dirty="0">
                <a:latin typeface="Arial MT"/>
                <a:cs typeface="Arial MT"/>
              </a:rPr>
              <a:t>for</a:t>
            </a:r>
            <a:r>
              <a:rPr sz="2000" spc="-45" dirty="0">
                <a:latin typeface="Arial MT"/>
                <a:cs typeface="Arial MT"/>
              </a:rPr>
              <a:t> </a:t>
            </a:r>
            <a:r>
              <a:rPr sz="2000" dirty="0">
                <a:latin typeface="Arial MT"/>
                <a:cs typeface="Arial MT"/>
              </a:rPr>
              <a:t>the</a:t>
            </a:r>
            <a:r>
              <a:rPr sz="2000" spc="-20" dirty="0">
                <a:latin typeface="Arial MT"/>
                <a:cs typeface="Arial MT"/>
              </a:rPr>
              <a:t> </a:t>
            </a:r>
            <a:r>
              <a:rPr sz="2000" dirty="0">
                <a:latin typeface="Arial MT"/>
                <a:cs typeface="Arial MT"/>
              </a:rPr>
              <a:t>upcoming</a:t>
            </a:r>
            <a:r>
              <a:rPr sz="2000" spc="-55" dirty="0">
                <a:latin typeface="Arial MT"/>
                <a:cs typeface="Arial MT"/>
              </a:rPr>
              <a:t> </a:t>
            </a:r>
            <a:r>
              <a:rPr sz="2000" dirty="0">
                <a:latin typeface="Arial MT"/>
                <a:cs typeface="Arial MT"/>
              </a:rPr>
              <a:t>weekend.</a:t>
            </a:r>
            <a:r>
              <a:rPr sz="2000" spc="-45" dirty="0">
                <a:latin typeface="Arial MT"/>
                <a:cs typeface="Arial MT"/>
              </a:rPr>
              <a:t> </a:t>
            </a:r>
            <a:r>
              <a:rPr sz="2000" dirty="0">
                <a:latin typeface="Arial MT"/>
                <a:cs typeface="Arial MT"/>
              </a:rPr>
              <a:t>While</a:t>
            </a:r>
            <a:r>
              <a:rPr sz="2000" spc="-30" dirty="0">
                <a:latin typeface="Arial MT"/>
                <a:cs typeface="Arial MT"/>
              </a:rPr>
              <a:t> </a:t>
            </a:r>
            <a:r>
              <a:rPr sz="2000" spc="-10" dirty="0">
                <a:latin typeface="Arial MT"/>
                <a:cs typeface="Arial MT"/>
              </a:rPr>
              <a:t>Dineen </a:t>
            </a:r>
            <a:r>
              <a:rPr sz="2000" dirty="0">
                <a:latin typeface="Arial MT"/>
                <a:cs typeface="Arial MT"/>
              </a:rPr>
              <a:t>would</a:t>
            </a:r>
            <a:r>
              <a:rPr sz="2000" spc="-40" dirty="0">
                <a:latin typeface="Arial MT"/>
                <a:cs typeface="Arial MT"/>
              </a:rPr>
              <a:t> </a:t>
            </a:r>
            <a:r>
              <a:rPr sz="2000" dirty="0">
                <a:latin typeface="Arial MT"/>
                <a:cs typeface="Arial MT"/>
              </a:rPr>
              <a:t>normally</a:t>
            </a:r>
            <a:r>
              <a:rPr sz="2000" spc="-50" dirty="0">
                <a:latin typeface="Arial MT"/>
                <a:cs typeface="Arial MT"/>
              </a:rPr>
              <a:t> </a:t>
            </a:r>
            <a:r>
              <a:rPr sz="2000" dirty="0">
                <a:latin typeface="Arial MT"/>
                <a:cs typeface="Arial MT"/>
              </a:rPr>
              <a:t>decline</a:t>
            </a:r>
            <a:r>
              <a:rPr sz="2000" spc="-40" dirty="0">
                <a:latin typeface="Arial MT"/>
                <a:cs typeface="Arial MT"/>
              </a:rPr>
              <a:t> </a:t>
            </a:r>
            <a:r>
              <a:rPr sz="2000" dirty="0">
                <a:latin typeface="Arial MT"/>
                <a:cs typeface="Arial MT"/>
              </a:rPr>
              <a:t>the</a:t>
            </a:r>
            <a:r>
              <a:rPr sz="2000" spc="-40" dirty="0">
                <a:latin typeface="Arial MT"/>
                <a:cs typeface="Arial MT"/>
              </a:rPr>
              <a:t> </a:t>
            </a:r>
            <a:r>
              <a:rPr sz="2000" dirty="0">
                <a:latin typeface="Arial MT"/>
                <a:cs typeface="Arial MT"/>
              </a:rPr>
              <a:t>request,</a:t>
            </a:r>
            <a:r>
              <a:rPr sz="2000" spc="-80" dirty="0">
                <a:latin typeface="Arial MT"/>
                <a:cs typeface="Arial MT"/>
              </a:rPr>
              <a:t> </a:t>
            </a:r>
            <a:r>
              <a:rPr sz="2000" dirty="0">
                <a:latin typeface="Arial MT"/>
                <a:cs typeface="Arial MT"/>
              </a:rPr>
              <a:t>weekends</a:t>
            </a:r>
            <a:r>
              <a:rPr sz="2000" spc="-55" dirty="0">
                <a:latin typeface="Arial MT"/>
                <a:cs typeface="Arial MT"/>
              </a:rPr>
              <a:t> </a:t>
            </a:r>
            <a:r>
              <a:rPr sz="2000" dirty="0">
                <a:latin typeface="Arial MT"/>
                <a:cs typeface="Arial MT"/>
              </a:rPr>
              <a:t>in</a:t>
            </a:r>
            <a:r>
              <a:rPr sz="2000" spc="-25" dirty="0">
                <a:latin typeface="Arial MT"/>
                <a:cs typeface="Arial MT"/>
              </a:rPr>
              <a:t> </a:t>
            </a:r>
            <a:r>
              <a:rPr sz="2000" dirty="0">
                <a:latin typeface="Arial MT"/>
                <a:cs typeface="Arial MT"/>
              </a:rPr>
              <a:t>November</a:t>
            </a:r>
            <a:r>
              <a:rPr sz="2000" spc="-50" dirty="0">
                <a:latin typeface="Arial MT"/>
                <a:cs typeface="Arial MT"/>
              </a:rPr>
              <a:t> </a:t>
            </a:r>
            <a:r>
              <a:rPr sz="2000" dirty="0">
                <a:latin typeface="Arial MT"/>
                <a:cs typeface="Arial MT"/>
              </a:rPr>
              <a:t>are</a:t>
            </a:r>
            <a:r>
              <a:rPr sz="2000" spc="-50" dirty="0">
                <a:latin typeface="Arial MT"/>
                <a:cs typeface="Arial MT"/>
              </a:rPr>
              <a:t> </a:t>
            </a:r>
            <a:r>
              <a:rPr sz="2000" dirty="0">
                <a:latin typeface="Arial MT"/>
                <a:cs typeface="Arial MT"/>
              </a:rPr>
              <a:t>typically</a:t>
            </a:r>
            <a:r>
              <a:rPr sz="2000" spc="-25" dirty="0">
                <a:latin typeface="Arial MT"/>
                <a:cs typeface="Arial MT"/>
              </a:rPr>
              <a:t> </a:t>
            </a:r>
            <a:r>
              <a:rPr sz="2000" dirty="0">
                <a:latin typeface="Arial MT"/>
                <a:cs typeface="Arial MT"/>
              </a:rPr>
              <a:t>very</a:t>
            </a:r>
            <a:r>
              <a:rPr sz="2000" spc="-50" dirty="0">
                <a:latin typeface="Arial MT"/>
                <a:cs typeface="Arial MT"/>
              </a:rPr>
              <a:t> </a:t>
            </a:r>
            <a:r>
              <a:rPr sz="2000" spc="-20" dirty="0">
                <a:latin typeface="Arial MT"/>
                <a:cs typeface="Arial MT"/>
              </a:rPr>
              <a:t>slow.</a:t>
            </a:r>
            <a:r>
              <a:rPr sz="2000" spc="-80" dirty="0">
                <a:latin typeface="Arial MT"/>
                <a:cs typeface="Arial MT"/>
              </a:rPr>
              <a:t> </a:t>
            </a:r>
            <a:r>
              <a:rPr sz="2000" dirty="0">
                <a:latin typeface="Arial MT"/>
                <a:cs typeface="Arial MT"/>
              </a:rPr>
              <a:t>This</a:t>
            </a:r>
            <a:r>
              <a:rPr sz="2000" spc="-20" dirty="0">
                <a:latin typeface="Arial MT"/>
                <a:cs typeface="Arial MT"/>
              </a:rPr>
              <a:t> </a:t>
            </a:r>
            <a:r>
              <a:rPr sz="2000" spc="-10" dirty="0">
                <a:latin typeface="Arial MT"/>
                <a:cs typeface="Arial MT"/>
              </a:rPr>
              <a:t>order </a:t>
            </a:r>
            <a:r>
              <a:rPr sz="2000" dirty="0">
                <a:latin typeface="Arial MT"/>
                <a:cs typeface="Arial MT"/>
              </a:rPr>
              <a:t>would</a:t>
            </a:r>
            <a:r>
              <a:rPr sz="2000" spc="-35" dirty="0">
                <a:latin typeface="Arial MT"/>
                <a:cs typeface="Arial MT"/>
              </a:rPr>
              <a:t> </a:t>
            </a:r>
            <a:r>
              <a:rPr sz="2000" dirty="0">
                <a:latin typeface="Arial MT"/>
                <a:cs typeface="Arial MT"/>
              </a:rPr>
              <a:t>have</a:t>
            </a:r>
            <a:r>
              <a:rPr sz="2000" spc="-20" dirty="0">
                <a:latin typeface="Arial MT"/>
                <a:cs typeface="Arial MT"/>
              </a:rPr>
              <a:t> </a:t>
            </a:r>
            <a:r>
              <a:rPr sz="2000" dirty="0">
                <a:latin typeface="Arial MT"/>
                <a:cs typeface="Arial MT"/>
              </a:rPr>
              <a:t>no</a:t>
            </a:r>
            <a:r>
              <a:rPr sz="2000" spc="-40" dirty="0">
                <a:latin typeface="Arial MT"/>
                <a:cs typeface="Arial MT"/>
              </a:rPr>
              <a:t> </a:t>
            </a:r>
            <a:r>
              <a:rPr sz="2000" dirty="0">
                <a:latin typeface="Arial MT"/>
                <a:cs typeface="Arial MT"/>
              </a:rPr>
              <a:t>effect</a:t>
            </a:r>
            <a:r>
              <a:rPr sz="2000" spc="-55" dirty="0">
                <a:latin typeface="Arial MT"/>
                <a:cs typeface="Arial MT"/>
              </a:rPr>
              <a:t> </a:t>
            </a:r>
            <a:r>
              <a:rPr sz="2000" dirty="0">
                <a:latin typeface="Arial MT"/>
                <a:cs typeface="Arial MT"/>
              </a:rPr>
              <a:t>on</a:t>
            </a:r>
            <a:r>
              <a:rPr sz="2000" spc="-35" dirty="0">
                <a:latin typeface="Arial MT"/>
                <a:cs typeface="Arial MT"/>
              </a:rPr>
              <a:t> </a:t>
            </a:r>
            <a:r>
              <a:rPr sz="2000" dirty="0">
                <a:latin typeface="Arial MT"/>
                <a:cs typeface="Arial MT"/>
              </a:rPr>
              <a:t>the</a:t>
            </a:r>
            <a:r>
              <a:rPr sz="2000" spc="-40" dirty="0">
                <a:latin typeface="Arial MT"/>
                <a:cs typeface="Arial MT"/>
              </a:rPr>
              <a:t> </a:t>
            </a:r>
            <a:r>
              <a:rPr sz="2000" dirty="0">
                <a:latin typeface="Arial MT"/>
                <a:cs typeface="Arial MT"/>
              </a:rPr>
              <a:t>company's</a:t>
            </a:r>
            <a:r>
              <a:rPr sz="2000" spc="-40" dirty="0">
                <a:latin typeface="Arial MT"/>
                <a:cs typeface="Arial MT"/>
              </a:rPr>
              <a:t> </a:t>
            </a:r>
            <a:r>
              <a:rPr sz="2000" dirty="0">
                <a:latin typeface="Arial MT"/>
                <a:cs typeface="Arial MT"/>
              </a:rPr>
              <a:t>normal</a:t>
            </a:r>
            <a:r>
              <a:rPr sz="2000" spc="-50" dirty="0">
                <a:latin typeface="Arial MT"/>
                <a:cs typeface="Arial MT"/>
              </a:rPr>
              <a:t> </a:t>
            </a:r>
            <a:r>
              <a:rPr sz="2000" dirty="0">
                <a:latin typeface="Arial MT"/>
                <a:cs typeface="Arial MT"/>
              </a:rPr>
              <a:t>sales</a:t>
            </a:r>
            <a:r>
              <a:rPr sz="2000" spc="-45" dirty="0">
                <a:latin typeface="Arial MT"/>
                <a:cs typeface="Arial MT"/>
              </a:rPr>
              <a:t> </a:t>
            </a:r>
            <a:r>
              <a:rPr sz="2000" dirty="0">
                <a:latin typeface="Arial MT"/>
                <a:cs typeface="Arial MT"/>
              </a:rPr>
              <a:t>and</a:t>
            </a:r>
            <a:r>
              <a:rPr sz="2000" spc="-35" dirty="0">
                <a:latin typeface="Arial MT"/>
                <a:cs typeface="Arial MT"/>
              </a:rPr>
              <a:t> </a:t>
            </a:r>
            <a:r>
              <a:rPr sz="2000" dirty="0">
                <a:latin typeface="Arial MT"/>
                <a:cs typeface="Arial MT"/>
              </a:rPr>
              <a:t>would</a:t>
            </a:r>
            <a:r>
              <a:rPr sz="2000" spc="-20" dirty="0">
                <a:latin typeface="Arial MT"/>
                <a:cs typeface="Arial MT"/>
              </a:rPr>
              <a:t> </a:t>
            </a:r>
            <a:r>
              <a:rPr sz="2000" dirty="0">
                <a:latin typeface="Arial MT"/>
                <a:cs typeface="Arial MT"/>
              </a:rPr>
              <a:t>not</a:t>
            </a:r>
            <a:r>
              <a:rPr sz="2000" spc="-40" dirty="0">
                <a:latin typeface="Arial MT"/>
                <a:cs typeface="Arial MT"/>
              </a:rPr>
              <a:t> </a:t>
            </a:r>
            <a:r>
              <a:rPr sz="2000" dirty="0">
                <a:latin typeface="Arial MT"/>
                <a:cs typeface="Arial MT"/>
              </a:rPr>
              <a:t>change</a:t>
            </a:r>
            <a:r>
              <a:rPr sz="2000" spc="-55" dirty="0">
                <a:latin typeface="Arial MT"/>
                <a:cs typeface="Arial MT"/>
              </a:rPr>
              <a:t> </a:t>
            </a:r>
            <a:r>
              <a:rPr sz="2000" dirty="0">
                <a:latin typeface="Arial MT"/>
                <a:cs typeface="Arial MT"/>
              </a:rPr>
              <a:t>the</a:t>
            </a:r>
            <a:r>
              <a:rPr sz="2000" spc="-25" dirty="0">
                <a:latin typeface="Arial MT"/>
                <a:cs typeface="Arial MT"/>
              </a:rPr>
              <a:t> </a:t>
            </a:r>
            <a:r>
              <a:rPr sz="2000" dirty="0">
                <a:latin typeface="Arial MT"/>
                <a:cs typeface="Arial MT"/>
              </a:rPr>
              <a:t>total</a:t>
            </a:r>
            <a:r>
              <a:rPr sz="2000" spc="-35" dirty="0">
                <a:latin typeface="Arial MT"/>
                <a:cs typeface="Arial MT"/>
              </a:rPr>
              <a:t> </a:t>
            </a:r>
            <a:r>
              <a:rPr sz="2000" dirty="0">
                <a:latin typeface="Arial MT"/>
                <a:cs typeface="Arial MT"/>
              </a:rPr>
              <a:t>amount</a:t>
            </a:r>
            <a:r>
              <a:rPr sz="2000" spc="-50" dirty="0">
                <a:latin typeface="Arial MT"/>
                <a:cs typeface="Arial MT"/>
              </a:rPr>
              <a:t> </a:t>
            </a:r>
            <a:r>
              <a:rPr sz="2000" spc="-25" dirty="0">
                <a:latin typeface="Arial MT"/>
                <a:cs typeface="Arial MT"/>
              </a:rPr>
              <a:t>of </a:t>
            </a:r>
            <a:r>
              <a:rPr sz="2000" dirty="0">
                <a:latin typeface="Arial MT"/>
                <a:cs typeface="Arial MT"/>
              </a:rPr>
              <a:t>the</a:t>
            </a:r>
            <a:r>
              <a:rPr sz="2000" spc="-50" dirty="0">
                <a:latin typeface="Arial MT"/>
                <a:cs typeface="Arial MT"/>
              </a:rPr>
              <a:t> </a:t>
            </a:r>
            <a:r>
              <a:rPr sz="2000" dirty="0">
                <a:latin typeface="Arial MT"/>
                <a:cs typeface="Arial MT"/>
              </a:rPr>
              <a:t>company's</a:t>
            </a:r>
            <a:r>
              <a:rPr sz="2000" spc="-45" dirty="0">
                <a:latin typeface="Arial MT"/>
                <a:cs typeface="Arial MT"/>
              </a:rPr>
              <a:t> </a:t>
            </a:r>
            <a:r>
              <a:rPr sz="2000" dirty="0">
                <a:latin typeface="Arial MT"/>
                <a:cs typeface="Arial MT"/>
              </a:rPr>
              <a:t>fixed</a:t>
            </a:r>
            <a:r>
              <a:rPr sz="2000" spc="-10" dirty="0">
                <a:latin typeface="Arial MT"/>
                <a:cs typeface="Arial MT"/>
              </a:rPr>
              <a:t> costs.</a:t>
            </a:r>
            <a:endParaRPr sz="2000" dirty="0">
              <a:latin typeface="Arial MT"/>
              <a:cs typeface="Arial MT"/>
            </a:endParaRPr>
          </a:p>
          <a:p>
            <a:pPr marL="299085" indent="-286385">
              <a:lnSpc>
                <a:spcPct val="100000"/>
              </a:lnSpc>
              <a:spcBef>
                <a:spcPts val="1200"/>
              </a:spcBef>
              <a:buChar char="•"/>
              <a:tabLst>
                <a:tab pos="299085" algn="l"/>
              </a:tabLst>
            </a:pPr>
            <a:r>
              <a:rPr sz="2000" dirty="0">
                <a:latin typeface="Arial MT"/>
                <a:cs typeface="Arial MT"/>
              </a:rPr>
              <a:t>The</a:t>
            </a:r>
            <a:r>
              <a:rPr sz="2000" spc="-35" dirty="0">
                <a:latin typeface="Arial MT"/>
                <a:cs typeface="Arial MT"/>
              </a:rPr>
              <a:t> </a:t>
            </a:r>
            <a:r>
              <a:rPr sz="2000" dirty="0">
                <a:latin typeface="Arial MT"/>
                <a:cs typeface="Arial MT"/>
              </a:rPr>
              <a:t>cost</a:t>
            </a:r>
            <a:r>
              <a:rPr sz="2000" spc="-50" dirty="0">
                <a:latin typeface="Arial MT"/>
                <a:cs typeface="Arial MT"/>
              </a:rPr>
              <a:t> </a:t>
            </a:r>
            <a:r>
              <a:rPr sz="2000" dirty="0">
                <a:latin typeface="Arial MT"/>
                <a:cs typeface="Arial MT"/>
              </a:rPr>
              <a:t>of</a:t>
            </a:r>
            <a:r>
              <a:rPr sz="2000" spc="-30" dirty="0">
                <a:latin typeface="Arial MT"/>
                <a:cs typeface="Arial MT"/>
              </a:rPr>
              <a:t> </a:t>
            </a:r>
            <a:r>
              <a:rPr sz="2000" dirty="0">
                <a:latin typeface="Arial MT"/>
                <a:cs typeface="Arial MT"/>
              </a:rPr>
              <a:t>producing</a:t>
            </a:r>
            <a:r>
              <a:rPr sz="2000" spc="-55" dirty="0">
                <a:latin typeface="Arial MT"/>
                <a:cs typeface="Arial MT"/>
              </a:rPr>
              <a:t> </a:t>
            </a:r>
            <a:r>
              <a:rPr sz="2000" dirty="0">
                <a:latin typeface="Arial MT"/>
                <a:cs typeface="Arial MT"/>
              </a:rPr>
              <a:t>and</a:t>
            </a:r>
            <a:r>
              <a:rPr sz="2000" spc="-35" dirty="0">
                <a:latin typeface="Arial MT"/>
                <a:cs typeface="Arial MT"/>
              </a:rPr>
              <a:t> </a:t>
            </a:r>
            <a:r>
              <a:rPr sz="2000" dirty="0">
                <a:latin typeface="Arial MT"/>
                <a:cs typeface="Arial MT"/>
              </a:rPr>
              <a:t>selling</a:t>
            </a:r>
            <a:r>
              <a:rPr sz="2000" spc="-20" dirty="0">
                <a:latin typeface="Arial MT"/>
                <a:cs typeface="Arial MT"/>
              </a:rPr>
              <a:t> </a:t>
            </a:r>
            <a:r>
              <a:rPr sz="2000" dirty="0">
                <a:latin typeface="Arial MT"/>
                <a:cs typeface="Arial MT"/>
              </a:rPr>
              <a:t>a</a:t>
            </a:r>
            <a:r>
              <a:rPr sz="2000" spc="-40" dirty="0">
                <a:latin typeface="Arial MT"/>
                <a:cs typeface="Arial MT"/>
              </a:rPr>
              <a:t> </a:t>
            </a:r>
            <a:r>
              <a:rPr sz="2000" dirty="0">
                <a:latin typeface="Arial MT"/>
                <a:cs typeface="Arial MT"/>
              </a:rPr>
              <a:t>single</a:t>
            </a:r>
            <a:r>
              <a:rPr sz="2000" spc="-30" dirty="0">
                <a:latin typeface="Arial MT"/>
                <a:cs typeface="Arial MT"/>
              </a:rPr>
              <a:t> </a:t>
            </a:r>
            <a:r>
              <a:rPr sz="2000" dirty="0">
                <a:latin typeface="Arial MT"/>
                <a:cs typeface="Arial MT"/>
              </a:rPr>
              <a:t>cake</a:t>
            </a:r>
            <a:r>
              <a:rPr sz="2000" spc="-45" dirty="0">
                <a:latin typeface="Arial MT"/>
                <a:cs typeface="Arial MT"/>
              </a:rPr>
              <a:t> </a:t>
            </a:r>
            <a:r>
              <a:rPr sz="2000" dirty="0">
                <a:latin typeface="Arial MT"/>
                <a:cs typeface="Arial MT"/>
              </a:rPr>
              <a:t>at</a:t>
            </a:r>
            <a:r>
              <a:rPr sz="2000" spc="-30" dirty="0">
                <a:latin typeface="Arial MT"/>
                <a:cs typeface="Arial MT"/>
              </a:rPr>
              <a:t> </a:t>
            </a:r>
            <a:r>
              <a:rPr sz="2000" dirty="0">
                <a:latin typeface="Arial MT"/>
                <a:cs typeface="Arial MT"/>
              </a:rPr>
              <a:t>the</a:t>
            </a:r>
            <a:r>
              <a:rPr sz="2000" spc="-35" dirty="0">
                <a:latin typeface="Arial MT"/>
                <a:cs typeface="Arial MT"/>
              </a:rPr>
              <a:t> </a:t>
            </a:r>
            <a:r>
              <a:rPr sz="2000" dirty="0">
                <a:latin typeface="Arial MT"/>
                <a:cs typeface="Arial MT"/>
              </a:rPr>
              <a:t>normal</a:t>
            </a:r>
            <a:r>
              <a:rPr sz="2000" spc="-50" dirty="0">
                <a:latin typeface="Arial MT"/>
                <a:cs typeface="Arial MT"/>
              </a:rPr>
              <a:t> </a:t>
            </a:r>
            <a:r>
              <a:rPr sz="2000" dirty="0">
                <a:latin typeface="Arial MT"/>
                <a:cs typeface="Arial MT"/>
              </a:rPr>
              <a:t>activity</a:t>
            </a:r>
            <a:r>
              <a:rPr sz="2000" spc="-35" dirty="0">
                <a:latin typeface="Arial MT"/>
                <a:cs typeface="Arial MT"/>
              </a:rPr>
              <a:t> </a:t>
            </a:r>
            <a:r>
              <a:rPr sz="2000" dirty="0">
                <a:latin typeface="Arial MT"/>
                <a:cs typeface="Arial MT"/>
              </a:rPr>
              <a:t>level</a:t>
            </a:r>
            <a:r>
              <a:rPr sz="2000" spc="-15" dirty="0">
                <a:latin typeface="Arial MT"/>
                <a:cs typeface="Arial MT"/>
              </a:rPr>
              <a:t> </a:t>
            </a:r>
            <a:r>
              <a:rPr sz="2000" spc="-20" dirty="0">
                <a:latin typeface="Arial MT"/>
                <a:cs typeface="Arial MT"/>
              </a:rPr>
              <a:t>are:</a:t>
            </a:r>
            <a:endParaRPr lang="en-CA" sz="2000" spc="-20" dirty="0">
              <a:latin typeface="Arial MT"/>
              <a:cs typeface="Arial MT"/>
            </a:endParaRPr>
          </a:p>
          <a:p>
            <a:pPr marL="756285" lvl="1" indent="-286385">
              <a:spcBef>
                <a:spcPts val="1300"/>
              </a:spcBef>
              <a:buChar char="•"/>
              <a:tabLst>
                <a:tab pos="299085" algn="l"/>
              </a:tabLst>
            </a:pPr>
            <a:r>
              <a:rPr lang="en-CA" sz="2000" dirty="0">
                <a:latin typeface="Arial MT"/>
                <a:cs typeface="Arial MT"/>
              </a:rPr>
              <a:t>Direct</a:t>
            </a:r>
            <a:r>
              <a:rPr lang="en-CA" sz="2000" spc="-40" dirty="0">
                <a:latin typeface="Arial MT"/>
                <a:cs typeface="Arial MT"/>
              </a:rPr>
              <a:t> </a:t>
            </a:r>
            <a:r>
              <a:rPr lang="en-CA" sz="2000" dirty="0">
                <a:latin typeface="Arial MT"/>
                <a:cs typeface="Arial MT"/>
              </a:rPr>
              <a:t>Materials</a:t>
            </a:r>
            <a:r>
              <a:rPr lang="en-CA" sz="2000" spc="-35" dirty="0">
                <a:latin typeface="Arial MT"/>
                <a:cs typeface="Arial MT"/>
              </a:rPr>
              <a:t> </a:t>
            </a:r>
            <a:r>
              <a:rPr lang="en-CA" sz="2000" spc="-10" dirty="0">
                <a:latin typeface="Arial MT"/>
                <a:cs typeface="Arial MT"/>
              </a:rPr>
              <a:t>$7.40</a:t>
            </a:r>
            <a:endParaRPr lang="en-CA" sz="2000" dirty="0">
              <a:latin typeface="Arial MT"/>
              <a:cs typeface="Arial MT"/>
            </a:endParaRPr>
          </a:p>
          <a:p>
            <a:pPr marL="756285" lvl="1" indent="-286385">
              <a:spcBef>
                <a:spcPts val="1200"/>
              </a:spcBef>
              <a:buChar char="•"/>
              <a:tabLst>
                <a:tab pos="299085" algn="l"/>
              </a:tabLst>
            </a:pPr>
            <a:r>
              <a:rPr lang="en-CA" sz="2000" dirty="0">
                <a:latin typeface="Arial MT"/>
                <a:cs typeface="Arial MT"/>
              </a:rPr>
              <a:t>Direct</a:t>
            </a:r>
            <a:r>
              <a:rPr lang="en-CA" sz="2000" spc="-45" dirty="0">
                <a:latin typeface="Arial MT"/>
                <a:cs typeface="Arial MT"/>
              </a:rPr>
              <a:t> </a:t>
            </a:r>
            <a:r>
              <a:rPr lang="en-CA" sz="2000" dirty="0">
                <a:latin typeface="Arial MT"/>
                <a:cs typeface="Arial MT"/>
              </a:rPr>
              <a:t>Labour</a:t>
            </a:r>
            <a:r>
              <a:rPr lang="en-CA" sz="2000" spc="-40" dirty="0">
                <a:latin typeface="Arial MT"/>
                <a:cs typeface="Arial MT"/>
              </a:rPr>
              <a:t> </a:t>
            </a:r>
            <a:r>
              <a:rPr lang="en-CA" sz="2000" spc="-10" dirty="0">
                <a:latin typeface="Arial MT"/>
                <a:cs typeface="Arial MT"/>
              </a:rPr>
              <a:t>$1.45</a:t>
            </a:r>
            <a:endParaRPr lang="en-CA" sz="2000" dirty="0">
              <a:latin typeface="Arial MT"/>
              <a:cs typeface="Arial MT"/>
            </a:endParaRPr>
          </a:p>
          <a:p>
            <a:pPr marL="756285" lvl="1" indent="-286385">
              <a:spcBef>
                <a:spcPts val="1200"/>
              </a:spcBef>
              <a:buChar char="•"/>
              <a:tabLst>
                <a:tab pos="299085" algn="l"/>
              </a:tabLst>
            </a:pPr>
            <a:r>
              <a:rPr lang="en-CA" sz="2000" spc="-20" dirty="0">
                <a:latin typeface="Arial MT"/>
                <a:cs typeface="Arial MT"/>
              </a:rPr>
              <a:t>Variable</a:t>
            </a:r>
            <a:r>
              <a:rPr lang="en-CA" sz="2000" spc="-65" dirty="0">
                <a:latin typeface="Arial MT"/>
                <a:cs typeface="Arial MT"/>
              </a:rPr>
              <a:t> </a:t>
            </a:r>
            <a:r>
              <a:rPr lang="en-CA" sz="2000" dirty="0">
                <a:latin typeface="Arial MT"/>
                <a:cs typeface="Arial MT"/>
              </a:rPr>
              <a:t>Manufacturing</a:t>
            </a:r>
            <a:r>
              <a:rPr lang="en-CA" sz="2000" spc="-90" dirty="0">
                <a:latin typeface="Arial MT"/>
                <a:cs typeface="Arial MT"/>
              </a:rPr>
              <a:t> </a:t>
            </a:r>
            <a:r>
              <a:rPr lang="en-CA" sz="2000" dirty="0">
                <a:latin typeface="Arial MT"/>
                <a:cs typeface="Arial MT"/>
              </a:rPr>
              <a:t>Overhead</a:t>
            </a:r>
            <a:r>
              <a:rPr lang="en-CA" sz="2000" spc="-85" dirty="0">
                <a:latin typeface="Arial MT"/>
                <a:cs typeface="Arial MT"/>
              </a:rPr>
              <a:t> </a:t>
            </a:r>
            <a:r>
              <a:rPr lang="en-CA" sz="2000" spc="-20" dirty="0">
                <a:latin typeface="Arial MT"/>
                <a:cs typeface="Arial MT"/>
              </a:rPr>
              <a:t>$.63</a:t>
            </a:r>
            <a:endParaRPr lang="en-CA" sz="2000" dirty="0">
              <a:latin typeface="Arial MT"/>
              <a:cs typeface="Arial MT"/>
            </a:endParaRPr>
          </a:p>
          <a:p>
            <a:pPr marL="756285" lvl="1" indent="-286385">
              <a:spcBef>
                <a:spcPts val="1200"/>
              </a:spcBef>
              <a:buChar char="•"/>
              <a:tabLst>
                <a:tab pos="299085" algn="l"/>
              </a:tabLst>
            </a:pPr>
            <a:r>
              <a:rPr lang="en-CA" sz="2000" dirty="0">
                <a:latin typeface="Arial MT"/>
                <a:cs typeface="Arial MT"/>
              </a:rPr>
              <a:t>Fixed</a:t>
            </a:r>
            <a:r>
              <a:rPr lang="en-CA" sz="2000" spc="-50" dirty="0">
                <a:latin typeface="Arial MT"/>
                <a:cs typeface="Arial MT"/>
              </a:rPr>
              <a:t> </a:t>
            </a:r>
            <a:r>
              <a:rPr lang="en-CA" sz="2000" dirty="0">
                <a:latin typeface="Arial MT"/>
                <a:cs typeface="Arial MT"/>
              </a:rPr>
              <a:t>Manufacturing</a:t>
            </a:r>
            <a:r>
              <a:rPr lang="en-CA" sz="2000" spc="-85" dirty="0">
                <a:latin typeface="Arial MT"/>
                <a:cs typeface="Arial MT"/>
              </a:rPr>
              <a:t> </a:t>
            </a:r>
            <a:r>
              <a:rPr lang="en-CA" sz="2000" dirty="0">
                <a:latin typeface="Arial MT"/>
                <a:cs typeface="Arial MT"/>
              </a:rPr>
              <a:t>Overhead</a:t>
            </a:r>
            <a:r>
              <a:rPr lang="en-CA" sz="2000" spc="-85" dirty="0">
                <a:latin typeface="Arial MT"/>
                <a:cs typeface="Arial MT"/>
              </a:rPr>
              <a:t> </a:t>
            </a:r>
            <a:r>
              <a:rPr lang="en-CA" sz="2000" spc="-10" dirty="0">
                <a:latin typeface="Arial MT"/>
                <a:cs typeface="Arial MT"/>
              </a:rPr>
              <a:t>$4.30</a:t>
            </a:r>
            <a:endParaRPr lang="en-CA" sz="2000" dirty="0">
              <a:latin typeface="Arial MT"/>
              <a:cs typeface="Arial MT"/>
            </a:endParaRPr>
          </a:p>
          <a:p>
            <a:pPr marL="756285" lvl="1" indent="-286385">
              <a:spcBef>
                <a:spcPts val="1200"/>
              </a:spcBef>
              <a:buChar char="•"/>
              <a:tabLst>
                <a:tab pos="299085" algn="l"/>
              </a:tabLst>
            </a:pPr>
            <a:r>
              <a:rPr lang="en-CA" sz="2000" spc="-20" dirty="0">
                <a:latin typeface="Arial MT"/>
                <a:cs typeface="Arial MT"/>
              </a:rPr>
              <a:t>Variable</a:t>
            </a:r>
            <a:r>
              <a:rPr lang="en-CA" sz="2000" spc="-65" dirty="0">
                <a:latin typeface="Arial MT"/>
                <a:cs typeface="Arial MT"/>
              </a:rPr>
              <a:t> </a:t>
            </a:r>
            <a:r>
              <a:rPr lang="en-CA" sz="2000" dirty="0">
                <a:latin typeface="Arial MT"/>
                <a:cs typeface="Arial MT"/>
              </a:rPr>
              <a:t>Selling</a:t>
            </a:r>
            <a:r>
              <a:rPr lang="en-CA" sz="2000" spc="-35" dirty="0">
                <a:latin typeface="Arial MT"/>
                <a:cs typeface="Arial MT"/>
              </a:rPr>
              <a:t> </a:t>
            </a:r>
            <a:r>
              <a:rPr lang="en-CA" sz="2000" dirty="0">
                <a:latin typeface="Arial MT"/>
                <a:cs typeface="Arial MT"/>
              </a:rPr>
              <a:t>&amp;</a:t>
            </a:r>
            <a:r>
              <a:rPr lang="en-CA" sz="2000" spc="-140" dirty="0">
                <a:latin typeface="Arial MT"/>
                <a:cs typeface="Arial MT"/>
              </a:rPr>
              <a:t> </a:t>
            </a:r>
            <a:r>
              <a:rPr lang="en-CA" sz="2000" dirty="0">
                <a:latin typeface="Arial MT"/>
                <a:cs typeface="Arial MT"/>
              </a:rPr>
              <a:t>Administrative</a:t>
            </a:r>
            <a:r>
              <a:rPr lang="en-CA" sz="2000" spc="-50" dirty="0">
                <a:latin typeface="Arial MT"/>
                <a:cs typeface="Arial MT"/>
              </a:rPr>
              <a:t> </a:t>
            </a:r>
            <a:r>
              <a:rPr lang="en-CA" sz="2000" dirty="0">
                <a:latin typeface="Arial MT"/>
                <a:cs typeface="Arial MT"/>
              </a:rPr>
              <a:t>Expense</a:t>
            </a:r>
            <a:r>
              <a:rPr lang="en-CA" sz="2000" spc="-65" dirty="0">
                <a:latin typeface="Arial MT"/>
                <a:cs typeface="Arial MT"/>
              </a:rPr>
              <a:t> </a:t>
            </a:r>
            <a:r>
              <a:rPr lang="en-CA" sz="2000" spc="-20" dirty="0">
                <a:latin typeface="Arial MT"/>
                <a:cs typeface="Arial MT"/>
              </a:rPr>
              <a:t>$.45</a:t>
            </a:r>
            <a:endParaRPr lang="en-CA" sz="2000" dirty="0">
              <a:latin typeface="Arial MT"/>
              <a:cs typeface="Arial MT"/>
            </a:endParaRPr>
          </a:p>
          <a:p>
            <a:pPr marL="756285" lvl="1" indent="-286385">
              <a:spcBef>
                <a:spcPts val="1200"/>
              </a:spcBef>
              <a:buChar char="•"/>
              <a:tabLst>
                <a:tab pos="299085" algn="l"/>
              </a:tabLst>
            </a:pPr>
            <a:r>
              <a:rPr lang="en-CA" sz="2000" dirty="0">
                <a:latin typeface="Arial MT"/>
                <a:cs typeface="Arial MT"/>
              </a:rPr>
              <a:t>Fixed</a:t>
            </a:r>
            <a:r>
              <a:rPr lang="en-CA" sz="2000" spc="-40" dirty="0">
                <a:latin typeface="Arial MT"/>
                <a:cs typeface="Arial MT"/>
              </a:rPr>
              <a:t> </a:t>
            </a:r>
            <a:r>
              <a:rPr lang="en-CA" sz="2000" dirty="0">
                <a:latin typeface="Arial MT"/>
                <a:cs typeface="Arial MT"/>
              </a:rPr>
              <a:t>Selling</a:t>
            </a:r>
            <a:r>
              <a:rPr lang="en-CA" sz="2000" spc="-30" dirty="0">
                <a:latin typeface="Arial MT"/>
                <a:cs typeface="Arial MT"/>
              </a:rPr>
              <a:t> </a:t>
            </a:r>
            <a:r>
              <a:rPr lang="en-CA" sz="2000" dirty="0">
                <a:latin typeface="Arial MT"/>
                <a:cs typeface="Arial MT"/>
              </a:rPr>
              <a:t>&amp;</a:t>
            </a:r>
            <a:r>
              <a:rPr lang="en-CA" sz="2000" spc="-135" dirty="0">
                <a:latin typeface="Arial MT"/>
                <a:cs typeface="Arial MT"/>
              </a:rPr>
              <a:t> </a:t>
            </a:r>
            <a:r>
              <a:rPr lang="en-CA" sz="2000" dirty="0">
                <a:latin typeface="Arial MT"/>
                <a:cs typeface="Arial MT"/>
              </a:rPr>
              <a:t>Administrative</a:t>
            </a:r>
            <a:r>
              <a:rPr lang="en-CA" sz="2000" spc="-55" dirty="0">
                <a:latin typeface="Arial MT"/>
                <a:cs typeface="Arial MT"/>
              </a:rPr>
              <a:t> </a:t>
            </a:r>
            <a:r>
              <a:rPr lang="en-CA" sz="2000" dirty="0">
                <a:latin typeface="Arial MT"/>
                <a:cs typeface="Arial MT"/>
              </a:rPr>
              <a:t>Expense</a:t>
            </a:r>
            <a:r>
              <a:rPr lang="en-CA" sz="2000" spc="-50" dirty="0">
                <a:latin typeface="Arial MT"/>
                <a:cs typeface="Arial MT"/>
              </a:rPr>
              <a:t> </a:t>
            </a:r>
            <a:r>
              <a:rPr lang="en-CA" sz="2000" spc="-10" dirty="0">
                <a:latin typeface="Arial MT"/>
                <a:cs typeface="Arial MT"/>
              </a:rPr>
              <a:t>$1.68</a:t>
            </a:r>
          </a:p>
          <a:p>
            <a:pPr marL="299085" indent="-286385">
              <a:spcBef>
                <a:spcPts val="1200"/>
              </a:spcBef>
              <a:buFontTx/>
              <a:buChar char="•"/>
              <a:tabLst>
                <a:tab pos="299085" algn="l"/>
              </a:tabLst>
            </a:pPr>
            <a:r>
              <a:rPr lang="en-CA" sz="2000" dirty="0">
                <a:latin typeface="Arial MT"/>
                <a:cs typeface="Arial MT"/>
              </a:rPr>
              <a:t>The</a:t>
            </a:r>
            <a:r>
              <a:rPr lang="en-CA" sz="2000" spc="-30" dirty="0">
                <a:latin typeface="Arial MT"/>
                <a:cs typeface="Arial MT"/>
              </a:rPr>
              <a:t> </a:t>
            </a:r>
            <a:r>
              <a:rPr lang="en-CA" sz="2000" dirty="0">
                <a:latin typeface="Arial MT"/>
                <a:cs typeface="Arial MT"/>
              </a:rPr>
              <a:t>normal</a:t>
            </a:r>
            <a:r>
              <a:rPr lang="en-CA" sz="2000" spc="-30" dirty="0">
                <a:latin typeface="Arial MT"/>
                <a:cs typeface="Arial MT"/>
              </a:rPr>
              <a:t> </a:t>
            </a:r>
            <a:r>
              <a:rPr lang="en-CA" sz="2000" dirty="0">
                <a:latin typeface="Arial MT"/>
                <a:cs typeface="Arial MT"/>
              </a:rPr>
              <a:t>selling</a:t>
            </a:r>
            <a:r>
              <a:rPr lang="en-CA" sz="2000" spc="-25" dirty="0">
                <a:latin typeface="Arial MT"/>
                <a:cs typeface="Arial MT"/>
              </a:rPr>
              <a:t> </a:t>
            </a:r>
            <a:r>
              <a:rPr lang="en-CA" sz="2000" dirty="0">
                <a:latin typeface="Arial MT"/>
                <a:cs typeface="Arial MT"/>
              </a:rPr>
              <a:t>price</a:t>
            </a:r>
            <a:r>
              <a:rPr lang="en-CA" sz="2000" spc="-30" dirty="0">
                <a:latin typeface="Arial MT"/>
                <a:cs typeface="Arial MT"/>
              </a:rPr>
              <a:t> </a:t>
            </a:r>
            <a:r>
              <a:rPr lang="en-CA" sz="2000" dirty="0">
                <a:latin typeface="Arial MT"/>
                <a:cs typeface="Arial MT"/>
              </a:rPr>
              <a:t>of</a:t>
            </a:r>
            <a:r>
              <a:rPr lang="en-CA" sz="2000" spc="-30" dirty="0">
                <a:latin typeface="Arial MT"/>
                <a:cs typeface="Arial MT"/>
              </a:rPr>
              <a:t> </a:t>
            </a:r>
            <a:r>
              <a:rPr lang="en-CA" sz="2000" dirty="0">
                <a:latin typeface="Arial MT"/>
                <a:cs typeface="Arial MT"/>
              </a:rPr>
              <a:t>a</a:t>
            </a:r>
            <a:r>
              <a:rPr lang="en-CA" sz="2000" spc="-10" dirty="0">
                <a:latin typeface="Arial MT"/>
                <a:cs typeface="Arial MT"/>
              </a:rPr>
              <a:t> </a:t>
            </a:r>
            <a:r>
              <a:rPr lang="en-CA" sz="2000" dirty="0">
                <a:latin typeface="Arial MT"/>
                <a:cs typeface="Arial MT"/>
              </a:rPr>
              <a:t>cake</a:t>
            </a:r>
            <a:r>
              <a:rPr lang="en-CA" sz="2000" spc="-55" dirty="0">
                <a:latin typeface="Arial MT"/>
                <a:cs typeface="Arial MT"/>
              </a:rPr>
              <a:t> </a:t>
            </a:r>
            <a:r>
              <a:rPr lang="en-CA" sz="2000" dirty="0">
                <a:latin typeface="Arial MT"/>
                <a:cs typeface="Arial MT"/>
              </a:rPr>
              <a:t>is</a:t>
            </a:r>
            <a:r>
              <a:rPr lang="en-CA" sz="2000" spc="-10" dirty="0">
                <a:latin typeface="Arial MT"/>
                <a:cs typeface="Arial MT"/>
              </a:rPr>
              <a:t> </a:t>
            </a:r>
            <a:r>
              <a:rPr lang="en-CA" sz="2000" dirty="0">
                <a:latin typeface="Arial MT"/>
                <a:cs typeface="Arial MT"/>
              </a:rPr>
              <a:t>$20</a:t>
            </a:r>
            <a:r>
              <a:rPr lang="en-CA" sz="2000" spc="-25" dirty="0">
                <a:latin typeface="Arial MT"/>
                <a:cs typeface="Arial MT"/>
              </a:rPr>
              <a:t> </a:t>
            </a:r>
            <a:r>
              <a:rPr lang="en-CA" sz="2000" dirty="0">
                <a:latin typeface="Arial MT"/>
                <a:cs typeface="Arial MT"/>
              </a:rPr>
              <a:t>per</a:t>
            </a:r>
            <a:r>
              <a:rPr lang="en-CA" sz="2000" spc="-30" dirty="0">
                <a:latin typeface="Arial MT"/>
                <a:cs typeface="Arial MT"/>
              </a:rPr>
              <a:t> </a:t>
            </a:r>
            <a:r>
              <a:rPr lang="en-CA" sz="2000" spc="-10" dirty="0">
                <a:latin typeface="Arial MT"/>
                <a:cs typeface="Arial MT"/>
              </a:rPr>
              <a:t>unit.</a:t>
            </a:r>
            <a:endParaRPr lang="en-CA" sz="2000" dirty="0">
              <a:latin typeface="Arial MT"/>
              <a:cs typeface="Arial MT"/>
            </a:endParaRPr>
          </a:p>
        </p:txBody>
      </p:sp>
      <p:sp>
        <p:nvSpPr>
          <p:cNvPr id="6" name="object 6"/>
          <p:cNvSpPr txBox="1"/>
          <p:nvPr/>
        </p:nvSpPr>
        <p:spPr>
          <a:xfrm>
            <a:off x="7392144" y="3933056"/>
            <a:ext cx="3883660" cy="830580"/>
          </a:xfrm>
          <a:prstGeom prst="rect">
            <a:avLst/>
          </a:prstGeom>
          <a:ln w="38100">
            <a:solidFill>
              <a:srgbClr val="0070C0"/>
            </a:solidFill>
          </a:ln>
        </p:spPr>
        <p:txBody>
          <a:bodyPr vert="horz" wrap="square" lIns="0" tIns="38100" rIns="0" bIns="0" rtlCol="0">
            <a:spAutoFit/>
          </a:bodyPr>
          <a:lstStyle/>
          <a:p>
            <a:pPr marL="1238885" marR="649605" indent="-582295">
              <a:lnSpc>
                <a:spcPct val="100000"/>
              </a:lnSpc>
              <a:spcBef>
                <a:spcPts val="300"/>
              </a:spcBef>
            </a:pPr>
            <a:r>
              <a:rPr sz="2400" dirty="0">
                <a:latin typeface="Arial MT"/>
                <a:cs typeface="Arial MT"/>
              </a:rPr>
              <a:t>Should</a:t>
            </a:r>
            <a:r>
              <a:rPr sz="2400" spc="-60" dirty="0">
                <a:latin typeface="Arial MT"/>
                <a:cs typeface="Arial MT"/>
              </a:rPr>
              <a:t> </a:t>
            </a:r>
            <a:r>
              <a:rPr sz="2400" dirty="0">
                <a:latin typeface="Arial MT"/>
                <a:cs typeface="Arial MT"/>
              </a:rPr>
              <a:t>the</a:t>
            </a:r>
            <a:r>
              <a:rPr sz="2400" spc="-70" dirty="0">
                <a:latin typeface="Arial MT"/>
                <a:cs typeface="Arial MT"/>
              </a:rPr>
              <a:t> </a:t>
            </a:r>
            <a:r>
              <a:rPr sz="2400" dirty="0">
                <a:latin typeface="Arial MT"/>
                <a:cs typeface="Arial MT"/>
              </a:rPr>
              <a:t>offer</a:t>
            </a:r>
            <a:r>
              <a:rPr sz="2400" spc="-70" dirty="0">
                <a:latin typeface="Arial MT"/>
                <a:cs typeface="Arial MT"/>
              </a:rPr>
              <a:t> </a:t>
            </a:r>
            <a:r>
              <a:rPr sz="2400" spc="-25" dirty="0">
                <a:latin typeface="Arial MT"/>
                <a:cs typeface="Arial MT"/>
              </a:rPr>
              <a:t>be </a:t>
            </a:r>
            <a:r>
              <a:rPr sz="2400" spc="-10" dirty="0">
                <a:latin typeface="Arial MT"/>
                <a:cs typeface="Arial MT"/>
              </a:rPr>
              <a:t>accepted?</a:t>
            </a:r>
            <a:endParaRPr sz="2400" dirty="0">
              <a:latin typeface="Arial MT"/>
              <a:cs typeface="Arial MT"/>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73</a:t>
            </a:fld>
            <a:endParaRPr spc="-25" dirty="0"/>
          </a:p>
        </p:txBody>
      </p:sp>
      <p:sp>
        <p:nvSpPr>
          <p:cNvPr id="11" name="Subtitle 10">
            <a:extLst>
              <a:ext uri="{FF2B5EF4-FFF2-40B4-BE49-F238E27FC236}">
                <a16:creationId xmlns:a16="http://schemas.microsoft.com/office/drawing/2014/main" id="{E569613E-3E3D-C97A-5E1C-7247EA3CA406}"/>
              </a:ext>
            </a:extLst>
          </p:cNvPr>
          <p:cNvSpPr>
            <a:spLocks noGrp="1"/>
          </p:cNvSpPr>
          <p:nvPr>
            <p:ph type="subTitle" idx="1"/>
          </p:nvPr>
        </p:nvSpPr>
        <p:spPr/>
        <p:txBody>
          <a:bodyPr/>
          <a:lstStyle/>
          <a:p>
            <a:r>
              <a:rPr lang="en-CA" dirty="0"/>
              <a:t>Application Example #2: Special Order with Constraints</a:t>
            </a:r>
          </a:p>
        </p:txBody>
      </p:sp>
      <p:sp>
        <p:nvSpPr>
          <p:cNvPr id="3" name="object 3"/>
          <p:cNvSpPr txBox="1"/>
          <p:nvPr/>
        </p:nvSpPr>
        <p:spPr>
          <a:xfrm>
            <a:off x="487422" y="664347"/>
            <a:ext cx="10193861" cy="5793894"/>
          </a:xfrm>
          <a:prstGeom prst="rect">
            <a:avLst/>
          </a:prstGeom>
        </p:spPr>
        <p:txBody>
          <a:bodyPr vert="horz" wrap="square" lIns="0" tIns="12700" rIns="0" bIns="0" rtlCol="0">
            <a:spAutoFit/>
          </a:bodyPr>
          <a:lstStyle/>
          <a:p>
            <a:pPr marL="12700">
              <a:lnSpc>
                <a:spcPct val="100000"/>
              </a:lnSpc>
              <a:spcBef>
                <a:spcPts val="100"/>
              </a:spcBef>
            </a:pPr>
            <a:r>
              <a:rPr sz="2400" b="1" dirty="0">
                <a:latin typeface="Arial" panose="020B0604020202020204" pitchFamily="34" charset="0"/>
                <a:cs typeface="Arial" panose="020B0604020202020204" pitchFamily="34" charset="0"/>
              </a:rPr>
              <a:t>Incremental</a:t>
            </a:r>
            <a:r>
              <a:rPr sz="2400" b="1" spc="-60" dirty="0">
                <a:latin typeface="Arial" panose="020B0604020202020204" pitchFamily="34" charset="0"/>
                <a:cs typeface="Arial" panose="020B0604020202020204" pitchFamily="34" charset="0"/>
              </a:rPr>
              <a:t> </a:t>
            </a:r>
            <a:r>
              <a:rPr sz="2400" b="1" dirty="0">
                <a:latin typeface="Arial" panose="020B0604020202020204" pitchFamily="34" charset="0"/>
                <a:cs typeface="Arial" panose="020B0604020202020204" pitchFamily="34" charset="0"/>
              </a:rPr>
              <a:t>Contribution</a:t>
            </a:r>
            <a:r>
              <a:rPr sz="2400" b="1" spc="-45" dirty="0">
                <a:latin typeface="Arial" panose="020B0604020202020204" pitchFamily="34" charset="0"/>
                <a:cs typeface="Arial" panose="020B0604020202020204" pitchFamily="34" charset="0"/>
              </a:rPr>
              <a:t> </a:t>
            </a:r>
            <a:r>
              <a:rPr sz="2400" b="1" spc="-10" dirty="0">
                <a:latin typeface="Arial" panose="020B0604020202020204" pitchFamily="34" charset="0"/>
                <a:cs typeface="Arial" panose="020B0604020202020204" pitchFamily="34" charset="0"/>
              </a:rPr>
              <a:t>Margin</a:t>
            </a:r>
            <a:endParaRPr lang="en-CA" sz="2400" b="1" spc="-10" dirty="0">
              <a:latin typeface="Arial" panose="020B0604020202020204" pitchFamily="34" charset="0"/>
              <a:cs typeface="Arial" panose="020B0604020202020204" pitchFamily="34" charset="0"/>
            </a:endParaRPr>
          </a:p>
          <a:p>
            <a:pPr marL="12700">
              <a:lnSpc>
                <a:spcPct val="100000"/>
              </a:lnSpc>
              <a:spcBef>
                <a:spcPts val="1300"/>
              </a:spcBef>
            </a:pPr>
            <a:r>
              <a:rPr lang="en-CA" sz="2000" b="1" u="sng" spc="-25" dirty="0">
                <a:uFill>
                  <a:solidFill>
                    <a:srgbClr val="000000"/>
                  </a:solidFill>
                </a:uFill>
                <a:latin typeface="Arial" panose="020B0604020202020204" pitchFamily="34" charset="0"/>
                <a:cs typeface="Arial" panose="020B0604020202020204" pitchFamily="34" charset="0"/>
              </a:rPr>
              <a:t>CM</a:t>
            </a:r>
            <a:r>
              <a:rPr lang="en-CA" sz="2000" b="1" spc="-25" dirty="0">
                <a:uFill>
                  <a:solidFill>
                    <a:srgbClr val="000000"/>
                  </a:solidFill>
                </a:uFill>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t>
            </a:r>
            <a:r>
              <a:rPr lang="en-CA" sz="2000" spc="-1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(Sales –VC)</a:t>
            </a:r>
            <a:r>
              <a:rPr lang="en-CA" sz="2000" spc="-1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t>
            </a:r>
            <a:r>
              <a:rPr lang="en-CA" sz="2000" spc="-1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t>
            </a:r>
            <a:r>
              <a:rPr lang="en-CA" sz="2000" spc="-1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of</a:t>
            </a:r>
            <a:r>
              <a:rPr lang="en-CA" sz="2000" spc="-10" dirty="0">
                <a:latin typeface="Arial" panose="020B0604020202020204" pitchFamily="34" charset="0"/>
                <a:cs typeface="Arial" panose="020B0604020202020204" pitchFamily="34" charset="0"/>
              </a:rPr>
              <a:t> </a:t>
            </a:r>
            <a:r>
              <a:rPr lang="en-CA" sz="2000" spc="-20" dirty="0">
                <a:latin typeface="Arial" panose="020B0604020202020204" pitchFamily="34" charset="0"/>
                <a:cs typeface="Arial" panose="020B0604020202020204" pitchFamily="34" charset="0"/>
              </a:rPr>
              <a:t>Units</a:t>
            </a:r>
            <a:endParaRPr lang="en-CA" sz="2000" dirty="0">
              <a:latin typeface="Arial" panose="020B0604020202020204" pitchFamily="34" charset="0"/>
              <a:cs typeface="Arial" panose="020B0604020202020204" pitchFamily="34" charset="0"/>
            </a:endParaRPr>
          </a:p>
          <a:p>
            <a:pPr marL="12700">
              <a:lnSpc>
                <a:spcPct val="100000"/>
              </a:lnSpc>
              <a:spcBef>
                <a:spcPts val="1200"/>
              </a:spcBef>
            </a:pPr>
            <a:r>
              <a:rPr lang="en-CA" sz="2000" dirty="0">
                <a:latin typeface="Arial" panose="020B0604020202020204" pitchFamily="34" charset="0"/>
                <a:cs typeface="Arial" panose="020B0604020202020204" pitchFamily="34" charset="0"/>
              </a:rPr>
              <a:t>	=</a:t>
            </a:r>
            <a:r>
              <a:rPr lang="en-CA" sz="2000" spc="-1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($12.50</a:t>
            </a:r>
            <a:r>
              <a:rPr lang="en-CA" sz="2000" spc="5" dirty="0">
                <a:latin typeface="Arial" panose="020B0604020202020204" pitchFamily="34" charset="0"/>
                <a:cs typeface="Arial" panose="020B0604020202020204" pitchFamily="34" charset="0"/>
              </a:rPr>
              <a:t> </a:t>
            </a:r>
            <a:r>
              <a:rPr lang="en-CA" sz="2000" spc="-10" dirty="0">
                <a:latin typeface="Arial" panose="020B0604020202020204" pitchFamily="34" charset="0"/>
                <a:cs typeface="Arial" panose="020B0604020202020204" pitchFamily="34" charset="0"/>
              </a:rPr>
              <a:t>-</a:t>
            </a:r>
            <a:r>
              <a:rPr lang="en-CA" sz="2000" dirty="0">
                <a:latin typeface="Arial" panose="020B0604020202020204" pitchFamily="34" charset="0"/>
                <a:cs typeface="Arial" panose="020B0604020202020204" pitchFamily="34" charset="0"/>
              </a:rPr>
              <a:t>$7.40 </a:t>
            </a:r>
            <a:r>
              <a:rPr lang="en-CA" sz="2000" spc="-10" dirty="0">
                <a:latin typeface="Arial" panose="020B0604020202020204" pitchFamily="34" charset="0"/>
                <a:cs typeface="Arial" panose="020B0604020202020204" pitchFamily="34" charset="0"/>
              </a:rPr>
              <a:t>-</a:t>
            </a:r>
            <a:r>
              <a:rPr lang="en-CA" sz="2000" dirty="0">
                <a:latin typeface="Arial" panose="020B0604020202020204" pitchFamily="34" charset="0"/>
                <a:cs typeface="Arial" panose="020B0604020202020204" pitchFamily="34" charset="0"/>
              </a:rPr>
              <a:t>$1.45 </a:t>
            </a:r>
            <a:r>
              <a:rPr lang="en-CA" sz="2000" spc="-10" dirty="0">
                <a:latin typeface="Arial" panose="020B0604020202020204" pitchFamily="34" charset="0"/>
                <a:cs typeface="Arial" panose="020B0604020202020204" pitchFamily="34" charset="0"/>
              </a:rPr>
              <a:t>-</a:t>
            </a:r>
            <a:r>
              <a:rPr lang="en-CA" sz="2000" dirty="0">
                <a:latin typeface="Arial" panose="020B0604020202020204" pitchFamily="34" charset="0"/>
                <a:cs typeface="Arial" panose="020B0604020202020204" pitchFamily="34" charset="0"/>
              </a:rPr>
              <a:t>$.63</a:t>
            </a:r>
            <a:r>
              <a:rPr lang="en-CA" sz="2000" spc="-1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$.45)</a:t>
            </a:r>
            <a:r>
              <a:rPr lang="en-CA" sz="2000" spc="-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t>
            </a:r>
            <a:r>
              <a:rPr lang="en-CA" sz="2000" spc="-5" dirty="0">
                <a:latin typeface="Arial" panose="020B0604020202020204" pitchFamily="34" charset="0"/>
                <a:cs typeface="Arial" panose="020B0604020202020204" pitchFamily="34" charset="0"/>
              </a:rPr>
              <a:t> </a:t>
            </a:r>
            <a:r>
              <a:rPr lang="en-CA" sz="2000" spc="-25" dirty="0">
                <a:latin typeface="Arial" panose="020B0604020202020204" pitchFamily="34" charset="0"/>
                <a:cs typeface="Arial" panose="020B0604020202020204" pitchFamily="34" charset="0"/>
              </a:rPr>
              <a:t>200</a:t>
            </a:r>
            <a:endParaRPr lang="en-CA" sz="2000" dirty="0">
              <a:latin typeface="Arial" panose="020B0604020202020204" pitchFamily="34" charset="0"/>
              <a:cs typeface="Arial" panose="020B0604020202020204" pitchFamily="34" charset="0"/>
            </a:endParaRPr>
          </a:p>
          <a:p>
            <a:pPr marL="12700">
              <a:lnSpc>
                <a:spcPct val="100000"/>
              </a:lnSpc>
              <a:spcBef>
                <a:spcPts val="1200"/>
              </a:spcBef>
            </a:pPr>
            <a:r>
              <a:rPr lang="en-CA" sz="2000" dirty="0">
                <a:latin typeface="Arial" panose="020B0604020202020204" pitchFamily="34" charset="0"/>
                <a:cs typeface="Arial" panose="020B0604020202020204" pitchFamily="34" charset="0"/>
              </a:rPr>
              <a:t>	= </a:t>
            </a:r>
            <a:r>
              <a:rPr lang="en-CA" sz="2000" spc="-10" dirty="0">
                <a:latin typeface="Arial" panose="020B0604020202020204" pitchFamily="34" charset="0"/>
                <a:cs typeface="Arial" panose="020B0604020202020204" pitchFamily="34" charset="0"/>
              </a:rPr>
              <a:t>$2.57*200</a:t>
            </a:r>
            <a:endParaRPr lang="en-CA" sz="2000" dirty="0">
              <a:latin typeface="Arial" panose="020B0604020202020204" pitchFamily="34" charset="0"/>
              <a:cs typeface="Arial" panose="020B0604020202020204" pitchFamily="34" charset="0"/>
            </a:endParaRPr>
          </a:p>
          <a:p>
            <a:pPr marL="12700">
              <a:lnSpc>
                <a:spcPct val="100000"/>
              </a:lnSpc>
              <a:spcBef>
                <a:spcPts val="1200"/>
              </a:spcBef>
            </a:pPr>
            <a:r>
              <a:rPr lang="en-CA" sz="2000" dirty="0">
                <a:latin typeface="Arial" panose="020B0604020202020204" pitchFamily="34" charset="0"/>
                <a:cs typeface="Arial" panose="020B0604020202020204" pitchFamily="34" charset="0"/>
              </a:rPr>
              <a:t>	=</a:t>
            </a:r>
            <a:r>
              <a:rPr lang="en-CA" sz="2000" spc="-5" dirty="0">
                <a:latin typeface="Arial" panose="020B0604020202020204" pitchFamily="34" charset="0"/>
                <a:cs typeface="Arial" panose="020B0604020202020204" pitchFamily="34" charset="0"/>
              </a:rPr>
              <a:t> </a:t>
            </a:r>
            <a:r>
              <a:rPr lang="en-CA" sz="2000" spc="-20" dirty="0">
                <a:latin typeface="Arial" panose="020B0604020202020204" pitchFamily="34" charset="0"/>
                <a:cs typeface="Arial" panose="020B0604020202020204" pitchFamily="34" charset="0"/>
              </a:rPr>
              <a:t>$514</a:t>
            </a:r>
          </a:p>
          <a:p>
            <a:pPr marL="12700">
              <a:spcBef>
                <a:spcPts val="1200"/>
              </a:spcBef>
            </a:pPr>
            <a:r>
              <a:rPr lang="en-CA" sz="2000" dirty="0">
                <a:latin typeface="Arial" panose="020B0604020202020204" pitchFamily="34" charset="0"/>
                <a:cs typeface="Arial" panose="020B0604020202020204" pitchFamily="34" charset="0"/>
              </a:rPr>
              <a:t>Suppose</a:t>
            </a:r>
            <a:r>
              <a:rPr lang="en-CA" sz="2000" spc="-2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Dineen</a:t>
            </a:r>
            <a:r>
              <a:rPr lang="en-CA" sz="2000" spc="-1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is</a:t>
            </a:r>
            <a:r>
              <a:rPr lang="en-CA" sz="2000" spc="-2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already</a:t>
            </a:r>
            <a:r>
              <a:rPr lang="en-CA" sz="2000" spc="-2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booked</a:t>
            </a:r>
            <a:r>
              <a:rPr lang="en-CA" sz="2000" spc="-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for</a:t>
            </a:r>
            <a:r>
              <a:rPr lang="en-CA" sz="2000" spc="-3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the</a:t>
            </a:r>
            <a:r>
              <a:rPr lang="en-CA" sz="2000" spc="-3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weekend.</a:t>
            </a:r>
            <a:r>
              <a:rPr lang="en-CA" sz="2000" spc="3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What</a:t>
            </a:r>
            <a:r>
              <a:rPr lang="en-CA" sz="2000" spc="-3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would</a:t>
            </a:r>
            <a:r>
              <a:rPr lang="en-CA" sz="2000" spc="2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be</a:t>
            </a:r>
            <a:r>
              <a:rPr lang="en-CA" sz="2000" spc="-3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the</a:t>
            </a:r>
            <a:r>
              <a:rPr lang="en-CA" sz="2000" spc="-3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opportunity</a:t>
            </a:r>
            <a:r>
              <a:rPr lang="en-CA" sz="2000" spc="-1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cost</a:t>
            </a:r>
            <a:r>
              <a:rPr lang="en-CA" sz="2000" spc="-2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of</a:t>
            </a:r>
            <a:r>
              <a:rPr lang="en-CA" sz="2000" spc="-2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the</a:t>
            </a:r>
            <a:r>
              <a:rPr lang="en-CA" sz="2000" spc="-35" dirty="0">
                <a:latin typeface="Arial" panose="020B0604020202020204" pitchFamily="34" charset="0"/>
                <a:cs typeface="Arial" panose="020B0604020202020204" pitchFamily="34" charset="0"/>
              </a:rPr>
              <a:t> </a:t>
            </a:r>
            <a:r>
              <a:rPr lang="en-CA" sz="2000" spc="-10" dirty="0">
                <a:latin typeface="Arial" panose="020B0604020202020204" pitchFamily="34" charset="0"/>
                <a:cs typeface="Arial" panose="020B0604020202020204" pitchFamily="34" charset="0"/>
              </a:rPr>
              <a:t>cakes?</a:t>
            </a:r>
          </a:p>
          <a:p>
            <a:pPr marL="12700">
              <a:spcBef>
                <a:spcPts val="1200"/>
              </a:spcBef>
            </a:pPr>
            <a:endParaRPr lang="en-CA" sz="2000" spc="-10" dirty="0">
              <a:latin typeface="Arial" panose="020B0604020202020204" pitchFamily="34" charset="0"/>
              <a:cs typeface="Arial" panose="020B0604020202020204" pitchFamily="34" charset="0"/>
            </a:endParaRPr>
          </a:p>
          <a:p>
            <a:pPr marL="12700">
              <a:lnSpc>
                <a:spcPct val="100000"/>
              </a:lnSpc>
              <a:spcBef>
                <a:spcPts val="1305"/>
              </a:spcBef>
            </a:pPr>
            <a:r>
              <a:rPr lang="en-CA" sz="2000" b="1" u="sng" dirty="0">
                <a:uFill>
                  <a:solidFill>
                    <a:srgbClr val="000000"/>
                  </a:solidFill>
                </a:uFill>
                <a:latin typeface="Arial" panose="020B0604020202020204" pitchFamily="34" charset="0"/>
                <a:cs typeface="Arial" panose="020B0604020202020204" pitchFamily="34" charset="0"/>
              </a:rPr>
              <a:t>Opportunity</a:t>
            </a:r>
            <a:r>
              <a:rPr lang="en-CA" sz="2000" b="1" u="sng" spc="-30" dirty="0">
                <a:uFill>
                  <a:solidFill>
                    <a:srgbClr val="000000"/>
                  </a:solidFill>
                </a:uFill>
                <a:latin typeface="Arial" panose="020B0604020202020204" pitchFamily="34" charset="0"/>
                <a:cs typeface="Arial" panose="020B0604020202020204" pitchFamily="34" charset="0"/>
              </a:rPr>
              <a:t> </a:t>
            </a:r>
            <a:r>
              <a:rPr lang="en-CA" sz="2000" b="1" u="sng" spc="-20" dirty="0">
                <a:uFill>
                  <a:solidFill>
                    <a:srgbClr val="000000"/>
                  </a:solidFill>
                </a:uFill>
                <a:latin typeface="Arial" panose="020B0604020202020204" pitchFamily="34" charset="0"/>
                <a:cs typeface="Arial" panose="020B0604020202020204" pitchFamily="34" charset="0"/>
              </a:rPr>
              <a:t>Cost</a:t>
            </a:r>
            <a:r>
              <a:rPr lang="en-CA" sz="2000" b="1" u="sng" spc="500" dirty="0">
                <a:uFill>
                  <a:solidFill>
                    <a:srgbClr val="000000"/>
                  </a:solidFill>
                </a:uFill>
                <a:latin typeface="Arial" panose="020B0604020202020204" pitchFamily="34" charset="0"/>
                <a:cs typeface="Arial" panose="020B0604020202020204" pitchFamily="34" charset="0"/>
              </a:rPr>
              <a:t> </a:t>
            </a:r>
            <a:r>
              <a:rPr lang="en-CA" sz="2000" b="1" spc="500" dirty="0">
                <a:uFill>
                  <a:solidFill>
                    <a:srgbClr val="000000"/>
                  </a:solidFill>
                </a:uFill>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t>
            </a:r>
            <a:r>
              <a:rPr lang="en-CA" sz="2000" spc="-2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Lost</a:t>
            </a:r>
            <a:r>
              <a:rPr lang="en-CA" sz="2000" spc="-1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CM</a:t>
            </a:r>
            <a:r>
              <a:rPr lang="en-CA" sz="2000" spc="-1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of</a:t>
            </a:r>
            <a:r>
              <a:rPr lang="en-CA" sz="2000" spc="-1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Normal</a:t>
            </a:r>
            <a:r>
              <a:rPr lang="en-CA" sz="2000" spc="-10" dirty="0">
                <a:latin typeface="Arial" panose="020B0604020202020204" pitchFamily="34" charset="0"/>
                <a:cs typeface="Arial" panose="020B0604020202020204" pitchFamily="34" charset="0"/>
              </a:rPr>
              <a:t> </a:t>
            </a:r>
            <a:r>
              <a:rPr lang="en-CA" sz="2000" spc="-20" dirty="0">
                <a:latin typeface="Arial" panose="020B0604020202020204" pitchFamily="34" charset="0"/>
                <a:cs typeface="Arial" panose="020B0604020202020204" pitchFamily="34" charset="0"/>
              </a:rPr>
              <a:t>Cakes</a:t>
            </a:r>
            <a:endParaRPr lang="en-CA" sz="2000" dirty="0">
              <a:latin typeface="Arial" panose="020B0604020202020204" pitchFamily="34" charset="0"/>
              <a:cs typeface="Arial" panose="020B0604020202020204" pitchFamily="34" charset="0"/>
            </a:endParaRPr>
          </a:p>
          <a:p>
            <a:pPr marL="12700">
              <a:lnSpc>
                <a:spcPct val="100000"/>
              </a:lnSpc>
              <a:spcBef>
                <a:spcPts val="1200"/>
              </a:spcBef>
            </a:pPr>
            <a:r>
              <a:rPr lang="en-CA" sz="2000" dirty="0">
                <a:latin typeface="Arial" panose="020B0604020202020204" pitchFamily="34" charset="0"/>
                <a:cs typeface="Arial" panose="020B0604020202020204" pitchFamily="34" charset="0"/>
              </a:rPr>
              <a:t>			=</a:t>
            </a:r>
            <a:r>
              <a:rPr lang="en-CA" sz="2000" spc="-2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(Sales</a:t>
            </a:r>
            <a:r>
              <a:rPr lang="en-CA" sz="2000" spc="-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–VC)</a:t>
            </a:r>
            <a:r>
              <a:rPr lang="en-CA" sz="2000" spc="-1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t>
            </a:r>
            <a:r>
              <a:rPr lang="en-CA" sz="2000" spc="-1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t>
            </a:r>
            <a:r>
              <a:rPr lang="en-CA" sz="2000" spc="-1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of</a:t>
            </a:r>
            <a:r>
              <a:rPr lang="en-CA" sz="2000" spc="-10" dirty="0">
                <a:latin typeface="Arial" panose="020B0604020202020204" pitchFamily="34" charset="0"/>
                <a:cs typeface="Arial" panose="020B0604020202020204" pitchFamily="34" charset="0"/>
              </a:rPr>
              <a:t> Units</a:t>
            </a:r>
            <a:endParaRPr lang="en-CA" sz="2000" dirty="0">
              <a:latin typeface="Arial" panose="020B0604020202020204" pitchFamily="34" charset="0"/>
              <a:cs typeface="Arial" panose="020B0604020202020204" pitchFamily="34" charset="0"/>
            </a:endParaRPr>
          </a:p>
          <a:p>
            <a:pPr marL="12700">
              <a:lnSpc>
                <a:spcPct val="100000"/>
              </a:lnSpc>
              <a:spcBef>
                <a:spcPts val="1200"/>
              </a:spcBef>
            </a:pPr>
            <a:r>
              <a:rPr lang="en-CA" sz="2000" dirty="0">
                <a:latin typeface="Arial" panose="020B0604020202020204" pitchFamily="34" charset="0"/>
                <a:cs typeface="Arial" panose="020B0604020202020204" pitchFamily="34" charset="0"/>
              </a:rPr>
              <a:t>			=</a:t>
            </a:r>
            <a:r>
              <a:rPr lang="en-CA" sz="2000" spc="-5" dirty="0">
                <a:latin typeface="Arial" panose="020B0604020202020204" pitchFamily="34" charset="0"/>
                <a:cs typeface="Arial" panose="020B0604020202020204" pitchFamily="34" charset="0"/>
              </a:rPr>
              <a:t> </a:t>
            </a:r>
            <a:r>
              <a:rPr lang="en-CA" sz="2000" spc="-10" dirty="0">
                <a:latin typeface="Arial" panose="020B0604020202020204" pitchFamily="34" charset="0"/>
                <a:cs typeface="Arial" panose="020B0604020202020204" pitchFamily="34" charset="0"/>
              </a:rPr>
              <a:t>($20-</a:t>
            </a:r>
            <a:r>
              <a:rPr lang="en-CA" sz="2000" dirty="0">
                <a:latin typeface="Arial" panose="020B0604020202020204" pitchFamily="34" charset="0"/>
                <a:cs typeface="Arial" panose="020B0604020202020204" pitchFamily="34" charset="0"/>
              </a:rPr>
              <a:t>$7.40</a:t>
            </a:r>
            <a:r>
              <a:rPr lang="en-CA" sz="2000" spc="20" dirty="0">
                <a:latin typeface="Arial" panose="020B0604020202020204" pitchFamily="34" charset="0"/>
                <a:cs typeface="Arial" panose="020B0604020202020204" pitchFamily="34" charset="0"/>
              </a:rPr>
              <a:t> </a:t>
            </a:r>
            <a:r>
              <a:rPr lang="en-CA" sz="2000" spc="-10" dirty="0">
                <a:latin typeface="Arial" panose="020B0604020202020204" pitchFamily="34" charset="0"/>
                <a:cs typeface="Arial" panose="020B0604020202020204" pitchFamily="34" charset="0"/>
              </a:rPr>
              <a:t>-</a:t>
            </a:r>
            <a:r>
              <a:rPr lang="en-CA" sz="2000" dirty="0">
                <a:latin typeface="Arial" panose="020B0604020202020204" pitchFamily="34" charset="0"/>
                <a:cs typeface="Arial" panose="020B0604020202020204" pitchFamily="34" charset="0"/>
              </a:rPr>
              <a:t>$1.45</a:t>
            </a:r>
            <a:r>
              <a:rPr lang="en-CA" sz="2000" spc="5" dirty="0">
                <a:latin typeface="Arial" panose="020B0604020202020204" pitchFamily="34" charset="0"/>
                <a:cs typeface="Arial" panose="020B0604020202020204" pitchFamily="34" charset="0"/>
              </a:rPr>
              <a:t> </a:t>
            </a:r>
            <a:r>
              <a:rPr lang="en-CA" sz="2000" spc="-10" dirty="0">
                <a:latin typeface="Arial" panose="020B0604020202020204" pitchFamily="34" charset="0"/>
                <a:cs typeface="Arial" panose="020B0604020202020204" pitchFamily="34" charset="0"/>
              </a:rPr>
              <a:t>-</a:t>
            </a:r>
            <a:r>
              <a:rPr lang="en-CA" sz="2000" dirty="0">
                <a:latin typeface="Arial" panose="020B0604020202020204" pitchFamily="34" charset="0"/>
                <a:cs typeface="Arial" panose="020B0604020202020204" pitchFamily="34" charset="0"/>
              </a:rPr>
              <a:t>$.63 </a:t>
            </a:r>
            <a:r>
              <a:rPr lang="en-CA" sz="2000" spc="-10" dirty="0">
                <a:latin typeface="Arial" panose="020B0604020202020204" pitchFamily="34" charset="0"/>
                <a:cs typeface="Arial" panose="020B0604020202020204" pitchFamily="34" charset="0"/>
              </a:rPr>
              <a:t>-</a:t>
            </a:r>
            <a:r>
              <a:rPr lang="en-CA" sz="2000" dirty="0">
                <a:latin typeface="Arial" panose="020B0604020202020204" pitchFamily="34" charset="0"/>
                <a:cs typeface="Arial" panose="020B0604020202020204" pitchFamily="34" charset="0"/>
              </a:rPr>
              <a:t>$.45) * </a:t>
            </a:r>
            <a:r>
              <a:rPr lang="en-CA" sz="2000" spc="-25" dirty="0">
                <a:latin typeface="Arial" panose="020B0604020202020204" pitchFamily="34" charset="0"/>
                <a:cs typeface="Arial" panose="020B0604020202020204" pitchFamily="34" charset="0"/>
              </a:rPr>
              <a:t>200</a:t>
            </a:r>
            <a:endParaRPr lang="en-CA" sz="2000" dirty="0">
              <a:latin typeface="Arial" panose="020B0604020202020204" pitchFamily="34" charset="0"/>
              <a:cs typeface="Arial" panose="020B0604020202020204" pitchFamily="34" charset="0"/>
            </a:endParaRPr>
          </a:p>
          <a:p>
            <a:pPr marL="12700">
              <a:lnSpc>
                <a:spcPct val="100000"/>
              </a:lnSpc>
              <a:spcBef>
                <a:spcPts val="1200"/>
              </a:spcBef>
            </a:pPr>
            <a:r>
              <a:rPr lang="en-CA" sz="2000" dirty="0">
                <a:latin typeface="Arial" panose="020B0604020202020204" pitchFamily="34" charset="0"/>
                <a:cs typeface="Arial" panose="020B0604020202020204" pitchFamily="34" charset="0"/>
              </a:rPr>
              <a:t>			=</a:t>
            </a:r>
            <a:r>
              <a:rPr lang="en-CA" sz="2000" spc="-2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$10.07 *</a:t>
            </a:r>
            <a:r>
              <a:rPr lang="en-CA" sz="2000" spc="-5" dirty="0">
                <a:latin typeface="Arial" panose="020B0604020202020204" pitchFamily="34" charset="0"/>
                <a:cs typeface="Arial" panose="020B0604020202020204" pitchFamily="34" charset="0"/>
              </a:rPr>
              <a:t> </a:t>
            </a:r>
            <a:r>
              <a:rPr lang="en-CA" sz="2000" spc="-25" dirty="0">
                <a:latin typeface="Arial" panose="020B0604020202020204" pitchFamily="34" charset="0"/>
                <a:cs typeface="Arial" panose="020B0604020202020204" pitchFamily="34" charset="0"/>
              </a:rPr>
              <a:t>200</a:t>
            </a:r>
            <a:endParaRPr lang="en-CA" sz="2000" dirty="0">
              <a:latin typeface="Arial" panose="020B0604020202020204" pitchFamily="34" charset="0"/>
              <a:cs typeface="Arial" panose="020B0604020202020204" pitchFamily="34" charset="0"/>
            </a:endParaRPr>
          </a:p>
          <a:p>
            <a:pPr marL="12700">
              <a:lnSpc>
                <a:spcPct val="100000"/>
              </a:lnSpc>
              <a:spcBef>
                <a:spcPts val="1205"/>
              </a:spcBef>
            </a:pPr>
            <a:r>
              <a:rPr lang="en-CA" sz="2000" dirty="0">
                <a:latin typeface="Arial" panose="020B0604020202020204" pitchFamily="34" charset="0"/>
                <a:cs typeface="Arial" panose="020B0604020202020204" pitchFamily="34" charset="0"/>
              </a:rPr>
              <a:t>			= </a:t>
            </a:r>
            <a:r>
              <a:rPr lang="en-CA" sz="2000" spc="-10" dirty="0">
                <a:latin typeface="Arial" panose="020B0604020202020204" pitchFamily="34" charset="0"/>
                <a:cs typeface="Arial" panose="020B0604020202020204" pitchFamily="34" charset="0"/>
              </a:rPr>
              <a:t>$2014</a:t>
            </a:r>
            <a:endParaRPr lang="en-CA" sz="2000" dirty="0">
              <a:latin typeface="Arial" panose="020B0604020202020204" pitchFamily="34" charset="0"/>
              <a:cs typeface="Arial" panose="020B0604020202020204" pitchFamily="34" charset="0"/>
            </a:endParaRPr>
          </a:p>
        </p:txBody>
      </p:sp>
      <p:sp>
        <p:nvSpPr>
          <p:cNvPr id="9" name="object 9"/>
          <p:cNvSpPr txBox="1"/>
          <p:nvPr/>
        </p:nvSpPr>
        <p:spPr>
          <a:xfrm>
            <a:off x="7752184" y="4509120"/>
            <a:ext cx="3881754" cy="462280"/>
          </a:xfrm>
          <a:prstGeom prst="rect">
            <a:avLst/>
          </a:prstGeom>
          <a:ln w="38100">
            <a:solidFill>
              <a:srgbClr val="0070C0"/>
            </a:solidFill>
          </a:ln>
        </p:spPr>
        <p:txBody>
          <a:bodyPr vert="horz" wrap="square" lIns="0" tIns="38735" rIns="0" bIns="0" rtlCol="0">
            <a:spAutoFit/>
          </a:bodyPr>
          <a:lstStyle/>
          <a:p>
            <a:pPr marL="424815">
              <a:lnSpc>
                <a:spcPct val="100000"/>
              </a:lnSpc>
              <a:spcBef>
                <a:spcPts val="305"/>
              </a:spcBef>
            </a:pPr>
            <a:r>
              <a:rPr sz="2400" dirty="0">
                <a:latin typeface="Arial MT"/>
                <a:cs typeface="Arial MT"/>
              </a:rPr>
              <a:t>What</a:t>
            </a:r>
            <a:r>
              <a:rPr sz="2400" spc="-35" dirty="0">
                <a:latin typeface="Arial MT"/>
                <a:cs typeface="Arial MT"/>
              </a:rPr>
              <a:t> </a:t>
            </a:r>
            <a:r>
              <a:rPr sz="2400" dirty="0">
                <a:latin typeface="Arial MT"/>
                <a:cs typeface="Arial MT"/>
              </a:rPr>
              <a:t>does</a:t>
            </a:r>
            <a:r>
              <a:rPr sz="2400" spc="-30" dirty="0">
                <a:latin typeface="Arial MT"/>
                <a:cs typeface="Arial MT"/>
              </a:rPr>
              <a:t> </a:t>
            </a:r>
            <a:r>
              <a:rPr sz="2400" dirty="0">
                <a:latin typeface="Arial MT"/>
                <a:cs typeface="Arial MT"/>
              </a:rPr>
              <a:t>this</a:t>
            </a:r>
            <a:r>
              <a:rPr sz="2400" spc="-35" dirty="0">
                <a:latin typeface="Arial MT"/>
                <a:cs typeface="Arial MT"/>
              </a:rPr>
              <a:t> </a:t>
            </a:r>
            <a:r>
              <a:rPr sz="2400" spc="-20" dirty="0">
                <a:latin typeface="Arial MT"/>
                <a:cs typeface="Arial MT"/>
              </a:rPr>
              <a:t>mean?</a:t>
            </a:r>
            <a:endParaRPr sz="2400">
              <a:latin typeface="Arial MT"/>
              <a:cs typeface="Arial M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12"/>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25" dirty="0"/>
              <a:t>74</a:t>
            </a:fld>
            <a:endParaRPr spc="-25" dirty="0"/>
          </a:p>
        </p:txBody>
      </p:sp>
      <p:sp>
        <p:nvSpPr>
          <p:cNvPr id="7" name="Subtitle 6">
            <a:extLst>
              <a:ext uri="{FF2B5EF4-FFF2-40B4-BE49-F238E27FC236}">
                <a16:creationId xmlns:a16="http://schemas.microsoft.com/office/drawing/2014/main" id="{355D5AD5-EA17-ACB9-5A36-E88F3C569C7F}"/>
              </a:ext>
            </a:extLst>
          </p:cNvPr>
          <p:cNvSpPr>
            <a:spLocks noGrp="1"/>
          </p:cNvSpPr>
          <p:nvPr>
            <p:ph type="subTitle" idx="1"/>
          </p:nvPr>
        </p:nvSpPr>
        <p:spPr/>
        <p:txBody>
          <a:bodyPr/>
          <a:lstStyle/>
          <a:p>
            <a:r>
              <a:rPr lang="en-CA" dirty="0"/>
              <a:t>Application Example #2: Special Order with Constraints</a:t>
            </a:r>
          </a:p>
        </p:txBody>
      </p:sp>
      <p:sp>
        <p:nvSpPr>
          <p:cNvPr id="3" name="object 3"/>
          <p:cNvSpPr txBox="1"/>
          <p:nvPr/>
        </p:nvSpPr>
        <p:spPr>
          <a:xfrm>
            <a:off x="467544" y="980728"/>
            <a:ext cx="10991215" cy="4796826"/>
          </a:xfrm>
          <a:prstGeom prst="rect">
            <a:avLst/>
          </a:prstGeom>
        </p:spPr>
        <p:txBody>
          <a:bodyPr vert="horz" wrap="square" lIns="0" tIns="13335" rIns="0" bIns="0" rtlCol="0">
            <a:spAutoFit/>
          </a:bodyPr>
          <a:lstStyle/>
          <a:p>
            <a:pPr marL="299085" marR="5080" indent="-287020">
              <a:lnSpc>
                <a:spcPct val="100000"/>
              </a:lnSpc>
              <a:spcBef>
                <a:spcPts val="105"/>
              </a:spcBef>
              <a:buChar char="•"/>
              <a:tabLst>
                <a:tab pos="299085" algn="l"/>
              </a:tabLst>
            </a:pPr>
            <a:r>
              <a:rPr sz="2000" dirty="0">
                <a:latin typeface="Arial" panose="020B0604020202020204" pitchFamily="34" charset="0"/>
                <a:cs typeface="Arial" panose="020B0604020202020204" pitchFamily="34" charset="0"/>
              </a:rPr>
              <a:t>Suppose</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there</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is</a:t>
            </a:r>
            <a:r>
              <a:rPr sz="2000" spc="-1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not</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enough</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idle</a:t>
            </a:r>
            <a:r>
              <a:rPr sz="2000" spc="-1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capacity</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to</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produce</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all</a:t>
            </a:r>
            <a:r>
              <a:rPr sz="2000" spc="-1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of</a:t>
            </a:r>
            <a:r>
              <a:rPr sz="2000" spc="-2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cakes</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and</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accepting</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20"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special </a:t>
            </a:r>
            <a:r>
              <a:rPr sz="2000" dirty="0">
                <a:latin typeface="Arial" panose="020B0604020202020204" pitchFamily="34" charset="0"/>
                <a:cs typeface="Arial" panose="020B0604020202020204" pitchFamily="34" charset="0"/>
              </a:rPr>
              <a:t>order</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would</a:t>
            </a:r>
            <a:r>
              <a:rPr sz="2000" spc="-1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require</a:t>
            </a:r>
            <a:r>
              <a:rPr sz="2000" spc="-4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cutting</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back</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on</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production</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of</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130</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units</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for</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regular</a:t>
            </a:r>
            <a:r>
              <a:rPr sz="2000" spc="-4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customers.</a:t>
            </a:r>
            <a:endParaRPr sz="2000" dirty="0">
              <a:latin typeface="Arial" panose="020B0604020202020204" pitchFamily="34" charset="0"/>
              <a:cs typeface="Arial" panose="020B0604020202020204" pitchFamily="34" charset="0"/>
            </a:endParaRPr>
          </a:p>
          <a:p>
            <a:pPr marL="299085" indent="-286385">
              <a:lnSpc>
                <a:spcPct val="100000"/>
              </a:lnSpc>
              <a:spcBef>
                <a:spcPts val="1200"/>
              </a:spcBef>
              <a:buChar char="•"/>
              <a:tabLst>
                <a:tab pos="299085" algn="l"/>
              </a:tabLst>
            </a:pPr>
            <a:r>
              <a:rPr sz="2000" dirty="0">
                <a:latin typeface="Arial" panose="020B0604020202020204" pitchFamily="34" charset="0"/>
                <a:cs typeface="Arial" panose="020B0604020202020204" pitchFamily="34" charset="0"/>
              </a:rPr>
              <a:t>What</a:t>
            </a:r>
            <a:r>
              <a:rPr sz="2000" spc="-5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would</a:t>
            </a:r>
            <a:r>
              <a:rPr sz="2000" spc="-1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be</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minimum</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acceptable</a:t>
            </a:r>
            <a:r>
              <a:rPr sz="2000" spc="-5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price</a:t>
            </a:r>
            <a:r>
              <a:rPr sz="2000" spc="-4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per</a:t>
            </a:r>
            <a:r>
              <a:rPr sz="2000" spc="-2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unit</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for</a:t>
            </a:r>
            <a:r>
              <a:rPr sz="2000" spc="-30"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the</a:t>
            </a:r>
            <a:r>
              <a:rPr sz="2000" spc="-35" dirty="0">
                <a:latin typeface="Arial" panose="020B0604020202020204" pitchFamily="34" charset="0"/>
                <a:cs typeface="Arial" panose="020B0604020202020204" pitchFamily="34" charset="0"/>
              </a:rPr>
              <a:t> </a:t>
            </a:r>
            <a:r>
              <a:rPr sz="2000" dirty="0">
                <a:latin typeface="Arial" panose="020B0604020202020204" pitchFamily="34" charset="0"/>
                <a:cs typeface="Arial" panose="020B0604020202020204" pitchFamily="34" charset="0"/>
              </a:rPr>
              <a:t>special</a:t>
            </a:r>
            <a:r>
              <a:rPr sz="2000" spc="-35" dirty="0">
                <a:latin typeface="Arial" panose="020B0604020202020204" pitchFamily="34" charset="0"/>
                <a:cs typeface="Arial" panose="020B0604020202020204" pitchFamily="34" charset="0"/>
              </a:rPr>
              <a:t> </a:t>
            </a:r>
            <a:r>
              <a:rPr sz="2000" spc="-10" dirty="0">
                <a:latin typeface="Arial" panose="020B0604020202020204" pitchFamily="34" charset="0"/>
                <a:cs typeface="Arial" panose="020B0604020202020204" pitchFamily="34" charset="0"/>
              </a:rPr>
              <a:t>order?</a:t>
            </a:r>
            <a:endParaRPr lang="en-CA" sz="2000" spc="-10" dirty="0">
              <a:latin typeface="Arial" panose="020B0604020202020204" pitchFamily="34" charset="0"/>
              <a:cs typeface="Arial" panose="020B0604020202020204" pitchFamily="34" charset="0"/>
            </a:endParaRPr>
          </a:p>
          <a:p>
            <a:pPr marL="12700">
              <a:lnSpc>
                <a:spcPct val="100000"/>
              </a:lnSpc>
              <a:spcBef>
                <a:spcPts val="1300"/>
              </a:spcBef>
            </a:pPr>
            <a:r>
              <a:rPr lang="en-CA" sz="2000" b="1" u="sng" dirty="0">
                <a:uFill>
                  <a:solidFill>
                    <a:srgbClr val="000000"/>
                  </a:solidFill>
                </a:uFill>
                <a:latin typeface="Arial" panose="020B0604020202020204" pitchFamily="34" charset="0"/>
                <a:cs typeface="Arial" panose="020B0604020202020204" pitchFamily="34" charset="0"/>
              </a:rPr>
              <a:t>Lost</a:t>
            </a:r>
            <a:r>
              <a:rPr lang="en-CA" sz="2000" b="1" u="sng" spc="-25" dirty="0">
                <a:uFill>
                  <a:solidFill>
                    <a:srgbClr val="000000"/>
                  </a:solidFill>
                </a:uFill>
                <a:latin typeface="Arial" panose="020B0604020202020204" pitchFamily="34" charset="0"/>
                <a:cs typeface="Arial" panose="020B0604020202020204" pitchFamily="34" charset="0"/>
              </a:rPr>
              <a:t> </a:t>
            </a:r>
            <a:r>
              <a:rPr lang="en-CA" sz="2000" b="1" u="sng" dirty="0">
                <a:uFill>
                  <a:solidFill>
                    <a:srgbClr val="000000"/>
                  </a:solidFill>
                </a:uFill>
                <a:latin typeface="Arial" panose="020B0604020202020204" pitchFamily="34" charset="0"/>
                <a:cs typeface="Arial" panose="020B0604020202020204" pitchFamily="34" charset="0"/>
              </a:rPr>
              <a:t>CM</a:t>
            </a:r>
            <a:r>
              <a:rPr lang="en-CA" sz="2000" b="1" u="sng" spc="-25" dirty="0">
                <a:uFill>
                  <a:solidFill>
                    <a:srgbClr val="000000"/>
                  </a:solidFill>
                </a:uFill>
                <a:latin typeface="Arial" panose="020B0604020202020204" pitchFamily="34" charset="0"/>
                <a:cs typeface="Arial" panose="020B0604020202020204" pitchFamily="34" charset="0"/>
              </a:rPr>
              <a:t> </a:t>
            </a:r>
            <a:r>
              <a:rPr lang="en-CA" sz="2000" b="1" u="sng" dirty="0">
                <a:uFill>
                  <a:solidFill>
                    <a:srgbClr val="000000"/>
                  </a:solidFill>
                </a:uFill>
                <a:latin typeface="Arial" panose="020B0604020202020204" pitchFamily="34" charset="0"/>
                <a:cs typeface="Arial" panose="020B0604020202020204" pitchFamily="34" charset="0"/>
              </a:rPr>
              <a:t>of</a:t>
            </a:r>
            <a:r>
              <a:rPr lang="en-CA" sz="2000" b="1" u="sng" spc="-25" dirty="0">
                <a:uFill>
                  <a:solidFill>
                    <a:srgbClr val="000000"/>
                  </a:solidFill>
                </a:uFill>
                <a:latin typeface="Arial" panose="020B0604020202020204" pitchFamily="34" charset="0"/>
                <a:cs typeface="Arial" panose="020B0604020202020204" pitchFamily="34" charset="0"/>
              </a:rPr>
              <a:t> </a:t>
            </a:r>
            <a:r>
              <a:rPr lang="en-CA" sz="2000" b="1" u="sng" dirty="0">
                <a:uFill>
                  <a:solidFill>
                    <a:srgbClr val="000000"/>
                  </a:solidFill>
                </a:uFill>
                <a:latin typeface="Arial" panose="020B0604020202020204" pitchFamily="34" charset="0"/>
                <a:cs typeface="Arial" panose="020B0604020202020204" pitchFamily="34" charset="0"/>
              </a:rPr>
              <a:t>Displaced</a:t>
            </a:r>
            <a:r>
              <a:rPr lang="en-CA" sz="2000" b="1" u="sng" spc="-25" dirty="0">
                <a:uFill>
                  <a:solidFill>
                    <a:srgbClr val="000000"/>
                  </a:solidFill>
                </a:uFill>
                <a:latin typeface="Arial" panose="020B0604020202020204" pitchFamily="34" charset="0"/>
                <a:cs typeface="Arial" panose="020B0604020202020204" pitchFamily="34" charset="0"/>
              </a:rPr>
              <a:t> </a:t>
            </a:r>
            <a:r>
              <a:rPr lang="en-CA" sz="2000" b="1" u="sng" spc="-10" dirty="0">
                <a:uFill>
                  <a:solidFill>
                    <a:srgbClr val="000000"/>
                  </a:solidFill>
                </a:uFill>
                <a:latin typeface="Arial" panose="020B0604020202020204" pitchFamily="34" charset="0"/>
                <a:cs typeface="Arial" panose="020B0604020202020204" pitchFamily="34" charset="0"/>
              </a:rPr>
              <a:t>Sales:</a:t>
            </a:r>
            <a:endParaRPr lang="en-CA" sz="2000" dirty="0">
              <a:latin typeface="Arial" panose="020B0604020202020204" pitchFamily="34" charset="0"/>
              <a:cs typeface="Arial" panose="020B0604020202020204" pitchFamily="34" charset="0"/>
            </a:endParaRPr>
          </a:p>
          <a:p>
            <a:pPr marL="927100">
              <a:lnSpc>
                <a:spcPct val="100000"/>
              </a:lnSpc>
              <a:spcBef>
                <a:spcPts val="1200"/>
              </a:spcBef>
            </a:pPr>
            <a:r>
              <a:rPr lang="en-CA" sz="2000" dirty="0">
                <a:latin typeface="Arial" panose="020B0604020202020204" pitchFamily="34" charset="0"/>
                <a:cs typeface="Arial" panose="020B0604020202020204" pitchFamily="34" charset="0"/>
              </a:rPr>
              <a:t>=</a:t>
            </a:r>
            <a:r>
              <a:rPr lang="en-CA" sz="2000" spc="-2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10.07</a:t>
            </a:r>
            <a:r>
              <a:rPr lang="en-CA" sz="2000" spc="-3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 130</a:t>
            </a:r>
            <a:r>
              <a:rPr lang="en-CA" sz="2000" spc="-1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t>
            </a:r>
            <a:r>
              <a:rPr lang="en-CA" sz="2000" spc="-25" dirty="0">
                <a:latin typeface="Arial" panose="020B0604020202020204" pitchFamily="34" charset="0"/>
                <a:cs typeface="Arial" panose="020B0604020202020204" pitchFamily="34" charset="0"/>
              </a:rPr>
              <a:t> </a:t>
            </a:r>
            <a:r>
              <a:rPr lang="en-CA" sz="2000" spc="-10" dirty="0">
                <a:latin typeface="Arial" panose="020B0604020202020204" pitchFamily="34" charset="0"/>
                <a:cs typeface="Arial" panose="020B0604020202020204" pitchFamily="34" charset="0"/>
              </a:rPr>
              <a:t>$1,309.10</a:t>
            </a:r>
            <a:endParaRPr lang="en-CA" sz="2000" dirty="0">
              <a:latin typeface="Arial" panose="020B0604020202020204" pitchFamily="34" charset="0"/>
              <a:cs typeface="Arial" panose="020B0604020202020204" pitchFamily="34" charset="0"/>
            </a:endParaRPr>
          </a:p>
          <a:p>
            <a:pPr marL="12700">
              <a:lnSpc>
                <a:spcPct val="100000"/>
              </a:lnSpc>
              <a:spcBef>
                <a:spcPts val="1200"/>
              </a:spcBef>
            </a:pPr>
            <a:r>
              <a:rPr lang="en-CA" sz="2000" b="1" u="sng" dirty="0">
                <a:uFill>
                  <a:solidFill>
                    <a:srgbClr val="000000"/>
                  </a:solidFill>
                </a:uFill>
                <a:latin typeface="Arial" panose="020B0604020202020204" pitchFamily="34" charset="0"/>
                <a:cs typeface="Arial" panose="020B0604020202020204" pitchFamily="34" charset="0"/>
              </a:rPr>
              <a:t>VC</a:t>
            </a:r>
            <a:r>
              <a:rPr lang="en-CA" sz="2000" b="1" u="sng" spc="-15" dirty="0">
                <a:uFill>
                  <a:solidFill>
                    <a:srgbClr val="000000"/>
                  </a:solidFill>
                </a:uFill>
                <a:latin typeface="Arial" panose="020B0604020202020204" pitchFamily="34" charset="0"/>
                <a:cs typeface="Arial" panose="020B0604020202020204" pitchFamily="34" charset="0"/>
              </a:rPr>
              <a:t> </a:t>
            </a:r>
            <a:r>
              <a:rPr lang="en-CA" sz="2000" b="1" u="sng" dirty="0">
                <a:uFill>
                  <a:solidFill>
                    <a:srgbClr val="000000"/>
                  </a:solidFill>
                </a:uFill>
                <a:latin typeface="Arial" panose="020B0604020202020204" pitchFamily="34" charset="0"/>
                <a:cs typeface="Arial" panose="020B0604020202020204" pitchFamily="34" charset="0"/>
              </a:rPr>
              <a:t>of</a:t>
            </a:r>
            <a:r>
              <a:rPr lang="en-CA" sz="2000" b="1" u="sng" spc="-35" dirty="0">
                <a:uFill>
                  <a:solidFill>
                    <a:srgbClr val="000000"/>
                  </a:solidFill>
                </a:uFill>
                <a:latin typeface="Arial" panose="020B0604020202020204" pitchFamily="34" charset="0"/>
                <a:cs typeface="Arial" panose="020B0604020202020204" pitchFamily="34" charset="0"/>
              </a:rPr>
              <a:t> </a:t>
            </a:r>
            <a:r>
              <a:rPr lang="en-CA" sz="2000" b="1" u="sng" dirty="0">
                <a:uFill>
                  <a:solidFill>
                    <a:srgbClr val="000000"/>
                  </a:solidFill>
                </a:uFill>
                <a:latin typeface="Arial" panose="020B0604020202020204" pitchFamily="34" charset="0"/>
                <a:cs typeface="Arial" panose="020B0604020202020204" pitchFamily="34" charset="0"/>
              </a:rPr>
              <a:t>200</a:t>
            </a:r>
            <a:r>
              <a:rPr lang="en-CA" sz="2000" b="1" u="sng" spc="-30" dirty="0">
                <a:uFill>
                  <a:solidFill>
                    <a:srgbClr val="000000"/>
                  </a:solidFill>
                </a:uFill>
                <a:latin typeface="Arial" panose="020B0604020202020204" pitchFamily="34" charset="0"/>
                <a:cs typeface="Arial" panose="020B0604020202020204" pitchFamily="34" charset="0"/>
              </a:rPr>
              <a:t> </a:t>
            </a:r>
            <a:r>
              <a:rPr lang="en-CA" sz="2000" b="1" u="sng" spc="-10" dirty="0">
                <a:uFill>
                  <a:solidFill>
                    <a:srgbClr val="000000"/>
                  </a:solidFill>
                </a:uFill>
                <a:latin typeface="Arial" panose="020B0604020202020204" pitchFamily="34" charset="0"/>
                <a:cs typeface="Arial" panose="020B0604020202020204" pitchFamily="34" charset="0"/>
              </a:rPr>
              <a:t>cakes:</a:t>
            </a:r>
            <a:endParaRPr lang="en-CA" sz="2000" dirty="0">
              <a:latin typeface="Arial" panose="020B0604020202020204" pitchFamily="34" charset="0"/>
              <a:cs typeface="Arial" panose="020B0604020202020204" pitchFamily="34" charset="0"/>
            </a:endParaRPr>
          </a:p>
          <a:p>
            <a:pPr marL="927100">
              <a:lnSpc>
                <a:spcPct val="100000"/>
              </a:lnSpc>
              <a:spcBef>
                <a:spcPts val="1200"/>
              </a:spcBef>
            </a:pPr>
            <a:r>
              <a:rPr lang="en-CA" sz="2000" dirty="0">
                <a:latin typeface="Arial" panose="020B0604020202020204" pitchFamily="34" charset="0"/>
                <a:cs typeface="Arial" panose="020B0604020202020204" pitchFamily="34" charset="0"/>
              </a:rPr>
              <a:t>=</a:t>
            </a:r>
            <a:r>
              <a:rPr lang="en-CA" sz="2000" spc="-1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($7.40</a:t>
            </a:r>
            <a:r>
              <a:rPr lang="en-CA" sz="2000" spc="-4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+$1.45</a:t>
            </a:r>
            <a:r>
              <a:rPr lang="en-CA" sz="2000" spc="-3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t>
            </a:r>
            <a:r>
              <a:rPr lang="en-CA" sz="2000" spc="-1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$.63</a:t>
            </a:r>
            <a:r>
              <a:rPr lang="en-CA" sz="2000" spc="-3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t>
            </a:r>
            <a:r>
              <a:rPr lang="en-CA" sz="2000" spc="-1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$.45)</a:t>
            </a:r>
            <a:r>
              <a:rPr lang="en-CA" sz="2000" spc="-3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t>
            </a:r>
            <a:r>
              <a:rPr lang="en-CA" sz="2000" spc="-20" dirty="0">
                <a:latin typeface="Arial" panose="020B0604020202020204" pitchFamily="34" charset="0"/>
                <a:cs typeface="Arial" panose="020B0604020202020204" pitchFamily="34" charset="0"/>
              </a:rPr>
              <a:t> </a:t>
            </a:r>
            <a:r>
              <a:rPr lang="en-CA" sz="2000" spc="-25" dirty="0">
                <a:latin typeface="Arial" panose="020B0604020202020204" pitchFamily="34" charset="0"/>
                <a:cs typeface="Arial" panose="020B0604020202020204" pitchFamily="34" charset="0"/>
              </a:rPr>
              <a:t>200</a:t>
            </a:r>
            <a:endParaRPr lang="en-CA" sz="2000" dirty="0">
              <a:latin typeface="Arial" panose="020B0604020202020204" pitchFamily="34" charset="0"/>
              <a:cs typeface="Arial" panose="020B0604020202020204" pitchFamily="34" charset="0"/>
            </a:endParaRPr>
          </a:p>
          <a:p>
            <a:pPr marL="927100">
              <a:lnSpc>
                <a:spcPct val="100000"/>
              </a:lnSpc>
              <a:spcBef>
                <a:spcPts val="1200"/>
              </a:spcBef>
            </a:pPr>
            <a:r>
              <a:rPr lang="en-CA" sz="2000" dirty="0">
                <a:latin typeface="Arial" panose="020B0604020202020204" pitchFamily="34" charset="0"/>
                <a:cs typeface="Arial" panose="020B0604020202020204" pitchFamily="34" charset="0"/>
              </a:rPr>
              <a:t>=</a:t>
            </a:r>
            <a:r>
              <a:rPr lang="en-CA" sz="2000" spc="-1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$9.93</a:t>
            </a:r>
            <a:r>
              <a:rPr lang="en-CA" sz="2000" spc="-30"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*200=</a:t>
            </a:r>
            <a:r>
              <a:rPr lang="en-CA" sz="2000" spc="-20" dirty="0">
                <a:latin typeface="Arial" panose="020B0604020202020204" pitchFamily="34" charset="0"/>
                <a:cs typeface="Arial" panose="020B0604020202020204" pitchFamily="34" charset="0"/>
              </a:rPr>
              <a:t> </a:t>
            </a:r>
            <a:r>
              <a:rPr lang="en-CA" sz="2000" spc="-10" dirty="0">
                <a:latin typeface="Arial" panose="020B0604020202020204" pitchFamily="34" charset="0"/>
                <a:cs typeface="Arial" panose="020B0604020202020204" pitchFamily="34" charset="0"/>
              </a:rPr>
              <a:t>$1,986</a:t>
            </a:r>
            <a:endParaRPr lang="en-CA" sz="2000" dirty="0">
              <a:latin typeface="Arial" panose="020B0604020202020204" pitchFamily="34" charset="0"/>
              <a:cs typeface="Arial" panose="020B0604020202020204" pitchFamily="34" charset="0"/>
            </a:endParaRPr>
          </a:p>
          <a:p>
            <a:pPr marL="12700">
              <a:lnSpc>
                <a:spcPct val="100000"/>
              </a:lnSpc>
              <a:spcBef>
                <a:spcPts val="1200"/>
              </a:spcBef>
            </a:pPr>
            <a:r>
              <a:rPr lang="en-CA" sz="2000" b="1" u="sng" spc="-20" dirty="0">
                <a:uFill>
                  <a:solidFill>
                    <a:srgbClr val="000000"/>
                  </a:solidFill>
                </a:uFill>
                <a:latin typeface="Arial" panose="020B0604020202020204" pitchFamily="34" charset="0"/>
                <a:cs typeface="Arial" panose="020B0604020202020204" pitchFamily="34" charset="0"/>
              </a:rPr>
              <a:t>Total</a:t>
            </a:r>
            <a:r>
              <a:rPr lang="en-CA" sz="2000" b="1" u="sng" spc="-95" dirty="0">
                <a:uFill>
                  <a:solidFill>
                    <a:srgbClr val="000000"/>
                  </a:solidFill>
                </a:uFill>
                <a:latin typeface="Arial" panose="020B0604020202020204" pitchFamily="34" charset="0"/>
                <a:cs typeface="Arial" panose="020B0604020202020204" pitchFamily="34" charset="0"/>
              </a:rPr>
              <a:t> </a:t>
            </a:r>
            <a:r>
              <a:rPr lang="en-CA" sz="2000" b="1" u="sng" spc="-20" dirty="0">
                <a:uFill>
                  <a:solidFill>
                    <a:srgbClr val="000000"/>
                  </a:solidFill>
                </a:uFill>
                <a:latin typeface="Arial" panose="020B0604020202020204" pitchFamily="34" charset="0"/>
                <a:cs typeface="Arial" panose="020B0604020202020204" pitchFamily="34" charset="0"/>
              </a:rPr>
              <a:t>Cost</a:t>
            </a:r>
            <a:endParaRPr lang="en-CA" sz="2000" dirty="0">
              <a:latin typeface="Arial" panose="020B0604020202020204" pitchFamily="34" charset="0"/>
              <a:cs typeface="Arial" panose="020B0604020202020204" pitchFamily="34" charset="0"/>
            </a:endParaRPr>
          </a:p>
          <a:p>
            <a:pPr marL="927100">
              <a:lnSpc>
                <a:spcPct val="100000"/>
              </a:lnSpc>
              <a:spcBef>
                <a:spcPts val="1200"/>
              </a:spcBef>
            </a:pPr>
            <a:r>
              <a:rPr lang="en-CA" sz="2000" dirty="0">
                <a:latin typeface="Arial" panose="020B0604020202020204" pitchFamily="34" charset="0"/>
                <a:cs typeface="Arial" panose="020B0604020202020204" pitchFamily="34" charset="0"/>
              </a:rPr>
              <a:t>=$1,309.10</a:t>
            </a:r>
            <a:r>
              <a:rPr lang="en-CA" sz="2000" spc="-55" dirty="0">
                <a:latin typeface="Arial" panose="020B0604020202020204" pitchFamily="34" charset="0"/>
                <a:cs typeface="Arial" panose="020B0604020202020204" pitchFamily="34" charset="0"/>
              </a:rPr>
              <a:t> </a:t>
            </a:r>
            <a:r>
              <a:rPr lang="en-CA" sz="2000" dirty="0">
                <a:latin typeface="Arial" panose="020B0604020202020204" pitchFamily="34" charset="0"/>
                <a:cs typeface="Arial" panose="020B0604020202020204" pitchFamily="34" charset="0"/>
              </a:rPr>
              <a:t>+</a:t>
            </a:r>
            <a:r>
              <a:rPr lang="en-CA" sz="2000" spc="-10" dirty="0">
                <a:latin typeface="Arial" panose="020B0604020202020204" pitchFamily="34" charset="0"/>
                <a:cs typeface="Arial" panose="020B0604020202020204" pitchFamily="34" charset="0"/>
              </a:rPr>
              <a:t> $1,986</a:t>
            </a:r>
            <a:endParaRPr lang="en-CA" sz="2000" dirty="0">
              <a:latin typeface="Arial" panose="020B0604020202020204" pitchFamily="34" charset="0"/>
              <a:cs typeface="Arial" panose="020B0604020202020204" pitchFamily="34" charset="0"/>
            </a:endParaRPr>
          </a:p>
          <a:p>
            <a:pPr marL="927100">
              <a:lnSpc>
                <a:spcPct val="100000"/>
              </a:lnSpc>
              <a:spcBef>
                <a:spcPts val="1205"/>
              </a:spcBef>
            </a:pPr>
            <a:r>
              <a:rPr lang="en-CA" sz="2000" dirty="0">
                <a:latin typeface="Arial" panose="020B0604020202020204" pitchFamily="34" charset="0"/>
                <a:cs typeface="Arial" panose="020B0604020202020204" pitchFamily="34" charset="0"/>
              </a:rPr>
              <a:t>=</a:t>
            </a:r>
            <a:r>
              <a:rPr lang="en-CA" sz="2000" spc="-15" dirty="0">
                <a:latin typeface="Arial" panose="020B0604020202020204" pitchFamily="34" charset="0"/>
                <a:cs typeface="Arial" panose="020B0604020202020204" pitchFamily="34" charset="0"/>
              </a:rPr>
              <a:t> </a:t>
            </a:r>
            <a:r>
              <a:rPr lang="en-CA" sz="2000" spc="-10" dirty="0">
                <a:latin typeface="Arial" panose="020B0604020202020204" pitchFamily="34" charset="0"/>
                <a:cs typeface="Arial" panose="020B0604020202020204" pitchFamily="34" charset="0"/>
              </a:rPr>
              <a:t>$3,295.10</a:t>
            </a:r>
            <a:endParaRPr lang="en-CA" sz="2000" dirty="0">
              <a:latin typeface="Arial" panose="020B0604020202020204" pitchFamily="34" charset="0"/>
              <a:cs typeface="Arial" panose="020B0604020202020204" pitchFamily="34" charset="0"/>
            </a:endParaRPr>
          </a:p>
        </p:txBody>
      </p:sp>
      <p:sp>
        <p:nvSpPr>
          <p:cNvPr id="5" name="object 5"/>
          <p:cNvSpPr txBox="1"/>
          <p:nvPr/>
        </p:nvSpPr>
        <p:spPr>
          <a:xfrm>
            <a:off x="6744072" y="3429000"/>
            <a:ext cx="3601720" cy="1784985"/>
          </a:xfrm>
          <a:prstGeom prst="rect">
            <a:avLst/>
          </a:prstGeom>
          <a:ln w="28575">
            <a:solidFill>
              <a:srgbClr val="0070C0"/>
            </a:solidFill>
          </a:ln>
        </p:spPr>
        <p:txBody>
          <a:bodyPr vert="horz" wrap="square" lIns="0" tIns="38100" rIns="0" bIns="0" rtlCol="0">
            <a:spAutoFit/>
          </a:bodyPr>
          <a:lstStyle/>
          <a:p>
            <a:pPr marL="91440">
              <a:lnSpc>
                <a:spcPct val="100000"/>
              </a:lnSpc>
              <a:spcBef>
                <a:spcPts val="300"/>
              </a:spcBef>
            </a:pPr>
            <a:r>
              <a:rPr sz="2000" dirty="0">
                <a:latin typeface="Arial MT"/>
                <a:cs typeface="Arial MT"/>
              </a:rPr>
              <a:t>Cost</a:t>
            </a:r>
            <a:r>
              <a:rPr sz="2000" spc="-20" dirty="0">
                <a:latin typeface="Arial MT"/>
                <a:cs typeface="Arial MT"/>
              </a:rPr>
              <a:t> </a:t>
            </a:r>
            <a:r>
              <a:rPr sz="2000" dirty="0">
                <a:latin typeface="Arial MT"/>
                <a:cs typeface="Arial MT"/>
              </a:rPr>
              <a:t>per</a:t>
            </a:r>
            <a:r>
              <a:rPr sz="2000" spc="-20" dirty="0">
                <a:latin typeface="Arial MT"/>
                <a:cs typeface="Arial MT"/>
              </a:rPr>
              <a:t> Unit</a:t>
            </a:r>
            <a:endParaRPr sz="2000">
              <a:latin typeface="Arial MT"/>
              <a:cs typeface="Arial MT"/>
            </a:endParaRPr>
          </a:p>
          <a:p>
            <a:pPr marL="91440">
              <a:lnSpc>
                <a:spcPct val="100000"/>
              </a:lnSpc>
              <a:spcBef>
                <a:spcPts val="1205"/>
              </a:spcBef>
            </a:pPr>
            <a:r>
              <a:rPr sz="2000" dirty="0">
                <a:latin typeface="Arial MT"/>
                <a:cs typeface="Arial MT"/>
              </a:rPr>
              <a:t>=</a:t>
            </a:r>
            <a:r>
              <a:rPr sz="2000" spc="-75" dirty="0">
                <a:latin typeface="Arial MT"/>
                <a:cs typeface="Arial MT"/>
              </a:rPr>
              <a:t> </a:t>
            </a:r>
            <a:r>
              <a:rPr sz="2000" spc="-35" dirty="0">
                <a:latin typeface="Arial MT"/>
                <a:cs typeface="Arial MT"/>
              </a:rPr>
              <a:t>Total</a:t>
            </a:r>
            <a:r>
              <a:rPr sz="2000" spc="-50" dirty="0">
                <a:latin typeface="Arial MT"/>
                <a:cs typeface="Arial MT"/>
              </a:rPr>
              <a:t> </a:t>
            </a:r>
            <a:r>
              <a:rPr sz="2000" dirty="0">
                <a:latin typeface="Arial MT"/>
                <a:cs typeface="Arial MT"/>
              </a:rPr>
              <a:t>Cost/#</a:t>
            </a:r>
            <a:r>
              <a:rPr sz="2000" spc="-60" dirty="0">
                <a:latin typeface="Arial MT"/>
                <a:cs typeface="Arial MT"/>
              </a:rPr>
              <a:t> </a:t>
            </a:r>
            <a:r>
              <a:rPr sz="2000" dirty="0">
                <a:latin typeface="Arial MT"/>
                <a:cs typeface="Arial MT"/>
              </a:rPr>
              <a:t>of</a:t>
            </a:r>
            <a:r>
              <a:rPr sz="2000" spc="-45" dirty="0">
                <a:latin typeface="Arial MT"/>
                <a:cs typeface="Arial MT"/>
              </a:rPr>
              <a:t> </a:t>
            </a:r>
            <a:r>
              <a:rPr sz="2000" spc="-10" dirty="0">
                <a:latin typeface="Arial MT"/>
                <a:cs typeface="Arial MT"/>
              </a:rPr>
              <a:t>Units</a:t>
            </a:r>
            <a:endParaRPr sz="2000">
              <a:latin typeface="Arial MT"/>
              <a:cs typeface="Arial MT"/>
            </a:endParaRPr>
          </a:p>
          <a:p>
            <a:pPr marL="91440">
              <a:lnSpc>
                <a:spcPct val="100000"/>
              </a:lnSpc>
              <a:spcBef>
                <a:spcPts val="1200"/>
              </a:spcBef>
            </a:pPr>
            <a:r>
              <a:rPr sz="2000" dirty="0">
                <a:latin typeface="Arial MT"/>
                <a:cs typeface="Arial MT"/>
              </a:rPr>
              <a:t>=</a:t>
            </a:r>
            <a:r>
              <a:rPr sz="2000" spc="-15" dirty="0">
                <a:latin typeface="Arial MT"/>
                <a:cs typeface="Arial MT"/>
              </a:rPr>
              <a:t> </a:t>
            </a:r>
            <a:r>
              <a:rPr sz="2000" spc="-10" dirty="0">
                <a:latin typeface="Arial MT"/>
                <a:cs typeface="Arial MT"/>
              </a:rPr>
              <a:t>$3,295.10/200</a:t>
            </a:r>
            <a:endParaRPr sz="2000">
              <a:latin typeface="Arial MT"/>
              <a:cs typeface="Arial MT"/>
            </a:endParaRPr>
          </a:p>
          <a:p>
            <a:pPr marL="91440">
              <a:lnSpc>
                <a:spcPct val="100000"/>
              </a:lnSpc>
              <a:spcBef>
                <a:spcPts val="1200"/>
              </a:spcBef>
            </a:pPr>
            <a:r>
              <a:rPr sz="2000" dirty="0">
                <a:latin typeface="Arial MT"/>
                <a:cs typeface="Arial MT"/>
              </a:rPr>
              <a:t>=</a:t>
            </a:r>
            <a:r>
              <a:rPr sz="2000" spc="-15" dirty="0">
                <a:latin typeface="Arial MT"/>
                <a:cs typeface="Arial MT"/>
              </a:rPr>
              <a:t> </a:t>
            </a:r>
            <a:r>
              <a:rPr sz="2000" spc="-10" dirty="0">
                <a:latin typeface="Arial MT"/>
                <a:cs typeface="Arial MT"/>
              </a:rPr>
              <a:t>$16.47</a:t>
            </a:r>
            <a:endParaRPr sz="2000">
              <a:latin typeface="Arial MT"/>
              <a:cs typeface="Arial MT"/>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DE83C5A-ABB7-F9E5-90BA-BA00370D4224}"/>
              </a:ext>
            </a:extLst>
          </p:cNvPr>
          <p:cNvSpPr>
            <a:spLocks noGrp="1"/>
          </p:cNvSpPr>
          <p:nvPr>
            <p:ph type="subTitle" idx="1"/>
          </p:nvPr>
        </p:nvSpPr>
        <p:spPr/>
        <p:txBody>
          <a:bodyPr/>
          <a:lstStyle/>
          <a:p>
            <a:r>
              <a:rPr lang="en-CA" dirty="0"/>
              <a:t>Managing Constraints</a:t>
            </a:r>
          </a:p>
        </p:txBody>
      </p:sp>
      <p:sp>
        <p:nvSpPr>
          <p:cNvPr id="175106" name="Rectangle 7">
            <a:extLst>
              <a:ext uri="{FF2B5EF4-FFF2-40B4-BE49-F238E27FC236}">
                <a16:creationId xmlns:a16="http://schemas.microsoft.com/office/drawing/2014/main" id="{3651E7E6-315A-4BF4-84DC-0190DA9EDB1F}"/>
              </a:ext>
            </a:extLst>
          </p:cNvPr>
          <p:cNvSpPr>
            <a:spLocks/>
          </p:cNvSpPr>
          <p:nvPr/>
        </p:nvSpPr>
        <p:spPr bwMode="auto">
          <a:xfrm>
            <a:off x="623392" y="1143000"/>
            <a:ext cx="9739808"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lIns="90488" tIns="44450" rIns="90488" bIns="44450"/>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600"/>
              </a:spcBef>
              <a:buClr>
                <a:srgbClr val="1C3163"/>
              </a:buClr>
              <a:buSzPct val="76000"/>
              <a:buFont typeface="Arial" panose="020B0604020202020204" pitchFamily="34" charset="0"/>
              <a:buChar char="•"/>
            </a:pPr>
            <a:r>
              <a:rPr lang="en-CA" altLang="en-US" sz="2400" dirty="0">
                <a:cs typeface="Arial" panose="020B0604020202020204" pitchFamily="34" charset="0"/>
              </a:rPr>
              <a:t>Profits can be increased by effectively managing constraints.  One aspect of managing constraints is to decide how best to utilize them.</a:t>
            </a:r>
          </a:p>
          <a:p>
            <a:pPr>
              <a:spcBef>
                <a:spcPts val="600"/>
              </a:spcBef>
              <a:buClr>
                <a:srgbClr val="1C3163"/>
              </a:buClr>
              <a:buSzPct val="76000"/>
              <a:buFont typeface="Arial" panose="020B0604020202020204" pitchFamily="34" charset="0"/>
              <a:buChar char="•"/>
            </a:pPr>
            <a:endParaRPr lang="en-CA" altLang="en-US" sz="2400" dirty="0">
              <a:cs typeface="Arial" panose="020B0604020202020204" pitchFamily="34" charset="0"/>
            </a:endParaRPr>
          </a:p>
          <a:p>
            <a:pPr>
              <a:spcBef>
                <a:spcPts val="600"/>
              </a:spcBef>
              <a:buClr>
                <a:srgbClr val="1C3163"/>
              </a:buClr>
              <a:buSzPct val="76000"/>
              <a:buFont typeface="Arial" panose="020B0604020202020204" pitchFamily="34" charset="0"/>
              <a:buChar char="•"/>
            </a:pPr>
            <a:r>
              <a:rPr lang="en-CA" altLang="en-US" sz="2400" dirty="0">
                <a:cs typeface="Arial" panose="020B0604020202020204" pitchFamily="34" charset="0"/>
              </a:rPr>
              <a:t>Managers should focus on managing bottlenecks and finding ways to increase the capacity at the bottlenecks:</a:t>
            </a:r>
          </a:p>
          <a:p>
            <a:pPr lvl="1" eaLnBrk="1" hangingPunct="1">
              <a:buClr>
                <a:srgbClr val="1C3163"/>
              </a:buClr>
              <a:buSzPct val="125000"/>
              <a:buFont typeface="Arial" panose="020B0604020202020204" pitchFamily="34" charset="0"/>
              <a:buChar char="•"/>
            </a:pPr>
            <a:r>
              <a:rPr lang="en-CA" altLang="en-US" sz="2400" dirty="0">
                <a:cs typeface="Arial" panose="020B0604020202020204" pitchFamily="34" charset="0"/>
              </a:rPr>
              <a:t> Improve the process</a:t>
            </a:r>
          </a:p>
          <a:p>
            <a:pPr lvl="1" eaLnBrk="1" hangingPunct="1">
              <a:buClr>
                <a:srgbClr val="1C3163"/>
              </a:buClr>
              <a:buSzPct val="125000"/>
              <a:buFont typeface="Arial" panose="020B0604020202020204" pitchFamily="34" charset="0"/>
              <a:buChar char="•"/>
            </a:pPr>
            <a:r>
              <a:rPr lang="en-CA" altLang="en-US" sz="2400" dirty="0">
                <a:cs typeface="Arial" panose="020B0604020202020204" pitchFamily="34" charset="0"/>
              </a:rPr>
              <a:t> Add overtime or another shift</a:t>
            </a:r>
          </a:p>
          <a:p>
            <a:pPr lvl="1" eaLnBrk="1" hangingPunct="1">
              <a:buClr>
                <a:srgbClr val="1C3163"/>
              </a:buClr>
              <a:buSzPct val="125000"/>
              <a:buFont typeface="Arial" panose="020B0604020202020204" pitchFamily="34" charset="0"/>
              <a:buChar char="•"/>
            </a:pPr>
            <a:r>
              <a:rPr lang="en-CA" altLang="en-US" sz="2400" dirty="0">
                <a:cs typeface="Arial" panose="020B0604020202020204" pitchFamily="34" charset="0"/>
              </a:rPr>
              <a:t> Hire new workers or acquire more machines</a:t>
            </a:r>
          </a:p>
          <a:p>
            <a:pPr lvl="1" eaLnBrk="1" hangingPunct="1">
              <a:buClr>
                <a:srgbClr val="1C3163"/>
              </a:buClr>
              <a:buSzPct val="125000"/>
              <a:buFont typeface="Arial" panose="020B0604020202020204" pitchFamily="34" charset="0"/>
              <a:buChar char="•"/>
            </a:pPr>
            <a:r>
              <a:rPr lang="en-CA" altLang="en-US" sz="2400" dirty="0">
                <a:cs typeface="Arial" panose="020B0604020202020204" pitchFamily="34" charset="0"/>
              </a:rPr>
              <a:t> Subcontract production</a:t>
            </a:r>
          </a:p>
          <a:p>
            <a:pPr lvl="1" eaLnBrk="1" hangingPunct="1">
              <a:buClr>
                <a:srgbClr val="1C3163"/>
              </a:buClr>
              <a:buSzPct val="125000"/>
              <a:buFont typeface="Arial" panose="020B0604020202020204" pitchFamily="34" charset="0"/>
              <a:buChar char="•"/>
            </a:pPr>
            <a:r>
              <a:rPr lang="en-CA" altLang="en-US" sz="2400" dirty="0">
                <a:cs typeface="Arial" panose="020B0604020202020204" pitchFamily="34" charset="0"/>
              </a:rPr>
              <a:t> Reduce the number of defective units produced</a:t>
            </a:r>
          </a:p>
          <a:p>
            <a:pPr lvl="1" eaLnBrk="1" hangingPunct="1">
              <a:buClr>
                <a:srgbClr val="1C3163"/>
              </a:buClr>
              <a:buSzPct val="125000"/>
              <a:buFont typeface="Arial" panose="020B0604020202020204" pitchFamily="34" charset="0"/>
              <a:buChar char="•"/>
            </a:pPr>
            <a:r>
              <a:rPr lang="en-CA" altLang="en-US" sz="2400" dirty="0">
                <a:cs typeface="Arial" panose="020B0604020202020204" pitchFamily="34" charset="0"/>
              </a:rPr>
              <a:t> Add workers transferred from non-bottleneck departments</a:t>
            </a:r>
          </a:p>
          <a:p>
            <a:pPr marL="0" indent="0">
              <a:spcBef>
                <a:spcPts val="600"/>
              </a:spcBef>
              <a:buClr>
                <a:srgbClr val="1C3163"/>
              </a:buClr>
              <a:buSzPct val="76000"/>
            </a:pPr>
            <a:endParaRPr lang="en-CA" altLang="en-US" sz="2400" dirty="0">
              <a:latin typeface="Rockwell" panose="02060603020205020403" pitchFamily="18" charset="0"/>
            </a:endParaRPr>
          </a:p>
          <a:p>
            <a:pPr>
              <a:spcBef>
                <a:spcPts val="600"/>
              </a:spcBef>
              <a:buClr>
                <a:srgbClr val="1C3163"/>
              </a:buClr>
              <a:buSzPct val="76000"/>
              <a:buFont typeface="Arial" panose="020B0604020202020204" pitchFamily="34" charset="0"/>
              <a:buChar char="•"/>
            </a:pPr>
            <a:endParaRPr lang="en-CA" altLang="en-US" sz="2400" dirty="0">
              <a:latin typeface="Rockwell" panose="02060603020205020403" pitchFamily="18" charset="0"/>
              <a:cs typeface="Arial" panose="020B0604020202020204" pitchFamily="34" charset="0"/>
            </a:endParaRPr>
          </a:p>
        </p:txBody>
      </p:sp>
      <p:sp>
        <p:nvSpPr>
          <p:cNvPr id="5" name="Slide Number Placeholder 4">
            <a:extLst>
              <a:ext uri="{FF2B5EF4-FFF2-40B4-BE49-F238E27FC236}">
                <a16:creationId xmlns:a16="http://schemas.microsoft.com/office/drawing/2014/main" id="{2B88B908-E0EA-9481-3F58-1B93A12812C2}"/>
              </a:ext>
            </a:extLst>
          </p:cNvPr>
          <p:cNvSpPr>
            <a:spLocks noGrp="1"/>
          </p:cNvSpPr>
          <p:nvPr>
            <p:ph type="sldNum" sz="quarter" idx="12"/>
          </p:nvPr>
        </p:nvSpPr>
        <p:spPr/>
        <p:txBody>
          <a:bodyPr/>
          <a:lstStyle/>
          <a:p>
            <a:fld id="{9B7CDB38-6350-4CC9-AB0E-B9078CE1CE4B}" type="slidenum">
              <a:rPr lang="en-US" smtClean="0"/>
              <a:pPr/>
              <a:t>75</a:t>
            </a:fld>
            <a:endParaRPr lang="en-US"/>
          </a:p>
        </p:txBody>
      </p:sp>
    </p:spTree>
  </p:cSld>
  <p:clrMapOvr>
    <a:masterClrMapping/>
  </p:clrMapOvr>
  <p:transition>
    <p:cover dir="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3600" dirty="0">
                <a:solidFill>
                  <a:srgbClr val="FFFFFF"/>
                </a:solidFill>
              </a:rPr>
              <a:t>IN</a:t>
            </a:r>
            <a:r>
              <a:rPr sz="3600" spc="-15" dirty="0">
                <a:solidFill>
                  <a:srgbClr val="FFFFFF"/>
                </a:solidFill>
              </a:rPr>
              <a:t> </a:t>
            </a:r>
            <a:r>
              <a:rPr sz="3600" dirty="0">
                <a:solidFill>
                  <a:srgbClr val="FFFFFF"/>
                </a:solidFill>
              </a:rPr>
              <a:t>CLASS</a:t>
            </a:r>
            <a:r>
              <a:rPr sz="3600" spc="-10" dirty="0">
                <a:solidFill>
                  <a:srgbClr val="FFFFFF"/>
                </a:solidFill>
              </a:rPr>
              <a:t> EXAMPLE</a:t>
            </a:r>
            <a:endParaRPr sz="3600"/>
          </a:p>
        </p:txBody>
      </p:sp>
      <p:sp>
        <p:nvSpPr>
          <p:cNvPr id="3" name="object 3"/>
          <p:cNvSpPr txBox="1"/>
          <p:nvPr/>
        </p:nvSpPr>
        <p:spPr>
          <a:xfrm>
            <a:off x="558190" y="2638805"/>
            <a:ext cx="1682750" cy="873957"/>
          </a:xfrm>
          <a:prstGeom prst="rect">
            <a:avLst/>
          </a:prstGeom>
        </p:spPr>
        <p:txBody>
          <a:bodyPr vert="horz" wrap="square" lIns="0" tIns="12065" rIns="0" bIns="0" rtlCol="0">
            <a:spAutoFit/>
          </a:bodyPr>
          <a:lstStyle/>
          <a:p>
            <a:pPr marL="12700">
              <a:lnSpc>
                <a:spcPct val="100000"/>
              </a:lnSpc>
              <a:spcBef>
                <a:spcPts val="95"/>
              </a:spcBef>
            </a:pPr>
            <a:r>
              <a:rPr lang="en-CA" sz="2800" b="1" dirty="0">
                <a:solidFill>
                  <a:srgbClr val="FFFFFF"/>
                </a:solidFill>
                <a:latin typeface="Arial"/>
                <a:cs typeface="Arial"/>
              </a:rPr>
              <a:t>Belair Bistro</a:t>
            </a:r>
            <a:endParaRPr sz="2800" dirty="0">
              <a:latin typeface="Arial"/>
              <a:cs typeface="Arial"/>
            </a:endParaRPr>
          </a:p>
        </p:txBody>
      </p:sp>
      <p:pic>
        <p:nvPicPr>
          <p:cNvPr id="1026" name="Picture 2" descr="Bistro 990 - Wikipedia">
            <a:extLst>
              <a:ext uri="{FF2B5EF4-FFF2-40B4-BE49-F238E27FC236}">
                <a16:creationId xmlns:a16="http://schemas.microsoft.com/office/drawing/2014/main" id="{FCD157B0-40BE-D02B-F8F9-C9C9A29857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4192" y="1406526"/>
            <a:ext cx="2047875" cy="2228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6F989-30C7-9B2C-9B7C-A362216BBA6E}"/>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DDB6ED7E-48FF-4DDA-BE32-1075D94F51AF}"/>
              </a:ext>
            </a:extLst>
          </p:cNvPr>
          <p:cNvSpPr>
            <a:spLocks noGrp="1"/>
          </p:cNvSpPr>
          <p:nvPr>
            <p:ph type="subTitle" idx="1"/>
          </p:nvPr>
        </p:nvSpPr>
        <p:spPr>
          <a:xfrm>
            <a:off x="239351" y="116629"/>
            <a:ext cx="9601067" cy="506016"/>
          </a:xfrm>
        </p:spPr>
        <p:txBody>
          <a:bodyPr/>
          <a:lstStyle/>
          <a:p>
            <a:r>
              <a:rPr lang="en-CA" dirty="0"/>
              <a:t>Any Questions?</a:t>
            </a:r>
            <a:endParaRPr lang="en-US" sz="1800" dirty="0"/>
          </a:p>
          <a:p>
            <a:endParaRPr lang="en-CA" dirty="0"/>
          </a:p>
        </p:txBody>
      </p:sp>
      <p:sp>
        <p:nvSpPr>
          <p:cNvPr id="2" name="object 16">
            <a:extLst>
              <a:ext uri="{FF2B5EF4-FFF2-40B4-BE49-F238E27FC236}">
                <a16:creationId xmlns:a16="http://schemas.microsoft.com/office/drawing/2014/main" id="{70E3F86C-C2BA-7728-C49B-7B059BF0EA10}"/>
              </a:ext>
            </a:extLst>
          </p:cNvPr>
          <p:cNvSpPr txBox="1">
            <a:spLocks noGrp="1"/>
          </p:cNvSpPr>
          <p:nvPr>
            <p:ph type="sldNum" sz="quarter" idx="12"/>
          </p:nvPr>
        </p:nvSpPr>
        <p:spPr>
          <a:xfrm>
            <a:off x="239351" y="6525348"/>
            <a:ext cx="480053" cy="216023"/>
          </a:xfrm>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5" dirty="0"/>
              <a:t>77</a:t>
            </a:fld>
            <a:endParaRPr spc="-5" dirty="0"/>
          </a:p>
        </p:txBody>
      </p:sp>
    </p:spTree>
    <p:extLst>
      <p:ext uri="{BB962C8B-B14F-4D97-AF65-F5344CB8AC3E}">
        <p14:creationId xmlns:p14="http://schemas.microsoft.com/office/powerpoint/2010/main" val="1794917252"/>
      </p:ext>
    </p:extLst>
  </p:cSld>
  <p:clrMapOvr>
    <a:masterClrMapping/>
  </p:clrMapOvr>
</p:sld>
</file>

<file path=ppt/theme/_rels/theme8.xml.rels><?xml version="1.0" encoding="UTF-8" standalone="yes"?>
<Relationships xmlns="http://schemas.openxmlformats.org/package/2006/relationships"><Relationship Id="rId1" Type="http://schemas.openxmlformats.org/officeDocument/2006/relationships/image" Target="../media/image9.jpeg"/></Relationships>
</file>

<file path=ppt/theme/theme1.xml><?xml version="1.0" encoding="utf-8"?>
<a:theme xmlns:a="http://schemas.openxmlformats.org/drawingml/2006/main" name="Rotman Pi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otman Cy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Rotman Dark Te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Rotman Blu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Rotman Oran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Rotman Gre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Rotman Gol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2_Foundry">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Foundry">
      <a:majorFont>
        <a:latin typeface="Rockwell"/>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oundry">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75000"/>
                <a:satMod val="400000"/>
              </a:schemeClr>
            </a:gs>
            <a:gs pos="20000">
              <a:schemeClr val="phClr">
                <a:tint val="80000"/>
                <a:satMod val="355000"/>
              </a:schemeClr>
            </a:gs>
            <a:gs pos="100000">
              <a:schemeClr val="phClr">
                <a:tint val="95000"/>
                <a:shade val="55000"/>
                <a:satMod val="355000"/>
              </a:schemeClr>
            </a:gs>
          </a:gsLst>
          <a:path path="circle">
            <a:fillToRect l="67500" t="35000" r="32500" b="65000"/>
          </a:path>
        </a:gradFill>
        <a:blipFill>
          <a:blip xmlns:r="http://schemas.openxmlformats.org/officeDocument/2006/relationships" r:embed="rId1">
            <a:duotone>
              <a:schemeClr val="phClr">
                <a:shade val="30000"/>
                <a:satMod val="120000"/>
              </a:schemeClr>
              <a:schemeClr val="phClr">
                <a:tint val="70000"/>
                <a:satMod val="250000"/>
              </a:schemeClr>
            </a:duotone>
          </a:blip>
          <a:tile tx="0" ty="0" sx="50000" sy="50000" flip="none" algn="t"/>
        </a:blip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9C29625CE8F2445A33C4944AD902EE6" ma:contentTypeVersion="18" ma:contentTypeDescription="Create a new document." ma:contentTypeScope="" ma:versionID="2ba906667caed82590a3b6d7b3da7513">
  <xsd:schema xmlns:xsd="http://www.w3.org/2001/XMLSchema" xmlns:xs="http://www.w3.org/2001/XMLSchema" xmlns:p="http://schemas.microsoft.com/office/2006/metadata/properties" xmlns:ns3="c18c8954-ab2f-4275-a5d7-b9aa33856ba2" xmlns:ns4="7e677d30-5ff7-4313-a396-6d249a69ab27" targetNamespace="http://schemas.microsoft.com/office/2006/metadata/properties" ma:root="true" ma:fieldsID="85ab7bee49a667cd25923cf2338d3e94" ns3:_="" ns4:_="">
    <xsd:import namespace="c18c8954-ab2f-4275-a5d7-b9aa33856ba2"/>
    <xsd:import namespace="7e677d30-5ff7-4313-a396-6d249a69ab2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OCR" minOccurs="0"/>
                <xsd:element ref="ns3:_activity" minOccurs="0"/>
                <xsd:element ref="ns3:MediaServiceObjectDetectorVersions" minOccurs="0"/>
                <xsd:element ref="ns3:MediaServiceSystemTags" minOccurs="0"/>
                <xsd:element ref="ns3:MediaServiceSearchProperties"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8c8954-ab2f-4275-a5d7-b9aa33856b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e677d30-5ff7-4313-a396-6d249a69ab27"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c18c8954-ab2f-4275-a5d7-b9aa33856ba2" xsi:nil="true"/>
  </documentManagement>
</p:properties>
</file>

<file path=customXml/itemProps1.xml><?xml version="1.0" encoding="utf-8"?>
<ds:datastoreItem xmlns:ds="http://schemas.openxmlformats.org/officeDocument/2006/customXml" ds:itemID="{57CF0919-26FB-4AF4-98AE-101D7BAB3817}">
  <ds:schemaRefs>
    <ds:schemaRef ds:uri="http://schemas.microsoft.com/sharepoint/v3/contenttype/forms"/>
  </ds:schemaRefs>
</ds:datastoreItem>
</file>

<file path=customXml/itemProps2.xml><?xml version="1.0" encoding="utf-8"?>
<ds:datastoreItem xmlns:ds="http://schemas.openxmlformats.org/officeDocument/2006/customXml" ds:itemID="{23AC9AE6-CD88-486C-8B5C-3155BF730A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8c8954-ab2f-4275-a5d7-b9aa33856ba2"/>
    <ds:schemaRef ds:uri="7e677d30-5ff7-4313-a396-6d249a69ab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8103E23-3D7C-4E39-9DD5-75683B020A9E}">
  <ds:schemaRefs>
    <ds:schemaRef ds:uri="http://schemas.openxmlformats.org/package/2006/metadata/core-properties"/>
    <ds:schemaRef ds:uri="http://purl.org/dc/terms/"/>
    <ds:schemaRef ds:uri="http://www.w3.org/XML/1998/namespace"/>
    <ds:schemaRef ds:uri="c18c8954-ab2f-4275-a5d7-b9aa33856ba2"/>
    <ds:schemaRef ds:uri="http://purl.org/dc/elements/1.1/"/>
    <ds:schemaRef ds:uri="http://schemas.microsoft.com/office/2006/documentManagement/types"/>
    <ds:schemaRef ds:uri="7e677d30-5ff7-4313-a396-6d249a69ab27"/>
    <ds:schemaRef ds:uri="http://purl.org/dc/dcmitype/"/>
    <ds:schemaRef ds:uri="http://schemas.microsoft.com/office/infopath/2007/PartnerControls"/>
    <ds:schemaRef ds:uri="http://schemas.microsoft.com/office/2006/metadata/properties"/>
  </ds:schemaRefs>
</ds:datastoreItem>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otalTime>12166</TotalTime>
  <Words>3778</Words>
  <Application>Microsoft Office PowerPoint</Application>
  <PresentationFormat>Widescreen</PresentationFormat>
  <Paragraphs>644</Paragraphs>
  <Slides>77</Slides>
  <Notes>49</Notes>
  <HiddenSlides>0</HiddenSlides>
  <MMClips>0</MMClips>
  <ScaleCrop>false</ScaleCrop>
  <HeadingPairs>
    <vt:vector size="8" baseType="variant">
      <vt:variant>
        <vt:lpstr>Fonts Used</vt:lpstr>
      </vt:variant>
      <vt:variant>
        <vt:i4>8</vt:i4>
      </vt:variant>
      <vt:variant>
        <vt:lpstr>Theme</vt:lpstr>
      </vt:variant>
      <vt:variant>
        <vt:i4>8</vt:i4>
      </vt:variant>
      <vt:variant>
        <vt:lpstr>Embedded OLE Servers</vt:lpstr>
      </vt:variant>
      <vt:variant>
        <vt:i4>1</vt:i4>
      </vt:variant>
      <vt:variant>
        <vt:lpstr>Slide Titles</vt:lpstr>
      </vt:variant>
      <vt:variant>
        <vt:i4>77</vt:i4>
      </vt:variant>
    </vt:vector>
  </HeadingPairs>
  <TitlesOfParts>
    <vt:vector size="94" baseType="lpstr">
      <vt:lpstr>MS PGothic</vt:lpstr>
      <vt:lpstr>Calibri</vt:lpstr>
      <vt:lpstr>Arial</vt:lpstr>
      <vt:lpstr>Rockwell</vt:lpstr>
      <vt:lpstr>Arial MT</vt:lpstr>
      <vt:lpstr>Wingdings 3</vt:lpstr>
      <vt:lpstr>Wingdings 2</vt:lpstr>
      <vt:lpstr>Times New Roman</vt:lpstr>
      <vt:lpstr>Rotman Pink</vt:lpstr>
      <vt:lpstr>Rotman Cyan</vt:lpstr>
      <vt:lpstr>Rotman Dark Teal</vt:lpstr>
      <vt:lpstr>Rotman Blue</vt:lpstr>
      <vt:lpstr>Rotman Orange</vt:lpstr>
      <vt:lpstr>Rotman Grey</vt:lpstr>
      <vt:lpstr>Rotman Gold</vt:lpstr>
      <vt:lpstr>2_Foundry</vt:lpstr>
      <vt:lpstr>Worksheet</vt:lpstr>
      <vt:lpstr>    RSM222 Management Accounting 1  Class 10: Relevant Costs for Decision Making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Repairing or Replacing Equipment</vt:lpstr>
      <vt:lpstr>PowerPoint Presentation</vt:lpstr>
      <vt:lpstr>PowerPoint Presentation</vt:lpstr>
      <vt:lpstr>PowerPoint Presentation</vt:lpstr>
      <vt:lpstr>Adding or Dropping a Segment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Make or Buy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Special Order</vt:lpstr>
      <vt:lpstr>PowerPoint Presentation</vt:lpstr>
      <vt:lpstr>PowerPoint Presentation</vt:lpstr>
      <vt:lpstr>PowerPoint Presentation</vt:lpstr>
      <vt:lpstr>PowerPoint Presentation</vt:lpstr>
      <vt:lpstr>PowerPoint Presentation</vt:lpstr>
      <vt:lpstr>PowerPoint Presentation</vt:lpstr>
      <vt:lpstr>Sell or Process Further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Utilization of Constrained Resource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 CLASS 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Graham Huber</dc:creator>
  <cp:lastModifiedBy>Elisa Zuliani</cp:lastModifiedBy>
  <cp:revision>194</cp:revision>
  <cp:lastPrinted>2025-09-11T22:16:33Z</cp:lastPrinted>
  <dcterms:created xsi:type="dcterms:W3CDTF">2013-07-26T14:57:40Z</dcterms:created>
  <dcterms:modified xsi:type="dcterms:W3CDTF">2025-11-11T15:22:16Z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0x01010089C29625CE8F2445A33C4944AD902EE6</vt:lpwstr>
  </property>
</Properties>
</file>