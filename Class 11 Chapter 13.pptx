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" ContentType="application/vnd.ms-exce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  <p:sldMasterId id="2147483850" r:id="rId11"/>
  </p:sldMasterIdLst>
  <p:notesMasterIdLst>
    <p:notesMasterId r:id="rId82"/>
  </p:notesMasterIdLst>
  <p:sldIdLst>
    <p:sldId id="256" r:id="rId12"/>
    <p:sldId id="258" r:id="rId13"/>
    <p:sldId id="886" r:id="rId14"/>
    <p:sldId id="887" r:id="rId15"/>
    <p:sldId id="888" r:id="rId16"/>
    <p:sldId id="889" r:id="rId17"/>
    <p:sldId id="900" r:id="rId18"/>
    <p:sldId id="890" r:id="rId19"/>
    <p:sldId id="805" r:id="rId20"/>
    <p:sldId id="264" r:id="rId21"/>
    <p:sldId id="901" r:id="rId22"/>
    <p:sldId id="891" r:id="rId23"/>
    <p:sldId id="268" r:id="rId24"/>
    <p:sldId id="269" r:id="rId25"/>
    <p:sldId id="806" r:id="rId26"/>
    <p:sldId id="807" r:id="rId27"/>
    <p:sldId id="808" r:id="rId28"/>
    <p:sldId id="809" r:id="rId29"/>
    <p:sldId id="810" r:id="rId30"/>
    <p:sldId id="811" r:id="rId31"/>
    <p:sldId id="812" r:id="rId32"/>
    <p:sldId id="813" r:id="rId33"/>
    <p:sldId id="815" r:id="rId34"/>
    <p:sldId id="817" r:id="rId35"/>
    <p:sldId id="819" r:id="rId36"/>
    <p:sldId id="824" r:id="rId37"/>
    <p:sldId id="892" r:id="rId38"/>
    <p:sldId id="821" r:id="rId39"/>
    <p:sldId id="822" r:id="rId40"/>
    <p:sldId id="893" r:id="rId41"/>
    <p:sldId id="823" r:id="rId42"/>
    <p:sldId id="825" r:id="rId43"/>
    <p:sldId id="826" r:id="rId44"/>
    <p:sldId id="827" r:id="rId45"/>
    <p:sldId id="837" r:id="rId46"/>
    <p:sldId id="838" r:id="rId47"/>
    <p:sldId id="839" r:id="rId48"/>
    <p:sldId id="840" r:id="rId49"/>
    <p:sldId id="841" r:id="rId50"/>
    <p:sldId id="842" r:id="rId51"/>
    <p:sldId id="843" r:id="rId52"/>
    <p:sldId id="850" r:id="rId53"/>
    <p:sldId id="846" r:id="rId54"/>
    <p:sldId id="902" r:id="rId55"/>
    <p:sldId id="851" r:id="rId56"/>
    <p:sldId id="273" r:id="rId57"/>
    <p:sldId id="895" r:id="rId58"/>
    <p:sldId id="865" r:id="rId59"/>
    <p:sldId id="853" r:id="rId60"/>
    <p:sldId id="854" r:id="rId61"/>
    <p:sldId id="856" r:id="rId62"/>
    <p:sldId id="857" r:id="rId63"/>
    <p:sldId id="907" r:id="rId64"/>
    <p:sldId id="794" r:id="rId65"/>
    <p:sldId id="906" r:id="rId66"/>
    <p:sldId id="903" r:id="rId67"/>
    <p:sldId id="896" r:id="rId68"/>
    <p:sldId id="861" r:id="rId69"/>
    <p:sldId id="904" r:id="rId70"/>
    <p:sldId id="883" r:id="rId71"/>
    <p:sldId id="884" r:id="rId72"/>
    <p:sldId id="897" r:id="rId73"/>
    <p:sldId id="869" r:id="rId74"/>
    <p:sldId id="873" r:id="rId75"/>
    <p:sldId id="905" r:id="rId76"/>
    <p:sldId id="877" r:id="rId77"/>
    <p:sldId id="885" r:id="rId78"/>
    <p:sldId id="879" r:id="rId79"/>
    <p:sldId id="899" r:id="rId80"/>
    <p:sldId id="706" r:id="rId81"/>
  </p:sldIdLst>
  <p:sldSz cx="12192000" cy="6858000"/>
  <p:notesSz cx="6985000" cy="9283700"/>
  <p:embeddedFontLst>
    <p:embeddedFont>
      <p:font typeface="Cambria Math" panose="02040503050406030204" pitchFamily="18" charset="0"/>
      <p:regular r:id="rId83"/>
    </p:embeddedFont>
    <p:embeddedFont>
      <p:font typeface="Rockwell" panose="02060603020205020403" pitchFamily="18" charset="0"/>
      <p:regular r:id="rId84"/>
      <p:bold r:id="rId85"/>
      <p:italic r:id="rId86"/>
      <p:boldItalic r:id="rId87"/>
    </p:embeddedFont>
    <p:embeddedFont>
      <p:font typeface="Wingdings 2" panose="05020102010507070707" pitchFamily="18" charset="2"/>
      <p:regular r:id="rId88"/>
    </p:embeddedFont>
    <p:embeddedFont>
      <p:font typeface="Wingdings 3" panose="05040102010807070707" pitchFamily="18" charset="2"/>
      <p:regular r:id="rId8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AAD31-62A6-4AD2-A4C6-890D4A8624D7}" v="106" dt="2025-11-16T03:38:26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9" autoAdjust="0"/>
    <p:restoredTop sz="94288" autoAdjust="0"/>
  </p:normalViewPr>
  <p:slideViewPr>
    <p:cSldViewPr>
      <p:cViewPr varScale="1">
        <p:scale>
          <a:sx n="59" d="100"/>
          <a:sy n="59" d="100"/>
        </p:scale>
        <p:origin x="1168" y="40"/>
      </p:cViewPr>
      <p:guideLst>
        <p:guide orient="horz" pos="1979"/>
        <p:guide pos="3840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font" Target="fonts/font2.fntdata"/><Relationship Id="rId89" Type="http://schemas.openxmlformats.org/officeDocument/2006/relationships/font" Target="fonts/font7.fntdata"/><Relationship Id="rId16" Type="http://schemas.openxmlformats.org/officeDocument/2006/relationships/slide" Target="slides/slide5.xml"/><Relationship Id="rId11" Type="http://schemas.openxmlformats.org/officeDocument/2006/relationships/slideMaster" Target="slideMasters/slideMaster8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5" Type="http://schemas.openxmlformats.org/officeDocument/2006/relationships/slideMaster" Target="slideMasters/slideMaster2.xml"/><Relationship Id="rId90" Type="http://schemas.openxmlformats.org/officeDocument/2006/relationships/presProps" Target="presProps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80" Type="http://schemas.openxmlformats.org/officeDocument/2006/relationships/slide" Target="slides/slide69.xml"/><Relationship Id="rId85" Type="http://schemas.openxmlformats.org/officeDocument/2006/relationships/font" Target="fonts/font3.fntdata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83" Type="http://schemas.openxmlformats.org/officeDocument/2006/relationships/font" Target="fonts/font1.fntdata"/><Relationship Id="rId88" Type="http://schemas.openxmlformats.org/officeDocument/2006/relationships/font" Target="fonts/font6.fntdata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81" Type="http://schemas.openxmlformats.org/officeDocument/2006/relationships/slide" Target="slides/slide70.xml"/><Relationship Id="rId86" Type="http://schemas.openxmlformats.org/officeDocument/2006/relationships/font" Target="fonts/font4.fntdata"/><Relationship Id="rId9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0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font" Target="fonts/font5.fntdata"/><Relationship Id="rId61" Type="http://schemas.openxmlformats.org/officeDocument/2006/relationships/slide" Target="slides/slide5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27">
            <a:extLst>
              <a:ext uri="{FF2B5EF4-FFF2-40B4-BE49-F238E27FC236}">
                <a16:creationId xmlns:a16="http://schemas.microsoft.com/office/drawing/2014/main" id="{9461BD8B-DA16-4449-BDBC-49A4A5EE7E5E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AB31392E-FF54-4330-8311-67082588C7B8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4818" name="Rectangle 1031">
            <a:extLst>
              <a:ext uri="{FF2B5EF4-FFF2-40B4-BE49-F238E27FC236}">
                <a16:creationId xmlns:a16="http://schemas.microsoft.com/office/drawing/2014/main" id="{F084A66B-D1D0-4F37-BB9D-A5E8F29F1C1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11FEBF1-3AAC-4148-A2DB-022C054EA4CD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6D717CA8-89A2-4CA5-91CA-84AAD5AC9C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3D06A375-DA30-43D3-AE02-781CF38A18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193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27">
            <a:extLst>
              <a:ext uri="{FF2B5EF4-FFF2-40B4-BE49-F238E27FC236}">
                <a16:creationId xmlns:a16="http://schemas.microsoft.com/office/drawing/2014/main" id="{107A46B0-4DAD-4993-BA6B-F1BCCE31FBC3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A2BE371F-A36F-4DAC-8B56-1C2F07D6B5D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6866" name="Rectangle 1031">
            <a:extLst>
              <a:ext uri="{FF2B5EF4-FFF2-40B4-BE49-F238E27FC236}">
                <a16:creationId xmlns:a16="http://schemas.microsoft.com/office/drawing/2014/main" id="{79F5F824-5349-4563-9A87-1CCE0C5FCB5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354B917-D975-43D4-AA70-AC6C1DBF1195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96C76B3-522B-417C-B2A6-36C3C2637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BD82259-0B4C-4F76-84AF-A70FE9E769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765847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027">
            <a:extLst>
              <a:ext uri="{FF2B5EF4-FFF2-40B4-BE49-F238E27FC236}">
                <a16:creationId xmlns:a16="http://schemas.microsoft.com/office/drawing/2014/main" id="{EAC000FD-098C-4DFE-BFAD-D1C063BF767D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5CEB6E99-F325-43A9-87DD-733D3C0E9451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0962" name="Rectangle 1031">
            <a:extLst>
              <a:ext uri="{FF2B5EF4-FFF2-40B4-BE49-F238E27FC236}">
                <a16:creationId xmlns:a16="http://schemas.microsoft.com/office/drawing/2014/main" id="{2CB697C3-3A9D-49FE-8A58-B3867D99627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9B369F6-3CA6-4B99-B327-25639128B1C8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9D63F01-8C47-43B9-97B5-88112082D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8A81204-8B0D-47FF-B751-9038B74CF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832863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027">
            <a:extLst>
              <a:ext uri="{FF2B5EF4-FFF2-40B4-BE49-F238E27FC236}">
                <a16:creationId xmlns:a16="http://schemas.microsoft.com/office/drawing/2014/main" id="{E908BFA0-026C-4383-BFEE-DA8802E01D70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C02BC47C-D020-4FFA-A508-5B254D505A16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0" name="Rectangle 1031">
            <a:extLst>
              <a:ext uri="{FF2B5EF4-FFF2-40B4-BE49-F238E27FC236}">
                <a16:creationId xmlns:a16="http://schemas.microsoft.com/office/drawing/2014/main" id="{C35B5B4E-2A03-4F5A-8FA1-30D5F7A9DC7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B8075E2-8F22-4FDC-BD6F-F46636F2FFC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55F63563-AB14-4E07-93CB-F84546E336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5FD836B-A123-4648-96D0-A63B8D3CF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86331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027">
            <a:extLst>
              <a:ext uri="{FF2B5EF4-FFF2-40B4-BE49-F238E27FC236}">
                <a16:creationId xmlns:a16="http://schemas.microsoft.com/office/drawing/2014/main" id="{78A4BA35-E91D-4C36-87ED-B210156BC2F7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9B55D0A8-DF18-463B-BBF3-35A5F1599B55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5058" name="Rectangle 1031">
            <a:extLst>
              <a:ext uri="{FF2B5EF4-FFF2-40B4-BE49-F238E27FC236}">
                <a16:creationId xmlns:a16="http://schemas.microsoft.com/office/drawing/2014/main" id="{E2707E2F-BB02-4521-B202-76110C6C4A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EED6A96-33D2-4DFC-BE97-D4D43E34995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5DF6944-90B4-4A01-8ADF-F45506317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3AE8B42-7AE6-4D63-BA48-0BC195153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58103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027">
            <a:extLst>
              <a:ext uri="{FF2B5EF4-FFF2-40B4-BE49-F238E27FC236}">
                <a16:creationId xmlns:a16="http://schemas.microsoft.com/office/drawing/2014/main" id="{A2A579E8-49D8-4681-86F5-39EEA0FD4E31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8CBC621F-8724-43AB-B3A6-F67D593D63C6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7106" name="Rectangle 1031">
            <a:extLst>
              <a:ext uri="{FF2B5EF4-FFF2-40B4-BE49-F238E27FC236}">
                <a16:creationId xmlns:a16="http://schemas.microsoft.com/office/drawing/2014/main" id="{59033B67-0F15-4D3E-AE81-F16C169F996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F83946E-1CB5-4C05-91F8-3EDA5B0B554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299B8A2-9E30-4C38-A5C7-E7EDD61DF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16BD732-530D-45A9-AA3D-D9C1A1223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72443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027">
            <a:extLst>
              <a:ext uri="{FF2B5EF4-FFF2-40B4-BE49-F238E27FC236}">
                <a16:creationId xmlns:a16="http://schemas.microsoft.com/office/drawing/2014/main" id="{92568114-9026-4153-8985-EF8CEC88C9B0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D1605D3B-2306-4A03-9406-1233A2AADCB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202" name="Rectangle 1031">
            <a:extLst>
              <a:ext uri="{FF2B5EF4-FFF2-40B4-BE49-F238E27FC236}">
                <a16:creationId xmlns:a16="http://schemas.microsoft.com/office/drawing/2014/main" id="{1D202154-E7CB-4655-9C36-909940F7DB2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6BFEF8C-9C70-43E6-AE97-35F377AA880B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1F3EB9D-5BE9-42B0-A644-869ABB10D0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68C54E4C-4564-43FC-9542-001538C97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63386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027">
            <a:extLst>
              <a:ext uri="{FF2B5EF4-FFF2-40B4-BE49-F238E27FC236}">
                <a16:creationId xmlns:a16="http://schemas.microsoft.com/office/drawing/2014/main" id="{5D42FA02-94E7-41D7-B16E-F90257B6D7FC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9ADAC2D3-D67B-4671-B2C4-04A5F8554025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24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5298" name="Rectangle 1031">
            <a:extLst>
              <a:ext uri="{FF2B5EF4-FFF2-40B4-BE49-F238E27FC236}">
                <a16:creationId xmlns:a16="http://schemas.microsoft.com/office/drawing/2014/main" id="{CFE4B242-4921-4F52-8F1D-2187A1FD692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AC4A29F-D7CF-4F88-B821-C763AF3833B4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24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5299" name="Rectangle 1026">
            <a:extLst>
              <a:ext uri="{FF2B5EF4-FFF2-40B4-BE49-F238E27FC236}">
                <a16:creationId xmlns:a16="http://schemas.microsoft.com/office/drawing/2014/main" id="{2D20F38F-754E-46DB-9159-8FFED49B9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0" name="Rectangle 1027">
            <a:extLst>
              <a:ext uri="{FF2B5EF4-FFF2-40B4-BE49-F238E27FC236}">
                <a16:creationId xmlns:a16="http://schemas.microsoft.com/office/drawing/2014/main" id="{EA44A048-7F39-4B00-A411-B15D28F6DF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87846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027">
            <a:extLst>
              <a:ext uri="{FF2B5EF4-FFF2-40B4-BE49-F238E27FC236}">
                <a16:creationId xmlns:a16="http://schemas.microsoft.com/office/drawing/2014/main" id="{DB6AB787-02C6-4DC4-87FD-3061F4E19E05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AF057BE-53A4-4D5A-9979-E966506BC9C1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4" name="Rectangle 1031">
            <a:extLst>
              <a:ext uri="{FF2B5EF4-FFF2-40B4-BE49-F238E27FC236}">
                <a16:creationId xmlns:a16="http://schemas.microsoft.com/office/drawing/2014/main" id="{413912A5-0BDE-469E-A758-4D8F2BBE8D9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A367C4-6678-449C-AB9B-DECC4C58E952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0BC90CB-A054-49D3-B63C-920B03F15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4C19B08-966A-4398-9A9C-F7B048B0B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177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027">
            <a:extLst>
              <a:ext uri="{FF2B5EF4-FFF2-40B4-BE49-F238E27FC236}">
                <a16:creationId xmlns:a16="http://schemas.microsoft.com/office/drawing/2014/main" id="{DB6AB787-02C6-4DC4-87FD-3061F4E19E05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AF057BE-53A4-4D5A-9979-E966506BC9C1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26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4" name="Rectangle 1031">
            <a:extLst>
              <a:ext uri="{FF2B5EF4-FFF2-40B4-BE49-F238E27FC236}">
                <a16:creationId xmlns:a16="http://schemas.microsoft.com/office/drawing/2014/main" id="{413912A5-0BDE-469E-A758-4D8F2BBE8D9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A367C4-6678-449C-AB9B-DECC4C58E952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26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0BC90CB-A054-49D3-B63C-920B03F15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4C19B08-966A-4398-9A9C-F7B048B0B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572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027">
            <a:extLst>
              <a:ext uri="{FF2B5EF4-FFF2-40B4-BE49-F238E27FC236}">
                <a16:creationId xmlns:a16="http://schemas.microsoft.com/office/drawing/2014/main" id="{DB6AB787-02C6-4DC4-87FD-3061F4E19E05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AF057BE-53A4-4D5A-9979-E966506BC9C1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4" name="Rectangle 1031">
            <a:extLst>
              <a:ext uri="{FF2B5EF4-FFF2-40B4-BE49-F238E27FC236}">
                <a16:creationId xmlns:a16="http://schemas.microsoft.com/office/drawing/2014/main" id="{413912A5-0BDE-469E-A758-4D8F2BBE8D9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0A367C4-6678-449C-AB9B-DECC4C58E952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0BC90CB-A054-49D3-B63C-920B03F15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4C19B08-966A-4398-9A9C-F7B048B0B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13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027">
            <a:extLst>
              <a:ext uri="{FF2B5EF4-FFF2-40B4-BE49-F238E27FC236}">
                <a16:creationId xmlns:a16="http://schemas.microsoft.com/office/drawing/2014/main" id="{206BFFA9-B761-4363-80B2-5AFC3C60F0A7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9CF52978-C35F-466D-8A82-1CC9A5D04D7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0" name="Rectangle 1031">
            <a:extLst>
              <a:ext uri="{FF2B5EF4-FFF2-40B4-BE49-F238E27FC236}">
                <a16:creationId xmlns:a16="http://schemas.microsoft.com/office/drawing/2014/main" id="{79C4D546-3A1C-4325-BF7F-719E1855FD9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EFF4502-39EA-4517-AF98-D01CED8463E2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D501FE62-E311-409C-90ED-89C85479F5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ED917D45-C96E-491E-A21C-BDD37CF42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308360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027">
            <a:extLst>
              <a:ext uri="{FF2B5EF4-FFF2-40B4-BE49-F238E27FC236}">
                <a16:creationId xmlns:a16="http://schemas.microsoft.com/office/drawing/2014/main" id="{04C2A560-B7D3-4FAD-903C-530D6ABA23FC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F73A2BA-8DCF-414A-8FEB-57739901EAEB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5538" name="Rectangle 1031">
            <a:extLst>
              <a:ext uri="{FF2B5EF4-FFF2-40B4-BE49-F238E27FC236}">
                <a16:creationId xmlns:a16="http://schemas.microsoft.com/office/drawing/2014/main" id="{92789702-F1FE-4768-B657-A009CF84E2D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2308130-FF97-421B-ABC8-6E81B7A3562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358E48D-F9D7-4F0C-9052-14E8B63AEF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D7231AC4-76BC-45F4-8BA1-75D4532F7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496817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027">
            <a:extLst>
              <a:ext uri="{FF2B5EF4-FFF2-40B4-BE49-F238E27FC236}">
                <a16:creationId xmlns:a16="http://schemas.microsoft.com/office/drawing/2014/main" id="{098928D5-0996-4416-A3A9-79F269535426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327088A1-6191-42B8-9C3C-931DAB1AB689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7586" name="Rectangle 1031">
            <a:extLst>
              <a:ext uri="{FF2B5EF4-FFF2-40B4-BE49-F238E27FC236}">
                <a16:creationId xmlns:a16="http://schemas.microsoft.com/office/drawing/2014/main" id="{2E1E95B6-0721-4E5E-919F-DCD26D89F40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85599F4-4EE2-4440-9172-86033DBACED6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A9179C0-EDC2-4A1C-8720-A3992F201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D953BDC3-8052-45BE-A9CD-A9152A619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315738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027">
            <a:extLst>
              <a:ext uri="{FF2B5EF4-FFF2-40B4-BE49-F238E27FC236}">
                <a16:creationId xmlns:a16="http://schemas.microsoft.com/office/drawing/2014/main" id="{F52DF3CD-108C-4822-90DD-A88EFA96F05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5E00A17-B5BF-4E18-8C72-3409580FC56D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682" name="Rectangle 1031">
            <a:extLst>
              <a:ext uri="{FF2B5EF4-FFF2-40B4-BE49-F238E27FC236}">
                <a16:creationId xmlns:a16="http://schemas.microsoft.com/office/drawing/2014/main" id="{DD39CFAE-F9FE-4AC6-BB5E-135D87CE0AE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6086808-7F28-4FE6-9B95-6A94E7DC4A1C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1683" name="Rectangle 1026">
            <a:extLst>
              <a:ext uri="{FF2B5EF4-FFF2-40B4-BE49-F238E27FC236}">
                <a16:creationId xmlns:a16="http://schemas.microsoft.com/office/drawing/2014/main" id="{42F7B3E5-43AC-4427-8FFD-E4DF71F7DE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1027">
            <a:extLst>
              <a:ext uri="{FF2B5EF4-FFF2-40B4-BE49-F238E27FC236}">
                <a16:creationId xmlns:a16="http://schemas.microsoft.com/office/drawing/2014/main" id="{3D2220D7-0266-41CA-867C-677339A9A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96795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1027">
            <a:extLst>
              <a:ext uri="{FF2B5EF4-FFF2-40B4-BE49-F238E27FC236}">
                <a16:creationId xmlns:a16="http://schemas.microsoft.com/office/drawing/2014/main" id="{EBE78BAE-7DD1-4AE0-A4EF-27D4CF82908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5FF6A0F-2AB4-4357-AF44-36804A8298F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0" name="Rectangle 1031">
            <a:extLst>
              <a:ext uri="{FF2B5EF4-FFF2-40B4-BE49-F238E27FC236}">
                <a16:creationId xmlns:a16="http://schemas.microsoft.com/office/drawing/2014/main" id="{7107FB83-7637-448A-A9B6-4C510954F06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3CAB95-5055-46EE-B077-A0FBDA76931B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AA27097-83CC-4D1D-A777-F9541C90E7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92B4F1B2-9431-42F1-80D6-C407A66CBD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91682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027">
            <a:extLst>
              <a:ext uri="{FF2B5EF4-FFF2-40B4-BE49-F238E27FC236}">
                <a16:creationId xmlns:a16="http://schemas.microsoft.com/office/drawing/2014/main" id="{84C7C38F-00C3-488A-A745-69E68F624B0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6B52945-21CB-4E19-82A6-9F28559FC70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34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77D1BC45-5CDA-4217-B598-FAD946A52F8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1F9AD-3A97-4499-AD54-25A4AD86275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34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59A1F0-3E26-4651-AD9D-93C243DD7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47BE5ED-906F-4A11-B533-F15FE6D5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896370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027">
            <a:extLst>
              <a:ext uri="{FF2B5EF4-FFF2-40B4-BE49-F238E27FC236}">
                <a16:creationId xmlns:a16="http://schemas.microsoft.com/office/drawing/2014/main" id="{84C7C38F-00C3-488A-A745-69E68F624B0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6B52945-21CB-4E19-82A6-9F28559FC70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77D1BC45-5CDA-4217-B598-FAD946A52F8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1F9AD-3A97-4499-AD54-25A4AD86275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59A1F0-3E26-4651-AD9D-93C243DD7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47BE5ED-906F-4A11-B533-F15FE6D5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551201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027">
            <a:extLst>
              <a:ext uri="{FF2B5EF4-FFF2-40B4-BE49-F238E27FC236}">
                <a16:creationId xmlns:a16="http://schemas.microsoft.com/office/drawing/2014/main" id="{84C7C38F-00C3-488A-A745-69E68F624B0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6B52945-21CB-4E19-82A6-9F28559FC70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36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77D1BC45-5CDA-4217-B598-FAD946A52F8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1F9AD-3A97-4499-AD54-25A4AD86275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36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59A1F0-3E26-4651-AD9D-93C243DD7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47BE5ED-906F-4A11-B533-F15FE6D5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861232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027">
            <a:extLst>
              <a:ext uri="{FF2B5EF4-FFF2-40B4-BE49-F238E27FC236}">
                <a16:creationId xmlns:a16="http://schemas.microsoft.com/office/drawing/2014/main" id="{84C7C38F-00C3-488A-A745-69E68F624B0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6B52945-21CB-4E19-82A6-9F28559FC70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77D1BC45-5CDA-4217-B598-FAD946A52F8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1F9AD-3A97-4499-AD54-25A4AD86275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59A1F0-3E26-4651-AD9D-93C243DD7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47BE5ED-906F-4A11-B533-F15FE6D5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063975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027">
            <a:extLst>
              <a:ext uri="{FF2B5EF4-FFF2-40B4-BE49-F238E27FC236}">
                <a16:creationId xmlns:a16="http://schemas.microsoft.com/office/drawing/2014/main" id="{84C7C38F-00C3-488A-A745-69E68F624B0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6B52945-21CB-4E19-82A6-9F28559FC70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77D1BC45-5CDA-4217-B598-FAD946A52F8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1F9AD-3A97-4499-AD54-25A4AD86275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59A1F0-3E26-4651-AD9D-93C243DD7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47BE5ED-906F-4A11-B533-F15FE6D5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588253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027">
            <a:extLst>
              <a:ext uri="{FF2B5EF4-FFF2-40B4-BE49-F238E27FC236}">
                <a16:creationId xmlns:a16="http://schemas.microsoft.com/office/drawing/2014/main" id="{84C7C38F-00C3-488A-A745-69E68F624B0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6B52945-21CB-4E19-82A6-9F28559FC70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77D1BC45-5CDA-4217-B598-FAD946A52F8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1F9AD-3A97-4499-AD54-25A4AD86275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39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59A1F0-3E26-4651-AD9D-93C243DD7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47BE5ED-906F-4A11-B533-F15FE6D5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355389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027">
            <a:extLst>
              <a:ext uri="{FF2B5EF4-FFF2-40B4-BE49-F238E27FC236}">
                <a16:creationId xmlns:a16="http://schemas.microsoft.com/office/drawing/2014/main" id="{84C7C38F-00C3-488A-A745-69E68F624B0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6B52945-21CB-4E19-82A6-9F28559FC70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77D1BC45-5CDA-4217-B598-FAD946A52F8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1F9AD-3A97-4499-AD54-25A4AD86275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59A1F0-3E26-4651-AD9D-93C243DD7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47BE5ED-906F-4A11-B533-F15FE6D56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6349315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027">
            <a:extLst>
              <a:ext uri="{FF2B5EF4-FFF2-40B4-BE49-F238E27FC236}">
                <a16:creationId xmlns:a16="http://schemas.microsoft.com/office/drawing/2014/main" id="{CFF60E45-292B-433A-B8A7-30F2EC34B42F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BAE58E24-80C0-4BD6-8A45-1A2D0FFB112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8" name="Rectangle 1031">
            <a:extLst>
              <a:ext uri="{FF2B5EF4-FFF2-40B4-BE49-F238E27FC236}">
                <a16:creationId xmlns:a16="http://schemas.microsoft.com/office/drawing/2014/main" id="{84837969-9454-4833-BB8B-0972121170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88660A9-77B4-4872-9CD9-1B851AD7B419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7CBCCAF-9D7B-4A85-A3F9-813169204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005E8CB-0D33-46B7-812C-4E140F3DD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3272425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027">
            <a:extLst>
              <a:ext uri="{FF2B5EF4-FFF2-40B4-BE49-F238E27FC236}">
                <a16:creationId xmlns:a16="http://schemas.microsoft.com/office/drawing/2014/main" id="{CFF60E45-292B-433A-B8A7-30F2EC34B42F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BAE58E24-80C0-4BD6-8A45-1A2D0FFB112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8" name="Rectangle 1031">
            <a:extLst>
              <a:ext uri="{FF2B5EF4-FFF2-40B4-BE49-F238E27FC236}">
                <a16:creationId xmlns:a16="http://schemas.microsoft.com/office/drawing/2014/main" id="{84837969-9454-4833-BB8B-0972121170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88660A9-77B4-4872-9CD9-1B851AD7B419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7CBCCAF-9D7B-4A85-A3F9-813169204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005E8CB-0D33-46B7-812C-4E140F3DD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52521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1027">
            <a:extLst>
              <a:ext uri="{FF2B5EF4-FFF2-40B4-BE49-F238E27FC236}">
                <a16:creationId xmlns:a16="http://schemas.microsoft.com/office/drawing/2014/main" id="{F568925C-5ECF-460D-A5FC-A7E5E3DFB444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74E794AE-18ED-4E2E-B9A3-BD592F07434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2" name="Rectangle 1031">
            <a:extLst>
              <a:ext uri="{FF2B5EF4-FFF2-40B4-BE49-F238E27FC236}">
                <a16:creationId xmlns:a16="http://schemas.microsoft.com/office/drawing/2014/main" id="{A705F6AB-CB54-4173-9BA5-C16BF7121AF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20F59A6-B5AD-41A7-BD81-ADBB31BD65FB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18254591-986F-4CE2-97E9-A33599E077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9A141A7B-7BBD-4914-9CC0-1A7566121C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8310861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1027">
            <a:extLst>
              <a:ext uri="{FF2B5EF4-FFF2-40B4-BE49-F238E27FC236}">
                <a16:creationId xmlns:a16="http://schemas.microsoft.com/office/drawing/2014/main" id="{D111E199-4F0F-4D6B-B582-930BBB9AC87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2C0397A3-1D4A-4EA7-B117-08711E0E5CD6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4" name="Rectangle 1031">
            <a:extLst>
              <a:ext uri="{FF2B5EF4-FFF2-40B4-BE49-F238E27FC236}">
                <a16:creationId xmlns:a16="http://schemas.microsoft.com/office/drawing/2014/main" id="{8B316149-65B1-4C3B-AE4D-DADA3869531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CA4FFFA-464D-46E4-8EC9-8CEB4F2B70D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ACB02ED1-E1B7-4CEF-81B3-C54F1AE17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9F57F732-2B15-45A3-BBAA-24D57C211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460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1027">
            <a:extLst>
              <a:ext uri="{FF2B5EF4-FFF2-40B4-BE49-F238E27FC236}">
                <a16:creationId xmlns:a16="http://schemas.microsoft.com/office/drawing/2014/main" id="{D111E199-4F0F-4D6B-B582-930BBB9AC87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2C0397A3-1D4A-4EA7-B117-08711E0E5CD6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4" name="Rectangle 1031">
            <a:extLst>
              <a:ext uri="{FF2B5EF4-FFF2-40B4-BE49-F238E27FC236}">
                <a16:creationId xmlns:a16="http://schemas.microsoft.com/office/drawing/2014/main" id="{8B316149-65B1-4C3B-AE4D-DADA3869531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CA4FFFA-464D-46E4-8EC9-8CEB4F2B70D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ACB02ED1-E1B7-4CEF-81B3-C54F1AE17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9F57F732-2B15-45A3-BBAA-24D57C211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449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1027">
            <a:extLst>
              <a:ext uri="{FF2B5EF4-FFF2-40B4-BE49-F238E27FC236}">
                <a16:creationId xmlns:a16="http://schemas.microsoft.com/office/drawing/2014/main" id="{E5BA6C05-EED0-4E28-941F-A65164DE2A2B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591D5ED-9069-4233-859B-95B87469FA0B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4690" name="Rectangle 1031">
            <a:extLst>
              <a:ext uri="{FF2B5EF4-FFF2-40B4-BE49-F238E27FC236}">
                <a16:creationId xmlns:a16="http://schemas.microsoft.com/office/drawing/2014/main" id="{CAAE1A37-6384-44C7-AE6C-9C538620B8E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0127538-C01F-4F77-977E-BDF2FFC18694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49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E98EAB7D-5E98-4DB0-B83E-B5275847D3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5E236882-3DA9-4D8B-9692-F9C68C7B2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180027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1027">
            <a:extLst>
              <a:ext uri="{FF2B5EF4-FFF2-40B4-BE49-F238E27FC236}">
                <a16:creationId xmlns:a16="http://schemas.microsoft.com/office/drawing/2014/main" id="{036BBA27-2C64-4E9D-9923-284AE78174D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7074AA39-B3CE-4FBC-8DA3-48104CB48431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6738" name="Rectangle 1031">
            <a:extLst>
              <a:ext uri="{FF2B5EF4-FFF2-40B4-BE49-F238E27FC236}">
                <a16:creationId xmlns:a16="http://schemas.microsoft.com/office/drawing/2014/main" id="{87B682EA-81E4-484C-A4BD-29C283B6726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DC449AB-0279-44B6-8F73-3A8231094F98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47A0ACA7-1070-4E6E-8961-CDBDE7D26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164A0971-4484-4ADB-ACBA-73A6E3C01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3955610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027">
            <a:extLst>
              <a:ext uri="{FF2B5EF4-FFF2-40B4-BE49-F238E27FC236}">
                <a16:creationId xmlns:a16="http://schemas.microsoft.com/office/drawing/2014/main" id="{A58E1DF4-00C8-461F-A0A5-A12943D6A108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3F2DDE44-6241-4166-AED0-7A80EBC1FC56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0834" name="Rectangle 1031">
            <a:extLst>
              <a:ext uri="{FF2B5EF4-FFF2-40B4-BE49-F238E27FC236}">
                <a16:creationId xmlns:a16="http://schemas.microsoft.com/office/drawing/2014/main" id="{C0BB2381-C9A3-48AB-B126-D289BACF140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4D2DD0-2052-44CD-A05E-84D0C66D8CB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F8930727-36C5-4FBC-BF43-57568BD49C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055D321-EDB2-482C-B3AB-2EEA334A8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680679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1027">
            <a:extLst>
              <a:ext uri="{FF2B5EF4-FFF2-40B4-BE49-F238E27FC236}">
                <a16:creationId xmlns:a16="http://schemas.microsoft.com/office/drawing/2014/main" id="{E442DF0D-86B4-4C87-890C-AF6E942FD002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83084997-000F-45BF-BC7D-DF4F693982B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882" name="Rectangle 1031">
            <a:extLst>
              <a:ext uri="{FF2B5EF4-FFF2-40B4-BE49-F238E27FC236}">
                <a16:creationId xmlns:a16="http://schemas.microsoft.com/office/drawing/2014/main" id="{2016615D-373C-498C-B53F-4C25488C5AB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ACABEBF-B899-4BE9-8606-86D7B8C1C0F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52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DB225E59-F4BD-41E7-B188-A989F1AB2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C496E204-3A6E-4A1B-A92F-5FE620B7B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1600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2263D-A9B6-D70F-7765-AE00DB7C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1027">
            <a:extLst>
              <a:ext uri="{FF2B5EF4-FFF2-40B4-BE49-F238E27FC236}">
                <a16:creationId xmlns:a16="http://schemas.microsoft.com/office/drawing/2014/main" id="{F0FBD83C-62D9-BB5A-B8AD-9226960BA87E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83084997-000F-45BF-BC7D-DF4F693982B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882" name="Rectangle 1031">
            <a:extLst>
              <a:ext uri="{FF2B5EF4-FFF2-40B4-BE49-F238E27FC236}">
                <a16:creationId xmlns:a16="http://schemas.microsoft.com/office/drawing/2014/main" id="{DA4A3309-BD59-237F-FA13-A0382BDEE9D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ACABEBF-B899-4BE9-8606-86D7B8C1C0FA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55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4583BC6C-5828-CB2B-3CCE-5A70591BC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C985DB5B-A764-CAD3-82EB-C0C62FE99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1367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270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1027">
            <a:extLst>
              <a:ext uri="{FF2B5EF4-FFF2-40B4-BE49-F238E27FC236}">
                <a16:creationId xmlns:a16="http://schemas.microsoft.com/office/drawing/2014/main" id="{66249808-4FCB-4DB8-BC37-D64AD98A93EC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65061BE9-01F8-434D-905F-F0481717528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74" name="Rectangle 1031">
            <a:extLst>
              <a:ext uri="{FF2B5EF4-FFF2-40B4-BE49-F238E27FC236}">
                <a16:creationId xmlns:a16="http://schemas.microsoft.com/office/drawing/2014/main" id="{995982FA-DA57-4934-AF6B-604A4D157C0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F8A23A6-9D51-4326-8DB9-B856BC6E5092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B5AB0B3-F115-4A98-8306-802F8C14A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94592C6A-E2BC-49CB-BD0F-264444B27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32943" indent="-232943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036465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027">
            <a:extLst>
              <a:ext uri="{FF2B5EF4-FFF2-40B4-BE49-F238E27FC236}">
                <a16:creationId xmlns:a16="http://schemas.microsoft.com/office/drawing/2014/main" id="{A58E1DF4-00C8-461F-A0A5-A12943D6A108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3F2DDE44-6241-4166-AED0-7A80EBC1FC56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0834" name="Rectangle 1031">
            <a:extLst>
              <a:ext uri="{FF2B5EF4-FFF2-40B4-BE49-F238E27FC236}">
                <a16:creationId xmlns:a16="http://schemas.microsoft.com/office/drawing/2014/main" id="{C0BB2381-C9A3-48AB-B126-D289BACF140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4D2DD0-2052-44CD-A05E-84D0C66D8CBF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60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F8930727-36C5-4FBC-BF43-57568BD49C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055D321-EDB2-482C-B3AB-2EEA334A8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5451373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027">
            <a:extLst>
              <a:ext uri="{FF2B5EF4-FFF2-40B4-BE49-F238E27FC236}">
                <a16:creationId xmlns:a16="http://schemas.microsoft.com/office/drawing/2014/main" id="{CFF60E45-292B-433A-B8A7-30F2EC34B42F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BAE58E24-80C0-4BD6-8A45-1A2D0FFB112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8" name="Rectangle 1031">
            <a:extLst>
              <a:ext uri="{FF2B5EF4-FFF2-40B4-BE49-F238E27FC236}">
                <a16:creationId xmlns:a16="http://schemas.microsoft.com/office/drawing/2014/main" id="{84837969-9454-4833-BB8B-0972121170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88660A9-77B4-4872-9CD9-1B851AD7B419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61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7CBCCAF-9D7B-4A85-A3F9-813169204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005E8CB-0D33-46B7-812C-4E140F3DD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938454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1027">
            <a:extLst>
              <a:ext uri="{FF2B5EF4-FFF2-40B4-BE49-F238E27FC236}">
                <a16:creationId xmlns:a16="http://schemas.microsoft.com/office/drawing/2014/main" id="{DA397EDD-9050-4133-9E84-8852FAAFF00E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139FECB9-333B-47AE-8E74-BA150D843898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2338" name="Rectangle 1031">
            <a:extLst>
              <a:ext uri="{FF2B5EF4-FFF2-40B4-BE49-F238E27FC236}">
                <a16:creationId xmlns:a16="http://schemas.microsoft.com/office/drawing/2014/main" id="{B0544C9A-A789-4018-89F4-A9ECE2D9BD4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4C257AF-63C1-4C5E-A178-9803781490BD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63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D3253A4C-AF45-4242-A82D-1B41CA69B8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0278F333-2A63-419D-BD00-3A8E5D88A6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9618714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1027">
            <a:extLst>
              <a:ext uri="{FF2B5EF4-FFF2-40B4-BE49-F238E27FC236}">
                <a16:creationId xmlns:a16="http://schemas.microsoft.com/office/drawing/2014/main" id="{EB5AD82A-5BD5-44C0-B4A3-ED970BBE9570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B27CD9A4-DB6E-4A04-ACE8-0BFA318AB383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64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0530" name="Rectangle 1031">
            <a:extLst>
              <a:ext uri="{FF2B5EF4-FFF2-40B4-BE49-F238E27FC236}">
                <a16:creationId xmlns:a16="http://schemas.microsoft.com/office/drawing/2014/main" id="{BCCCCB82-FB0A-4BAF-A86A-A5DE566BA84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F86067A-18E3-42DF-8C45-0D6D243F52C1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64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7AFB2579-0EC5-4EDD-AF42-E1E6BEA803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9100" y="703263"/>
            <a:ext cx="6172200" cy="34734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97E35D9F-7822-4F16-8045-5A1BD1555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This method ignores</a:t>
            </a:r>
            <a:r>
              <a:rPr lang="en-US" altLang="en-US" baseline="0" dirty="0"/>
              <a:t> the cash flow after the payback </a:t>
            </a:r>
            <a:r>
              <a:rPr lang="en-US" altLang="en-US" baseline="0" dirty="0" err="1"/>
              <a:t>perod</a:t>
            </a:r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031379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1027">
            <a:extLst>
              <a:ext uri="{FF2B5EF4-FFF2-40B4-BE49-F238E27FC236}">
                <a16:creationId xmlns:a16="http://schemas.microsoft.com/office/drawing/2014/main" id="{3F9D815A-B56D-4540-9B1E-FA9ADB4434BA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42E69889-1F81-40B6-B859-F55A257D6801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66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8722" name="Rectangle 1031">
            <a:extLst>
              <a:ext uri="{FF2B5EF4-FFF2-40B4-BE49-F238E27FC236}">
                <a16:creationId xmlns:a16="http://schemas.microsoft.com/office/drawing/2014/main" id="{8C80FB44-1319-4537-998F-C2A6431C204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DA7E9E0-5DC7-45F0-BE7C-850E7C67957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66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950CCBA3-99A3-4514-BB18-CD878BBE15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6F3BABC-A213-4171-87A5-E3D935958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6510859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027">
            <a:extLst>
              <a:ext uri="{FF2B5EF4-FFF2-40B4-BE49-F238E27FC236}">
                <a16:creationId xmlns:a16="http://schemas.microsoft.com/office/drawing/2014/main" id="{CFF60E45-292B-433A-B8A7-30F2EC34B42F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BAE58E24-80C0-4BD6-8A45-1A2D0FFB1120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8" name="Rectangle 1031">
            <a:extLst>
              <a:ext uri="{FF2B5EF4-FFF2-40B4-BE49-F238E27FC236}">
                <a16:creationId xmlns:a16="http://schemas.microsoft.com/office/drawing/2014/main" id="{84837969-9454-4833-BB8B-0972121170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88660A9-77B4-4872-9CD9-1B851AD7B419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67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7CBCCAF-9D7B-4A85-A3F9-813169204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005E8CB-0D33-46B7-812C-4E140F3DD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7890719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1027">
            <a:extLst>
              <a:ext uri="{FF2B5EF4-FFF2-40B4-BE49-F238E27FC236}">
                <a16:creationId xmlns:a16="http://schemas.microsoft.com/office/drawing/2014/main" id="{BF10F50C-6403-42EB-AB68-7D0D84E19448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>
                <a:latin typeface="Arial" panose="020B0604020202020204" pitchFamily="34" charset="0"/>
              </a:rPr>
              <a:t>13-</a:t>
            </a:r>
            <a:fld id="{F9A9FB19-BB33-42B1-989B-F8F92152ADCE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2818" name="Rectangle 1031">
            <a:extLst>
              <a:ext uri="{FF2B5EF4-FFF2-40B4-BE49-F238E27FC236}">
                <a16:creationId xmlns:a16="http://schemas.microsoft.com/office/drawing/2014/main" id="{7F9EF229-80DE-4840-82D3-F973CE30CE9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28EB76F-1DEF-480D-BC1F-56871264467D}" type="slidenum">
              <a:rPr lang="en-US" altLang="en-US" sz="18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68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152FA3FC-678E-4B81-8D91-33126613E0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D69EA736-4794-4821-9B12-92E323459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4475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B1392C-3297-467A-99D4-DB880CC91EC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3DB1EB-5FA0-4432-8CDC-FF84D96FAB7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CA0CD77-1663-428B-966B-E5C5EEB79344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4A19A29-5769-4295-941A-0C342797F957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D16BD5-2FE8-4DE1-8CBB-0BCADFF0026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5A55E7E-A724-4FA1-88FE-75116929D10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D8C73E5-2CE5-438C-A3FE-F8F53C1A4E6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77135F6-9E51-47B3-AE14-8DC9CE073D7A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7D85-6962-48DF-BBF4-648B0423FBEF}" type="datetime1">
              <a:rPr lang="en-US" smtClean="0"/>
              <a:t>11/18/2025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This is the slide footer, which can be edited under Header &amp; Footer, along with slide numbers and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09A69-072A-48FA-AC5D-5B66B48AD067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EDA9F-F9EF-4EC5-AE42-60F6CAD0EF1C}" type="datetime1">
              <a:rPr lang="en-US" smtClean="0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8897B8F-20B3-4372-AA8B-D0B6B5906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39C506-08A0-F8FB-F6C5-DF40708D8B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3195552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84F83F4-D6EA-4C8C-B032-9FD00F0C8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3933" y="64770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543952B3-C2A1-4189-8D90-FF32252BFA6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4D9F7ED-27A3-413F-B331-9193474C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65719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1C3163"/>
              </a:buClr>
              <a:buFont typeface="Arial" charset="0"/>
              <a:buChar char="•"/>
              <a:defRPr/>
            </a:lvl1pPr>
            <a:lvl2pPr marL="868363" indent="-457200">
              <a:buClr>
                <a:srgbClr val="1C3163"/>
              </a:buClr>
              <a:buFont typeface="Arial" charset="0"/>
              <a:buChar char="•"/>
              <a:defRPr/>
            </a:lvl2pPr>
            <a:lvl3pPr marL="822325" indent="-190500">
              <a:buClr>
                <a:srgbClr val="1C3163"/>
              </a:buClr>
              <a:buFont typeface="Arial" charset="0"/>
              <a:buChar char="•"/>
              <a:defRPr/>
            </a:lvl3pPr>
            <a:lvl4pPr marL="1004888" indent="-182563">
              <a:buClr>
                <a:srgbClr val="1C3163"/>
              </a:buClr>
              <a:buFont typeface="Arial" charset="0"/>
              <a:buChar char="•"/>
              <a:defRPr/>
            </a:lvl4pPr>
            <a:lvl5pPr marL="1187450" indent="-182563">
              <a:buClr>
                <a:srgbClr val="1C3163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1C3163"/>
              </a:buClr>
              <a:buFont typeface="Arial" charset="0"/>
              <a:buChar char="•"/>
              <a:defRPr/>
            </a:lvl1pPr>
          </a:lstStyle>
          <a:p>
            <a:pPr lvl="0"/>
            <a:endParaRPr lang="en-CA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6514CE-F24F-435D-B37F-72DA701E8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4BCC9B32-C82B-4E57-A077-03AA9EEE1E9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263959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468F0-652C-4005-B991-7CB761146B23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208626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C4591B-321E-48C1-B351-31DE46595122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984623E-605C-488C-BE46-6CC6D3AA7ADE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846268E-DB79-47DC-B038-D60F7A7EC48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514B50-8580-42DB-86CF-F1A96545161F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EAF840-6DE6-4970-AAA5-113F965470A8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66A930-BF9D-4CA2-85B3-D877CF762CB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98836E0-2F70-4995-9734-97E2F52B0F2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81AE4D-0BA2-4230-990B-F1056D687BB2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D4962B1-CBCC-410B-A901-949445DC1B0F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F49CE2B-272E-47B0-82C7-B6A9DDAD3A8B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CAB2F86-4395-4FFB-A0CD-2FC9846760D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775E1A-DA3D-427A-8412-4C59BEB04EE7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5BB475C-7A73-4632-AEA1-3372EFCF6D6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82E919-89E4-44DA-9943-88CF2D030C09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81D63D-5780-44A6-9BCD-9B7E6AB5627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0F93DD-4350-41CF-B397-B046A44BC77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4B0B334-18DE-42DE-B7A8-296AC76889A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8D4B47-7AF8-4C95-A313-D9718CCEFEAC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F604B93-9D0A-4678-9970-4ABD7B7970D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CA1B7C-3D36-4277-93D1-6051701E221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3C2A6E-A6F9-4F36-863B-D82AF985EFAB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409074-ACD7-47D2-B76A-01849F2049C4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E2F988-737E-4BC9-ABDD-D61E681886A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9007CE-771B-466E-8C45-94EE416D4B56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858670-7C79-4658-81A7-52C34630194A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F4DA47-478A-4C0A-8A61-E44EAA7C6482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2082C9-7FD1-4548-AC18-C650C6E4FD8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ACD3BCC-2237-4E54-A6CD-2BDD428EAD6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3FA2A5-92B4-4851-BD92-9993957A4C54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D4AB63-F395-4F89-ADC0-8B0A9AEB6BA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02858A-16E8-4308-8A2B-24BE231BA64B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3901D-4AB3-4B24-998C-5FDE30A938B6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EE429E-8064-4B97-8CEA-C0AEA5D28CB7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66C631-9449-4529-99EA-DEC093FFE0E6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AD8A733-A287-4578-84C5-F4168F18876F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94DAFBB-0480-463F-816E-BFF997EB6DF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E75904-227D-4EB1-93F7-B2CD2757997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FE6E3B3-66CC-414B-BACF-33C20B8699C8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323927-DAE9-4DBF-B5A2-03B01CA1188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21136A-D5EF-47D5-926D-0F325E20547F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2DA9FD-9706-4397-BB3C-79EE037759A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10D88C-CFC1-4FBA-BF44-3F598B6EB91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2095E8-28B2-49B4-840F-0A9F9C53079E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B6CDD4-DAB0-414F-9E3C-3D2CE83D02D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AD56-C10C-48D1-A416-A5173FE5D9E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AE4746-C3C4-455D-A952-B7799D60B6B8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C95A85-7F3E-475E-8BA2-B07252E1E3CA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0AD809-604B-4767-8B6F-E3FDF0750EAA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54A4E7E-F274-43E9-8312-4BCE689BB442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3E74F76-FF98-40EF-AC8D-29CD5853DC7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84FB34E-9178-4EC2-99CF-E3E312871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21018" y="6515100"/>
            <a:ext cx="620183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B60D20F0-BF52-4113-B6F7-D9E3CC94383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8593D8E-288B-487B-B309-83AAD984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2353688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80EE43B-107C-49A0-82AF-3A496D5B9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21018" y="6515100"/>
            <a:ext cx="620183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B37431BF-C2EE-4127-8B81-1CFF59825F2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B55D9BF-9E54-4129-A3B2-E70F7E10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506675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473978F5-F2D5-4251-B0FB-279CA53B5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21018" y="6515100"/>
            <a:ext cx="620183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8D32FECC-C98A-4825-8A57-9E0A5AB5050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1E34D24-5C52-4C2A-91AC-9CC8209B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978038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13178A2-F6DC-4EEA-ADC0-0B57644D0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FB492FCF-1311-47A3-B43A-0118359FC3B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A99880-621D-4016-9168-FDA719CD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33739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62DBF3B-5625-4155-8B3F-583B46505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73933" y="64770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16C1878D-8072-49F5-AF49-A0727AD43DC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F0B-D315-4E64-99D2-02B412F36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211668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51C89C-67C7-49C1-99A4-C455ECFF3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79F0C9D1-CDD2-4624-BA1D-6B785B25D80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03B4379-8522-4F96-88FB-682B3748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308765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EB2E136-75BB-416A-929B-875AE14D4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FB7BA89-6B6A-41C4-80A0-220D4DCF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303324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8897B8F-20B3-4372-AA8B-D0B6B5906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39C506-08A0-F8FB-F6C5-DF40708D8B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6697248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23261"/>
              </a:buClr>
              <a:buFont typeface="Arial" panose="020B0604020202020204" pitchFamily="34" charset="0"/>
              <a:buChar char="•"/>
              <a:defRPr sz="2800"/>
            </a:lvl1pPr>
            <a:lvl2pPr marL="754063" indent="-342900">
              <a:buClr>
                <a:srgbClr val="223261"/>
              </a:buClr>
              <a:buFont typeface="Arial" panose="020B0604020202020204" pitchFamily="34" charset="0"/>
              <a:buChar char="•"/>
              <a:defRPr sz="2400"/>
            </a:lvl2pPr>
            <a:lvl3pPr marL="822325" indent="-190500">
              <a:buClr>
                <a:srgbClr val="223261"/>
              </a:buClr>
              <a:buFont typeface="Arial" panose="020B0604020202020204" pitchFamily="34" charset="0"/>
              <a:buChar char="•"/>
              <a:defRPr sz="2000"/>
            </a:lvl3pPr>
            <a:lvl4pPr marL="1004888" indent="-182563">
              <a:buClr>
                <a:srgbClr val="223261"/>
              </a:buClr>
              <a:buFont typeface="Arial" panose="020B0604020202020204" pitchFamily="34" charset="0"/>
              <a:buChar char="•"/>
              <a:defRPr sz="1800"/>
            </a:lvl4pPr>
            <a:lvl5pPr marL="1187450" indent="-182563">
              <a:buClr>
                <a:srgbClr val="223261"/>
              </a:buClr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13260"/>
              </a:buClr>
              <a:buFont typeface="Arial" panose="020B0604020202020204" pitchFamily="34" charset="0"/>
              <a:buChar char="•"/>
              <a:defRPr sz="2800"/>
            </a:lvl1pPr>
            <a:lvl2pPr marL="754063" indent="-342900">
              <a:buClr>
                <a:srgbClr val="213260"/>
              </a:buClr>
              <a:buFont typeface="Arial" panose="020B0604020202020204" pitchFamily="34" charset="0"/>
              <a:buChar char="•"/>
              <a:defRPr sz="2400"/>
            </a:lvl2pPr>
            <a:lvl3pPr marL="822325" indent="-190500">
              <a:buClr>
                <a:srgbClr val="213260"/>
              </a:buClr>
              <a:buFont typeface="Arial" panose="020B0604020202020204" pitchFamily="34" charset="0"/>
              <a:buChar char="•"/>
              <a:defRPr sz="2000"/>
            </a:lvl3pPr>
            <a:lvl4pPr marL="1004888" indent="-182563">
              <a:buClr>
                <a:srgbClr val="213260"/>
              </a:buClr>
              <a:buFont typeface="Arial" panose="020B0604020202020204" pitchFamily="34" charset="0"/>
              <a:buChar char="•"/>
              <a:defRPr sz="1800"/>
            </a:lvl4pPr>
            <a:lvl5pPr marL="1187450" indent="-182563">
              <a:buClr>
                <a:srgbClr val="213260"/>
              </a:buClr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A687A00-3F15-4144-8D58-67C8055C9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761F3-6B87-DC72-4901-AA2875BA21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1455323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1pPr>
            <a:lvl2pPr marL="868363" indent="-4572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2pPr>
            <a:lvl3pPr marL="822325" indent="-1905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3pPr>
            <a:lvl4pPr marL="1004888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4pPr>
            <a:lvl5pPr marL="1187450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3B7D9-25D3-46F6-A077-650E02FCBB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5D1D4E-5ED3-4691-6052-0A329F157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fld id="{C5457A48-0AC0-4B4E-B9EC-6A3F3AD0BA9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3802841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10972800" cy="7921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1pPr>
            <a:lvl2pPr marL="868363" indent="-4572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2pPr>
            <a:lvl3pPr marL="822325" indent="-190500">
              <a:buClr>
                <a:srgbClr val="213260"/>
              </a:buClr>
              <a:buFont typeface="Arial" panose="020B0604020202020204" pitchFamily="34" charset="0"/>
              <a:buChar char="•"/>
              <a:defRPr/>
            </a:lvl3pPr>
            <a:lvl4pPr marL="1004888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4pPr>
            <a:lvl5pPr marL="1187450" indent="-182563">
              <a:buClr>
                <a:srgbClr val="213260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204376" y="1143000"/>
            <a:ext cx="5384800" cy="5334000"/>
          </a:xfrm>
          <a:prstGeom prst="rect">
            <a:avLst/>
          </a:prstGeom>
        </p:spPr>
        <p:txBody>
          <a:bodyPr/>
          <a:lstStyle>
            <a:lvl1pPr marL="292100" indent="-292100">
              <a:buClr>
                <a:srgbClr val="25325D"/>
              </a:buClr>
              <a:buFont typeface="Arial" panose="020B0604020202020204" pitchFamily="34" charset="0"/>
              <a:buChar char="•"/>
              <a:defRPr/>
            </a:lvl1pPr>
          </a:lstStyle>
          <a:p>
            <a:pPr lvl="0"/>
            <a:endParaRPr lang="en-CA" noProof="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2CD8835-85C9-4CE2-874A-1ABC7A5BB7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2EA21-87E1-C5EF-49B0-AECA0E72AE3B}"/>
              </a:ext>
            </a:extLst>
          </p:cNvPr>
          <p:cNvSpPr txBox="1"/>
          <p:nvPr userDrawn="1"/>
        </p:nvSpPr>
        <p:spPr>
          <a:xfrm>
            <a:off x="11529483" y="6491289"/>
            <a:ext cx="662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5457A48-0AC0-4B4E-B9EC-6A3F3AD0BA9C}" type="slidenum">
              <a:rPr lang="en-US" altLang="en-US" sz="1200" smtClean="0">
                <a:latin typeface="+mn-lt"/>
              </a:rPr>
              <a:pPr/>
              <a:t>‹#›</a:t>
            </a:fld>
            <a:endParaRPr lang="en-CA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1111042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1C3163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2902-B772-4981-A3B7-A4FF9BF273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8FC2B-B9A0-C2DD-BC07-E43FB8B1DF26}"/>
              </a:ext>
            </a:extLst>
          </p:cNvPr>
          <p:cNvSpPr txBox="1"/>
          <p:nvPr userDrawn="1"/>
        </p:nvSpPr>
        <p:spPr>
          <a:xfrm>
            <a:off x="11529483" y="6491289"/>
            <a:ext cx="662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5457A48-0AC0-4B4E-B9EC-6A3F3AD0BA9C}" type="slidenum">
              <a:rPr lang="en-US" altLang="en-US" sz="1200" smtClean="0">
                <a:latin typeface="+mn-lt"/>
              </a:rPr>
              <a:pPr/>
              <a:t>‹#›</a:t>
            </a:fld>
            <a:endParaRPr lang="en-CA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86102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8B7BA3-0968-48E4-B187-95C0343C3D9A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5" r:id="rId13"/>
    <p:sldLayoutId id="2147483849" r:id="rId14"/>
    <p:sldLayoutId id="2147483863" r:id="rId15"/>
    <p:sldLayoutId id="2147483865" r:id="rId16"/>
    <p:sldLayoutId id="2147483866" r:id="rId1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69C9DC-35F1-47C1-A229-58B7F65C1DF4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DDCD67-5810-4359-AADA-39CDE3D404E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A84C2E-4EBB-472A-9236-6E992E397CFB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B0DF37A-A087-4A27-BDDE-B691DB640BC2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AD95F0F-7A6E-4DDC-8A91-C4E2EE86BC9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695489A-81FC-4150-A476-F3A8F7273C2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1A595-0E05-45F7-BECB-ECE6CB55A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7834" y="6491288"/>
            <a:ext cx="5281084" cy="366712"/>
          </a:xfrm>
          <a:prstGeom prst="rect">
            <a:avLst/>
          </a:prstGeom>
          <a:noFill/>
        </p:spPr>
        <p:txBody>
          <a:bodyPr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CA"/>
              <a:t>This is the slide footer, which can be edited under Header &amp; Footer, along with slide numbers and date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720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p:hf hdr="0" ftr="0" dt="0"/>
  <p:txStyles>
    <p:titleStyle>
      <a:lvl1pPr marL="53975" algn="r" rtl="0" eaLnBrk="0" fontAlgn="base" hangingPunct="0">
        <a:spcBef>
          <a:spcPct val="0"/>
        </a:spcBef>
        <a:spcAft>
          <a:spcPct val="0"/>
        </a:spcAft>
        <a:defRPr sz="4600" kern="1200">
          <a:solidFill>
            <a:srgbClr val="6D7442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2pPr>
      <a:lvl3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3pPr>
      <a:lvl4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4pPr>
      <a:lvl5pPr marL="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5pPr>
      <a:lvl6pPr marL="5111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6pPr>
      <a:lvl7pPr marL="9683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7pPr>
      <a:lvl8pPr marL="14255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8pPr>
      <a:lvl9pPr marL="1882775" algn="r" rtl="0" fontAlgn="base">
        <a:spcBef>
          <a:spcPct val="0"/>
        </a:spcBef>
        <a:spcAft>
          <a:spcPct val="0"/>
        </a:spcAft>
        <a:defRPr sz="4600">
          <a:solidFill>
            <a:srgbClr val="6D7442"/>
          </a:solidFill>
          <a:latin typeface="Rockwell" pitchFamily="18" charset="0"/>
        </a:defRPr>
      </a:lvl9pPr>
      <a:extLst/>
    </p:titleStyle>
    <p:bodyStyle>
      <a:lvl1pPr marL="292100" indent="-292100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ts val="400"/>
        </a:spcBef>
        <a:spcAft>
          <a:spcPct val="0"/>
        </a:spcAft>
        <a:buClr>
          <a:schemeClr val="accent2"/>
        </a:buClr>
        <a:buSzPct val="90000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5" Type="http://schemas.openxmlformats.org/officeDocument/2006/relationships/oleObject" Target="../embeddings/Microsoft_Excel_97-2003_Worksheet.xls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1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9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2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3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8.emf"/><Relationship Id="rId4" Type="http://schemas.openxmlformats.org/officeDocument/2006/relationships/image" Target="../media/image45.emf"/><Relationship Id="rId9" Type="http://schemas.openxmlformats.org/officeDocument/2006/relationships/oleObject" Target="../embeddings/oleObject36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51" y="3284984"/>
            <a:ext cx="11041225" cy="2376261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11: Capital Budgeting Decisions</a:t>
            </a: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327-40D4-DB86-08A7-3C044CEB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BE3B676-C052-B49D-3FE3-AE37898AF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Learning Objectives  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F93CAC5-8E8C-FA8D-C814-0C7C7DB765AF}"/>
              </a:ext>
            </a:extLst>
          </p:cNvPr>
          <p:cNvSpPr txBox="1">
            <a:spLocks/>
          </p:cNvSpPr>
          <p:nvPr/>
        </p:nvSpPr>
        <p:spPr>
          <a:xfrm>
            <a:off x="440432" y="765861"/>
            <a:ext cx="10480104" cy="4235134"/>
          </a:xfrm>
          <a:prstGeom prst="rect">
            <a:avLst/>
          </a:prstGeom>
        </p:spPr>
        <p:txBody>
          <a:bodyPr vert="horz" wrap="square" lIns="0" tIns="155575" rIns="0" bIns="0" numCol="1" rtlCol="0" anchor="ctr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457200" indent="-457200">
              <a:buClr>
                <a:srgbClr val="002060"/>
              </a:buClr>
              <a:buSzPct val="110000"/>
              <a:buFont typeface="+mj-lt"/>
              <a:buAutoNum type="arabicPeriod"/>
            </a:pPr>
            <a:r>
              <a:rPr lang="en-CA" altLang="en-US" sz="2400" b="0" dirty="0">
                <a:solidFill>
                  <a:schemeClr val="tx1"/>
                </a:solidFill>
              </a:rPr>
              <a:t>Evaluate the acceptability of an investment project using the net present value method.</a:t>
            </a:r>
          </a:p>
          <a:p>
            <a:pPr marL="457200" indent="-457200">
              <a:buClr>
                <a:srgbClr val="002060"/>
              </a:buClr>
              <a:buSzPct val="110000"/>
              <a:buFont typeface="+mj-lt"/>
              <a:buAutoNum type="arabicPeriod"/>
            </a:pPr>
            <a:r>
              <a:rPr lang="en-CA" altLang="en-US" sz="2400" b="0" dirty="0">
                <a:solidFill>
                  <a:schemeClr val="tx1"/>
                </a:solidFill>
              </a:rPr>
              <a:t>Evaluate the acceptability of an investment project using the internal rate of return method.</a:t>
            </a:r>
          </a:p>
          <a:p>
            <a:pPr marL="457200" indent="-457200">
              <a:buClr>
                <a:srgbClr val="002060"/>
              </a:buClr>
              <a:buSzPct val="110000"/>
              <a:buFont typeface="+mj-lt"/>
              <a:buAutoNum type="arabicPeriod"/>
            </a:pPr>
            <a:r>
              <a:rPr lang="en-CA" altLang="en-US" sz="2400" b="0" dirty="0">
                <a:solidFill>
                  <a:schemeClr val="tx1"/>
                </a:solidFill>
              </a:rPr>
              <a:t>Evaluate an investment project that has uncertain cash flows.</a:t>
            </a:r>
          </a:p>
          <a:p>
            <a:pPr marL="457200" indent="-457200">
              <a:buClr>
                <a:srgbClr val="002060"/>
              </a:buClr>
              <a:buSzPct val="110000"/>
              <a:buFont typeface="+mj-lt"/>
              <a:buAutoNum type="arabicPeriod"/>
            </a:pPr>
            <a:r>
              <a:rPr lang="en-CA" altLang="en-US" sz="2400" b="0" dirty="0">
                <a:solidFill>
                  <a:schemeClr val="tx1"/>
                </a:solidFill>
              </a:rPr>
              <a:t>Rank investment projects in order of preference.</a:t>
            </a:r>
          </a:p>
          <a:p>
            <a:pPr marL="457200" indent="-457200">
              <a:buClr>
                <a:srgbClr val="002060"/>
              </a:buClr>
              <a:buSzPct val="110000"/>
              <a:buFont typeface="+mj-lt"/>
              <a:buAutoNum type="arabicPeriod"/>
            </a:pPr>
            <a:r>
              <a:rPr lang="en-CA" altLang="en-US" sz="2400" b="0" dirty="0">
                <a:solidFill>
                  <a:schemeClr val="tx1"/>
                </a:solidFill>
              </a:rPr>
              <a:t>Determine the payback period for an investment.</a:t>
            </a:r>
          </a:p>
          <a:p>
            <a:pPr marL="457200" indent="-457200">
              <a:buClr>
                <a:srgbClr val="002060"/>
              </a:buClr>
              <a:buSzPct val="110000"/>
              <a:buFont typeface="+mj-lt"/>
              <a:buAutoNum type="arabicPeriod"/>
            </a:pPr>
            <a:r>
              <a:rPr lang="en-CA" altLang="en-US" sz="2400" b="0" dirty="0">
                <a:solidFill>
                  <a:schemeClr val="tx1"/>
                </a:solidFill>
              </a:rPr>
              <a:t>Calculate </a:t>
            </a:r>
            <a:r>
              <a:rPr lang="en-US" sz="2400" b="0" dirty="0">
                <a:solidFill>
                  <a:schemeClr val="tx1"/>
                </a:solidFill>
              </a:rPr>
              <a:t>simple rate of return for an investment </a:t>
            </a:r>
            <a:r>
              <a:rPr lang="en-CA" altLang="en-US" sz="2400" b="0" dirty="0">
                <a:solidFill>
                  <a:schemeClr val="tx1"/>
                </a:solidFill>
              </a:rPr>
              <a:t>simple rate of return for an investment.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are Capital Investments?</a:t>
            </a:r>
            <a:endParaRPr lang="en-CA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1545793"/>
            <a:ext cx="10734675" cy="318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investments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long-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term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investments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which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assets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involved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have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useful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lives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multiple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years.</a:t>
            </a:r>
            <a:endParaRPr sz="2400">
              <a:latin typeface="Arial MT"/>
              <a:cs typeface="Arial MT"/>
            </a:endParaRPr>
          </a:p>
          <a:p>
            <a:pPr marL="884555" lvl="1" indent="-513715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88455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Purchase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plant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assets.</a:t>
            </a:r>
            <a:endParaRPr sz="2400">
              <a:latin typeface="Arial MT"/>
              <a:cs typeface="Arial MT"/>
            </a:endParaRPr>
          </a:p>
          <a:p>
            <a:pPr marL="884555" lvl="1" indent="-513715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88455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Develop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new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lines.</a:t>
            </a:r>
            <a:endParaRPr sz="2400">
              <a:latin typeface="Arial MT"/>
              <a:cs typeface="Arial MT"/>
            </a:endParaRPr>
          </a:p>
          <a:p>
            <a:pPr marL="884555" lvl="1" indent="-513715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88455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Acquire</a:t>
            </a:r>
            <a:r>
              <a:rPr sz="2400" spc="-1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subsidiary</a:t>
            </a:r>
            <a:r>
              <a:rPr sz="24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companies.</a:t>
            </a:r>
            <a:endParaRPr sz="2400">
              <a:latin typeface="Arial MT"/>
              <a:cs typeface="Arial MT"/>
            </a:endParaRPr>
          </a:p>
          <a:p>
            <a:pPr marL="469900" marR="5080" indent="-457834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Investments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commit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financial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resources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large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periods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difficult,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if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not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impossible,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reverse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once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funds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invested.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669" y="5301234"/>
            <a:ext cx="11297920" cy="83248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Companies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benefit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capital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investments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suffer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poor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ones)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years.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6896" y="2261616"/>
            <a:ext cx="2929128" cy="1373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2070" y="2365525"/>
            <a:ext cx="1245847" cy="12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Capital Budgeting?</a:t>
            </a:r>
            <a:endParaRPr lang="en-CA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1528317"/>
            <a:ext cx="105714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budgeting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refers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process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i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evaluating</a:t>
            </a:r>
            <a:r>
              <a:rPr sz="2400" i="1" u="sng" spc="-6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and</a:t>
            </a:r>
            <a:r>
              <a:rPr sz="2400" i="1" u="sng" spc="-7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prioritizing</a:t>
            </a:r>
            <a:r>
              <a:rPr sz="2400" i="1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capital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investment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opportunities.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019" y="2629026"/>
            <a:ext cx="8867775" cy="20866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How</a:t>
            </a:r>
            <a:r>
              <a:rPr sz="2400" b="1" u="sng" spc="-4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is</a:t>
            </a:r>
            <a:r>
              <a:rPr sz="2400" b="1" u="sng" spc="-3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this</a:t>
            </a:r>
            <a:r>
              <a:rPr sz="2400" b="1" u="sng" spc="-5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Management</a:t>
            </a:r>
            <a:r>
              <a:rPr sz="2400" b="1" u="sng" spc="-10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Accounting?</a:t>
            </a:r>
            <a:endParaRPr sz="2400">
              <a:latin typeface="Arial"/>
              <a:cs typeface="Arial"/>
            </a:endParaRPr>
          </a:p>
          <a:p>
            <a:pPr marL="639445" indent="-169545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63944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Relies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heavily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on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estimates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future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operating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results.</a:t>
            </a:r>
            <a:endParaRPr sz="2400">
              <a:latin typeface="Arial MT"/>
              <a:cs typeface="Arial MT"/>
            </a:endParaRPr>
          </a:p>
          <a:p>
            <a:pPr marL="639445" indent="-169545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63944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Estimates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often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involve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considerable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degree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uncertainty.</a:t>
            </a:r>
            <a:endParaRPr sz="2400">
              <a:latin typeface="Arial MT"/>
              <a:cs typeface="Arial MT"/>
            </a:endParaRPr>
          </a:p>
          <a:p>
            <a:pPr marL="639445" indent="-169545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63944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There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many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nonfinancial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factors.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669" y="5356097"/>
            <a:ext cx="11297920" cy="8305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tabLst>
                <a:tab pos="3018790" algn="l"/>
              </a:tabLst>
            </a:pPr>
            <a:r>
              <a:rPr sz="2400" dirty="0">
                <a:latin typeface="Arial MT"/>
                <a:cs typeface="Arial MT"/>
              </a:rPr>
              <a:t>Underlying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Question:</a:t>
            </a:r>
            <a:r>
              <a:rPr sz="2400" dirty="0">
                <a:latin typeface="Arial MT"/>
                <a:cs typeface="Arial MT"/>
              </a:rPr>
              <a:t>	How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limited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resources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maximize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firm</a:t>
            </a:r>
            <a:endParaRPr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value.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65157" y="3358134"/>
            <a:ext cx="457200" cy="1504315"/>
          </a:xfrm>
          <a:custGeom>
            <a:avLst/>
            <a:gdLst/>
            <a:ahLst/>
            <a:cxnLst/>
            <a:rect l="l" t="t" r="r" b="b"/>
            <a:pathLst>
              <a:path w="457200" h="1504314">
                <a:moveTo>
                  <a:pt x="0" y="0"/>
                </a:moveTo>
                <a:lnTo>
                  <a:pt x="72249" y="1938"/>
                </a:lnTo>
                <a:lnTo>
                  <a:pt x="135002" y="7339"/>
                </a:lnTo>
                <a:lnTo>
                  <a:pt x="184489" y="15581"/>
                </a:lnTo>
                <a:lnTo>
                  <a:pt x="228600" y="38100"/>
                </a:lnTo>
                <a:lnTo>
                  <a:pt x="228600" y="713993"/>
                </a:lnTo>
                <a:lnTo>
                  <a:pt x="240255" y="726051"/>
                </a:lnTo>
                <a:lnTo>
                  <a:pt x="272710" y="736512"/>
                </a:lnTo>
                <a:lnTo>
                  <a:pt x="322197" y="744754"/>
                </a:lnTo>
                <a:lnTo>
                  <a:pt x="384950" y="750155"/>
                </a:lnTo>
                <a:lnTo>
                  <a:pt x="457200" y="752093"/>
                </a:lnTo>
                <a:lnTo>
                  <a:pt x="384950" y="754032"/>
                </a:lnTo>
                <a:lnTo>
                  <a:pt x="322197" y="759433"/>
                </a:lnTo>
                <a:lnTo>
                  <a:pt x="272710" y="767675"/>
                </a:lnTo>
                <a:lnTo>
                  <a:pt x="240255" y="778136"/>
                </a:lnTo>
                <a:lnTo>
                  <a:pt x="228600" y="790193"/>
                </a:lnTo>
                <a:lnTo>
                  <a:pt x="228600" y="1466088"/>
                </a:lnTo>
                <a:lnTo>
                  <a:pt x="216944" y="1478145"/>
                </a:lnTo>
                <a:lnTo>
                  <a:pt x="184489" y="1488606"/>
                </a:lnTo>
                <a:lnTo>
                  <a:pt x="135002" y="1496848"/>
                </a:lnTo>
                <a:lnTo>
                  <a:pt x="72249" y="1502249"/>
                </a:lnTo>
                <a:lnTo>
                  <a:pt x="0" y="1504188"/>
                </a:lnTo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82378" y="3324605"/>
            <a:ext cx="1864360" cy="1569720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94945" marR="186690" algn="ctr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this </a:t>
            </a:r>
            <a:r>
              <a:rPr sz="2400" spc="-10" dirty="0">
                <a:latin typeface="Arial MT"/>
                <a:cs typeface="Arial MT"/>
              </a:rPr>
              <a:t>different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last </a:t>
            </a:r>
            <a:r>
              <a:rPr sz="2400" spc="-10" dirty="0">
                <a:latin typeface="Arial MT"/>
                <a:cs typeface="Arial MT"/>
              </a:rPr>
              <a:t>week?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7993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Budgets versus Capital Budgets</a:t>
            </a:r>
            <a:endParaRPr lang="en-CA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065" y="2185398"/>
            <a:ext cx="1243280" cy="13332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3591" y="4176236"/>
            <a:ext cx="1459730" cy="13063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14978" y="2229992"/>
            <a:ext cx="6243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788160" algn="l"/>
              </a:tabLst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Budgeting: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Projection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sz="24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firm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anticipated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upcoming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year.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3110" y="4264914"/>
            <a:ext cx="61093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432685" algn="l"/>
              </a:tabLst>
            </a:pPr>
            <a:r>
              <a:rPr sz="2400" b="1" dirty="0">
                <a:latin typeface="Arial"/>
                <a:cs typeface="Arial"/>
              </a:rPr>
              <a:t>Capital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Budget: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planning </a:t>
            </a:r>
            <a:r>
              <a:rPr sz="2400" dirty="0">
                <a:latin typeface="Arial MT"/>
                <a:cs typeface="Arial MT"/>
              </a:rPr>
              <a:t>significant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outlays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long- 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implications.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027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019" y="947673"/>
            <a:ext cx="9616440" cy="301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limited,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capital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budgeting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procedures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needed.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Arial"/>
              <a:cs typeface="Arial"/>
            </a:endParaRPr>
          </a:p>
          <a:p>
            <a:pPr marL="977265" indent="-514984">
              <a:lnSpc>
                <a:spcPct val="100000"/>
              </a:lnSpc>
              <a:buSzPct val="79166"/>
              <a:buAutoNum type="arabicPeriod"/>
              <a:tabLst>
                <a:tab pos="977265" algn="l"/>
              </a:tabLst>
            </a:pPr>
            <a:r>
              <a:rPr sz="2400" dirty="0">
                <a:latin typeface="Arial MT"/>
                <a:cs typeface="Arial MT"/>
              </a:rPr>
              <a:t>Determine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capital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existing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projects.</a:t>
            </a:r>
            <a:endParaRPr sz="2400" dirty="0">
              <a:latin typeface="Arial MT"/>
              <a:cs typeface="Arial MT"/>
            </a:endParaRPr>
          </a:p>
          <a:p>
            <a:pPr marL="977265" indent="-514984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977265" algn="l"/>
              </a:tabLst>
            </a:pP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establish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resource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limitations.</a:t>
            </a:r>
            <a:endParaRPr sz="2400" dirty="0">
              <a:latin typeface="Arial MT"/>
              <a:cs typeface="Arial MT"/>
            </a:endParaRPr>
          </a:p>
          <a:p>
            <a:pPr marL="97726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977265" algn="l"/>
              </a:tabLst>
            </a:pPr>
            <a:r>
              <a:rPr sz="2400" dirty="0">
                <a:latin typeface="Arial MT"/>
                <a:cs typeface="Arial MT"/>
              </a:rPr>
              <a:t>Establish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baseline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criteria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alternatives.</a:t>
            </a:r>
            <a:endParaRPr sz="2400" dirty="0">
              <a:latin typeface="Arial MT"/>
              <a:cs typeface="Arial MT"/>
            </a:endParaRPr>
          </a:p>
          <a:p>
            <a:pPr marL="977265" indent="-514984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977265" algn="l"/>
              </a:tabLst>
            </a:pPr>
            <a:r>
              <a:rPr sz="2400" dirty="0">
                <a:latin typeface="Arial MT"/>
                <a:cs typeface="Arial MT"/>
              </a:rPr>
              <a:t>Evaluate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alternatives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screening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preference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decisions.</a:t>
            </a:r>
            <a:endParaRPr sz="2400" dirty="0">
              <a:latin typeface="Arial MT"/>
              <a:cs typeface="Arial MT"/>
            </a:endParaRPr>
          </a:p>
          <a:p>
            <a:pPr marL="97726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977265" algn="l"/>
              </a:tabLst>
            </a:pP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Process for Capital Budgeting</a:t>
            </a:r>
            <a:endParaRPr lang="en-CA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295138" y="4539234"/>
            <a:ext cx="3672840" cy="1201420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48640" marR="42100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select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several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projects?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17104" y="3415538"/>
            <a:ext cx="712470" cy="1062990"/>
          </a:xfrm>
          <a:custGeom>
            <a:avLst/>
            <a:gdLst/>
            <a:ahLst/>
            <a:cxnLst/>
            <a:rect l="l" t="t" r="r" b="b"/>
            <a:pathLst>
              <a:path w="712470" h="1062989">
                <a:moveTo>
                  <a:pt x="15366" y="935990"/>
                </a:moveTo>
                <a:lnTo>
                  <a:pt x="0" y="1062736"/>
                </a:lnTo>
                <a:lnTo>
                  <a:pt x="110743" y="998982"/>
                </a:lnTo>
                <a:lnTo>
                  <a:pt x="103052" y="993902"/>
                </a:lnTo>
                <a:lnTo>
                  <a:pt x="68452" y="993902"/>
                </a:lnTo>
                <a:lnTo>
                  <a:pt x="36702" y="972820"/>
                </a:lnTo>
                <a:lnTo>
                  <a:pt x="47173" y="956996"/>
                </a:lnTo>
                <a:lnTo>
                  <a:pt x="15366" y="935990"/>
                </a:lnTo>
                <a:close/>
              </a:path>
              <a:path w="712470" h="1062989">
                <a:moveTo>
                  <a:pt x="47173" y="956996"/>
                </a:moveTo>
                <a:lnTo>
                  <a:pt x="36702" y="972820"/>
                </a:lnTo>
                <a:lnTo>
                  <a:pt x="68452" y="993902"/>
                </a:lnTo>
                <a:lnTo>
                  <a:pt x="78977" y="978001"/>
                </a:lnTo>
                <a:lnTo>
                  <a:pt x="47173" y="956996"/>
                </a:lnTo>
                <a:close/>
              </a:path>
              <a:path w="712470" h="1062989">
                <a:moveTo>
                  <a:pt x="78977" y="978001"/>
                </a:moveTo>
                <a:lnTo>
                  <a:pt x="68452" y="993902"/>
                </a:lnTo>
                <a:lnTo>
                  <a:pt x="103052" y="993902"/>
                </a:lnTo>
                <a:lnTo>
                  <a:pt x="78977" y="978001"/>
                </a:lnTo>
                <a:close/>
              </a:path>
              <a:path w="712470" h="1062989">
                <a:moveTo>
                  <a:pt x="680465" y="0"/>
                </a:moveTo>
                <a:lnTo>
                  <a:pt x="47173" y="956996"/>
                </a:lnTo>
                <a:lnTo>
                  <a:pt x="78977" y="978001"/>
                </a:lnTo>
                <a:lnTo>
                  <a:pt x="712342" y="21082"/>
                </a:lnTo>
                <a:lnTo>
                  <a:pt x="680465" y="0"/>
                </a:lnTo>
                <a:close/>
              </a:path>
            </a:pathLst>
          </a:custGeom>
          <a:solidFill>
            <a:srgbClr val="929292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37602" y="3415538"/>
            <a:ext cx="1229995" cy="1094740"/>
          </a:xfrm>
          <a:custGeom>
            <a:avLst/>
            <a:gdLst/>
            <a:ahLst/>
            <a:cxnLst/>
            <a:rect l="l" t="t" r="r" b="b"/>
            <a:pathLst>
              <a:path w="1229995" h="1094739">
                <a:moveTo>
                  <a:pt x="1131400" y="1032674"/>
                </a:moveTo>
                <a:lnTo>
                  <a:pt x="1106043" y="1061212"/>
                </a:lnTo>
                <a:lnTo>
                  <a:pt x="1229487" y="1094359"/>
                </a:lnTo>
                <a:lnTo>
                  <a:pt x="1209857" y="1045337"/>
                </a:lnTo>
                <a:lnTo>
                  <a:pt x="1145667" y="1045337"/>
                </a:lnTo>
                <a:lnTo>
                  <a:pt x="1131400" y="1032674"/>
                </a:lnTo>
                <a:close/>
              </a:path>
              <a:path w="1229995" h="1094739">
                <a:moveTo>
                  <a:pt x="1156676" y="1004227"/>
                </a:moveTo>
                <a:lnTo>
                  <a:pt x="1131400" y="1032674"/>
                </a:lnTo>
                <a:lnTo>
                  <a:pt x="1145667" y="1045337"/>
                </a:lnTo>
                <a:lnTo>
                  <a:pt x="1170940" y="1016888"/>
                </a:lnTo>
                <a:lnTo>
                  <a:pt x="1156676" y="1004227"/>
                </a:lnTo>
                <a:close/>
              </a:path>
              <a:path w="1229995" h="1094739">
                <a:moveTo>
                  <a:pt x="1181989" y="975741"/>
                </a:moveTo>
                <a:lnTo>
                  <a:pt x="1156676" y="1004227"/>
                </a:lnTo>
                <a:lnTo>
                  <a:pt x="1170940" y="1016888"/>
                </a:lnTo>
                <a:lnTo>
                  <a:pt x="1145667" y="1045337"/>
                </a:lnTo>
                <a:lnTo>
                  <a:pt x="1209857" y="1045337"/>
                </a:lnTo>
                <a:lnTo>
                  <a:pt x="1181989" y="975741"/>
                </a:lnTo>
                <a:close/>
              </a:path>
              <a:path w="1229995" h="1094739">
                <a:moveTo>
                  <a:pt x="25400" y="0"/>
                </a:moveTo>
                <a:lnTo>
                  <a:pt x="0" y="28448"/>
                </a:lnTo>
                <a:lnTo>
                  <a:pt x="1131400" y="1032674"/>
                </a:lnTo>
                <a:lnTo>
                  <a:pt x="1156676" y="1004227"/>
                </a:lnTo>
                <a:lnTo>
                  <a:pt x="25400" y="0"/>
                </a:lnTo>
                <a:close/>
              </a:path>
            </a:pathLst>
          </a:custGeom>
          <a:solidFill>
            <a:srgbClr val="929292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6041" y="4510278"/>
            <a:ext cx="4320540" cy="1199515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48005" marR="42799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proposed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 </a:t>
            </a:r>
            <a:r>
              <a:rPr sz="2400" dirty="0">
                <a:latin typeface="Arial MT"/>
                <a:cs typeface="Arial MT"/>
              </a:rPr>
              <a:t>meet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10" dirty="0">
                <a:latin typeface="Arial MT"/>
                <a:cs typeface="Arial MT"/>
              </a:rPr>
              <a:t> preset </a:t>
            </a:r>
            <a:r>
              <a:rPr sz="2400" dirty="0">
                <a:latin typeface="Arial MT"/>
                <a:cs typeface="Arial MT"/>
              </a:rPr>
              <a:t>standard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acceptance?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7242" y="4723638"/>
            <a:ext cx="1864360" cy="830580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8905" marR="120650" indent="497840">
              <a:lnSpc>
                <a:spcPct val="100000"/>
              </a:lnSpc>
              <a:spcBef>
                <a:spcPts val="300"/>
              </a:spcBef>
            </a:pPr>
            <a:r>
              <a:rPr sz="2400" spc="-25" dirty="0">
                <a:latin typeface="Arial MT"/>
                <a:cs typeface="Arial MT"/>
              </a:rPr>
              <a:t>Why </a:t>
            </a:r>
            <a:r>
              <a:rPr sz="2400" spc="-10" dirty="0">
                <a:latin typeface="Arial MT"/>
                <a:cs typeface="Arial MT"/>
              </a:rPr>
              <a:t>distinguish?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5217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3904" y="1018870"/>
            <a:ext cx="9584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desirability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proposals,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several </a:t>
            </a:r>
            <a:r>
              <a:rPr sz="2400" dirty="0">
                <a:latin typeface="Arial MT"/>
                <a:cs typeface="Arial MT"/>
              </a:rPr>
              <a:t>analytical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tools: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311" y="1927923"/>
            <a:ext cx="4471670" cy="260223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275"/>
              </a:spcBef>
              <a:buSzPct val="79166"/>
              <a:buAutoNum type="arabicPeriod"/>
              <a:tabLst>
                <a:tab pos="527685" algn="l"/>
              </a:tabLst>
            </a:pPr>
            <a:r>
              <a:rPr sz="2400" dirty="0">
                <a:latin typeface="Arial MT"/>
                <a:cs typeface="Arial MT"/>
              </a:rPr>
              <a:t>Net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Present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Value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(NPV)</a:t>
            </a:r>
            <a:endParaRPr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527685" algn="l"/>
              </a:tabLst>
            </a:pPr>
            <a:r>
              <a:rPr sz="2400" dirty="0">
                <a:latin typeface="Arial MT"/>
                <a:cs typeface="Arial MT"/>
              </a:rPr>
              <a:t>Internal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(IRR)</a:t>
            </a:r>
            <a:endParaRPr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527685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Profitability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(PI)</a:t>
            </a:r>
            <a:endParaRPr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</a:tabLst>
            </a:pPr>
            <a:r>
              <a:rPr sz="2400" dirty="0">
                <a:latin typeface="Arial MT"/>
                <a:cs typeface="Arial MT"/>
              </a:rPr>
              <a:t>Payback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Period</a:t>
            </a:r>
            <a:endParaRPr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</a:tabLst>
            </a:pP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Return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0624CB4-58E8-3F0D-C539-B9359AB915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Capital Budgeting Decision Tools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7605" y="5029961"/>
            <a:ext cx="10873740" cy="132334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4150" marR="179705" indent="635" algn="ctr">
              <a:lnSpc>
                <a:spcPct val="100000"/>
              </a:lnSpc>
              <a:spcBef>
                <a:spcPts val="300"/>
              </a:spcBef>
            </a:pPr>
            <a:r>
              <a:rPr sz="2000" spc="-11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evaluate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alternatives,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businesses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tools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outcomes.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outcomes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against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alternatives,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against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 </a:t>
            </a:r>
            <a:r>
              <a:rPr sz="2000" dirty="0">
                <a:latin typeface="Arial MT"/>
                <a:cs typeface="Arial MT"/>
              </a:rPr>
              <a:t>predetermined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investment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minimum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expectation)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established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each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consideration.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39180" y="2204864"/>
            <a:ext cx="457200" cy="2254250"/>
          </a:xfrm>
          <a:custGeom>
            <a:avLst/>
            <a:gdLst/>
            <a:ahLst/>
            <a:cxnLst/>
            <a:rect l="l" t="t" r="r" b="b"/>
            <a:pathLst>
              <a:path w="457200" h="2254250">
                <a:moveTo>
                  <a:pt x="0" y="0"/>
                </a:moveTo>
                <a:lnTo>
                  <a:pt x="72249" y="1938"/>
                </a:lnTo>
                <a:lnTo>
                  <a:pt x="135002" y="7339"/>
                </a:lnTo>
                <a:lnTo>
                  <a:pt x="184489" y="15581"/>
                </a:lnTo>
                <a:lnTo>
                  <a:pt x="228600" y="38100"/>
                </a:lnTo>
                <a:lnTo>
                  <a:pt x="228600" y="1088898"/>
                </a:lnTo>
                <a:lnTo>
                  <a:pt x="240255" y="1100955"/>
                </a:lnTo>
                <a:lnTo>
                  <a:pt x="272710" y="1111416"/>
                </a:lnTo>
                <a:lnTo>
                  <a:pt x="322197" y="1119658"/>
                </a:lnTo>
                <a:lnTo>
                  <a:pt x="384950" y="1125059"/>
                </a:lnTo>
                <a:lnTo>
                  <a:pt x="457200" y="1126998"/>
                </a:lnTo>
                <a:lnTo>
                  <a:pt x="384950" y="1128936"/>
                </a:lnTo>
                <a:lnTo>
                  <a:pt x="322197" y="1134337"/>
                </a:lnTo>
                <a:lnTo>
                  <a:pt x="272710" y="1142579"/>
                </a:lnTo>
                <a:lnTo>
                  <a:pt x="240255" y="1153040"/>
                </a:lnTo>
                <a:lnTo>
                  <a:pt x="228600" y="1165098"/>
                </a:lnTo>
                <a:lnTo>
                  <a:pt x="228600" y="2215896"/>
                </a:lnTo>
                <a:lnTo>
                  <a:pt x="216944" y="2227953"/>
                </a:lnTo>
                <a:lnTo>
                  <a:pt x="184489" y="2238414"/>
                </a:lnTo>
                <a:lnTo>
                  <a:pt x="135002" y="2246656"/>
                </a:lnTo>
                <a:lnTo>
                  <a:pt x="72249" y="2252057"/>
                </a:lnTo>
                <a:lnTo>
                  <a:pt x="0" y="2253996"/>
                </a:lnTo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75579" y="2629280"/>
            <a:ext cx="4535805" cy="406522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86385" marR="280035" algn="ctr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Fair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Game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Exam…</a:t>
            </a:r>
            <a:endParaRPr lang="en-CA"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Time Value of Money</a:t>
            </a:r>
            <a:endParaRPr lang="en-CA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6400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dollar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today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worth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dollar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now.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753" y="1081128"/>
            <a:ext cx="7546855" cy="40629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31504" y="5368151"/>
            <a:ext cx="8568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Underlying</a:t>
            </a:r>
            <a:r>
              <a:rPr sz="2400" b="1" u="sng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Assumption: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dollar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today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dollar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received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future.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8646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384" y="764704"/>
            <a:ext cx="10801350" cy="292003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A dollar today is worth more than a dollar a year from now</a:t>
            </a:r>
          </a:p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endParaRPr lang="en-US" sz="2400" spc="-1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Investments that promise earlier returns are preferable to those that promise later returns</a:t>
            </a:r>
          </a:p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endParaRPr lang="en-US" sz="2400" spc="-1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Involve discounted cash flows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07E1CF0-FEC2-E18C-D26B-2AAA10B5F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Time Value of Money</a:t>
            </a:r>
          </a:p>
        </p:txBody>
      </p:sp>
      <p:sp>
        <p:nvSpPr>
          <p:cNvPr id="3" name="AutoShape 2" descr="Time Value of Money - How to Calculat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095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384" y="764704"/>
            <a:ext cx="10801350" cy="4592283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Cost reduction decisions</a:t>
            </a: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Expansion decisions</a:t>
            </a: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endParaRPr lang="en-US" sz="2400" spc="-1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Equipment selection</a:t>
            </a: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endParaRPr lang="en-US" sz="2400" spc="-1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Lease versus buy</a:t>
            </a: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endParaRPr lang="en-US" sz="2400" spc="-1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AutoNum type="arabicPeriod"/>
            </a:pPr>
            <a:r>
              <a:rPr lang="en-US" sz="2400" spc="-110" dirty="0">
                <a:latin typeface="Arial" panose="020B0604020202020204" pitchFamily="34" charset="0"/>
                <a:cs typeface="Arial" panose="020B0604020202020204" pitchFamily="34" charset="0"/>
              </a:rPr>
              <a:t>Equipment replacement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07E1CF0-FEC2-E18C-D26B-2AAA10B5F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Typical Capital Budgeting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F1D41F-F2AF-3E26-C14F-EE7862EBE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Net Present Value (NPV)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B2CD43-383D-F5DE-7B6F-0D7F8B6C138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</p:spPr>
        <p:txBody>
          <a:bodyPr/>
          <a:lstStyle/>
          <a:p>
            <a:fld id="{9B7CDB38-6350-4CC9-AB0E-B9078CE1CE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92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 Present Value (NPV)</a:t>
            </a:r>
            <a:endParaRPr lang="en-CA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0982" y="817124"/>
            <a:ext cx="10577830" cy="2303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net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present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value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(NPV)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difference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between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present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value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cash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inflows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cash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outflows.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NPV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estimates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amount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wealth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that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creates.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Cash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flows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either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positive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(cash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received)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or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negative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(cash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paid)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900" algn="l"/>
              </a:tabLst>
            </a:pPr>
            <a:r>
              <a:rPr sz="2400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Decision</a:t>
            </a:r>
            <a:r>
              <a:rPr sz="2400" u="sng" spc="-10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Criteria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2501" y="3397176"/>
            <a:ext cx="461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Investment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projects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should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be: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472" y="3829681"/>
            <a:ext cx="3217545" cy="105537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7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Accepted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if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NPV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&gt;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24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Rejected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if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NPV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&lt;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85509" y="3809238"/>
            <a:ext cx="2232660" cy="1438910"/>
          </a:xfrm>
          <a:custGeom>
            <a:avLst/>
            <a:gdLst/>
            <a:ahLst/>
            <a:cxnLst/>
            <a:rect l="l" t="t" r="r" b="b"/>
            <a:pathLst>
              <a:path w="2232659" h="1438910">
                <a:moveTo>
                  <a:pt x="0" y="239775"/>
                </a:moveTo>
                <a:lnTo>
                  <a:pt x="4869" y="191442"/>
                </a:lnTo>
                <a:lnTo>
                  <a:pt x="18837" y="146429"/>
                </a:lnTo>
                <a:lnTo>
                  <a:pt x="40940" y="105698"/>
                </a:lnTo>
                <a:lnTo>
                  <a:pt x="70215" y="70215"/>
                </a:lnTo>
                <a:lnTo>
                  <a:pt x="105698" y="40940"/>
                </a:lnTo>
                <a:lnTo>
                  <a:pt x="146429" y="18837"/>
                </a:lnTo>
                <a:lnTo>
                  <a:pt x="191442" y="4869"/>
                </a:lnTo>
                <a:lnTo>
                  <a:pt x="239775" y="0"/>
                </a:lnTo>
                <a:lnTo>
                  <a:pt x="1992884" y="0"/>
                </a:lnTo>
                <a:lnTo>
                  <a:pt x="2041217" y="4869"/>
                </a:lnTo>
                <a:lnTo>
                  <a:pt x="2086230" y="18837"/>
                </a:lnTo>
                <a:lnTo>
                  <a:pt x="2126961" y="40940"/>
                </a:lnTo>
                <a:lnTo>
                  <a:pt x="2162444" y="70215"/>
                </a:lnTo>
                <a:lnTo>
                  <a:pt x="2191719" y="105698"/>
                </a:lnTo>
                <a:lnTo>
                  <a:pt x="2213822" y="146429"/>
                </a:lnTo>
                <a:lnTo>
                  <a:pt x="2227790" y="191442"/>
                </a:lnTo>
                <a:lnTo>
                  <a:pt x="2232660" y="239775"/>
                </a:lnTo>
                <a:lnTo>
                  <a:pt x="2232660" y="1198880"/>
                </a:lnTo>
                <a:lnTo>
                  <a:pt x="2227790" y="1247213"/>
                </a:lnTo>
                <a:lnTo>
                  <a:pt x="2213822" y="1292226"/>
                </a:lnTo>
                <a:lnTo>
                  <a:pt x="2191719" y="1332957"/>
                </a:lnTo>
                <a:lnTo>
                  <a:pt x="2162444" y="1368440"/>
                </a:lnTo>
                <a:lnTo>
                  <a:pt x="2126961" y="1397715"/>
                </a:lnTo>
                <a:lnTo>
                  <a:pt x="2086230" y="1419818"/>
                </a:lnTo>
                <a:lnTo>
                  <a:pt x="2041217" y="1433786"/>
                </a:lnTo>
                <a:lnTo>
                  <a:pt x="1992884" y="1438656"/>
                </a:lnTo>
                <a:lnTo>
                  <a:pt x="239775" y="1438656"/>
                </a:lnTo>
                <a:lnTo>
                  <a:pt x="191442" y="1433786"/>
                </a:lnTo>
                <a:lnTo>
                  <a:pt x="146429" y="1419818"/>
                </a:lnTo>
                <a:lnTo>
                  <a:pt x="105698" y="1397715"/>
                </a:lnTo>
                <a:lnTo>
                  <a:pt x="70215" y="1368440"/>
                </a:lnTo>
                <a:lnTo>
                  <a:pt x="40940" y="1332957"/>
                </a:lnTo>
                <a:lnTo>
                  <a:pt x="18837" y="1292226"/>
                </a:lnTo>
                <a:lnTo>
                  <a:pt x="4869" y="1247213"/>
                </a:lnTo>
                <a:lnTo>
                  <a:pt x="0" y="1198880"/>
                </a:lnTo>
                <a:lnTo>
                  <a:pt x="0" y="239775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88684" y="3904945"/>
            <a:ext cx="12274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-40005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PV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Cash </a:t>
            </a:r>
            <a:r>
              <a:rPr sz="2400" dirty="0">
                <a:latin typeface="Arial MT"/>
                <a:cs typeface="Arial MT"/>
              </a:rPr>
              <a:t>inflow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spc="-10" dirty="0">
                <a:latin typeface="Arial MT"/>
                <a:cs typeface="Arial MT"/>
              </a:rPr>
              <a:t>project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64352" y="3809238"/>
            <a:ext cx="2256326" cy="1438910"/>
          </a:xfrm>
          <a:custGeom>
            <a:avLst/>
            <a:gdLst/>
            <a:ahLst/>
            <a:cxnLst/>
            <a:rect l="l" t="t" r="r" b="b"/>
            <a:pathLst>
              <a:path w="2232659" h="1438910">
                <a:moveTo>
                  <a:pt x="0" y="239775"/>
                </a:moveTo>
                <a:lnTo>
                  <a:pt x="4869" y="191442"/>
                </a:lnTo>
                <a:lnTo>
                  <a:pt x="18837" y="146429"/>
                </a:lnTo>
                <a:lnTo>
                  <a:pt x="40940" y="105698"/>
                </a:lnTo>
                <a:lnTo>
                  <a:pt x="70215" y="70215"/>
                </a:lnTo>
                <a:lnTo>
                  <a:pt x="105698" y="40940"/>
                </a:lnTo>
                <a:lnTo>
                  <a:pt x="146429" y="18837"/>
                </a:lnTo>
                <a:lnTo>
                  <a:pt x="191442" y="4869"/>
                </a:lnTo>
                <a:lnTo>
                  <a:pt x="239775" y="0"/>
                </a:lnTo>
                <a:lnTo>
                  <a:pt x="1992883" y="0"/>
                </a:lnTo>
                <a:lnTo>
                  <a:pt x="2041217" y="4869"/>
                </a:lnTo>
                <a:lnTo>
                  <a:pt x="2086230" y="18837"/>
                </a:lnTo>
                <a:lnTo>
                  <a:pt x="2126961" y="40940"/>
                </a:lnTo>
                <a:lnTo>
                  <a:pt x="2162444" y="70215"/>
                </a:lnTo>
                <a:lnTo>
                  <a:pt x="2191719" y="105698"/>
                </a:lnTo>
                <a:lnTo>
                  <a:pt x="2213822" y="146429"/>
                </a:lnTo>
                <a:lnTo>
                  <a:pt x="2227790" y="191442"/>
                </a:lnTo>
                <a:lnTo>
                  <a:pt x="2232659" y="239775"/>
                </a:lnTo>
                <a:lnTo>
                  <a:pt x="2232659" y="1198880"/>
                </a:lnTo>
                <a:lnTo>
                  <a:pt x="2227790" y="1247213"/>
                </a:lnTo>
                <a:lnTo>
                  <a:pt x="2213822" y="1292226"/>
                </a:lnTo>
                <a:lnTo>
                  <a:pt x="2191719" y="1332957"/>
                </a:lnTo>
                <a:lnTo>
                  <a:pt x="2162444" y="1368440"/>
                </a:lnTo>
                <a:lnTo>
                  <a:pt x="2126961" y="1397715"/>
                </a:lnTo>
                <a:lnTo>
                  <a:pt x="2086230" y="1419818"/>
                </a:lnTo>
                <a:lnTo>
                  <a:pt x="2041217" y="1433786"/>
                </a:lnTo>
                <a:lnTo>
                  <a:pt x="1992883" y="1438656"/>
                </a:lnTo>
                <a:lnTo>
                  <a:pt x="239775" y="1438656"/>
                </a:lnTo>
                <a:lnTo>
                  <a:pt x="191442" y="1433786"/>
                </a:lnTo>
                <a:lnTo>
                  <a:pt x="146429" y="1419818"/>
                </a:lnTo>
                <a:lnTo>
                  <a:pt x="105698" y="1397715"/>
                </a:lnTo>
                <a:lnTo>
                  <a:pt x="70215" y="1368440"/>
                </a:lnTo>
                <a:lnTo>
                  <a:pt x="40940" y="1332957"/>
                </a:lnTo>
                <a:lnTo>
                  <a:pt x="18837" y="1292226"/>
                </a:lnTo>
                <a:lnTo>
                  <a:pt x="4869" y="1247213"/>
                </a:lnTo>
                <a:lnTo>
                  <a:pt x="0" y="1198880"/>
                </a:lnTo>
                <a:lnTo>
                  <a:pt x="0" y="239775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37852" y="3904945"/>
            <a:ext cx="13309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PV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Cash </a:t>
            </a:r>
            <a:r>
              <a:rPr sz="2400" dirty="0">
                <a:latin typeface="Arial MT"/>
                <a:cs typeface="Arial MT"/>
              </a:rPr>
              <a:t>outflow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spc="-10" dirty="0">
                <a:latin typeface="Arial MT"/>
                <a:cs typeface="Arial MT"/>
              </a:rPr>
              <a:t>project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55760" y="4221860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622" y="5542026"/>
            <a:ext cx="11162030" cy="8305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793875" marR="492759" indent="-128524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Net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Value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capital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investment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greater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(less)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discount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analysis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23796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019" y="1528317"/>
            <a:ext cx="5494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Font typeface="Arial MT"/>
              <a:buChar char="•"/>
              <a:tabLst>
                <a:tab pos="469900" algn="l"/>
              </a:tabLst>
            </a:pP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Present</a:t>
            </a:r>
            <a:r>
              <a:rPr sz="2400" b="1" u="sng" spc="-6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Value</a:t>
            </a:r>
            <a:r>
              <a:rPr sz="2400" b="1" u="sng" spc="-8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of</a:t>
            </a:r>
            <a:r>
              <a:rPr sz="2400" b="1" u="sng" spc="-7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Future</a:t>
            </a:r>
            <a:r>
              <a:rPr sz="2400" b="1" u="sng" spc="-7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Cash</a:t>
            </a:r>
            <a:r>
              <a:rPr sz="2400" b="1" u="sng" spc="-7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Flow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019" y="3074034"/>
            <a:ext cx="585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Font typeface="Arial MT"/>
              <a:buChar char="•"/>
              <a:tabLst>
                <a:tab pos="469900" algn="l"/>
              </a:tabLst>
            </a:pPr>
            <a:r>
              <a:rPr sz="24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Present</a:t>
            </a:r>
            <a:r>
              <a:rPr sz="2400" b="1" u="sng" spc="-5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Value</a:t>
            </a:r>
            <a:r>
              <a:rPr sz="2400" b="1" u="sng" spc="-7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of</a:t>
            </a:r>
            <a:r>
              <a:rPr sz="2400" b="1" u="sng" spc="-6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an</a:t>
            </a:r>
            <a:r>
              <a:rPr sz="2400" b="1" u="sng" spc="-7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Ordinary</a:t>
            </a:r>
            <a:r>
              <a:rPr sz="2400" b="1" u="sng" spc="-145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Annuity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43DBA5CB-07D5-805C-7060-CBAA0D47B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PV Formulas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4019" y="947673"/>
            <a:ext cx="7121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8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Cheat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Sheet!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provide annuity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tables.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40" y="2324557"/>
            <a:ext cx="26816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𝑃𝑉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𝐹𝑉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(1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𝑖)</a:t>
            </a:r>
            <a:r>
              <a:rPr sz="2625" spc="-30" baseline="28571" dirty="0">
                <a:latin typeface="Cambria Math"/>
                <a:cs typeface="Cambria Math"/>
              </a:rPr>
              <a:t>−𝑡</a:t>
            </a:r>
            <a:endParaRPr sz="2625" baseline="28571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1608" y="3963416"/>
            <a:ext cx="147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8260" algn="l"/>
              </a:tabLst>
            </a:pPr>
            <a:r>
              <a:rPr sz="2400" dirty="0">
                <a:latin typeface="Cambria Math"/>
                <a:cs typeface="Cambria Math"/>
              </a:rPr>
              <a:t>𝑃𝑉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𝐹𝑉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15082" y="4183888"/>
            <a:ext cx="1701164" cy="20320"/>
          </a:xfrm>
          <a:custGeom>
            <a:avLst/>
            <a:gdLst/>
            <a:ahLst/>
            <a:cxnLst/>
            <a:rect l="l" t="t" r="r" b="b"/>
            <a:pathLst>
              <a:path w="1701164" h="20320">
                <a:moveTo>
                  <a:pt x="1700783" y="0"/>
                </a:moveTo>
                <a:lnTo>
                  <a:pt x="0" y="0"/>
                </a:lnTo>
                <a:lnTo>
                  <a:pt x="0" y="19812"/>
                </a:lnTo>
                <a:lnTo>
                  <a:pt x="1700783" y="19812"/>
                </a:lnTo>
                <a:lnTo>
                  <a:pt x="17007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72232" y="3822572"/>
            <a:ext cx="836930" cy="282575"/>
          </a:xfrm>
          <a:custGeom>
            <a:avLst/>
            <a:gdLst/>
            <a:ahLst/>
            <a:cxnLst/>
            <a:rect l="l" t="t" r="r" b="b"/>
            <a:pathLst>
              <a:path w="836929" h="282575">
                <a:moveTo>
                  <a:pt x="746379" y="0"/>
                </a:moveTo>
                <a:lnTo>
                  <a:pt x="742315" y="11429"/>
                </a:lnTo>
                <a:lnTo>
                  <a:pt x="758678" y="18522"/>
                </a:lnTo>
                <a:lnTo>
                  <a:pt x="772731" y="28352"/>
                </a:lnTo>
                <a:lnTo>
                  <a:pt x="801264" y="73852"/>
                </a:lnTo>
                <a:lnTo>
                  <a:pt x="809555" y="115341"/>
                </a:lnTo>
                <a:lnTo>
                  <a:pt x="809595" y="115623"/>
                </a:lnTo>
                <a:lnTo>
                  <a:pt x="809593" y="164635"/>
                </a:lnTo>
                <a:lnTo>
                  <a:pt x="801211" y="207601"/>
                </a:lnTo>
                <a:lnTo>
                  <a:pt x="772731" y="253857"/>
                </a:lnTo>
                <a:lnTo>
                  <a:pt x="742822" y="270890"/>
                </a:lnTo>
                <a:lnTo>
                  <a:pt x="746379" y="282320"/>
                </a:lnTo>
                <a:lnTo>
                  <a:pt x="784875" y="264255"/>
                </a:lnTo>
                <a:lnTo>
                  <a:pt x="813181" y="233044"/>
                </a:lnTo>
                <a:lnTo>
                  <a:pt x="830611" y="191134"/>
                </a:lnTo>
                <a:lnTo>
                  <a:pt x="836421" y="141224"/>
                </a:lnTo>
                <a:lnTo>
                  <a:pt x="834983" y="115623"/>
                </a:lnTo>
                <a:lnTo>
                  <a:pt x="823295" y="69482"/>
                </a:lnTo>
                <a:lnTo>
                  <a:pt x="800171" y="32146"/>
                </a:lnTo>
                <a:lnTo>
                  <a:pt x="766833" y="7381"/>
                </a:lnTo>
                <a:lnTo>
                  <a:pt x="746379" y="0"/>
                </a:lnTo>
                <a:close/>
              </a:path>
              <a:path w="836929" h="282575">
                <a:moveTo>
                  <a:pt x="90043" y="0"/>
                </a:moveTo>
                <a:lnTo>
                  <a:pt x="51546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32" y="167179"/>
                </a:lnTo>
                <a:lnTo>
                  <a:pt x="12965" y="213090"/>
                </a:lnTo>
                <a:lnTo>
                  <a:pt x="36018" y="250281"/>
                </a:lnTo>
                <a:lnTo>
                  <a:pt x="69494" y="274943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01"/>
                </a:lnTo>
                <a:lnTo>
                  <a:pt x="26701" y="164635"/>
                </a:lnTo>
                <a:lnTo>
                  <a:pt x="25654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674" y="28352"/>
                </a:lnTo>
                <a:lnTo>
                  <a:pt x="93980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02510" y="3733292"/>
            <a:ext cx="1311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</a:tabLst>
            </a:pPr>
            <a:r>
              <a:rPr sz="2400" dirty="0">
                <a:latin typeface="Cambria Math"/>
                <a:cs typeface="Cambria Math"/>
              </a:rPr>
              <a:t>1 </a:t>
            </a:r>
            <a:r>
              <a:rPr sz="2400" spc="-50" dirty="0">
                <a:latin typeface="Cambria Math"/>
                <a:cs typeface="Cambria Math"/>
              </a:rPr>
              <a:t>−</a:t>
            </a:r>
            <a:r>
              <a:rPr sz="2400" dirty="0">
                <a:latin typeface="Cambria Math"/>
                <a:cs typeface="Cambria Math"/>
              </a:rPr>
              <a:t>	1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4783" y="3704335"/>
            <a:ext cx="2851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−𝑡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99561" y="4167632"/>
            <a:ext cx="122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20325" y="1097533"/>
            <a:ext cx="254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NPV</a:t>
            </a:r>
            <a:r>
              <a:rPr sz="2400" u="sng" spc="-16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 MT"/>
                <a:cs typeface="Arial MT"/>
              </a:rPr>
              <a:t>Assumptions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7122" y="1670484"/>
            <a:ext cx="4653280" cy="3834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AutoNum type="arabicPeriod"/>
              <a:tabLst>
                <a:tab pos="46990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cash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generated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by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42424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project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is</a:t>
            </a:r>
            <a:r>
              <a:rPr sz="24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immediately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reinvested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generate</a:t>
            </a:r>
            <a:r>
              <a:rPr sz="2400" spc="-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return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at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rate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that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equal</a:t>
            </a:r>
            <a:r>
              <a:rPr sz="24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 the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discount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rate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used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in</a:t>
            </a:r>
            <a:r>
              <a:rPr sz="24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present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value</a:t>
            </a:r>
            <a:r>
              <a:rPr sz="24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analysis.</a:t>
            </a:r>
            <a:endParaRPr sz="2400" dirty="0">
              <a:latin typeface="Arial MT"/>
              <a:cs typeface="Arial MT"/>
            </a:endParaRPr>
          </a:p>
          <a:p>
            <a:pPr marL="469900" marR="74295" indent="-457200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46990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inflow</a:t>
            </a:r>
            <a:r>
              <a:rPr sz="24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outflow</a:t>
            </a:r>
            <a:r>
              <a:rPr sz="24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cash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other</a:t>
            </a:r>
            <a:r>
              <a:rPr sz="24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than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initial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 investment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occur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at</a:t>
            </a:r>
            <a:r>
              <a:rPr sz="24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end</a:t>
            </a:r>
            <a:r>
              <a:rPr sz="2400" u="sng" spc="-30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of</a:t>
            </a:r>
            <a:r>
              <a:rPr sz="2400" u="sng" spc="-55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20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each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 MT"/>
                <a:cs typeface="Arial MT"/>
              </a:rPr>
              <a:t>period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6E4BF4B-B29A-9FF7-FCCA-20C94F470D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What is an Appropriate Discount Rate?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368" y="980728"/>
            <a:ext cx="10549890" cy="4107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Choosing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proper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discount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rate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important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accurate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Net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Present 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Value</a:t>
            </a:r>
            <a:r>
              <a:rPr sz="2400" spc="-1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analysis.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25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Use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minimum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rate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return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acceptable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company</a:t>
            </a:r>
            <a:endParaRPr sz="2200" dirty="0">
              <a:latin typeface="Arial MT"/>
              <a:cs typeface="Arial MT"/>
            </a:endParaRPr>
          </a:p>
          <a:p>
            <a:pPr marL="1367155" lvl="2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36715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finance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expenditure</a:t>
            </a:r>
            <a:endParaRPr sz="2200" dirty="0">
              <a:latin typeface="Arial MT"/>
              <a:cs typeface="Arial MT"/>
            </a:endParaRPr>
          </a:p>
          <a:p>
            <a:pPr marL="1367155" lvl="2" indent="-457200">
              <a:lnSpc>
                <a:spcPct val="100000"/>
              </a:lnSpc>
              <a:spcBef>
                <a:spcPts val="1125"/>
              </a:spcBef>
              <a:buSzPct val="79545"/>
              <a:buChar char="•"/>
              <a:tabLst>
                <a:tab pos="136715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r>
              <a:rPr sz="2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2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company’s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internal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funds</a:t>
            </a:r>
            <a:endParaRPr sz="2200" dirty="0">
              <a:latin typeface="Arial MT"/>
              <a:cs typeface="Arial MT"/>
            </a:endParaRPr>
          </a:p>
          <a:p>
            <a:pPr marL="1367155" lvl="2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36715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Rate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return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needed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attract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outside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investment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endParaRPr sz="2200" dirty="0">
              <a:latin typeface="Arial MT"/>
              <a:cs typeface="Arial MT"/>
            </a:endParaRPr>
          </a:p>
          <a:p>
            <a:pPr marL="1367155" lvl="2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36715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Rate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return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company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can</a:t>
            </a:r>
            <a:r>
              <a:rPr sz="2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receive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from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an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alternative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investment</a:t>
            </a:r>
            <a:endParaRPr sz="2200" dirty="0">
              <a:latin typeface="Arial MT"/>
              <a:cs typeface="Arial MT"/>
            </a:endParaRPr>
          </a:p>
          <a:p>
            <a:pPr marL="1367155" lvl="2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36715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Threshold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Rate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Return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(TRR)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required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by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company</a:t>
            </a:r>
            <a:endParaRPr sz="2200" dirty="0">
              <a:latin typeface="Arial MT"/>
              <a:cs typeface="Arial MT"/>
            </a:endParaRPr>
          </a:p>
          <a:p>
            <a:pPr marL="1367155" lvl="2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1367155" algn="l"/>
              </a:tabLst>
            </a:pPr>
            <a:r>
              <a:rPr sz="2200" spc="-20" dirty="0">
                <a:solidFill>
                  <a:srgbClr val="252525"/>
                </a:solidFill>
                <a:latin typeface="Arial MT"/>
                <a:cs typeface="Arial MT"/>
              </a:rPr>
              <a:t>WACC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533" y="5805678"/>
            <a:ext cx="10972800" cy="43180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exam,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will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provide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discount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rate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384" y="764704"/>
            <a:ext cx="10801350" cy="286616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>
              <a:buFont typeface="Wingdings 3" panose="05040102010807070707" pitchFamily="18" charset="2"/>
              <a:buNone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determine net present value . . .</a:t>
            </a:r>
          </a:p>
          <a:p>
            <a:pPr>
              <a:buFont typeface="Wingdings 3" panose="05040102010807070707" pitchFamily="18" charset="2"/>
              <a:buNone/>
            </a:pPr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5513" lvl="1" indent="-514350">
              <a:buClrTx/>
              <a:buSzPct val="100000"/>
              <a:buFont typeface="Rockwell" panose="02060603020205020403" pitchFamily="18" charset="0"/>
              <a:buAutoNum type="arabicPeriod"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Calculate the present value of cash inflows</a:t>
            </a:r>
          </a:p>
          <a:p>
            <a:pPr marL="925513" lvl="1" indent="-514350">
              <a:buClrTx/>
              <a:buSzPct val="100000"/>
              <a:buFont typeface="Rockwell" panose="02060603020205020403" pitchFamily="18" charset="0"/>
              <a:buAutoNum type="arabicPeriod"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Calculate the present value of cash outflows</a:t>
            </a:r>
          </a:p>
          <a:p>
            <a:pPr marL="925513" lvl="1" indent="-514350">
              <a:buClrTx/>
              <a:buSzPct val="100000"/>
              <a:buFont typeface="Rockwell" panose="02060603020205020403" pitchFamily="18" charset="0"/>
              <a:buAutoNum type="arabicPeriod"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Subtract the present value of the outflows from the present value of the inflows</a:t>
            </a:r>
          </a:p>
          <a:p>
            <a:pPr marL="355600" indent="-342900">
              <a:lnSpc>
                <a:spcPct val="1000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endParaRPr lang="en-US" sz="2400" spc="-1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07E1CF0-FEC2-E18C-D26B-2AAA10B5F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Net Present Value Method</a:t>
            </a:r>
          </a:p>
        </p:txBody>
      </p:sp>
      <p:sp>
        <p:nvSpPr>
          <p:cNvPr id="3" name="AutoShape 2" descr="Time Value of Money - How to Calculat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574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07E1CF0-FEC2-E18C-D26B-2AAA10B5F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Net Present Value </a:t>
            </a:r>
            <a:r>
              <a:rPr lang="en-CA" dirty="0" err="1"/>
              <a:t>Metod</a:t>
            </a:r>
            <a:endParaRPr lang="en-CA" dirty="0"/>
          </a:p>
        </p:txBody>
      </p:sp>
      <p:sp>
        <p:nvSpPr>
          <p:cNvPr id="3" name="AutoShape 2" descr="Time Value of Money - How to Calculat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BC18576B-F8E9-4090-8DF7-6C291567F4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3339295"/>
              </p:ext>
            </p:extLst>
          </p:nvPr>
        </p:nvGraphicFramePr>
        <p:xfrm>
          <a:off x="1343025" y="981075"/>
          <a:ext cx="7862888" cy="431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86197" imgH="2409825" progId="Excel.Sheet.8">
                  <p:embed/>
                </p:oleObj>
              </mc:Choice>
              <mc:Fallback>
                <p:oleObj name="Worksheet" r:id="rId2" imgW="3686197" imgH="2409825" progId="Excel.Sheet.8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BC18576B-F8E9-4090-8DF7-6C291567F4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 l="1866" t="221" r="2277" b="4062"/>
                      <a:stretch>
                        <a:fillRect/>
                      </a:stretch>
                    </p:blipFill>
                    <p:spPr bwMode="auto">
                      <a:xfrm>
                        <a:off x="1343025" y="981075"/>
                        <a:ext cx="7862888" cy="431958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2857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674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Typical Cash Outflows</a:t>
            </a:r>
            <a:endParaRPr lang="en-CA" dirty="0"/>
          </a:p>
        </p:txBody>
      </p:sp>
      <p:grpSp>
        <p:nvGrpSpPr>
          <p:cNvPr id="33794" name="Group 86">
            <a:extLst>
              <a:ext uri="{FF2B5EF4-FFF2-40B4-BE49-F238E27FC236}">
                <a16:creationId xmlns:a16="http://schemas.microsoft.com/office/drawing/2014/main" id="{7B7DC6FE-DA1C-4686-9F7E-8069D0A54124}"/>
              </a:ext>
            </a:extLst>
          </p:cNvPr>
          <p:cNvGrpSpPr>
            <a:grpSpLocks/>
          </p:cNvGrpSpPr>
          <p:nvPr/>
        </p:nvGrpSpPr>
        <p:grpSpPr bwMode="auto">
          <a:xfrm>
            <a:off x="4651376" y="1223963"/>
            <a:ext cx="2686051" cy="1778000"/>
            <a:chOff x="1970" y="951"/>
            <a:chExt cx="1692" cy="1120"/>
          </a:xfrm>
        </p:grpSpPr>
        <p:sp>
          <p:nvSpPr>
            <p:cNvPr id="35855" name="Rectangle 87">
              <a:extLst>
                <a:ext uri="{FF2B5EF4-FFF2-40B4-BE49-F238E27FC236}">
                  <a16:creationId xmlns:a16="http://schemas.microsoft.com/office/drawing/2014/main" id="{8A1A0234-73F0-42BF-BF0D-CFBC1B929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" y="951"/>
              <a:ext cx="1692" cy="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Repairs and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maintenance</a:t>
              </a:r>
            </a:p>
          </p:txBody>
        </p:sp>
        <p:sp>
          <p:nvSpPr>
            <p:cNvPr id="35856" name="Line 88">
              <a:extLst>
                <a:ext uri="{FF2B5EF4-FFF2-40B4-BE49-F238E27FC236}">
                  <a16:creationId xmlns:a16="http://schemas.microsoft.com/office/drawing/2014/main" id="{C590B44A-7F09-4FDF-BDFD-1CD86C1299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8" y="1719"/>
              <a:ext cx="0" cy="352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grpSp>
        <p:nvGrpSpPr>
          <p:cNvPr id="33795" name="Group 89">
            <a:extLst>
              <a:ext uri="{FF2B5EF4-FFF2-40B4-BE49-F238E27FC236}">
                <a16:creationId xmlns:a16="http://schemas.microsoft.com/office/drawing/2014/main" id="{81749A30-E8D4-4CBD-9161-C7E67E8B5189}"/>
              </a:ext>
            </a:extLst>
          </p:cNvPr>
          <p:cNvGrpSpPr>
            <a:grpSpLocks/>
          </p:cNvGrpSpPr>
          <p:nvPr/>
        </p:nvGrpSpPr>
        <p:grpSpPr bwMode="auto">
          <a:xfrm>
            <a:off x="4800602" y="4267201"/>
            <a:ext cx="2482850" cy="2119313"/>
            <a:chOff x="2064" y="2513"/>
            <a:chExt cx="1564" cy="1335"/>
          </a:xfrm>
        </p:grpSpPr>
        <p:sp>
          <p:nvSpPr>
            <p:cNvPr id="35853" name="Rectangle 90">
              <a:extLst>
                <a:ext uri="{FF2B5EF4-FFF2-40B4-BE49-F238E27FC236}">
                  <a16:creationId xmlns:a16="http://schemas.microsoft.com/office/drawing/2014/main" id="{9F2EF845-AB8D-4107-9BC4-56AC4546A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861"/>
              <a:ext cx="1564" cy="9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Incremental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operating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costs</a:t>
              </a:r>
            </a:p>
          </p:txBody>
        </p:sp>
        <p:sp>
          <p:nvSpPr>
            <p:cNvPr id="35854" name="Line 91">
              <a:extLst>
                <a:ext uri="{FF2B5EF4-FFF2-40B4-BE49-F238E27FC236}">
                  <a16:creationId xmlns:a16="http://schemas.microsoft.com/office/drawing/2014/main" id="{04F09EE4-68A6-4D0A-98C8-509998D2F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8" y="2513"/>
              <a:ext cx="0" cy="32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grpSp>
        <p:nvGrpSpPr>
          <p:cNvPr id="33796" name="Group 92">
            <a:extLst>
              <a:ext uri="{FF2B5EF4-FFF2-40B4-BE49-F238E27FC236}">
                <a16:creationId xmlns:a16="http://schemas.microsoft.com/office/drawing/2014/main" id="{F8301690-0580-44FA-9B11-C3CE56393075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3148014"/>
            <a:ext cx="2968625" cy="1074737"/>
            <a:chOff x="3792" y="1983"/>
            <a:chExt cx="1870" cy="677"/>
          </a:xfrm>
        </p:grpSpPr>
        <p:sp>
          <p:nvSpPr>
            <p:cNvPr id="35851" name="Rectangle 93">
              <a:extLst>
                <a:ext uri="{FF2B5EF4-FFF2-40B4-BE49-F238E27FC236}">
                  <a16:creationId xmlns:a16="http://schemas.microsoft.com/office/drawing/2014/main" id="{1FA100D4-674D-4CA0-BC61-6B75016E3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5" y="1983"/>
              <a:ext cx="1477" cy="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investment</a:t>
              </a:r>
            </a:p>
          </p:txBody>
        </p:sp>
        <p:sp>
          <p:nvSpPr>
            <p:cNvPr id="35852" name="Line 94">
              <a:extLst>
                <a:ext uri="{FF2B5EF4-FFF2-40B4-BE49-F238E27FC236}">
                  <a16:creationId xmlns:a16="http://schemas.microsoft.com/office/drawing/2014/main" id="{89435E95-F68D-4DD7-B2AB-0F25B647A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304"/>
              <a:ext cx="464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grpSp>
        <p:nvGrpSpPr>
          <p:cNvPr id="33797" name="Group 95">
            <a:extLst>
              <a:ext uri="{FF2B5EF4-FFF2-40B4-BE49-F238E27FC236}">
                <a16:creationId xmlns:a16="http://schemas.microsoft.com/office/drawing/2014/main" id="{350C4097-E955-41F5-8D7F-6EF689D8BF81}"/>
              </a:ext>
            </a:extLst>
          </p:cNvPr>
          <p:cNvGrpSpPr>
            <a:grpSpLocks/>
          </p:cNvGrpSpPr>
          <p:nvPr/>
        </p:nvGrpSpPr>
        <p:grpSpPr bwMode="auto">
          <a:xfrm>
            <a:off x="2141538" y="3130550"/>
            <a:ext cx="2582862" cy="1074738"/>
            <a:chOff x="329" y="1972"/>
            <a:chExt cx="1627" cy="677"/>
          </a:xfrm>
        </p:grpSpPr>
        <p:sp>
          <p:nvSpPr>
            <p:cNvPr id="35849" name="Rectangle 96">
              <a:extLst>
                <a:ext uri="{FF2B5EF4-FFF2-40B4-BE49-F238E27FC236}">
                  <a16:creationId xmlns:a16="http://schemas.microsoft.com/office/drawing/2014/main" id="{F64C7330-3E25-4CF7-BE07-BBD81DF3B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" y="1972"/>
              <a:ext cx="1143" cy="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Working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capital</a:t>
              </a:r>
            </a:p>
          </p:txBody>
        </p:sp>
        <p:sp>
          <p:nvSpPr>
            <p:cNvPr id="35850" name="Line 97">
              <a:extLst>
                <a:ext uri="{FF2B5EF4-FFF2-40B4-BE49-F238E27FC236}">
                  <a16:creationId xmlns:a16="http://schemas.microsoft.com/office/drawing/2014/main" id="{F6221A13-B328-431A-9E9F-1D2BB18E2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8" y="2304"/>
              <a:ext cx="448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sp>
        <p:nvSpPr>
          <p:cNvPr id="33798" name="TextBox 18">
            <a:extLst>
              <a:ext uri="{FF2B5EF4-FFF2-40B4-BE49-F238E27FC236}">
                <a16:creationId xmlns:a16="http://schemas.microsoft.com/office/drawing/2014/main" id="{5A07A7F0-9DCB-406B-8DE1-071C4F086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100" y="3248026"/>
            <a:ext cx="2286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CA" altLang="en-US" sz="4000" dirty="0">
                <a:cs typeface="Arial" panose="020B0604020202020204" pitchFamily="34" charset="0"/>
              </a:rPr>
              <a:t>Outflows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3A85C4-CA77-AEC4-D54C-BE0A5977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74659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Typical Cash Inflows</a:t>
            </a:r>
            <a:endParaRPr lang="en-CA" dirty="0"/>
          </a:p>
        </p:txBody>
      </p:sp>
      <p:grpSp>
        <p:nvGrpSpPr>
          <p:cNvPr id="35842" name="Group 1110">
            <a:extLst>
              <a:ext uri="{FF2B5EF4-FFF2-40B4-BE49-F238E27FC236}">
                <a16:creationId xmlns:a16="http://schemas.microsoft.com/office/drawing/2014/main" id="{2C0B481F-7094-45DE-8E23-A822CC0A287B}"/>
              </a:ext>
            </a:extLst>
          </p:cNvPr>
          <p:cNvGrpSpPr>
            <a:grpSpLocks/>
          </p:cNvGrpSpPr>
          <p:nvPr/>
        </p:nvGrpSpPr>
        <p:grpSpPr bwMode="auto">
          <a:xfrm>
            <a:off x="7467601" y="3081339"/>
            <a:ext cx="2992438" cy="1074737"/>
            <a:chOff x="3744" y="1941"/>
            <a:chExt cx="1885" cy="677"/>
          </a:xfrm>
        </p:grpSpPr>
        <p:sp>
          <p:nvSpPr>
            <p:cNvPr id="37903" name="Rectangle 1111">
              <a:extLst>
                <a:ext uri="{FF2B5EF4-FFF2-40B4-BE49-F238E27FC236}">
                  <a16:creationId xmlns:a16="http://schemas.microsoft.com/office/drawing/2014/main" id="{E1AF74C6-1684-4283-B8C3-5EAA9948B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3" y="1941"/>
              <a:ext cx="1376" cy="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Reduction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costs</a:t>
              </a:r>
            </a:p>
          </p:txBody>
        </p:sp>
        <p:sp>
          <p:nvSpPr>
            <p:cNvPr id="37904" name="Line 1112">
              <a:extLst>
                <a:ext uri="{FF2B5EF4-FFF2-40B4-BE49-F238E27FC236}">
                  <a16:creationId xmlns:a16="http://schemas.microsoft.com/office/drawing/2014/main" id="{439BF413-15FA-4FED-A1F3-AE1CEB4C0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304"/>
              <a:ext cx="464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grpSp>
        <p:nvGrpSpPr>
          <p:cNvPr id="35843" name="Group 1113">
            <a:extLst>
              <a:ext uri="{FF2B5EF4-FFF2-40B4-BE49-F238E27FC236}">
                <a16:creationId xmlns:a16="http://schemas.microsoft.com/office/drawing/2014/main" id="{C47BA13D-3DFE-44B8-8F41-CA62C2552137}"/>
              </a:ext>
            </a:extLst>
          </p:cNvPr>
          <p:cNvGrpSpPr>
            <a:grpSpLocks/>
          </p:cNvGrpSpPr>
          <p:nvPr/>
        </p:nvGrpSpPr>
        <p:grpSpPr bwMode="auto">
          <a:xfrm>
            <a:off x="5253038" y="1416050"/>
            <a:ext cx="1731963" cy="1631950"/>
            <a:chOff x="2349" y="1123"/>
            <a:chExt cx="1091" cy="1028"/>
          </a:xfrm>
        </p:grpSpPr>
        <p:sp>
          <p:nvSpPr>
            <p:cNvPr id="37901" name="Rectangle 1114">
              <a:extLst>
                <a:ext uri="{FF2B5EF4-FFF2-40B4-BE49-F238E27FC236}">
                  <a16:creationId xmlns:a16="http://schemas.microsoft.com/office/drawing/2014/main" id="{250924FE-F2A5-48AB-A393-6C359B1C7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" y="1123"/>
              <a:ext cx="1091" cy="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Salvage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value</a:t>
              </a:r>
            </a:p>
          </p:txBody>
        </p:sp>
        <p:sp>
          <p:nvSpPr>
            <p:cNvPr id="37902" name="Line 1115">
              <a:extLst>
                <a:ext uri="{FF2B5EF4-FFF2-40B4-BE49-F238E27FC236}">
                  <a16:creationId xmlns:a16="http://schemas.microsoft.com/office/drawing/2014/main" id="{8DD0B20C-E721-4494-8061-C86EAF7E2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1799"/>
              <a:ext cx="0" cy="352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grpSp>
        <p:nvGrpSpPr>
          <p:cNvPr id="35844" name="Group 1116">
            <a:extLst>
              <a:ext uri="{FF2B5EF4-FFF2-40B4-BE49-F238E27FC236}">
                <a16:creationId xmlns:a16="http://schemas.microsoft.com/office/drawing/2014/main" id="{1AB88BDF-C917-4EE3-825B-C310BF6B1E90}"/>
              </a:ext>
            </a:extLst>
          </p:cNvPr>
          <p:cNvGrpSpPr>
            <a:grpSpLocks/>
          </p:cNvGrpSpPr>
          <p:nvPr/>
        </p:nvGrpSpPr>
        <p:grpSpPr bwMode="auto">
          <a:xfrm>
            <a:off x="4938714" y="4343400"/>
            <a:ext cx="2482850" cy="1739900"/>
            <a:chOff x="2151" y="2468"/>
            <a:chExt cx="1564" cy="1096"/>
          </a:xfrm>
        </p:grpSpPr>
        <p:sp>
          <p:nvSpPr>
            <p:cNvPr id="37899" name="Rectangle 1117">
              <a:extLst>
                <a:ext uri="{FF2B5EF4-FFF2-40B4-BE49-F238E27FC236}">
                  <a16:creationId xmlns:a16="http://schemas.microsoft.com/office/drawing/2014/main" id="{EDE9FE89-21EB-415D-9D98-0CF89EBB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2887"/>
              <a:ext cx="1564" cy="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Incremental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revenues</a:t>
              </a:r>
            </a:p>
          </p:txBody>
        </p:sp>
        <p:sp>
          <p:nvSpPr>
            <p:cNvPr id="37900" name="Line 1118">
              <a:extLst>
                <a:ext uri="{FF2B5EF4-FFF2-40B4-BE49-F238E27FC236}">
                  <a16:creationId xmlns:a16="http://schemas.microsoft.com/office/drawing/2014/main" id="{7EEF1845-7AAF-47B2-8A6A-EC56F99F8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" y="2468"/>
              <a:ext cx="0" cy="32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grpSp>
        <p:nvGrpSpPr>
          <p:cNvPr id="35845" name="Group 1119">
            <a:extLst>
              <a:ext uri="{FF2B5EF4-FFF2-40B4-BE49-F238E27FC236}">
                <a16:creationId xmlns:a16="http://schemas.microsoft.com/office/drawing/2014/main" id="{327E7021-06D6-4ECD-98F0-F0557A189109}"/>
              </a:ext>
            </a:extLst>
          </p:cNvPr>
          <p:cNvGrpSpPr>
            <a:grpSpLocks/>
          </p:cNvGrpSpPr>
          <p:nvPr/>
        </p:nvGrpSpPr>
        <p:grpSpPr bwMode="auto">
          <a:xfrm>
            <a:off x="1911351" y="2882901"/>
            <a:ext cx="2965449" cy="1566863"/>
            <a:chOff x="366" y="1816"/>
            <a:chExt cx="1868" cy="987"/>
          </a:xfrm>
        </p:grpSpPr>
        <p:sp>
          <p:nvSpPr>
            <p:cNvPr id="37897" name="Rectangle 1120">
              <a:extLst>
                <a:ext uri="{FF2B5EF4-FFF2-40B4-BE49-F238E27FC236}">
                  <a16:creationId xmlns:a16="http://schemas.microsoft.com/office/drawing/2014/main" id="{A11173B1-355C-4232-A49C-1C23EF401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" y="1816"/>
              <a:ext cx="1406" cy="9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 of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working</a:t>
              </a:r>
            </a:p>
            <a:p>
              <a:pPr algn="ctr" eaLnBrk="1" hangingPunct="1">
                <a:defRPr/>
              </a:pPr>
              <a:r>
                <a:rPr lang="en-CA" altLang="en-US" sz="3200" b="1" dirty="0">
                  <a:solidFill>
                    <a:srgbClr val="1C316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capital</a:t>
              </a:r>
            </a:p>
          </p:txBody>
        </p:sp>
        <p:sp>
          <p:nvSpPr>
            <p:cNvPr id="37898" name="Line 1121">
              <a:extLst>
                <a:ext uri="{FF2B5EF4-FFF2-40B4-BE49-F238E27FC236}">
                  <a16:creationId xmlns:a16="http://schemas.microsoft.com/office/drawing/2014/main" id="{CDFB19E9-7F84-4D0C-ADFC-462DA0D91F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6" y="2304"/>
              <a:ext cx="448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1C3163"/>
                </a:solidFill>
              </a:endParaRPr>
            </a:p>
          </p:txBody>
        </p:sp>
      </p:grpSp>
      <p:sp>
        <p:nvSpPr>
          <p:cNvPr id="35846" name="TextBox 18">
            <a:extLst>
              <a:ext uri="{FF2B5EF4-FFF2-40B4-BE49-F238E27FC236}">
                <a16:creationId xmlns:a16="http://schemas.microsoft.com/office/drawing/2014/main" id="{C5067943-F6F5-4872-B7B4-BA2EF0572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563" y="3248026"/>
            <a:ext cx="2286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CA" altLang="en-US" sz="4000" dirty="0"/>
              <a:t>Inflows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E8FEC5-1D3D-7A97-7CBB-9FBDC60D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26145"/>
      </p:ext>
    </p:extLst>
  </p:cSld>
  <p:clrMapOvr>
    <a:masterClrMapping/>
  </p:clrMapOvr>
  <p:transition>
    <p:zoom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5" name="Rectangle 3">
            <a:extLst>
              <a:ext uri="{FF2B5EF4-FFF2-40B4-BE49-F238E27FC236}">
                <a16:creationId xmlns:a16="http://schemas.microsoft.com/office/drawing/2014/main" id="{125E0792-81B5-4A5E-98CE-1BAEF2CF4199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81133" y="16271"/>
            <a:ext cx="9601067" cy="5060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CA" dirty="0"/>
              <a:t>Let’s apply …</a:t>
            </a:r>
          </a:p>
          <a:p>
            <a:endParaRPr lang="en-CA" altLang="en-US" sz="2800" b="0" dirty="0">
              <a:solidFill>
                <a:schemeClr val="tx1"/>
              </a:solidFill>
            </a:endParaRPr>
          </a:p>
          <a:p>
            <a:r>
              <a:rPr lang="en-CA" altLang="en-US" sz="2800" b="0" dirty="0">
                <a:solidFill>
                  <a:schemeClr val="tx1"/>
                </a:solidFill>
              </a:rPr>
              <a:t>Carver Dental Clinic is considering the purchase of an attachment for its X-ray machine. 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2800" b="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CA" altLang="en-US" sz="2800" dirty="0"/>
          </a:p>
          <a:p>
            <a:pPr>
              <a:buFont typeface="Arial" panose="020B0604020202020204" pitchFamily="34" charset="0"/>
              <a:buChar char="•"/>
            </a:pPr>
            <a:endParaRPr lang="en-CA" altLang="en-US" sz="2800" dirty="0"/>
          </a:p>
          <a:p>
            <a:endParaRPr lang="en-CA" altLang="en-US" sz="2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800" b="0" dirty="0">
                <a:solidFill>
                  <a:schemeClr val="tx1"/>
                </a:solidFill>
              </a:rPr>
              <a:t>No investments are to be made unless they have an annual return of at least 1</a:t>
            </a:r>
          </a:p>
          <a:p>
            <a:r>
              <a:rPr lang="en-CA" altLang="en-US" sz="2800" b="1" dirty="0">
                <a:solidFill>
                  <a:srgbClr val="0070C0"/>
                </a:solidFill>
              </a:rPr>
              <a:t>Will Carver Dental Clinic invest in the attachment?</a:t>
            </a:r>
          </a:p>
        </p:txBody>
      </p:sp>
      <p:graphicFrame>
        <p:nvGraphicFramePr>
          <p:cNvPr id="325636" name="Object 2">
            <a:extLst>
              <a:ext uri="{FF2B5EF4-FFF2-40B4-BE49-F238E27FC236}">
                <a16:creationId xmlns:a16="http://schemas.microsoft.com/office/drawing/2014/main" id="{86A2C1DC-C2BB-46DB-93E8-756DED13E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775256"/>
              </p:ext>
            </p:extLst>
          </p:nvPr>
        </p:nvGraphicFramePr>
        <p:xfrm>
          <a:off x="3071664" y="2348880"/>
          <a:ext cx="5973991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57416" imgH="976359" progId="Excel.Sheet.8">
                  <p:embed/>
                </p:oleObj>
              </mc:Choice>
              <mc:Fallback>
                <p:oleObj name="Worksheet" r:id="rId3" imgW="3357416" imgH="976359" progId="Excel.Sheet.8">
                  <p:embed/>
                  <p:pic>
                    <p:nvPicPr>
                      <p:cNvPr id="325636" name="Object 2">
                        <a:extLst>
                          <a:ext uri="{FF2B5EF4-FFF2-40B4-BE49-F238E27FC236}">
                            <a16:creationId xmlns:a16="http://schemas.microsoft.com/office/drawing/2014/main" id="{86A2C1DC-C2BB-46DB-93E8-756DED13E5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1587" t="8221" r="6349" b="21416"/>
                      <a:stretch>
                        <a:fillRect/>
                      </a:stretch>
                    </p:blipFill>
                    <p:spPr bwMode="auto">
                      <a:xfrm>
                        <a:off x="3071664" y="2348880"/>
                        <a:ext cx="5973991" cy="16002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7373D3-5306-A3C0-235E-3483F7B3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68166"/>
      </p:ext>
    </p:extLst>
  </p:cSld>
  <p:clrMapOvr>
    <a:masterClrMapping/>
  </p:clrMapOvr>
  <p:transition spd="med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2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2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5" name="Object 2">
            <a:extLst>
              <a:ext uri="{FF2B5EF4-FFF2-40B4-BE49-F238E27FC236}">
                <a16:creationId xmlns:a16="http://schemas.microsoft.com/office/drawing/2014/main" id="{20FAEB3F-130D-4A77-9962-EF5C60570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362311"/>
              </p:ext>
            </p:extLst>
          </p:nvPr>
        </p:nvGraphicFramePr>
        <p:xfrm>
          <a:off x="2020888" y="1647825"/>
          <a:ext cx="7718425" cy="252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33871" imgH="1495425" progId="Excel.Sheet.8">
                  <p:embed/>
                </p:oleObj>
              </mc:Choice>
              <mc:Fallback>
                <p:oleObj name="Worksheet" r:id="rId3" imgW="4533871" imgH="1495425" progId="Excel.Sheet.8">
                  <p:embed/>
                  <p:pic>
                    <p:nvPicPr>
                      <p:cNvPr id="41985" name="Object 2">
                        <a:extLst>
                          <a:ext uri="{FF2B5EF4-FFF2-40B4-BE49-F238E27FC236}">
                            <a16:creationId xmlns:a16="http://schemas.microsoft.com/office/drawing/2014/main" id="{20FAEB3F-130D-4A77-9962-EF5C60570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1097" t="5260" r="2473" b="7945"/>
                      <a:stretch>
                        <a:fillRect/>
                      </a:stretch>
                    </p:blipFill>
                    <p:spPr bwMode="auto">
                      <a:xfrm>
                        <a:off x="2020888" y="1647825"/>
                        <a:ext cx="7718425" cy="25225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" name="Object 3">
            <a:extLst>
              <a:ext uri="{FF2B5EF4-FFF2-40B4-BE49-F238E27FC236}">
                <a16:creationId xmlns:a16="http://schemas.microsoft.com/office/drawing/2014/main" id="{DA515915-527E-4FC7-A3D2-80485292F8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3581891"/>
              </p:ext>
            </p:extLst>
          </p:nvPr>
        </p:nvGraphicFramePr>
        <p:xfrm>
          <a:off x="1992313" y="4257675"/>
          <a:ext cx="6046787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676474" imgH="1257300" progId="Excel.Sheet.8">
                  <p:embed/>
                </p:oleObj>
              </mc:Choice>
              <mc:Fallback>
                <p:oleObj name="Worksheet" r:id="rId5" imgW="2676474" imgH="1257300" progId="Excel.Sheet.8">
                  <p:embed/>
                  <p:pic>
                    <p:nvPicPr>
                      <p:cNvPr id="41986" name="Object 3">
                        <a:extLst>
                          <a:ext uri="{FF2B5EF4-FFF2-40B4-BE49-F238E27FC236}">
                            <a16:creationId xmlns:a16="http://schemas.microsoft.com/office/drawing/2014/main" id="{DA515915-527E-4FC7-A3D2-80485292F8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257675"/>
                        <a:ext cx="6046787" cy="191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4" name="AutoShape 1028">
            <a:extLst>
              <a:ext uri="{FF2B5EF4-FFF2-40B4-BE49-F238E27FC236}">
                <a16:creationId xmlns:a16="http://schemas.microsoft.com/office/drawing/2014/main" id="{D53CFC0C-CD3B-400C-9F47-5A4EF9340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25" y="4724400"/>
            <a:ext cx="2133600" cy="16764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53882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CA" sz="2200" b="1" dirty="0">
                <a:latin typeface="Arial" panose="020B0604020202020204" pitchFamily="34" charset="0"/>
                <a:cs typeface="Arial" panose="020B0604020202020204" pitchFamily="34" charset="0"/>
              </a:rPr>
              <a:t>Present value</a:t>
            </a:r>
          </a:p>
          <a:p>
            <a:pPr algn="ctr" eaLnBrk="1" hangingPunct="1">
              <a:defRPr/>
            </a:pPr>
            <a:r>
              <a:rPr lang="en-CA" sz="2200" b="1" dirty="0">
                <a:latin typeface="Arial" panose="020B0604020202020204" pitchFamily="34" charset="0"/>
                <a:cs typeface="Arial" panose="020B0604020202020204" pitchFamily="34" charset="0"/>
              </a:rPr>
              <a:t>of an annuity</a:t>
            </a:r>
          </a:p>
          <a:p>
            <a:pPr algn="ctr" eaLnBrk="1" hangingPunct="1">
              <a:defRPr/>
            </a:pPr>
            <a:r>
              <a:rPr lang="en-CA" sz="2200" b="1" dirty="0">
                <a:latin typeface="Arial" panose="020B0604020202020204" pitchFamily="34" charset="0"/>
                <a:cs typeface="Arial" panose="020B0604020202020204" pitchFamily="34" charset="0"/>
              </a:rPr>
              <a:t>of $1 table</a:t>
            </a:r>
          </a:p>
        </p:txBody>
      </p:sp>
      <p:sp>
        <p:nvSpPr>
          <p:cNvPr id="29701" name="Line 1030">
            <a:extLst>
              <a:ext uri="{FF2B5EF4-FFF2-40B4-BE49-F238E27FC236}">
                <a16:creationId xmlns:a16="http://schemas.microsoft.com/office/drawing/2014/main" id="{30A9DD27-2279-4250-96D2-A0F5C9E1A6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3657601"/>
            <a:ext cx="3429000" cy="1953193"/>
          </a:xfrm>
          <a:prstGeom prst="line">
            <a:avLst/>
          </a:prstGeom>
          <a:noFill/>
          <a:ln w="38100">
            <a:solidFill>
              <a:srgbClr val="ED037C"/>
            </a:solidFill>
            <a:round/>
            <a:headEnd/>
            <a:tailEnd type="triangle" w="med" len="med"/>
          </a:ln>
          <a:effectLst>
            <a:outerShdw blurRad="63500" dist="17961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apply…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51AF72-ED63-0C63-706E-ADD377EF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78785"/>
      </p:ext>
    </p:extLst>
  </p:cSld>
  <p:clrMapOvr>
    <a:masterClrMapping/>
  </p:clrMapOvr>
  <p:transition>
    <p:strips dir="r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3" name="Object 2">
            <a:extLst>
              <a:ext uri="{FF2B5EF4-FFF2-40B4-BE49-F238E27FC236}">
                <a16:creationId xmlns:a16="http://schemas.microsoft.com/office/drawing/2014/main" id="{FF7827A7-32DE-4982-A037-E5BF30F70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023621"/>
              </p:ext>
            </p:extLst>
          </p:nvPr>
        </p:nvGraphicFramePr>
        <p:xfrm>
          <a:off x="2783632" y="1268760"/>
          <a:ext cx="6438900" cy="282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624394" imgH="2024172" progId="Excel.Sheet.8">
                  <p:embed/>
                </p:oleObj>
              </mc:Choice>
              <mc:Fallback>
                <p:oleObj name="Worksheet" r:id="rId3" imgW="4624394" imgH="2024172" progId="Excel.Sheet.8">
                  <p:embed/>
                  <p:pic>
                    <p:nvPicPr>
                      <p:cNvPr id="44033" name="Object 2">
                        <a:extLst>
                          <a:ext uri="{FF2B5EF4-FFF2-40B4-BE49-F238E27FC236}">
                            <a16:creationId xmlns:a16="http://schemas.microsoft.com/office/drawing/2014/main" id="{FF7827A7-32DE-4982-A037-E5BF30F70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1268760"/>
                        <a:ext cx="6438900" cy="2826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" name="Text Box 4">
            <a:extLst>
              <a:ext uri="{FF2B5EF4-FFF2-40B4-BE49-F238E27FC236}">
                <a16:creationId xmlns:a16="http://schemas.microsoft.com/office/drawing/2014/main" id="{38D384C5-C32F-42A9-8DFF-AABC498C0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582483"/>
            <a:ext cx="8686800" cy="16927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cash inflows are sufficient to </a:t>
            </a:r>
            <a:r>
              <a:rPr lang="en-CA" altLang="en-US" sz="2600" u="sng" dirty="0">
                <a:latin typeface="Arial" panose="020B0604020202020204" pitchFamily="34" charset="0"/>
                <a:cs typeface="Arial" panose="020B0604020202020204" pitchFamily="34" charset="0"/>
              </a:rPr>
              <a:t>recover the $3,170 initial investment </a:t>
            </a: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and to provide exactly a </a:t>
            </a:r>
            <a:r>
              <a:rPr lang="en-CA" altLang="en-US" sz="2600" u="sng" dirty="0">
                <a:latin typeface="Arial" panose="020B0604020202020204" pitchFamily="34" charset="0"/>
                <a:cs typeface="Arial" panose="020B0604020202020204" pitchFamily="34" charset="0"/>
              </a:rPr>
              <a:t>10% return</a:t>
            </a: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on the investment.  The investment should be made.                                            (Annual depreciation is not relevant for this analysis.)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apply …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29A50-DDD8-FD35-E2AD-797E4BFC5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6959"/>
      </p:ext>
    </p:extLst>
  </p:cSld>
  <p:clrMapOvr>
    <a:masterClrMapping/>
  </p:clrMapOvr>
  <p:transition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Two Simplifying Assumptions</a:t>
            </a:r>
            <a:endParaRPr lang="en-CA" dirty="0"/>
          </a:p>
        </p:txBody>
      </p:sp>
      <p:sp>
        <p:nvSpPr>
          <p:cNvPr id="48130" name="Text Box 3">
            <a:extLst>
              <a:ext uri="{FF2B5EF4-FFF2-40B4-BE49-F238E27FC236}">
                <a16:creationId xmlns:a16="http://schemas.microsoft.com/office/drawing/2014/main" id="{94BE8BEE-9046-4BDD-9E15-B2EBFAFB3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55739"/>
            <a:ext cx="8153400" cy="452431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203360"/>
              </a:buClr>
              <a:buSzPct val="70000"/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Two simplifying assumptions are usually made in net present value analysis:</a:t>
            </a:r>
          </a:p>
          <a:p>
            <a:pPr marL="514350" indent="-514350">
              <a:spcBef>
                <a:spcPct val="50000"/>
              </a:spcBef>
              <a:buSzPct val="100000"/>
              <a:buFont typeface="+mj-lt"/>
              <a:buAutoNum type="arabicPeriod"/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All cash flows other than the initial investment occur at the end of periods.</a:t>
            </a:r>
          </a:p>
          <a:p>
            <a:pPr marL="514350" indent="-514350">
              <a:spcBef>
                <a:spcPct val="50000"/>
              </a:spcBef>
              <a:buSzPct val="100000"/>
              <a:buFont typeface="+mj-lt"/>
              <a:buAutoNum type="arabicPeriod"/>
              <a:defRPr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All cash flows generated by an investment project are immediately reinvested at a rate of return equal to the discount rate.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F6477F-7CE8-E46E-CC4E-BB6E9CC5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74168"/>
      </p:ext>
    </p:extLst>
  </p:cSld>
  <p:clrMapOvr>
    <a:masterClrMapping/>
  </p:clrMapOvr>
  <p:transition>
    <p:blinds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23" name="Object 2">
            <a:extLst>
              <a:ext uri="{FF2B5EF4-FFF2-40B4-BE49-F238E27FC236}">
                <a16:creationId xmlns:a16="http://schemas.microsoft.com/office/drawing/2014/main" id="{D0189026-9C5D-46B2-98D9-A9A1CD1B93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8168671"/>
              </p:ext>
            </p:extLst>
          </p:nvPr>
        </p:nvGraphicFramePr>
        <p:xfrm>
          <a:off x="4226923" y="3018339"/>
          <a:ext cx="7605713" cy="344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81515" imgH="1733550" progId="Excel.Sheet.8">
                  <p:embed/>
                </p:oleObj>
              </mc:Choice>
              <mc:Fallback>
                <p:oleObj name="Worksheet" r:id="rId3" imgW="3381515" imgH="1733550" progId="Excel.Sheet.8">
                  <p:embed/>
                  <p:pic>
                    <p:nvPicPr>
                      <p:cNvPr id="337923" name="Object 2">
                        <a:extLst>
                          <a:ext uri="{FF2B5EF4-FFF2-40B4-BE49-F238E27FC236}">
                            <a16:creationId xmlns:a16="http://schemas.microsoft.com/office/drawing/2014/main" id="{D0189026-9C5D-46B2-98D9-A9A1CD1B93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3737" t="1961" r="4672" b="3922"/>
                      <a:stretch>
                        <a:fillRect/>
                      </a:stretch>
                    </p:blipFill>
                    <p:spPr bwMode="auto">
                      <a:xfrm>
                        <a:off x="4226923" y="3018339"/>
                        <a:ext cx="7605713" cy="3449637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2857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35360" y="487656"/>
            <a:ext cx="113772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Lester Company has been offered a five-year contract to provide component parts for a large manufacturer. At the end of five years the working capital will be released and it may be used elsewhere by Lester Company. Lester Company uses a discount rate of 10%.</a:t>
            </a:r>
            <a:b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C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Should the contract be accepted??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F9713C4-4D32-426D-9A9F-1A58C125C413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5361" y="-27384"/>
            <a:ext cx="9601067" cy="5060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Let’s apply….</a:t>
            </a:r>
            <a:endParaRPr lang="en-CA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F3C7B7-BEA2-2A87-4C70-3BBB3B25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19116"/>
      </p:ext>
    </p:extLst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5CF445AE-16C4-43F5-B63B-684868601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715" y="980969"/>
            <a:ext cx="6096000" cy="228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CA" altLang="en-US"/>
          </a:p>
        </p:txBody>
      </p:sp>
      <p:graphicFrame>
        <p:nvGraphicFramePr>
          <p:cNvPr id="342020" name="Object 2">
            <a:extLst>
              <a:ext uri="{FF2B5EF4-FFF2-40B4-BE49-F238E27FC236}">
                <a16:creationId xmlns:a16="http://schemas.microsoft.com/office/drawing/2014/main" id="{5C00CBBF-8B20-444A-AC69-C67B1573B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9105729"/>
              </p:ext>
            </p:extLst>
          </p:nvPr>
        </p:nvGraphicFramePr>
        <p:xfrm>
          <a:off x="346098" y="1186004"/>
          <a:ext cx="5805488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985983" imgH="1057306" progId="Excel.Sheet.8">
                  <p:embed/>
                </p:oleObj>
              </mc:Choice>
              <mc:Fallback>
                <p:oleObj name="Worksheet" r:id="rId3" imgW="2985983" imgH="1057306" progId="Excel.Sheet.8">
                  <p:embed/>
                  <p:pic>
                    <p:nvPicPr>
                      <p:cNvPr id="342020" name="Object 2">
                        <a:extLst>
                          <a:ext uri="{FF2B5EF4-FFF2-40B4-BE49-F238E27FC236}">
                            <a16:creationId xmlns:a16="http://schemas.microsoft.com/office/drawing/2014/main" id="{5C00CBBF-8B20-444A-AC69-C67B1573B7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2922" t="4425" r="2272" b="17699"/>
                      <a:stretch>
                        <a:fillRect/>
                      </a:stretch>
                    </p:blipFill>
                    <p:spPr bwMode="auto">
                      <a:xfrm>
                        <a:off x="346098" y="1186004"/>
                        <a:ext cx="5805488" cy="16605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2F9713C4-4D32-426D-9A9F-1A58C125C413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5361" y="-27384"/>
            <a:ext cx="9601067" cy="5060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Let’s apply….</a:t>
            </a:r>
            <a:endParaRPr lang="en-CA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2971" y="575861"/>
            <a:ext cx="4224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Annual net cash inflow from operations: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BFBF8B89-996F-4F7E-8A74-853EBCD0C3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595309"/>
              </p:ext>
            </p:extLst>
          </p:nvPr>
        </p:nvGraphicFramePr>
        <p:xfrm>
          <a:off x="4439816" y="3266969"/>
          <a:ext cx="7218363" cy="305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667324" imgH="1609725" progId="Excel.Sheet.8">
                  <p:embed/>
                </p:oleObj>
              </mc:Choice>
              <mc:Fallback>
                <p:oleObj name="Worksheet" r:id="rId5" imgW="4667324" imgH="1609725" progId="Excel.Sheet.8">
                  <p:embed/>
                  <p:pic>
                    <p:nvPicPr>
                      <p:cNvPr id="13" name="Object 2">
                        <a:extLst>
                          <a:ext uri="{FF2B5EF4-FFF2-40B4-BE49-F238E27FC236}">
                            <a16:creationId xmlns:a16="http://schemas.microsoft.com/office/drawing/2014/main" id="{BFBF8B89-996F-4F7E-8A74-853EBCD0C3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 l="2034" t="2498" r="1657" b="1363"/>
                      <a:stretch>
                        <a:fillRect/>
                      </a:stretch>
                    </p:blipFill>
                    <p:spPr bwMode="auto">
                      <a:xfrm>
                        <a:off x="4439816" y="3266969"/>
                        <a:ext cx="7218363" cy="30559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656401-9E5F-AF85-9D10-E9B6AEB5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46330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69" name="Object 2">
            <a:extLst>
              <a:ext uri="{FF2B5EF4-FFF2-40B4-BE49-F238E27FC236}">
                <a16:creationId xmlns:a16="http://schemas.microsoft.com/office/drawing/2014/main" id="{12420BC1-2B3A-49C3-97C7-0FB7C20FFB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2400489"/>
              </p:ext>
            </p:extLst>
          </p:nvPr>
        </p:nvGraphicFramePr>
        <p:xfrm>
          <a:off x="2663404" y="924359"/>
          <a:ext cx="7064375" cy="284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667324" imgH="1609725" progId="Excel.Sheet.8">
                  <p:embed/>
                </p:oleObj>
              </mc:Choice>
              <mc:Fallback>
                <p:oleObj name="Worksheet" r:id="rId3" imgW="4667324" imgH="1609725" progId="Excel.Sheet.8">
                  <p:embed/>
                  <p:pic>
                    <p:nvPicPr>
                      <p:cNvPr id="58369" name="Object 2">
                        <a:extLst>
                          <a:ext uri="{FF2B5EF4-FFF2-40B4-BE49-F238E27FC236}">
                            <a16:creationId xmlns:a16="http://schemas.microsoft.com/office/drawing/2014/main" id="{12420BC1-2B3A-49C3-97C7-0FB7C20FFB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2007" t="2475" r="1689" b="1355"/>
                      <a:stretch>
                        <a:fillRect/>
                      </a:stretch>
                    </p:blipFill>
                    <p:spPr bwMode="auto">
                      <a:xfrm>
                        <a:off x="2663404" y="924359"/>
                        <a:ext cx="7064375" cy="28463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0" name="Group 4">
            <a:extLst>
              <a:ext uri="{FF2B5EF4-FFF2-40B4-BE49-F238E27FC236}">
                <a16:creationId xmlns:a16="http://schemas.microsoft.com/office/drawing/2014/main" id="{2D6B567B-73CA-4A4D-B3C2-2FD7EA7644AC}"/>
              </a:ext>
            </a:extLst>
          </p:cNvPr>
          <p:cNvGrpSpPr>
            <a:grpSpLocks/>
          </p:cNvGrpSpPr>
          <p:nvPr/>
        </p:nvGrpSpPr>
        <p:grpSpPr bwMode="auto">
          <a:xfrm>
            <a:off x="2711624" y="1937544"/>
            <a:ext cx="5786438" cy="2408237"/>
            <a:chOff x="941" y="1645"/>
            <a:chExt cx="3645" cy="1517"/>
          </a:xfrm>
        </p:grpSpPr>
        <p:sp>
          <p:nvSpPr>
            <p:cNvPr id="37896" name="Oval 5">
              <a:extLst>
                <a:ext uri="{FF2B5EF4-FFF2-40B4-BE49-F238E27FC236}">
                  <a16:creationId xmlns:a16="http://schemas.microsoft.com/office/drawing/2014/main" id="{6E945BE5-B5E7-4164-B33B-D7B1AF91D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1645"/>
              <a:ext cx="688" cy="319"/>
            </a:xfrm>
            <a:prstGeom prst="ellipse">
              <a:avLst/>
            </a:prstGeom>
            <a:noFill/>
            <a:ln w="50800">
              <a:solidFill>
                <a:srgbClr val="ED037C"/>
              </a:solidFill>
              <a:round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CA" altLang="en-US"/>
            </a:p>
          </p:txBody>
        </p:sp>
        <p:sp>
          <p:nvSpPr>
            <p:cNvPr id="37897" name="Rectangle 6">
              <a:extLst>
                <a:ext uri="{FF2B5EF4-FFF2-40B4-BE49-F238E27FC236}">
                  <a16:creationId xmlns:a16="http://schemas.microsoft.com/office/drawing/2014/main" id="{CCA0D091-E4D0-4FD9-AD4D-805409B0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2640"/>
              <a:ext cx="3194" cy="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 cmpd="dbl">
              <a:solidFill>
                <a:srgbClr val="1C3163"/>
              </a:solidFill>
              <a:miter lim="800000"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Present value of an annuity of $1 </a:t>
              </a:r>
            </a:p>
            <a:p>
              <a:pPr algn="ctr" eaLnBrk="1" hangingPunct="1">
                <a:defRPr/>
              </a:pPr>
              <a:r>
                <a:rPr lang="en-CA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factor for 5 years at 10%.</a:t>
              </a:r>
            </a:p>
          </p:txBody>
        </p:sp>
        <p:sp>
          <p:nvSpPr>
            <p:cNvPr id="37898" name="Line 7">
              <a:extLst>
                <a:ext uri="{FF2B5EF4-FFF2-40B4-BE49-F238E27FC236}">
                  <a16:creationId xmlns:a16="http://schemas.microsoft.com/office/drawing/2014/main" id="{5C60CBAA-EA52-4EF0-B7C3-4ECDD9BC2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896"/>
              <a:ext cx="1547" cy="74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triangle" w="med" len="med"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apply….</a:t>
            </a:r>
            <a:endParaRPr lang="en-CA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4E19FB9-74AA-5B74-BC24-7C0FB6B305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189723"/>
              </p:ext>
            </p:extLst>
          </p:nvPr>
        </p:nvGraphicFramePr>
        <p:xfrm>
          <a:off x="550863" y="4668838"/>
          <a:ext cx="6326187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800350" imgH="1276350" progId="Excel.Sheet.8">
                  <p:embed/>
                </p:oleObj>
              </mc:Choice>
              <mc:Fallback>
                <p:oleObj name="Worksheet" r:id="rId5" imgW="2800350" imgH="1276350" progId="Excel.Shee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A4E19FB9-74AA-5B74-BC24-7C0FB6B3057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4668838"/>
                        <a:ext cx="6326187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E7B54-E475-8DF6-369F-2CDC8182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14835"/>
      </p:ext>
    </p:extLst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apply….</a:t>
            </a:r>
            <a:endParaRPr lang="en-CA" dirty="0"/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F220D3B6-3BF0-41B9-AAAF-3BF0CCC685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462504"/>
              </p:ext>
            </p:extLst>
          </p:nvPr>
        </p:nvGraphicFramePr>
        <p:xfrm>
          <a:off x="1631504" y="877094"/>
          <a:ext cx="8915399" cy="296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976806" imgH="1604947" progId="Excel.Sheet.8">
                  <p:embed/>
                </p:oleObj>
              </mc:Choice>
              <mc:Fallback>
                <p:oleObj name="Worksheet" r:id="rId3" imgW="4976806" imgH="1604947" progId="Excel.Sheet.8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F220D3B6-3BF0-41B9-AAAF-3BF0CCC685B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2007" t="2475" r="1689" b="1355"/>
                      <a:stretch>
                        <a:fillRect/>
                      </a:stretch>
                    </p:blipFill>
                    <p:spPr bwMode="auto">
                      <a:xfrm>
                        <a:off x="1631504" y="877094"/>
                        <a:ext cx="8915399" cy="296068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0" name="Group 4">
            <a:extLst>
              <a:ext uri="{FF2B5EF4-FFF2-40B4-BE49-F238E27FC236}">
                <a16:creationId xmlns:a16="http://schemas.microsoft.com/office/drawing/2014/main" id="{2D6B567B-73CA-4A4D-B3C2-2FD7EA7644AC}"/>
              </a:ext>
            </a:extLst>
          </p:cNvPr>
          <p:cNvGrpSpPr>
            <a:grpSpLocks/>
          </p:cNvGrpSpPr>
          <p:nvPr/>
        </p:nvGrpSpPr>
        <p:grpSpPr bwMode="auto">
          <a:xfrm>
            <a:off x="2299574" y="2357438"/>
            <a:ext cx="6486531" cy="2038350"/>
            <a:chOff x="500" y="1645"/>
            <a:chExt cx="4086" cy="1284"/>
          </a:xfrm>
        </p:grpSpPr>
        <p:sp>
          <p:nvSpPr>
            <p:cNvPr id="37896" name="Oval 5">
              <a:extLst>
                <a:ext uri="{FF2B5EF4-FFF2-40B4-BE49-F238E27FC236}">
                  <a16:creationId xmlns:a16="http://schemas.microsoft.com/office/drawing/2014/main" id="{6E945BE5-B5E7-4164-B33B-D7B1AF91D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1645"/>
              <a:ext cx="688" cy="319"/>
            </a:xfrm>
            <a:prstGeom prst="ellipse">
              <a:avLst/>
            </a:prstGeom>
            <a:noFill/>
            <a:ln w="50800">
              <a:solidFill>
                <a:srgbClr val="ED037C"/>
              </a:solidFill>
              <a:round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CA" altLang="en-US"/>
            </a:p>
          </p:txBody>
        </p:sp>
        <p:sp>
          <p:nvSpPr>
            <p:cNvPr id="37897" name="Rectangle 6">
              <a:extLst>
                <a:ext uri="{FF2B5EF4-FFF2-40B4-BE49-F238E27FC236}">
                  <a16:creationId xmlns:a16="http://schemas.microsoft.com/office/drawing/2014/main" id="{CCA0D091-E4D0-4FD9-AD4D-805409B0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" y="2640"/>
              <a:ext cx="4070" cy="2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 cmpd="dbl">
              <a:solidFill>
                <a:srgbClr val="1C3163"/>
              </a:solidFill>
              <a:miter lim="800000"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Present value of $1 factor for year 3 at 10%</a:t>
              </a:r>
            </a:p>
          </p:txBody>
        </p:sp>
        <p:sp>
          <p:nvSpPr>
            <p:cNvPr id="37898" name="Line 7">
              <a:extLst>
                <a:ext uri="{FF2B5EF4-FFF2-40B4-BE49-F238E27FC236}">
                  <a16:creationId xmlns:a16="http://schemas.microsoft.com/office/drawing/2014/main" id="{5C60CBAA-EA52-4EF0-B7C3-4ECDD9BC2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896"/>
              <a:ext cx="1547" cy="74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triangle" w="med" len="med"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C11DB86-B426-FE71-7921-7168D41E5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7355830"/>
              </p:ext>
            </p:extLst>
          </p:nvPr>
        </p:nvGraphicFramePr>
        <p:xfrm>
          <a:off x="479376" y="4653136"/>
          <a:ext cx="6326187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800278" imgH="1276235" progId="Excel.Sheet.8">
                  <p:embed/>
                </p:oleObj>
              </mc:Choice>
              <mc:Fallback>
                <p:oleObj name="Worksheet" r:id="rId5" imgW="2800278" imgH="1276235" progId="Excel.Shee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0C11DB86-B426-FE71-7921-7168D41E57B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76" y="4653136"/>
                        <a:ext cx="6326187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AC036-CA07-F7F3-6793-AA4E6533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34847"/>
      </p:ext>
    </p:extLst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apply….</a:t>
            </a:r>
            <a:endParaRPr lang="en-CA" dirty="0"/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F220D3B6-3BF0-41B9-AAAF-3BF0CCC685B1}"/>
              </a:ext>
            </a:extLst>
          </p:cNvPr>
          <p:cNvGraphicFramePr>
            <a:graphicFrameLocks/>
          </p:cNvGraphicFramePr>
          <p:nvPr/>
        </p:nvGraphicFramePr>
        <p:xfrm>
          <a:off x="1631504" y="877094"/>
          <a:ext cx="8915399" cy="296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976806" imgH="1604947" progId="Excel.Sheet.8">
                  <p:embed/>
                </p:oleObj>
              </mc:Choice>
              <mc:Fallback>
                <p:oleObj name="Worksheet" r:id="rId3" imgW="4976806" imgH="1604947" progId="Excel.Sheet.8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F220D3B6-3BF0-41B9-AAAF-3BF0CCC685B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2007" t="2475" r="1689" b="1355"/>
                      <a:stretch>
                        <a:fillRect/>
                      </a:stretch>
                    </p:blipFill>
                    <p:spPr bwMode="auto">
                      <a:xfrm>
                        <a:off x="1631504" y="877094"/>
                        <a:ext cx="8915399" cy="296068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0" name="Group 4">
            <a:extLst>
              <a:ext uri="{FF2B5EF4-FFF2-40B4-BE49-F238E27FC236}">
                <a16:creationId xmlns:a16="http://schemas.microsoft.com/office/drawing/2014/main" id="{2D6B567B-73CA-4A4D-B3C2-2FD7EA7644AC}"/>
              </a:ext>
            </a:extLst>
          </p:cNvPr>
          <p:cNvGrpSpPr>
            <a:grpSpLocks/>
          </p:cNvGrpSpPr>
          <p:nvPr/>
        </p:nvGrpSpPr>
        <p:grpSpPr bwMode="auto">
          <a:xfrm>
            <a:off x="2299574" y="2357438"/>
            <a:ext cx="6486531" cy="2038350"/>
            <a:chOff x="500" y="1645"/>
            <a:chExt cx="4086" cy="1284"/>
          </a:xfrm>
        </p:grpSpPr>
        <p:sp>
          <p:nvSpPr>
            <p:cNvPr id="37896" name="Oval 5">
              <a:extLst>
                <a:ext uri="{FF2B5EF4-FFF2-40B4-BE49-F238E27FC236}">
                  <a16:creationId xmlns:a16="http://schemas.microsoft.com/office/drawing/2014/main" id="{6E945BE5-B5E7-4164-B33B-D7B1AF91D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1645"/>
              <a:ext cx="688" cy="319"/>
            </a:xfrm>
            <a:prstGeom prst="ellipse">
              <a:avLst/>
            </a:prstGeom>
            <a:noFill/>
            <a:ln w="50800">
              <a:solidFill>
                <a:srgbClr val="ED037C"/>
              </a:solidFill>
              <a:round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CA" altLang="en-US"/>
            </a:p>
          </p:txBody>
        </p:sp>
        <p:sp>
          <p:nvSpPr>
            <p:cNvPr id="37897" name="Rectangle 6">
              <a:extLst>
                <a:ext uri="{FF2B5EF4-FFF2-40B4-BE49-F238E27FC236}">
                  <a16:creationId xmlns:a16="http://schemas.microsoft.com/office/drawing/2014/main" id="{CCA0D091-E4D0-4FD9-AD4D-805409B0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" y="2640"/>
              <a:ext cx="4070" cy="2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 cmpd="dbl">
              <a:solidFill>
                <a:srgbClr val="1C3163"/>
              </a:solidFill>
              <a:miter lim="800000"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Present value of $1 factor for year 3 at 10%</a:t>
              </a:r>
            </a:p>
          </p:txBody>
        </p:sp>
        <p:sp>
          <p:nvSpPr>
            <p:cNvPr id="37898" name="Line 7">
              <a:extLst>
                <a:ext uri="{FF2B5EF4-FFF2-40B4-BE49-F238E27FC236}">
                  <a16:creationId xmlns:a16="http://schemas.microsoft.com/office/drawing/2014/main" id="{5C60CBAA-EA52-4EF0-B7C3-4ECDD9BC2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896"/>
              <a:ext cx="1547" cy="74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triangle" w="med" len="med"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BF6306A-0A3B-65D3-1059-BF31257BBC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648019"/>
              </p:ext>
            </p:extLst>
          </p:nvPr>
        </p:nvGraphicFramePr>
        <p:xfrm>
          <a:off x="479376" y="4653136"/>
          <a:ext cx="6326187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800278" imgH="1276235" progId="Excel.Sheet.8">
                  <p:embed/>
                </p:oleObj>
              </mc:Choice>
              <mc:Fallback>
                <p:oleObj name="Worksheet" r:id="rId5" imgW="2800278" imgH="1276235" progId="Excel.Shee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4BF6306A-0A3B-65D3-1059-BF31257BBC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76" y="4653136"/>
                        <a:ext cx="6326187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5D0CA-19E3-3160-811A-5BD590FD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65760"/>
      </p:ext>
    </p:extLst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5" name="Object 2">
            <a:extLst>
              <a:ext uri="{FF2B5EF4-FFF2-40B4-BE49-F238E27FC236}">
                <a16:creationId xmlns:a16="http://schemas.microsoft.com/office/drawing/2014/main" id="{13D1A003-0A8D-42B7-9886-78FA7D482F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158588"/>
              </p:ext>
            </p:extLst>
          </p:nvPr>
        </p:nvGraphicFramePr>
        <p:xfrm>
          <a:off x="2423592" y="620688"/>
          <a:ext cx="7845425" cy="364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889302" imgH="1581345" progId="Excel.Sheet.8">
                  <p:embed/>
                </p:oleObj>
              </mc:Choice>
              <mc:Fallback>
                <p:oleObj name="Worksheet" r:id="rId3" imgW="4889302" imgH="1581345" progId="Excel.Sheet.8">
                  <p:embed/>
                  <p:pic>
                    <p:nvPicPr>
                      <p:cNvPr id="62465" name="Object 2">
                        <a:extLst>
                          <a:ext uri="{FF2B5EF4-FFF2-40B4-BE49-F238E27FC236}">
                            <a16:creationId xmlns:a16="http://schemas.microsoft.com/office/drawing/2014/main" id="{13D1A003-0A8D-42B7-9886-78FA7D482F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2007" t="2475" r="1689" b="1355"/>
                      <a:stretch>
                        <a:fillRect/>
                      </a:stretch>
                    </p:blipFill>
                    <p:spPr bwMode="auto">
                      <a:xfrm>
                        <a:off x="2423592" y="620688"/>
                        <a:ext cx="7845425" cy="364648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66" name="Group 3">
            <a:extLst>
              <a:ext uri="{FF2B5EF4-FFF2-40B4-BE49-F238E27FC236}">
                <a16:creationId xmlns:a16="http://schemas.microsoft.com/office/drawing/2014/main" id="{AD848A2C-BEA8-4FC3-9E68-CCF5087BA346}"/>
              </a:ext>
            </a:extLst>
          </p:cNvPr>
          <p:cNvGrpSpPr>
            <a:grpSpLocks/>
          </p:cNvGrpSpPr>
          <p:nvPr/>
        </p:nvGrpSpPr>
        <p:grpSpPr bwMode="auto">
          <a:xfrm>
            <a:off x="4439816" y="2852936"/>
            <a:ext cx="4405313" cy="2000250"/>
            <a:chOff x="1822" y="1950"/>
            <a:chExt cx="2775" cy="1260"/>
          </a:xfrm>
        </p:grpSpPr>
        <p:sp>
          <p:nvSpPr>
            <p:cNvPr id="39944" name="Oval 4">
              <a:extLst>
                <a:ext uri="{FF2B5EF4-FFF2-40B4-BE49-F238E27FC236}">
                  <a16:creationId xmlns:a16="http://schemas.microsoft.com/office/drawing/2014/main" id="{C0E9FE55-2F25-48D9-8231-6EB1AC9A5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1950"/>
              <a:ext cx="688" cy="352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  <a:round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CA" altLang="en-US"/>
            </a:p>
          </p:txBody>
        </p:sp>
        <p:sp>
          <p:nvSpPr>
            <p:cNvPr id="39945" name="Rectangle 5">
              <a:extLst>
                <a:ext uri="{FF2B5EF4-FFF2-40B4-BE49-F238E27FC236}">
                  <a16:creationId xmlns:a16="http://schemas.microsoft.com/office/drawing/2014/main" id="{F358642B-7BA7-407E-925C-BF62DC8FE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2" y="2688"/>
              <a:ext cx="2303" cy="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 cmpd="dbl">
              <a:solidFill>
                <a:srgbClr val="0070C0"/>
              </a:solidFill>
              <a:miter lim="800000"/>
              <a:headEnd/>
              <a:tailEnd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Present value of $1 </a:t>
              </a:r>
            </a:p>
            <a:p>
              <a:pPr algn="ctr" eaLnBrk="1" hangingPunct="1">
                <a:defRPr/>
              </a:pPr>
              <a:r>
                <a:rPr lang="en-CA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factor for year 5 at 10%.</a:t>
              </a:r>
            </a:p>
          </p:txBody>
        </p:sp>
        <p:sp>
          <p:nvSpPr>
            <p:cNvPr id="39946" name="Line 6">
              <a:extLst>
                <a:ext uri="{FF2B5EF4-FFF2-40B4-BE49-F238E27FC236}">
                  <a16:creationId xmlns:a16="http://schemas.microsoft.com/office/drawing/2014/main" id="{7670D10A-9DAF-424C-A14D-5BC88C0DD6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268"/>
              <a:ext cx="1152" cy="420"/>
            </a:xfrm>
            <a:prstGeom prst="line">
              <a:avLst/>
            </a:prstGeom>
            <a:noFill/>
            <a:ln w="25400">
              <a:solidFill>
                <a:srgbClr val="ED037C"/>
              </a:solidFill>
              <a:round/>
              <a:headEnd/>
              <a:tailEnd type="triangle" w="med" len="med"/>
            </a:ln>
            <a:effectLst>
              <a:outerShdw blurRad="63500" dist="17961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12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Let’s apply….</a:t>
            </a:r>
            <a:endParaRPr lang="en-CA" dirty="0"/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85284925-3F20-EC58-B42F-7A28F03A9A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3682821"/>
              </p:ext>
            </p:extLst>
          </p:nvPr>
        </p:nvGraphicFramePr>
        <p:xfrm>
          <a:off x="407368" y="4879950"/>
          <a:ext cx="6326187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800278" imgH="1276235" progId="Excel.Sheet.8">
                  <p:embed/>
                </p:oleObj>
              </mc:Choice>
              <mc:Fallback>
                <p:oleObj name="Worksheet" r:id="rId5" imgW="2800278" imgH="1276235" progId="Excel.Sheet.8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85284925-3F20-EC58-B42F-7A28F03A9A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68" y="4879950"/>
                        <a:ext cx="6326187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4D1152-F025-21CE-85C6-496C584B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52131"/>
      </p:ext>
    </p:extLst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3" name="Object 2">
            <a:extLst>
              <a:ext uri="{FF2B5EF4-FFF2-40B4-BE49-F238E27FC236}">
                <a16:creationId xmlns:a16="http://schemas.microsoft.com/office/drawing/2014/main" id="{B77EB03D-37FC-499B-9FB6-5EAD0C22F7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21195"/>
              </p:ext>
            </p:extLst>
          </p:nvPr>
        </p:nvGraphicFramePr>
        <p:xfrm>
          <a:off x="1757363" y="1258888"/>
          <a:ext cx="8137525" cy="287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667324" imgH="1609725" progId="Excel.Sheet.8">
                  <p:embed/>
                </p:oleObj>
              </mc:Choice>
              <mc:Fallback>
                <p:oleObj name="Worksheet" r:id="rId3" imgW="4667324" imgH="1609725" progId="Excel.Sheet.8">
                  <p:embed/>
                  <p:pic>
                    <p:nvPicPr>
                      <p:cNvPr id="64513" name="Object 2">
                        <a:extLst>
                          <a:ext uri="{FF2B5EF4-FFF2-40B4-BE49-F238E27FC236}">
                            <a16:creationId xmlns:a16="http://schemas.microsoft.com/office/drawing/2014/main" id="{B77EB03D-37FC-499B-9FB6-5EAD0C22F7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2007" t="2475" r="1689" b="1355"/>
                      <a:stretch>
                        <a:fillRect/>
                      </a:stretch>
                    </p:blipFill>
                    <p:spPr bwMode="auto">
                      <a:xfrm>
                        <a:off x="1757363" y="1258888"/>
                        <a:ext cx="8137525" cy="28717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2" name="Rectangle 1027">
            <a:extLst>
              <a:ext uri="{FF2B5EF4-FFF2-40B4-BE49-F238E27FC236}">
                <a16:creationId xmlns:a16="http://schemas.microsoft.com/office/drawing/2014/main" id="{597D55AF-5C2A-42C0-89D7-370696555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4437112"/>
            <a:ext cx="8936732" cy="1727139"/>
          </a:xfrm>
          <a:prstGeom prst="rect">
            <a:avLst/>
          </a:prstGeom>
          <a:noFill/>
          <a:ln>
            <a:noFill/>
          </a:ln>
        </p:spPr>
        <p:txBody>
          <a:bodyPr wrap="squar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5000"/>
              </a:lnSpc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Accept the contract because the project has a </a:t>
            </a:r>
            <a:r>
              <a:rPr lang="en-CA" altLang="en-US" sz="2800" b="1" dirty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</a:t>
            </a: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net present value.              </a:t>
            </a:r>
          </a:p>
          <a:p>
            <a:pPr algn="ctr" eaLnBrk="1" hangingPunct="1">
              <a:lnSpc>
                <a:spcPct val="95000"/>
              </a:lnSpc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means that contract provides more than a 10% return.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23385" y="0"/>
            <a:ext cx="9613043" cy="478632"/>
          </a:xfrm>
        </p:spPr>
        <p:txBody>
          <a:bodyPr/>
          <a:lstStyle/>
          <a:p>
            <a:r>
              <a:rPr lang="en-US" dirty="0"/>
              <a:t>Let’s apply…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19B6E1-9A31-DEE6-33A6-99795984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6320"/>
      </p:ext>
    </p:extLst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Constraints</a:t>
            </a:r>
            <a:endParaRPr lang="en-CA" dirty="0"/>
          </a:p>
        </p:txBody>
      </p:sp>
      <p:sp>
        <p:nvSpPr>
          <p:cNvPr id="5" name="object 5"/>
          <p:cNvSpPr txBox="1"/>
          <p:nvPr/>
        </p:nvSpPr>
        <p:spPr>
          <a:xfrm>
            <a:off x="402132" y="6561385"/>
            <a:ext cx="1536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solidFill>
                  <a:srgbClr val="888888"/>
                </a:solidFill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132" y="746565"/>
            <a:ext cx="11186160" cy="2813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Companies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can’t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ever</a:t>
            </a:r>
            <a:endParaRPr sz="1800" dirty="0">
              <a:latin typeface="Arial"/>
              <a:cs typeface="Arial"/>
            </a:endParaRPr>
          </a:p>
          <a:p>
            <a:pPr marL="469900" marR="520700" indent="-457834">
              <a:lnSpc>
                <a:spcPct val="100000"/>
              </a:lnSpc>
              <a:buSzPct val="79166"/>
              <a:buChar char="•"/>
              <a:tabLst>
                <a:tab pos="469900" algn="l"/>
              </a:tabLst>
            </a:pP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Ideally,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businesses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would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pursue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any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all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projects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opportunities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that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enhance</a:t>
            </a:r>
            <a:r>
              <a:rPr sz="2400" spc="-114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value.</a:t>
            </a:r>
            <a:endParaRPr sz="2400" dirty="0">
              <a:latin typeface="Arial MT"/>
              <a:cs typeface="Arial MT"/>
            </a:endParaRPr>
          </a:p>
          <a:p>
            <a:pPr marL="919480" marR="5080" lvl="1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amount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or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money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any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business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has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available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new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projects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limited;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management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uses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capital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budgeting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techniques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determine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which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projects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will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yield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best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return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over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an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applicable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period.</a:t>
            </a:r>
            <a:endParaRPr sz="2400" dirty="0">
              <a:latin typeface="Arial MT"/>
              <a:cs typeface="Arial MT"/>
            </a:endParaRPr>
          </a:p>
          <a:p>
            <a:pPr marL="909955" lvl="1" indent="-457200">
              <a:spcBef>
                <a:spcPts val="1175"/>
              </a:spcBef>
              <a:buSzPct val="79166"/>
              <a:buChar char="•"/>
              <a:tabLst>
                <a:tab pos="136715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Firms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must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compare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projects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decide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on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best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813334"/>
              </p:ext>
            </p:extLst>
          </p:nvPr>
        </p:nvGraphicFramePr>
        <p:xfrm>
          <a:off x="714552" y="3828089"/>
          <a:ext cx="10873740" cy="219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sz="2400" b="1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Considerations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Money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Considerations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434340" indent="-342900">
                        <a:lnSpc>
                          <a:spcPct val="100000"/>
                        </a:lnSpc>
                        <a:spcBef>
                          <a:spcPts val="309"/>
                        </a:spcBef>
                        <a:buChar char="•"/>
                        <a:tabLst>
                          <a:tab pos="434340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Employee</a:t>
                      </a:r>
                      <a:r>
                        <a:rPr sz="2400" spc="-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commitments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309"/>
                        </a:spcBef>
                        <a:buChar char="•"/>
                        <a:tabLst>
                          <a:tab pos="434340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Lack</a:t>
                      </a:r>
                      <a:r>
                        <a:rPr sz="2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liquidity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434340" indent="-342900">
                        <a:lnSpc>
                          <a:spcPct val="100000"/>
                        </a:lnSpc>
                        <a:spcBef>
                          <a:spcPts val="309"/>
                        </a:spcBef>
                        <a:buChar char="•"/>
                        <a:tabLst>
                          <a:tab pos="434340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set-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up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309"/>
                        </a:spcBef>
                        <a:buChar char="•"/>
                        <a:tabLst>
                          <a:tab pos="434340" algn="l"/>
                        </a:tabLst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Tied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non-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liquid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assets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434340" marR="944880" indent="-342900">
                        <a:lnSpc>
                          <a:spcPct val="100000"/>
                        </a:lnSpc>
                        <a:spcBef>
                          <a:spcPts val="309"/>
                        </a:spcBef>
                        <a:buChar char="•"/>
                        <a:tabLst>
                          <a:tab pos="434340" algn="l"/>
                        </a:tabLst>
                      </a:pPr>
                      <a:r>
                        <a:rPr sz="2400" spc="-40" dirty="0">
                          <a:latin typeface="Arial MT"/>
                          <a:cs typeface="Arial MT"/>
                        </a:rPr>
                        <a:t>Time-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frame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necessary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secure financing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34340" indent="-342265">
                        <a:lnSpc>
                          <a:spcPct val="100000"/>
                        </a:lnSpc>
                        <a:spcBef>
                          <a:spcPts val="309"/>
                        </a:spcBef>
                        <a:buChar char="•"/>
                        <a:tabLst>
                          <a:tab pos="434340" algn="l"/>
                        </a:tabLst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Up-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front</a:t>
                      </a:r>
                      <a:r>
                        <a:rPr sz="24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acquisition</a:t>
                      </a:r>
                      <a:r>
                        <a:rPr sz="2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costs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75CC3A-A936-A333-6381-76CA2A42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14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308" name="Object 2">
            <a:extLst>
              <a:ext uri="{FF2B5EF4-FFF2-40B4-BE49-F238E27FC236}">
                <a16:creationId xmlns:a16="http://schemas.microsoft.com/office/drawing/2014/main" id="{24505946-3E15-48B3-9C90-BE94A0AFB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0993464"/>
              </p:ext>
            </p:extLst>
          </p:nvPr>
        </p:nvGraphicFramePr>
        <p:xfrm>
          <a:off x="2567608" y="3356992"/>
          <a:ext cx="6957219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648256" imgH="1266669" progId="Excel.Sheet.8">
                  <p:embed/>
                </p:oleObj>
              </mc:Choice>
              <mc:Fallback>
                <p:oleObj name="Worksheet" r:id="rId3" imgW="3648256" imgH="1266669" progId="Excel.Sheet.8">
                  <p:embed/>
                  <p:pic>
                    <p:nvPicPr>
                      <p:cNvPr id="354308" name="Object 2">
                        <a:extLst>
                          <a:ext uri="{FF2B5EF4-FFF2-40B4-BE49-F238E27FC236}">
                            <a16:creationId xmlns:a16="http://schemas.microsoft.com/office/drawing/2014/main" id="{24505946-3E15-48B3-9C90-BE94A0AFB0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3737" t="1961" r="4672" b="3922"/>
                      <a:stretch>
                        <a:fillRect/>
                      </a:stretch>
                    </p:blipFill>
                    <p:spPr bwMode="auto">
                      <a:xfrm>
                        <a:off x="2567608" y="3356992"/>
                        <a:ext cx="6957219" cy="2133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09" name="Rectangle 5">
            <a:extLst>
              <a:ext uri="{FF2B5EF4-FFF2-40B4-BE49-F238E27FC236}">
                <a16:creationId xmlns:a16="http://schemas.microsoft.com/office/drawing/2014/main" id="{A4F6B666-203D-493A-B3F4-869A77F4E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01" y="764704"/>
            <a:ext cx="11089232" cy="2015842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marL="273050" indent="-273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spcBef>
                <a:spcPts val="600"/>
              </a:spcBef>
              <a:buClr>
                <a:srgbClr val="1C3163"/>
              </a:buClr>
              <a:buSzPct val="76000"/>
              <a:buFont typeface="Arial" charset="0"/>
              <a:buChar char="•"/>
              <a:defRPr/>
            </a:pP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Denny Associates has been offered a four-year contract to supply the computing requirements for a local bank.</a:t>
            </a:r>
          </a:p>
          <a:p>
            <a:pPr marL="342900" indent="-342900">
              <a:spcBef>
                <a:spcPts val="600"/>
              </a:spcBef>
              <a:buClr>
                <a:srgbClr val="1C3163"/>
              </a:buClr>
              <a:buSzPct val="76000"/>
              <a:buFont typeface="Arial" charset="0"/>
              <a:buChar char="•"/>
              <a:defRPr/>
            </a:pPr>
            <a:r>
              <a:rPr lang="en-CA" altLang="en-US" sz="26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The working capital would be released at the end of the contract.</a:t>
            </a:r>
          </a:p>
          <a:p>
            <a:pPr marL="342900" indent="-342900">
              <a:spcBef>
                <a:spcPts val="600"/>
              </a:spcBef>
              <a:buClr>
                <a:srgbClr val="1C3163"/>
              </a:buClr>
              <a:buSzPct val="76000"/>
              <a:buFont typeface="Arial" charset="0"/>
              <a:buChar char="•"/>
              <a:defRPr/>
            </a:pPr>
            <a:r>
              <a:rPr lang="en-CA" altLang="en-US" sz="26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Denny Associates requires a 14% return.</a:t>
            </a:r>
          </a:p>
          <a:p>
            <a:pPr marL="342900" indent="-342900">
              <a:spcBef>
                <a:spcPts val="600"/>
              </a:spcBef>
              <a:buClr>
                <a:srgbClr val="1C3163"/>
              </a:buClr>
              <a:buSzPct val="76000"/>
              <a:buFont typeface="Arial" charset="0"/>
              <a:buChar char="•"/>
              <a:defRPr/>
            </a:pPr>
            <a:r>
              <a:rPr lang="en-US" altLang="en-US" sz="26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Calculate the Net Present value of the contract with the bank.</a:t>
            </a:r>
            <a:endParaRPr lang="en-CA" altLang="en-US" sz="26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23385" y="0"/>
            <a:ext cx="9613043" cy="478632"/>
          </a:xfrm>
        </p:spPr>
        <p:txBody>
          <a:bodyPr/>
          <a:lstStyle/>
          <a:p>
            <a:r>
              <a:rPr lang="en-US" dirty="0"/>
              <a:t>Let’s apply ….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361787-9200-80C9-043B-3DAB9A09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49221"/>
      </p:ext>
    </p:extLst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3">
            <a:extLst>
              <a:ext uri="{FF2B5EF4-FFF2-40B4-BE49-F238E27FC236}">
                <a16:creationId xmlns:a16="http://schemas.microsoft.com/office/drawing/2014/main" id="{EE77B0D4-ED3C-4B35-9C8F-C04509DCBEF4}"/>
              </a:ext>
            </a:extLst>
          </p:cNvPr>
          <p:cNvSpPr txBox="1">
            <a:spLocks/>
          </p:cNvSpPr>
          <p:nvPr/>
        </p:nvSpPr>
        <p:spPr bwMode="auto">
          <a:xfrm>
            <a:off x="944509" y="1055268"/>
            <a:ext cx="9011245" cy="122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39763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accent1"/>
              </a:buClr>
              <a:buSzPct val="70000"/>
              <a:buFont typeface="Wingdings 3" panose="05040102010807070707" pitchFamily="18" charset="2"/>
              <a:buNone/>
            </a:pPr>
            <a:r>
              <a:rPr lang="en-CA" altLang="en-US" sz="2800" dirty="0">
                <a:latin typeface="Rockwell" panose="02060603020205020403" pitchFamily="18" charset="0"/>
                <a:cs typeface="Arial" panose="020B0604020202020204" pitchFamily="34" charset="0"/>
              </a:rPr>
              <a:t> 	</a:t>
            </a:r>
            <a:r>
              <a:rPr lang="en-CA" altLang="en-US" sz="2800" dirty="0">
                <a:cs typeface="Arial" panose="020B0604020202020204" pitchFamily="34" charset="0"/>
              </a:rPr>
              <a:t>What is the net present value of the contract with the local bank?</a:t>
            </a:r>
          </a:p>
          <a:p>
            <a:pPr>
              <a:buClr>
                <a:schemeClr val="accent1"/>
              </a:buClr>
              <a:buSzPct val="70000"/>
              <a:buFont typeface="Wingdings 3" panose="05040102010807070707" pitchFamily="18" charset="2"/>
              <a:buNone/>
            </a:pPr>
            <a:endParaRPr lang="en-CA" altLang="en-US" sz="28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  <a:buSzPct val="70000"/>
              <a:buFont typeface="Wingdings 3" panose="05040102010807070707" pitchFamily="18" charset="2"/>
              <a:buNone/>
            </a:pPr>
            <a:r>
              <a:rPr lang="en-CA" altLang="en-US" sz="2800" dirty="0">
                <a:latin typeface="Rockwell" panose="02060603020205020403" pitchFamily="18" charset="0"/>
                <a:cs typeface="Arial" panose="020B0604020202020204" pitchFamily="34" charset="0"/>
              </a:rPr>
              <a:t>	</a:t>
            </a:r>
          </a:p>
        </p:txBody>
      </p:sp>
      <p:graphicFrame>
        <p:nvGraphicFramePr>
          <p:cNvPr id="358405" name="Object 2">
            <a:extLst>
              <a:ext uri="{FF2B5EF4-FFF2-40B4-BE49-F238E27FC236}">
                <a16:creationId xmlns:a16="http://schemas.microsoft.com/office/drawing/2014/main" id="{F4593905-8A4F-4427-8CD5-00BE5E4281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3164229"/>
              </p:ext>
            </p:extLst>
          </p:nvPr>
        </p:nvGraphicFramePr>
        <p:xfrm>
          <a:off x="3071664" y="2060848"/>
          <a:ext cx="7282725" cy="234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991322" imgH="1604947" progId="Excel.Sheet.8">
                  <p:embed/>
                </p:oleObj>
              </mc:Choice>
              <mc:Fallback>
                <p:oleObj name="Worksheet" r:id="rId3" imgW="4991322" imgH="1604947" progId="Excel.Sheet.8">
                  <p:embed/>
                  <p:pic>
                    <p:nvPicPr>
                      <p:cNvPr id="358405" name="Object 2">
                        <a:extLst>
                          <a:ext uri="{FF2B5EF4-FFF2-40B4-BE49-F238E27FC236}">
                            <a16:creationId xmlns:a16="http://schemas.microsoft.com/office/drawing/2014/main" id="{F4593905-8A4F-4427-8CD5-00BE5E4281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2007" t="2475" r="1689" b="1355"/>
                      <a:stretch>
                        <a:fillRect/>
                      </a:stretch>
                    </p:blipFill>
                    <p:spPr bwMode="auto">
                      <a:xfrm>
                        <a:off x="3071664" y="2060848"/>
                        <a:ext cx="7282725" cy="23415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apply…</a:t>
            </a:r>
            <a:endParaRPr lang="en-CA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AAC9422-949A-3138-3283-6A6745C490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2258351"/>
              </p:ext>
            </p:extLst>
          </p:nvPr>
        </p:nvGraphicFramePr>
        <p:xfrm>
          <a:off x="261037" y="4618048"/>
          <a:ext cx="5621253" cy="157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800278" imgH="1276235" progId="Excel.Sheet.8">
                  <p:embed/>
                </p:oleObj>
              </mc:Choice>
              <mc:Fallback>
                <p:oleObj name="Worksheet" r:id="rId5" imgW="2800278" imgH="1276235" progId="Excel.Shee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CAAC9422-949A-3138-3283-6A6745C490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037" y="4618048"/>
                        <a:ext cx="5621253" cy="1579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718545-C0D0-C400-340F-7F5D6DD71B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1866289"/>
              </p:ext>
            </p:extLst>
          </p:nvPr>
        </p:nvGraphicFramePr>
        <p:xfrm>
          <a:off x="6456040" y="4618048"/>
          <a:ext cx="5040560" cy="157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2800278" imgH="1276235" progId="Excel.Sheet.8">
                  <p:embed/>
                </p:oleObj>
              </mc:Choice>
              <mc:Fallback>
                <p:oleObj name="Worksheet" r:id="rId7" imgW="2800278" imgH="1276235" progId="Excel.Sheet.8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718545-C0D0-C400-340F-7F5D6DD71B3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4618048"/>
                        <a:ext cx="5040560" cy="1579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201C6-FFC9-BD37-7792-3889122F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18886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91544" y="1556792"/>
            <a:ext cx="84969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203160"/>
              </a:buClr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compare competing investment projects, the following net present value approaches can be used:</a:t>
            </a:r>
          </a:p>
          <a:p>
            <a:pPr>
              <a:buClr>
                <a:srgbClr val="203160"/>
              </a:buClr>
            </a:pPr>
            <a:endParaRPr lang="en-CA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203160"/>
              </a:buClr>
              <a:buFont typeface="Arial" panose="020B0604020202020204" pitchFamily="34" charset="0"/>
              <a:buChar char="•"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Total-cost</a:t>
            </a:r>
          </a:p>
          <a:p>
            <a:pPr lvl="1">
              <a:buClr>
                <a:srgbClr val="203160"/>
              </a:buClr>
              <a:buFont typeface="Arial" panose="020B0604020202020204" pitchFamily="34" charset="0"/>
              <a:buChar char="•"/>
            </a:pPr>
            <a:r>
              <a:rPr lang="en-CA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Incremental cost</a:t>
            </a: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78228-CFDE-6F0E-02A7-E8B3A106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09554"/>
      </p:ext>
    </p:extLst>
  </p:cSld>
  <p:clrMapOvr>
    <a:masterClrMapping/>
  </p:clrMapOvr>
  <p:transition>
    <p:strips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5" name="Object 2">
            <a:extLst>
              <a:ext uri="{FF2B5EF4-FFF2-40B4-BE49-F238E27FC236}">
                <a16:creationId xmlns:a16="http://schemas.microsoft.com/office/drawing/2014/main" id="{D28AC569-FC4E-4C6C-938F-AF64419DB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0948699"/>
              </p:ext>
            </p:extLst>
          </p:nvPr>
        </p:nvGraphicFramePr>
        <p:xfrm>
          <a:off x="2940050" y="3357563"/>
          <a:ext cx="582930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05256" imgH="1028700" progId="Excel.Sheet.8">
                  <p:embed/>
                </p:oleObj>
              </mc:Choice>
              <mc:Fallback>
                <p:oleObj name="Worksheet" r:id="rId3" imgW="3305256" imgH="1028700" progId="Excel.Sheet.8">
                  <p:embed/>
                  <p:pic>
                    <p:nvPicPr>
                      <p:cNvPr id="74755" name="Object 2">
                        <a:extLst>
                          <a:ext uri="{FF2B5EF4-FFF2-40B4-BE49-F238E27FC236}">
                            <a16:creationId xmlns:a16="http://schemas.microsoft.com/office/drawing/2014/main" id="{D28AC569-FC4E-4C6C-938F-AF64419DBD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3357563"/>
                        <a:ext cx="5829300" cy="22415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1415480" y="853888"/>
            <a:ext cx="91450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203360"/>
              </a:buClr>
              <a:buFont typeface="Arial" panose="020B0604020202020204" pitchFamily="34" charset="0"/>
              <a:buChar char="•"/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White Company has two alternatives:</a:t>
            </a:r>
          </a:p>
          <a:p>
            <a:pPr marL="411163" lvl="1" indent="0">
              <a:lnSpc>
                <a:spcPct val="90000"/>
              </a:lnSpc>
              <a:buClr>
                <a:srgbClr val="203360"/>
              </a:buClr>
              <a:buNone/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1. remodel an old car wash or, </a:t>
            </a:r>
          </a:p>
          <a:p>
            <a:pPr marL="411163" lvl="1" indent="0">
              <a:lnSpc>
                <a:spcPct val="90000"/>
              </a:lnSpc>
              <a:buClr>
                <a:srgbClr val="203360"/>
              </a:buClr>
              <a:buNone/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2. remove it and install a new one.</a:t>
            </a:r>
          </a:p>
          <a:p>
            <a:pPr lvl="1">
              <a:lnSpc>
                <a:spcPct val="90000"/>
              </a:lnSpc>
              <a:buClr>
                <a:srgbClr val="203360"/>
              </a:buClr>
              <a:buFont typeface="Arial" panose="020B0604020202020204" pitchFamily="34" charset="0"/>
              <a:buChar char="•"/>
              <a:defRPr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rgbClr val="203360"/>
              </a:buClr>
              <a:buFont typeface="Arial" panose="020B0604020202020204" pitchFamily="34" charset="0"/>
              <a:buChar char="•"/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company uses a discount rate of 10%.</a:t>
            </a: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– Total-cost Approach 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CB2B0-DD72-6C6E-676F-D661EC83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9760"/>
      </p:ext>
    </p:extLst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5480" y="853888"/>
            <a:ext cx="9145016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203360"/>
              </a:buClr>
              <a:buFont typeface="Arial" panose="020B0604020202020204" pitchFamily="34" charset="0"/>
              <a:buChar char="•"/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Calculate the present value if White installs a new washer:</a:t>
            </a:r>
          </a:p>
          <a:p>
            <a:pPr>
              <a:lnSpc>
                <a:spcPct val="90000"/>
              </a:lnSpc>
              <a:buClr>
                <a:srgbClr val="203360"/>
              </a:buClr>
              <a:buFont typeface="Arial" panose="020B0604020202020204" pitchFamily="34" charset="0"/>
              <a:buChar char="•"/>
              <a:defRPr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– Total-cost Approach- Replace  </a:t>
            </a:r>
            <a:endParaRPr lang="en-CA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68DCCFDF-1C65-4874-954B-0C4DAA1C3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094479"/>
              </p:ext>
            </p:extLst>
          </p:nvPr>
        </p:nvGraphicFramePr>
        <p:xfrm>
          <a:off x="2783632" y="2204864"/>
          <a:ext cx="6019800" cy="277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547972" imgH="1176228" progId="Excel.Sheet.8">
                  <p:embed/>
                </p:oleObj>
              </mc:Choice>
              <mc:Fallback>
                <p:oleObj name="Worksheet" r:id="rId3" imgW="2547972" imgH="1176228" progId="Excel.Sheet.8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68DCCFDF-1C65-4874-954B-0C4DAA1C3D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204864"/>
                        <a:ext cx="6019800" cy="277709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92852E-F16B-8BB7-6CA1-FB992B1B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5773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3217F2E-4BE4-9721-0CA6-E7AD843FB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6274993"/>
              </p:ext>
            </p:extLst>
          </p:nvPr>
        </p:nvGraphicFramePr>
        <p:xfrm>
          <a:off x="8022696" y="448747"/>
          <a:ext cx="3827463" cy="3096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87489" imgH="1974922" progId="Excel.Sheet.8">
                  <p:embed/>
                </p:oleObj>
              </mc:Choice>
              <mc:Fallback>
                <p:oleObj name="Worksheet" r:id="rId3" imgW="1987489" imgH="1974922" progId="Excel.Sheet.8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A3217F2E-4BE4-9721-0CA6-E7AD843FB7B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2696" y="448747"/>
                        <a:ext cx="3827463" cy="3096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479376" y="4725144"/>
            <a:ext cx="6552728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203360"/>
              </a:buClr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the new washer is installed, the investment is expected to yield a positive net present value of $83,202</a:t>
            </a:r>
          </a:p>
          <a:p>
            <a:pPr>
              <a:lnSpc>
                <a:spcPct val="90000"/>
              </a:lnSpc>
              <a:buClr>
                <a:srgbClr val="203360"/>
              </a:buClr>
              <a:buFont typeface="Arial" panose="020B0604020202020204" pitchFamily="34" charset="0"/>
              <a:buChar char="•"/>
              <a:defRPr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– Total-cost Approach – Replace Option </a:t>
            </a:r>
            <a:endParaRPr lang="en-CA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EB59AD5-8B65-43F2-BB7A-FCA814C7A4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126967"/>
              </p:ext>
            </p:extLst>
          </p:nvPr>
        </p:nvGraphicFramePr>
        <p:xfrm>
          <a:off x="119336" y="620688"/>
          <a:ext cx="7560840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900717" imgH="1571469" progId="Excel.Sheet.8">
                  <p:embed/>
                </p:oleObj>
              </mc:Choice>
              <mc:Fallback>
                <p:oleObj name="Worksheet" r:id="rId5" imgW="4900717" imgH="1571469" progId="Excel.Sheet.8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EEB59AD5-8B65-43F2-BB7A-FCA814C7A4F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36" y="620688"/>
                        <a:ext cx="7560840" cy="36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9601C7B-10AF-D607-05C8-35653DAB96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15689"/>
              </p:ext>
            </p:extLst>
          </p:nvPr>
        </p:nvGraphicFramePr>
        <p:xfrm>
          <a:off x="8030337" y="3679037"/>
          <a:ext cx="3827463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987489" imgH="1968388" progId="Excel.Sheet.8">
                  <p:embed/>
                </p:oleObj>
              </mc:Choice>
              <mc:Fallback>
                <p:oleObj name="Worksheet" r:id="rId7" imgW="1987489" imgH="1968388" progId="Excel.Shee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B9601C7B-10AF-D607-05C8-35653DAB96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0337" y="3679037"/>
                        <a:ext cx="3827463" cy="316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643EE-1B64-EADC-22E4-469D0855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11283"/>
      </p:ext>
    </p:extLst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3386" y="648565"/>
            <a:ext cx="9145016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203360"/>
              </a:buClr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Calculate the present value if White remodels the existing washer:</a:t>
            </a: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– Total-cost Approach- Remodel Option</a:t>
            </a:r>
            <a:endParaRPr lang="en-CA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D46B34AE-1D26-4C44-8A8E-5BE9C602C9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98884"/>
              </p:ext>
            </p:extLst>
          </p:nvPr>
        </p:nvGraphicFramePr>
        <p:xfrm>
          <a:off x="1127448" y="1694502"/>
          <a:ext cx="6408737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381324" imgH="723900" progId="Excel.Sheet.8">
                  <p:embed/>
                </p:oleObj>
              </mc:Choice>
              <mc:Fallback>
                <p:oleObj name="Worksheet" r:id="rId3" imgW="2381324" imgH="723900" progId="Excel.Sheet.8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D46B34AE-1D26-4C44-8A8E-5BE9C602C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1694502"/>
                        <a:ext cx="6408737" cy="194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48EA7717-4D41-4F29-AF58-23491E1355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9522423"/>
              </p:ext>
            </p:extLst>
          </p:nvPr>
        </p:nvGraphicFramePr>
        <p:xfrm>
          <a:off x="3071664" y="3640777"/>
          <a:ext cx="7848600" cy="28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419656" imgH="1247681" progId="Excel.Sheet.8">
                  <p:embed/>
                </p:oleObj>
              </mc:Choice>
              <mc:Fallback>
                <p:oleObj name="Worksheet" r:id="rId5" imgW="4419656" imgH="1247681" progId="Excel.Sheet.8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48EA7717-4D41-4F29-AF58-23491E1355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3640777"/>
                        <a:ext cx="7848600" cy="281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4E3F1-B960-4B58-D133-45FBB523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25243"/>
      </p:ext>
    </p:extLst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3386" y="945581"/>
            <a:ext cx="11077230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203360"/>
              </a:buClr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projects yield a positive net present value. However, investing in a new wash will produce a higher net present value than remodeling the old washer</a:t>
            </a: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– Total-cost Approach</a:t>
            </a:r>
            <a:endParaRPr lang="en-CA" dirty="0"/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7A5A979B-6A4D-4832-A3A6-666345278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0651607"/>
              </p:ext>
            </p:extLst>
          </p:nvPr>
        </p:nvGraphicFramePr>
        <p:xfrm>
          <a:off x="3216275" y="2636838"/>
          <a:ext cx="4546600" cy="231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400166" imgH="939960" progId="Excel.Sheet.8">
                  <p:embed/>
                </p:oleObj>
              </mc:Choice>
              <mc:Fallback>
                <p:oleObj name="Worksheet" r:id="rId3" imgW="2400166" imgH="939960" progId="Excel.Sheet.8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7A5A979B-6A4D-4832-A3A6-66634527819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 l="-1424" t="386" r="-1898" b="3471"/>
                      <a:stretch>
                        <a:fillRect/>
                      </a:stretch>
                    </p:blipFill>
                    <p:spPr bwMode="auto">
                      <a:xfrm>
                        <a:off x="3216275" y="2636838"/>
                        <a:ext cx="4546600" cy="231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421CD2-D643-89FC-F6F3-D653D0DC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0325"/>
      </p:ext>
    </p:extLst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5480" y="853888"/>
            <a:ext cx="9145016" cy="2634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Under the incremental-cost approach, only the cash flows that differ between alternatives are considered.</a:t>
            </a:r>
            <a:b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Apply the incremental cost approach to the White Company decision.</a:t>
            </a:r>
          </a:p>
          <a:p>
            <a:pPr>
              <a:lnSpc>
                <a:spcPct val="90000"/>
              </a:lnSpc>
              <a:buClr>
                <a:srgbClr val="203360"/>
              </a:buClr>
              <a:buFont typeface="Arial" panose="020B0604020202020204" pitchFamily="34" charset="0"/>
              <a:buChar char="•"/>
              <a:defRPr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– Incremental-cost Approach 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88A2F8-525F-8B1D-46F7-E3CA30AB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12152"/>
      </p:ext>
    </p:extLst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95800" y="4797152"/>
            <a:ext cx="7416824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203360"/>
              </a:buClr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same answer is determined under both the total cost and the incremental-cost approach</a:t>
            </a:r>
          </a:p>
        </p:txBody>
      </p:sp>
      <p:sp>
        <p:nvSpPr>
          <p:cNvPr id="10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Preference Decisions – Incremental-cost Approach  </a:t>
            </a:r>
            <a:endParaRPr lang="en-CA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5148C1A3-BFCF-4659-A86C-173F9D3894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886830"/>
              </p:ext>
            </p:extLst>
          </p:nvPr>
        </p:nvGraphicFramePr>
        <p:xfrm>
          <a:off x="4223792" y="929680"/>
          <a:ext cx="779336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657934" imgH="1462041" progId="Excel.Sheet.8">
                  <p:embed/>
                </p:oleObj>
              </mc:Choice>
              <mc:Fallback>
                <p:oleObj name="Worksheet" r:id="rId3" imgW="4657934" imgH="1462041" progId="Excel.Sheet.8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5148C1A3-BFCF-4659-A86C-173F9D38942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929680"/>
                        <a:ext cx="7793360" cy="32004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5">
            <a:extLst>
              <a:ext uri="{FF2B5EF4-FFF2-40B4-BE49-F238E27FC236}">
                <a16:creationId xmlns:a16="http://schemas.microsoft.com/office/drawing/2014/main" id="{6DF0662C-F8EC-4004-AFA8-D62F190128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6240" y="3861589"/>
            <a:ext cx="2895601" cy="685800"/>
          </a:xfrm>
          <a:prstGeom prst="line">
            <a:avLst/>
          </a:prstGeom>
          <a:noFill/>
          <a:ln w="38100">
            <a:solidFill>
              <a:srgbClr val="ED037C"/>
            </a:solidFill>
            <a:round/>
            <a:headEnd/>
            <a:tailEnd type="triangle" w="med" len="med"/>
          </a:ln>
          <a:effectLst>
            <a:outerShdw blurRad="63500" dist="17961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20CEC20-47E5-145F-A8EF-E4A83EE092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7785845"/>
              </p:ext>
            </p:extLst>
          </p:nvPr>
        </p:nvGraphicFramePr>
        <p:xfrm>
          <a:off x="273492" y="3645024"/>
          <a:ext cx="3827463" cy="3096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987489" imgH="1974922" progId="Excel.Sheet.8">
                  <p:embed/>
                </p:oleObj>
              </mc:Choice>
              <mc:Fallback>
                <p:oleObj name="Worksheet" r:id="rId5" imgW="1987489" imgH="1974922" progId="Excel.Shee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620CEC20-47E5-145F-A8EF-E4A83EE092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92" y="3645024"/>
                        <a:ext cx="3827463" cy="3096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B5AC0F08-AC52-7B41-4E34-2D73DD9B3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183224"/>
              </p:ext>
            </p:extLst>
          </p:nvPr>
        </p:nvGraphicFramePr>
        <p:xfrm>
          <a:off x="140723" y="661905"/>
          <a:ext cx="3827463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987489" imgH="1968388" progId="Excel.Sheet.8">
                  <p:embed/>
                </p:oleObj>
              </mc:Choice>
              <mc:Fallback>
                <p:oleObj name="Worksheet" r:id="rId7" imgW="1987489" imgH="1968388" progId="Excel.Sheet.8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B5AC0F08-AC52-7B41-4E34-2D73DD9B37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23" y="661905"/>
                        <a:ext cx="3827463" cy="316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93232D-84CC-0481-EF08-4AC0EF30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3301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>
            <a:extLst>
              <a:ext uri="{FF2B5EF4-FFF2-40B4-BE49-F238E27FC236}">
                <a16:creationId xmlns:a16="http://schemas.microsoft.com/office/drawing/2014/main" id="{E901F0D8-218B-47EA-B64C-4BD13A91EDD2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084360" y="1124744"/>
            <a:ext cx="9601067" cy="21602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CA" altLang="en-US" sz="2400" b="0" dirty="0">
                <a:solidFill>
                  <a:schemeClr val="tx1"/>
                </a:solidFill>
              </a:rPr>
              <a:t>In decisions where revenues are not directly involved, managers should choose the alternative that has the least total cost from a present value perspective.</a:t>
            </a:r>
            <a:br>
              <a:rPr lang="en-CA" altLang="en-US" sz="2400" b="0" dirty="0">
                <a:solidFill>
                  <a:schemeClr val="tx1"/>
                </a:solidFill>
              </a:rPr>
            </a:br>
            <a:endParaRPr lang="en-CA" altLang="en-US" sz="2400" b="0" dirty="0">
              <a:solidFill>
                <a:schemeClr val="tx1"/>
              </a:solidFill>
            </a:endParaRPr>
          </a:p>
        </p:txBody>
      </p:sp>
      <p:sp>
        <p:nvSpPr>
          <p:cNvPr id="8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Preference Decisions – Least cost approach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8BEA62-04AE-2E87-7673-9FFA041F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39722"/>
      </p:ext>
    </p:extLst>
  </p:cSld>
  <p:clrMapOvr>
    <a:masterClrMapping/>
  </p:clrMapOvr>
  <p:transition>
    <p:checker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>
            <a:extLst>
              <a:ext uri="{FF2B5EF4-FFF2-40B4-BE49-F238E27FC236}">
                <a16:creationId xmlns:a16="http://schemas.microsoft.com/office/drawing/2014/main" id="{E901F0D8-218B-47EA-B64C-4BD13A91EDD2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23392" y="692696"/>
            <a:ext cx="9601067" cy="16561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sz="2400" b="0" dirty="0">
                <a:solidFill>
                  <a:schemeClr val="tx1"/>
                </a:solidFill>
              </a:rPr>
              <a:t>Home Furniture Company is trying to decide whether to overhaul an old delivery truck or to purchase a new one.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1200" b="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400" b="0" dirty="0">
                <a:solidFill>
                  <a:schemeClr val="tx1"/>
                </a:solidFill>
              </a:rPr>
              <a:t>The company uses a discount rate of 10%.</a:t>
            </a:r>
            <a:r>
              <a:rPr lang="en-CA" altLang="en-US" sz="2400" dirty="0"/>
              <a:t>e company uses a discount rate of 10%.</a:t>
            </a:r>
          </a:p>
          <a:p>
            <a:pPr marL="0" indent="0">
              <a:buNone/>
            </a:pPr>
            <a:endParaRPr lang="en-CA" altLang="en-US" sz="2400" b="0" dirty="0">
              <a:solidFill>
                <a:schemeClr val="tx1"/>
              </a:solidFill>
            </a:endParaRPr>
          </a:p>
        </p:txBody>
      </p:sp>
      <p:sp>
        <p:nvSpPr>
          <p:cNvPr id="8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Preference Decisions – Least cost approach… Let’s apply</a:t>
            </a:r>
            <a:endParaRPr lang="en-CA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EA0AFD5A-DFC1-4352-952B-A4D93A82FD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6266823"/>
              </p:ext>
            </p:extLst>
          </p:nvPr>
        </p:nvGraphicFramePr>
        <p:xfrm>
          <a:off x="466717" y="2356914"/>
          <a:ext cx="5557838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300183" imgH="847944" progId="Excel.Sheet.8">
                  <p:embed/>
                </p:oleObj>
              </mc:Choice>
              <mc:Fallback>
                <p:oleObj name="Worksheet" r:id="rId3" imgW="2300183" imgH="847944" progId="Excel.Sheet.8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EA0AFD5A-DFC1-4352-952B-A4D93A82FD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17" y="2356914"/>
                        <a:ext cx="5557838" cy="2200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A50E39F6-5A31-41A8-A783-C2697EC501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7072271"/>
              </p:ext>
            </p:extLst>
          </p:nvPr>
        </p:nvGraphicFramePr>
        <p:xfrm>
          <a:off x="5423925" y="4637452"/>
          <a:ext cx="61341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300183" imgH="847944" progId="Excel.Sheet.8">
                  <p:embed/>
                </p:oleObj>
              </mc:Choice>
              <mc:Fallback>
                <p:oleObj name="Worksheet" r:id="rId5" imgW="2300183" imgH="847944" progId="Excel.Sheet.8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A50E39F6-5A31-41A8-A783-C2697EC501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 b="17763"/>
                      <a:stretch>
                        <a:fillRect/>
                      </a:stretch>
                    </p:blipFill>
                    <p:spPr bwMode="auto">
                      <a:xfrm>
                        <a:off x="5423925" y="4637452"/>
                        <a:ext cx="6134100" cy="18097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5D394C-8948-F570-C30C-E29D2C57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04401"/>
      </p:ext>
    </p:extLst>
  </p:cSld>
  <p:clrMapOvr>
    <a:masterClrMapping/>
  </p:clrMapOvr>
  <p:transition>
    <p:checker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77" name="Object 2">
            <a:extLst>
              <a:ext uri="{FF2B5EF4-FFF2-40B4-BE49-F238E27FC236}">
                <a16:creationId xmlns:a16="http://schemas.microsoft.com/office/drawing/2014/main" id="{684C9CE4-82B3-4EB2-9B87-45C5A8242B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1419755"/>
              </p:ext>
            </p:extLst>
          </p:nvPr>
        </p:nvGraphicFramePr>
        <p:xfrm>
          <a:off x="187240" y="620688"/>
          <a:ext cx="6768752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038541" imgH="1419225" progId="Excel.Sheet.8">
                  <p:embed/>
                </p:oleObj>
              </mc:Choice>
              <mc:Fallback>
                <p:oleObj name="Worksheet" r:id="rId3" imgW="4038541" imgH="1419225" progId="Excel.Sheet.8">
                  <p:embed/>
                  <p:pic>
                    <p:nvPicPr>
                      <p:cNvPr id="101377" name="Object 2">
                        <a:extLst>
                          <a:ext uri="{FF2B5EF4-FFF2-40B4-BE49-F238E27FC236}">
                            <a16:creationId xmlns:a16="http://schemas.microsoft.com/office/drawing/2014/main" id="{684C9CE4-82B3-4EB2-9B87-45C5A8242B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40" y="620688"/>
                        <a:ext cx="6768752" cy="26273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" name="Object 3">
            <a:extLst>
              <a:ext uri="{FF2B5EF4-FFF2-40B4-BE49-F238E27FC236}">
                <a16:creationId xmlns:a16="http://schemas.microsoft.com/office/drawing/2014/main" id="{71609873-AC45-44B7-880C-8931039992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7712595"/>
              </p:ext>
            </p:extLst>
          </p:nvPr>
        </p:nvGraphicFramePr>
        <p:xfrm>
          <a:off x="263352" y="4149080"/>
          <a:ext cx="669264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395628" imgH="1276163" progId="Excel.Sheet.8">
                  <p:embed/>
                </p:oleObj>
              </mc:Choice>
              <mc:Fallback>
                <p:oleObj name="Worksheet" r:id="rId5" imgW="4395628" imgH="1276163" progId="Excel.Sheet.8">
                  <p:embed/>
                  <p:pic>
                    <p:nvPicPr>
                      <p:cNvPr id="101378" name="Object 3">
                        <a:extLst>
                          <a:ext uri="{FF2B5EF4-FFF2-40B4-BE49-F238E27FC236}">
                            <a16:creationId xmlns:a16="http://schemas.microsoft.com/office/drawing/2014/main" id="{71609873-AC45-44B7-880C-8931039992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52" y="4149080"/>
                        <a:ext cx="6692640" cy="2362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Preference Decisions – Least cost approach… Let’s apply</a:t>
            </a:r>
            <a:endParaRPr lang="en-CA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7172015" y="3248400"/>
            <a:ext cx="1592385" cy="900680"/>
          </a:xfrm>
          <a:prstGeom prst="wedgeRoundRectCallout">
            <a:avLst>
              <a:gd name="adj1" fmla="val -72057"/>
              <a:gd name="adj2" fmla="val -8128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cheaper option</a:t>
            </a:r>
            <a:endParaRPr lang="en-CA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B7E64F19-3A1A-6207-0E65-70224CFF9C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6460051"/>
              </p:ext>
            </p:extLst>
          </p:nvPr>
        </p:nvGraphicFramePr>
        <p:xfrm>
          <a:off x="8256240" y="132793"/>
          <a:ext cx="3827463" cy="3096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987489" imgH="1974922" progId="Excel.Sheet.8">
                  <p:embed/>
                </p:oleObj>
              </mc:Choice>
              <mc:Fallback>
                <p:oleObj name="Worksheet" r:id="rId7" imgW="1987489" imgH="1974922" progId="Excel.Sheet.8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B7E64F19-3A1A-6207-0E65-70224CFF9C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240" y="132793"/>
                        <a:ext cx="3827463" cy="3096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A0F9206-B8BB-B8A4-EE7F-D51488A485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0836912"/>
              </p:ext>
            </p:extLst>
          </p:nvPr>
        </p:nvGraphicFramePr>
        <p:xfrm>
          <a:off x="8333830" y="4077072"/>
          <a:ext cx="3565812" cy="2875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1987489" imgH="1968388" progId="Excel.Sheet.8">
                  <p:embed/>
                </p:oleObj>
              </mc:Choice>
              <mc:Fallback>
                <p:oleObj name="Worksheet" r:id="rId9" imgW="1987489" imgH="1968388" progId="Excel.Sheet.8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3A0F9206-B8BB-B8A4-EE7F-D51488A485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3830" y="4077072"/>
                        <a:ext cx="3565812" cy="2875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872A-3E79-D0B7-2993-8684926A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63145"/>
      </p:ext>
    </p:extLst>
  </p:cSld>
  <p:clrMapOvr>
    <a:masterClrMapping/>
  </p:clrMapOvr>
  <p:transition>
    <p:zoom dir="in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2C25-C93B-89F7-73E9-D0C9886B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B79CCC-AC1D-E398-FA7A-1D9487582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Internal Rate of Return (IRR)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7BC121-04DF-500B-DC26-94DCD18510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</p:spPr>
        <p:txBody>
          <a:bodyPr/>
          <a:lstStyle/>
          <a:p>
            <a:fld id="{9B7CDB38-6350-4CC9-AB0E-B9078CE1CE4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03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1876" y="908720"/>
            <a:ext cx="890455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internal rate of return</a:t>
            </a: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the rate of return promised by an investment project over its useful life.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It is computed by finding the discount rate that will cause the </a:t>
            </a:r>
            <a:r>
              <a:rPr lang="en-CA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net present value</a:t>
            </a: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a project to be </a:t>
            </a:r>
            <a:r>
              <a:rPr lang="en-CA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works very well if a project’s cash flows are identical every year.  If the annual cash flows are not identical, a trial-and-error process must be used to find the internal rate of return.</a:t>
            </a:r>
          </a:p>
          <a:p>
            <a:endParaRPr lang="en-C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Internal Rate of Return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ACA650-091D-3AF3-8395-872EA097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72270"/>
      </p:ext>
    </p:extLst>
  </p:cSld>
  <p:clrMapOvr>
    <a:masterClrMapping/>
  </p:clrMapOvr>
  <p:transition>
    <p:checker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13219BE-753D-5056-052A-73077106DA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Internal Rate of Return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019" y="1528317"/>
            <a:ext cx="81699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discount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forces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NPV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019" y="2043125"/>
            <a:ext cx="28054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sz="2400" u="sng" spc="-10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Criteria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904" y="2558922"/>
            <a:ext cx="461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</a:t>
            </a:r>
            <a:r>
              <a:rPr sz="2400" spc="-8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projects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1910" y="2925136"/>
            <a:ext cx="4591050" cy="105537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7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Accepted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Hurdle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265" algn="l"/>
                <a:tab pos="268859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Rejected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sz="2400" spc="-7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&lt;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Hurdle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39379" y="2199640"/>
            <a:ext cx="2681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𝑃𝑉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𝐹𝑉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(1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𝑖)</a:t>
            </a:r>
            <a:r>
              <a:rPr sz="2625" spc="-30" baseline="28571" dirty="0">
                <a:latin typeface="Cambria Math"/>
                <a:cs typeface="Cambria Math"/>
              </a:rPr>
              <a:t>−𝑡</a:t>
            </a:r>
            <a:endParaRPr sz="2625" baseline="28571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5985" y="3269741"/>
            <a:ext cx="3671570" cy="407163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Isolate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360152" y="2567177"/>
            <a:ext cx="114300" cy="646430"/>
          </a:xfrm>
          <a:custGeom>
            <a:avLst/>
            <a:gdLst/>
            <a:ahLst/>
            <a:cxnLst/>
            <a:rect l="l" t="t" r="r" b="b"/>
            <a:pathLst>
              <a:path w="114300" h="646430">
                <a:moveTo>
                  <a:pt x="38100" y="531749"/>
                </a:moveTo>
                <a:lnTo>
                  <a:pt x="0" y="531749"/>
                </a:lnTo>
                <a:lnTo>
                  <a:pt x="57150" y="646049"/>
                </a:lnTo>
                <a:lnTo>
                  <a:pt x="104775" y="550799"/>
                </a:lnTo>
                <a:lnTo>
                  <a:pt x="38100" y="550799"/>
                </a:lnTo>
                <a:lnTo>
                  <a:pt x="38100" y="531749"/>
                </a:lnTo>
                <a:close/>
              </a:path>
              <a:path w="114300" h="646430">
                <a:moveTo>
                  <a:pt x="76200" y="0"/>
                </a:moveTo>
                <a:lnTo>
                  <a:pt x="38100" y="0"/>
                </a:lnTo>
                <a:lnTo>
                  <a:pt x="38100" y="550799"/>
                </a:lnTo>
                <a:lnTo>
                  <a:pt x="76200" y="550799"/>
                </a:lnTo>
                <a:lnTo>
                  <a:pt x="76200" y="0"/>
                </a:lnTo>
                <a:close/>
              </a:path>
              <a:path w="114300" h="646430">
                <a:moveTo>
                  <a:pt x="114300" y="531749"/>
                </a:moveTo>
                <a:lnTo>
                  <a:pt x="76200" y="531749"/>
                </a:lnTo>
                <a:lnTo>
                  <a:pt x="76200" y="550799"/>
                </a:lnTo>
                <a:lnTo>
                  <a:pt x="104775" y="550799"/>
                </a:lnTo>
                <a:lnTo>
                  <a:pt x="114300" y="531749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4162" y="4548378"/>
            <a:ext cx="10972800" cy="715581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300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sz="2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sz="2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IRR</a:t>
            </a:r>
            <a:r>
              <a:rPr sz="2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selected.</a:t>
            </a:r>
            <a:r>
              <a:rPr sz="2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sz="2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sz="2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return,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desirable</a:t>
            </a:r>
            <a:r>
              <a:rPr sz="22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2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project.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NPV versus IRR</a:t>
            </a:r>
            <a:endParaRPr lang="en-CA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7947" y="836712"/>
            <a:ext cx="10926445" cy="193675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7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NPV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superior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assumes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flows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reinvested</a:t>
            </a:r>
            <a:r>
              <a:rPr sz="2400" spc="-3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sz="2400" spc="-3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equal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NPV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assumes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400" spc="-8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sz="2400" spc="-5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flows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reinvested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2400" spc="-8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discount</a:t>
            </a:r>
            <a:r>
              <a:rPr sz="2400" spc="-4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904" y="4470272"/>
            <a:ext cx="10412095" cy="1272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spc="-65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BUT:</a:t>
            </a:r>
            <a:r>
              <a:rPr sz="2400" b="1" spc="-9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7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directly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</a:t>
            </a:r>
            <a:r>
              <a:rPr sz="2400" spc="-5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unless</a:t>
            </a:r>
            <a:r>
              <a:rPr sz="2400" spc="-4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investments</a:t>
            </a:r>
            <a:r>
              <a:rPr sz="2400" spc="-6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2400" spc="-6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equal.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7575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7575" algn="l"/>
              </a:tabLst>
            </a:pP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sz="2400" spc="-105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</a:t>
            </a:r>
            <a:r>
              <a:rPr sz="2400" spc="-17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  <a:r>
              <a:rPr sz="2400" spc="-7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Measures…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551" y="3270488"/>
            <a:ext cx="10972800" cy="40780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realistic?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718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Internal Rate of Return</a:t>
            </a:r>
            <a:endParaRPr lang="en-CA" dirty="0"/>
          </a:p>
        </p:txBody>
      </p:sp>
      <p:sp>
        <p:nvSpPr>
          <p:cNvPr id="2" name="Rectangle 1"/>
          <p:cNvSpPr/>
          <p:nvPr/>
        </p:nvSpPr>
        <p:spPr>
          <a:xfrm>
            <a:off x="1055440" y="720098"/>
            <a:ext cx="44061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General decision rule . . .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9D2EC8B2-3F4E-4D62-9DEF-F48DBB08D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942747"/>
              </p:ext>
            </p:extLst>
          </p:nvPr>
        </p:nvGraphicFramePr>
        <p:xfrm>
          <a:off x="1622126" y="1484784"/>
          <a:ext cx="8726488" cy="2206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662439" imgH="1176228" progId="Excel.Sheet.8">
                  <p:embed/>
                </p:oleObj>
              </mc:Choice>
              <mc:Fallback>
                <p:oleObj name="Worksheet" r:id="rId3" imgW="4662439" imgH="1176228" progId="Excel.Sheet.8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9D2EC8B2-3F4E-4D62-9DEF-F48DBB08D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126" y="1484784"/>
                        <a:ext cx="8726488" cy="220617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1C3163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08DC8E-30C8-2704-EEA2-193378FB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87454"/>
      </p:ext>
    </p:extLst>
  </p:cSld>
  <p:clrMapOvr>
    <a:masterClrMapping/>
  </p:clrMapOvr>
  <p:transition>
    <p:checker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E13-a">
            <a:hlinkClick r:id="" action="ppaction://media"/>
            <a:extLst>
              <a:ext uri="{FF2B5EF4-FFF2-40B4-BE49-F238E27FC236}">
                <a16:creationId xmlns:a16="http://schemas.microsoft.com/office/drawing/2014/main" id="{280D0A48-2A9E-499D-BABC-02EC4B9F6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22464" y="1601855"/>
            <a:ext cx="8281987" cy="453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Weighted-Average Cost of Capital (WACC)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8768D4-7166-7ADC-7688-5289456A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75613"/>
      </p:ext>
    </p:extLst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87488" y="764704"/>
            <a:ext cx="88569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NPV offers a key advantage over the IRR method because of the assumption each method makes about the reinvestment of cash flows.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NPV method makes a more realistic assumption about the rate of return that can be earned on cash flows from the project.</a:t>
            </a:r>
          </a:p>
          <a:p>
            <a:pPr>
              <a:buFont typeface="Arial" panose="020B0604020202020204" pitchFamily="34" charset="0"/>
              <a:buChar char="•"/>
            </a:pP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the NPV method and IRR method do not agree concerning the attractiveness of a project, it is best to go with the NPV method.</a:t>
            </a:r>
          </a:p>
        </p:txBody>
      </p:sp>
      <p:sp>
        <p:nvSpPr>
          <p:cNvPr id="8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Net Present Value versus Internal Rate of Return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0683ED-1CB9-068B-17A8-E8131E29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89781"/>
      </p:ext>
    </p:extLst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apply …</a:t>
            </a:r>
            <a:endParaRPr lang="en-CA" dirty="0"/>
          </a:p>
        </p:txBody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id="{35DF8E56-381B-4884-A861-3DF3FF24B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255" y="1015104"/>
            <a:ext cx="8686800" cy="3789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457200" indent="-457200">
              <a:spcBef>
                <a:spcPct val="20000"/>
              </a:spcBef>
              <a:buClr>
                <a:srgbClr val="1C3163"/>
              </a:buClr>
              <a:buFont typeface="Arial" charset="0"/>
              <a:buChar char="•"/>
              <a:defRPr/>
            </a:pPr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The company is considering replacing an old delivery car. The new car cost $20,000. The company expects it will save $5,500 per year in maintenance and fuel costs for 5 years. At the end of year 5, the car can be sold for $3,000. The company uses 10% discount rate</a:t>
            </a:r>
          </a:p>
        </p:txBody>
      </p:sp>
      <p:sp>
        <p:nvSpPr>
          <p:cNvPr id="134147" name="Text Box 4">
            <a:extLst>
              <a:ext uri="{FF2B5EF4-FFF2-40B4-BE49-F238E27FC236}">
                <a16:creationId xmlns:a16="http://schemas.microsoft.com/office/drawing/2014/main" id="{D10CCCC0-9B2D-451D-8547-D5E3F3D16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882" y="4804467"/>
            <a:ext cx="8686800" cy="523220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Calculate the IRR for this car replacement</a:t>
            </a:r>
            <a:endParaRPr lang="en-CA" alt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686150-3FD1-AF1B-693B-B58E4D38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8481"/>
      </p:ext>
    </p:extLst>
  </p:cSld>
  <p:clrMapOvr>
    <a:masterClrMapping/>
  </p:clrMapOvr>
  <p:transition>
    <p:blinds dir="vert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Let’s apply …</a:t>
            </a:r>
            <a:endParaRPr lang="en-C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ACE003-AD9C-EC8E-62C4-92888BB6E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291903"/>
              </p:ext>
            </p:extLst>
          </p:nvPr>
        </p:nvGraphicFramePr>
        <p:xfrm>
          <a:off x="1991544" y="1052736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6952288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802696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44242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PV factor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PV factor 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2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.9091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.8696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66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.8264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.7561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0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.7513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.6575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84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.6830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.5718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68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.6209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.4972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88854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D18145-F844-E668-D0E3-FE8FC96B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64351"/>
      </p:ext>
    </p:extLst>
  </p:cSld>
  <p:clrMapOvr>
    <a:masterClrMapping/>
  </p:clrMapOvr>
  <p:transition>
    <p:blinds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C858-CC19-36FC-16B5-20809B1C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7E2B177-C1C1-AA8F-2877-7091248581A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8EC2430-4D77-7CCE-4E76-4C61E98DD7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apply…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C714B5A-3182-34EA-C437-D5E4B0B3C6B5}"/>
              </a:ext>
            </a:extLst>
          </p:cNvPr>
          <p:cNvSpPr txBox="1"/>
          <p:nvPr/>
        </p:nvSpPr>
        <p:spPr>
          <a:xfrm>
            <a:off x="767408" y="620688"/>
            <a:ext cx="10153128" cy="40780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spcBef>
                <a:spcPts val="11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Compute the NPV of the Car @ 10%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09A5FF5-6D9D-5212-CD2D-D6DE575AC4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7922" y="1090340"/>
          <a:ext cx="87249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725044" imgH="2527337" progId="Excel.Sheet.12">
                  <p:embed/>
                </p:oleObj>
              </mc:Choice>
              <mc:Fallback>
                <p:oleObj name="Worksheet" r:id="rId2" imgW="8725044" imgH="2527337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09A5FF5-6D9D-5212-CD2D-D6DE575AC4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7922" y="1090340"/>
                        <a:ext cx="8724900" cy="252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40785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DC93-2D81-63BD-2CCE-B74D8E46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41BD3BB-28EF-37D2-2A4E-994A50DB6E1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4F09DFF-268F-9BD8-5851-BA62AAE515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Let’s apply…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3EBD6D-E5E8-0CAD-78E2-DD4395411432}"/>
              </a:ext>
            </a:extLst>
          </p:cNvPr>
          <p:cNvSpPr txBox="1"/>
          <p:nvPr/>
        </p:nvSpPr>
        <p:spPr>
          <a:xfrm>
            <a:off x="767408" y="620688"/>
            <a:ext cx="10153128" cy="777136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spcBef>
                <a:spcPts val="11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Need to pick a discount rate that will give a negative NPV – what about 15%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B12C3A2E-7277-1064-73D0-8578A87E2071}"/>
              </a:ext>
            </a:extLst>
          </p:cNvPr>
          <p:cNvSpPr txBox="1"/>
          <p:nvPr/>
        </p:nvSpPr>
        <p:spPr>
          <a:xfrm>
            <a:off x="767408" y="1772816"/>
            <a:ext cx="10153128" cy="40780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spcBef>
                <a:spcPts val="11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Compute the NPV of the Car @ 15%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9703444-57AD-7BC2-0011-2AA69D2A3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552773"/>
              </p:ext>
            </p:extLst>
          </p:nvPr>
        </p:nvGraphicFramePr>
        <p:xfrm>
          <a:off x="839416" y="2941577"/>
          <a:ext cx="87249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725044" imgH="2527337" progId="Excel.Sheet.12">
                  <p:embed/>
                </p:oleObj>
              </mc:Choice>
              <mc:Fallback>
                <p:oleObj name="Worksheet" r:id="rId2" imgW="8725044" imgH="2527337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9703444-57AD-7BC2-0011-2AA69D2A3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9416" y="2941577"/>
                        <a:ext cx="8724900" cy="252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94793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05992-EA56-40E5-F65A-7F986281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1">
            <a:extLst>
              <a:ext uri="{FF2B5EF4-FFF2-40B4-BE49-F238E27FC236}">
                <a16:creationId xmlns:a16="http://schemas.microsoft.com/office/drawing/2014/main" id="{7E481A73-1DB6-BC6E-EE61-A0E26562A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Let’s apply …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C53D7-C89A-6E4D-46C2-14E42AD88852}"/>
              </a:ext>
            </a:extLst>
          </p:cNvPr>
          <p:cNvSpPr txBox="1"/>
          <p:nvPr/>
        </p:nvSpPr>
        <p:spPr>
          <a:xfrm>
            <a:off x="2999656" y="1988840"/>
            <a:ext cx="670888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IRR = 10%   +    </a:t>
            </a:r>
            <a:r>
              <a:rPr lang="en-CA" sz="2400" u="sng" dirty="0">
                <a:latin typeface="Arial" panose="020B0604020202020204" pitchFamily="34" charset="0"/>
                <a:cs typeface="Arial" panose="020B0604020202020204" pitchFamily="34" charset="0"/>
              </a:rPr>
              <a:t>$2,712   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          x (15% - 10%)</a:t>
            </a:r>
          </a:p>
          <a:p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$2,712 –(-$71) </a:t>
            </a:r>
          </a:p>
          <a:p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IRR = 10% + 4.87% = 14.9%</a:t>
            </a:r>
          </a:p>
          <a:p>
            <a:endParaRPr lang="en-CA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EC152E9-5A8C-0574-1102-F084D4E722E1}"/>
              </a:ext>
            </a:extLst>
          </p:cNvPr>
          <p:cNvSpPr txBox="1"/>
          <p:nvPr/>
        </p:nvSpPr>
        <p:spPr>
          <a:xfrm>
            <a:off x="767408" y="980728"/>
            <a:ext cx="10153128" cy="40780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>
              <a:spcBef>
                <a:spcPts val="11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Interpolate IRR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D1454B-71F1-C7E7-357D-A2F96843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39486"/>
      </p:ext>
    </p:extLst>
  </p:cSld>
  <p:clrMapOvr>
    <a:masterClrMapping/>
  </p:clrMapOvr>
  <p:transition>
    <p:blinds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F149-CD64-1273-D4BE-2B0434CC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7C2A3F-E990-403A-8651-2D1AF17203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Project Profitability Index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A3B49B-6E78-4A48-643D-9293B8F562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</p:spPr>
        <p:txBody>
          <a:bodyPr/>
          <a:lstStyle/>
          <a:p>
            <a:fld id="{9B7CDB38-6350-4CC9-AB0E-B9078CE1CE4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682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Profitability Index</a:t>
            </a:r>
            <a:endParaRPr lang="en-CA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404" y="2034539"/>
            <a:ext cx="4530090" cy="1169669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sp>
        <p:nvSpPr>
          <p:cNvPr id="4" name="object 4"/>
          <p:cNvSpPr txBox="1"/>
          <p:nvPr/>
        </p:nvSpPr>
        <p:spPr>
          <a:xfrm>
            <a:off x="1253134" y="2417521"/>
            <a:ext cx="3157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PV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Inflows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548" y="3770376"/>
            <a:ext cx="4531614" cy="1169670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</p:pic>
      <p:sp>
        <p:nvSpPr>
          <p:cNvPr id="6" name="object 6"/>
          <p:cNvSpPr txBox="1"/>
          <p:nvPr/>
        </p:nvSpPr>
        <p:spPr>
          <a:xfrm>
            <a:off x="2083054" y="3970782"/>
            <a:ext cx="15176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25" marR="5080" indent="-18796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Investment required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6041" y="3501390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>
                <a:moveTo>
                  <a:pt x="0" y="0"/>
                </a:moveTo>
                <a:lnTo>
                  <a:pt x="5040503" y="0"/>
                </a:lnTo>
              </a:path>
            </a:pathLst>
          </a:custGeom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15329" y="1879219"/>
            <a:ext cx="5749925" cy="347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measure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or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investment attractiveness.</a:t>
            </a:r>
            <a:endParaRPr sz="2400">
              <a:latin typeface="Arial MT"/>
              <a:cs typeface="Arial MT"/>
            </a:endParaRPr>
          </a:p>
          <a:p>
            <a:pPr marL="918844" lvl="1" indent="-456565">
              <a:lnSpc>
                <a:spcPct val="100000"/>
              </a:lnSpc>
              <a:spcBef>
                <a:spcPts val="1125"/>
              </a:spcBef>
              <a:buSzPct val="79545"/>
              <a:buChar char="•"/>
              <a:tabLst>
                <a:tab pos="918844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Profitability</a:t>
            </a:r>
            <a:r>
              <a:rPr sz="2200" spc="-1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Index</a:t>
            </a:r>
            <a:r>
              <a:rPr sz="2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&gt;1:</a:t>
            </a:r>
            <a:r>
              <a:rPr sz="2200" spc="-1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Approve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endParaRPr sz="2200">
              <a:latin typeface="Arial MT"/>
              <a:cs typeface="Arial MT"/>
            </a:endParaRPr>
          </a:p>
          <a:p>
            <a:pPr marL="918844" lvl="1" indent="-45656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918844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Profitability</a:t>
            </a:r>
            <a:r>
              <a:rPr sz="2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Index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&lt;1:</a:t>
            </a:r>
            <a:r>
              <a:rPr sz="2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Reject</a:t>
            </a:r>
            <a:r>
              <a:rPr sz="2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endParaRPr sz="2200">
              <a:latin typeface="Arial MT"/>
              <a:cs typeface="Arial MT"/>
            </a:endParaRPr>
          </a:p>
          <a:p>
            <a:pPr marL="469900" marR="186690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Profitability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index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depicts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“relative”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measure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whereas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NPV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represents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an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“absolute”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measure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value.</a:t>
            </a: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Select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with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highest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PPI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186" y="5328665"/>
            <a:ext cx="5032375" cy="830580"/>
          </a:xfrm>
          <a:prstGeom prst="rect">
            <a:avLst/>
          </a:prstGeom>
          <a:ln w="25400">
            <a:solidFill>
              <a:srgbClr val="ED037C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“The</a:t>
            </a:r>
            <a:r>
              <a:rPr sz="2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discounted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cash</a:t>
            </a:r>
            <a:r>
              <a:rPr sz="2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inflow</a:t>
            </a:r>
            <a:r>
              <a:rPr sz="24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Arial MT"/>
                <a:cs typeface="Arial MT"/>
              </a:rPr>
              <a:t>per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dollar</a:t>
            </a:r>
            <a:r>
              <a:rPr sz="2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2400" spc="-8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discounted</a:t>
            </a:r>
            <a:r>
              <a:rPr sz="24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cash</a:t>
            </a:r>
            <a:r>
              <a:rPr sz="2400" spc="-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Arial MT"/>
                <a:cs typeface="Arial MT"/>
              </a:rPr>
              <a:t>outflow”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1014257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50" name="Group 10">
            <a:extLst>
              <a:ext uri="{FF2B5EF4-FFF2-40B4-BE49-F238E27FC236}">
                <a16:creationId xmlns:a16="http://schemas.microsoft.com/office/drawing/2014/main" id="{5D3C20F5-2B7B-4470-8E87-8F674F59030E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602638"/>
            <a:ext cx="7848600" cy="830263"/>
            <a:chOff x="576" y="1162"/>
            <a:chExt cx="4944" cy="523"/>
          </a:xfrm>
        </p:grpSpPr>
        <p:sp>
          <p:nvSpPr>
            <p:cNvPr id="130055" name="Text Box 4">
              <a:extLst>
                <a:ext uri="{FF2B5EF4-FFF2-40B4-BE49-F238E27FC236}">
                  <a16:creationId xmlns:a16="http://schemas.microsoft.com/office/drawing/2014/main" id="{6524C603-94FA-434B-8AC3-D69F2F255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162"/>
              <a:ext cx="494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en-US" sz="2400" b="1" dirty="0">
                  <a:cs typeface="Arial" panose="020B0604020202020204" pitchFamily="34" charset="0"/>
                </a:rPr>
                <a:t>Profitability        Present value of net cash inflows</a:t>
              </a:r>
              <a:br>
                <a:rPr lang="en-CA" altLang="en-US" sz="2400" b="1" dirty="0">
                  <a:cs typeface="Arial" panose="020B0604020202020204" pitchFamily="34" charset="0"/>
                </a:rPr>
              </a:br>
              <a:r>
                <a:rPr lang="en-CA" altLang="en-US" sz="2400" b="1" dirty="0">
                  <a:cs typeface="Arial" panose="020B0604020202020204" pitchFamily="34" charset="0"/>
                </a:rPr>
                <a:t>   index                       Investment required</a:t>
              </a:r>
            </a:p>
          </p:txBody>
        </p:sp>
        <p:sp>
          <p:nvSpPr>
            <p:cNvPr id="130056" name="Line 5">
              <a:extLst>
                <a:ext uri="{FF2B5EF4-FFF2-40B4-BE49-F238E27FC236}">
                  <a16:creationId xmlns:a16="http://schemas.microsoft.com/office/drawing/2014/main" id="{1D605A50-D6CE-45CF-8070-869F7085B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2" y="1434"/>
              <a:ext cx="31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Rockwell (body)"/>
              </a:endParaRPr>
            </a:p>
          </p:txBody>
        </p:sp>
        <p:sp>
          <p:nvSpPr>
            <p:cNvPr id="130057" name="Text Box 6">
              <a:extLst>
                <a:ext uri="{FF2B5EF4-FFF2-40B4-BE49-F238E27FC236}">
                  <a16:creationId xmlns:a16="http://schemas.microsoft.com/office/drawing/2014/main" id="{7EC21D31-557C-48AF-86D9-D3A9FD34D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280"/>
              <a:ext cx="21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b="1" dirty="0">
                  <a:latin typeface="+mn-lt"/>
                </a:rPr>
                <a:t>=</a:t>
              </a:r>
            </a:p>
          </p:txBody>
        </p:sp>
      </p:grpSp>
      <p:sp>
        <p:nvSpPr>
          <p:cNvPr id="430088" name="Rectangle 8">
            <a:extLst>
              <a:ext uri="{FF2B5EF4-FFF2-40B4-BE49-F238E27FC236}">
                <a16:creationId xmlns:a16="http://schemas.microsoft.com/office/drawing/2014/main" id="{385A450F-838E-41F6-B463-E63A4284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787104"/>
            <a:ext cx="5867400" cy="1219200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higher the profitability index, the</a:t>
            </a:r>
          </a:p>
          <a:p>
            <a:pPr algn="ctr" eaLnBrk="1" hangingPunct="1">
              <a:defRPr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more desirable the project.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2EB72-D7E5-43BD-F302-35FEA6699C52}"/>
              </a:ext>
            </a:extLst>
          </p:cNvPr>
          <p:cNvSpPr txBox="1"/>
          <p:nvPr/>
        </p:nvSpPr>
        <p:spPr>
          <a:xfrm>
            <a:off x="2209800" y="2683726"/>
            <a:ext cx="784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Investment A      Investment B</a:t>
            </a:r>
          </a:p>
          <a:p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Present value of net cash inflows              $81,000                $6,000</a:t>
            </a:r>
          </a:p>
          <a:p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Investment required                                     80,000                  5,000</a:t>
            </a:r>
          </a:p>
          <a:p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Profitability index                                           1.01                     1.20</a:t>
            </a:r>
          </a:p>
        </p:txBody>
      </p:sp>
      <p:sp>
        <p:nvSpPr>
          <p:cNvPr id="13" name="Subtitle 1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/>
          <a:lstStyle/>
          <a:p>
            <a:r>
              <a:rPr lang="en-US" dirty="0"/>
              <a:t>Ranking Investment Projects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8975EA-F899-541E-7A10-B0303FCE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1636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8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CFD6-DBF8-42E2-4169-115EFCCA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D4BC04-BA1B-CD0A-D16C-D5EB8B1F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Payback Period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D94A93-E665-CA10-C3D7-91F596AF5C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</p:spPr>
        <p:txBody>
          <a:bodyPr/>
          <a:lstStyle/>
          <a:p>
            <a:fld id="{9B7CDB38-6350-4CC9-AB0E-B9078CE1CE4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774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Payback Method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CA1395-8E07-48B5-82EE-84913880840F}"/>
              </a:ext>
            </a:extLst>
          </p:cNvPr>
          <p:cNvSpPr txBox="1">
            <a:spLocks/>
          </p:cNvSpPr>
          <p:nvPr/>
        </p:nvSpPr>
        <p:spPr bwMode="auto">
          <a:xfrm>
            <a:off x="1729004" y="836712"/>
            <a:ext cx="8229600" cy="31369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buFont typeface="Wingdings 3" pitchFamily="18" charset="2"/>
              <a:buNone/>
              <a:defRPr/>
            </a:pPr>
            <a:r>
              <a:rPr lang="en-CA" altLang="en-US" sz="3000" dirty="0">
                <a:solidFill>
                  <a:schemeClr val="tx1"/>
                </a:solidFill>
                <a:cs typeface="Arial" charset="0"/>
              </a:rPr>
              <a:t>The </a:t>
            </a:r>
            <a:r>
              <a:rPr lang="en-CA" altLang="en-US" sz="3000" u="sng" dirty="0">
                <a:solidFill>
                  <a:schemeClr val="tx1"/>
                </a:solidFill>
                <a:cs typeface="Arial" charset="0"/>
              </a:rPr>
              <a:t>payback period</a:t>
            </a:r>
            <a:r>
              <a:rPr lang="en-CA" altLang="en-US" sz="3000" dirty="0">
                <a:solidFill>
                  <a:schemeClr val="tx1"/>
                </a:solidFill>
                <a:cs typeface="Arial" charset="0"/>
              </a:rPr>
              <a:t> is the length of time that it takes for a project to recover its initial cost from the cash receipts that it generates.</a:t>
            </a:r>
          </a:p>
          <a:p>
            <a:pPr algn="ctr">
              <a:buFont typeface="Wingdings 3" pitchFamily="18" charset="2"/>
              <a:buNone/>
              <a:defRPr/>
            </a:pPr>
            <a:r>
              <a:rPr lang="en-CA" altLang="en-US" sz="2200" dirty="0">
                <a:solidFill>
                  <a:schemeClr val="tx1"/>
                </a:solidFill>
                <a:cs typeface="Arial" charset="0"/>
              </a:rPr>
              <a:t>  </a:t>
            </a:r>
            <a:r>
              <a:rPr lang="en-CA" altLang="en-US" dirty="0">
                <a:solidFill>
                  <a:schemeClr val="tx1"/>
                </a:solidFill>
                <a:cs typeface="Arial" charset="0"/>
              </a:rPr>
              <a:t>When the net annual cash inflow is the same each year, this formula can be used to compute the payback period:</a:t>
            </a:r>
          </a:p>
          <a:p>
            <a:pPr algn="ctr">
              <a:buFont typeface="Wingdings 3" pitchFamily="18" charset="2"/>
              <a:buNone/>
              <a:defRPr/>
            </a:pPr>
            <a:endParaRPr lang="en-CA" altLang="en-US" dirty="0">
              <a:cs typeface="Arial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7F8B6-E18F-496B-89DA-C964313BDDDC}"/>
              </a:ext>
            </a:extLst>
          </p:cNvPr>
          <p:cNvGrpSpPr>
            <a:grpSpLocks/>
          </p:cNvGrpSpPr>
          <p:nvPr/>
        </p:nvGrpSpPr>
        <p:grpSpPr bwMode="auto">
          <a:xfrm>
            <a:off x="2423592" y="4725144"/>
            <a:ext cx="6427788" cy="828675"/>
            <a:chOff x="785" y="3228"/>
            <a:chExt cx="4049" cy="52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95EFA2-BC17-4592-B4F5-6A07AC2FC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" y="3228"/>
              <a:ext cx="4024" cy="522"/>
              <a:chOff x="759" y="2487"/>
              <a:chExt cx="4024" cy="522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6DBED176-6636-4569-8D90-6CC19E226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2602"/>
                <a:ext cx="1924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CA" altLang="en-US" sz="2400" b="1" dirty="0">
                    <a:cs typeface="Arial" panose="020B0604020202020204" pitchFamily="34" charset="0"/>
                  </a:rPr>
                  <a:t>Payback period  =  </a:t>
                </a: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2BF81F42-133D-4DA5-9852-1B8AB3D05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2487"/>
                <a:ext cx="2344" cy="5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CA" altLang="en-US" sz="2400" b="1" dirty="0"/>
                  <a:t>     </a:t>
                </a:r>
                <a:r>
                  <a:rPr lang="en-CA" altLang="en-US" sz="2400" b="1" dirty="0">
                    <a:cs typeface="Arial" panose="020B0604020202020204" pitchFamily="34" charset="0"/>
                  </a:rPr>
                  <a:t>Investment required</a:t>
                </a:r>
              </a:p>
              <a:p>
                <a:pPr eaLnBrk="1" hangingPunct="1"/>
                <a:r>
                  <a:rPr lang="en-CA" altLang="en-US" sz="2400" b="1" dirty="0">
                    <a:latin typeface="+mj-lt"/>
                  </a:rPr>
                  <a:t>   </a:t>
                </a:r>
                <a:r>
                  <a:rPr lang="en-CA" altLang="en-US" sz="2400" b="1" dirty="0">
                    <a:cs typeface="Arial" panose="020B0604020202020204" pitchFamily="34" charset="0"/>
                  </a:rPr>
                  <a:t>Net annual cash inflow</a:t>
                </a:r>
              </a:p>
            </p:txBody>
          </p:sp>
        </p:grp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574C34BB-28EA-45FC-8524-66CD7AC39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6" y="3497"/>
              <a:ext cx="220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F914B9-A07B-DFF3-B465-5F9E6348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5600"/>
      </p:ext>
    </p:extLst>
  </p:cSld>
  <p:clrMapOvr>
    <a:masterClrMapping/>
  </p:clrMapOvr>
  <p:transition>
    <p:blinds dir="vert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>
            <a:extLst>
              <a:ext uri="{FF2B5EF4-FFF2-40B4-BE49-F238E27FC236}">
                <a16:creationId xmlns:a16="http://schemas.microsoft.com/office/drawing/2014/main" id="{E901F0D8-218B-47EA-B64C-4BD13A91EDD2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5361" y="692696"/>
            <a:ext cx="11305255" cy="49685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533400" indent="-533400">
              <a:defRPr/>
            </a:pP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Management at The Daily Grind Café wants to install a new </a:t>
            </a:r>
            <a:r>
              <a:rPr lang="en-CA" altLang="en-US" sz="2800" b="0" dirty="0" err="1">
                <a:solidFill>
                  <a:schemeClr val="tx1"/>
                </a:solidFill>
                <a:cs typeface="Arial" charset="0"/>
              </a:rPr>
              <a:t>espress</a:t>
            </a: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 bar.</a:t>
            </a:r>
          </a:p>
          <a:p>
            <a:pPr marL="533400" indent="-533400">
              <a:defRPr/>
            </a:pPr>
            <a:endParaRPr lang="en-CA" altLang="en-US" sz="1000" b="0" dirty="0">
              <a:solidFill>
                <a:schemeClr val="tx1"/>
              </a:solidFill>
              <a:cs typeface="Arial" charset="0"/>
            </a:endParaRPr>
          </a:p>
          <a:p>
            <a:pPr marL="533400" indent="-533400">
              <a:defRPr/>
            </a:pP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The espresso bar:</a:t>
            </a:r>
          </a:p>
          <a:p>
            <a:pPr marL="1049337" lvl="4" indent="-457200" algn="l">
              <a:buClrTx/>
              <a:buFont typeface="Arial" panose="020B0604020202020204" pitchFamily="34" charset="0"/>
              <a:buChar char="•"/>
              <a:defRPr/>
            </a:pPr>
            <a:r>
              <a:rPr lang="en-CA" altLang="en-US" sz="2800" dirty="0">
                <a:solidFill>
                  <a:schemeClr val="tx1"/>
                </a:solidFill>
                <a:cs typeface="Arial" charset="0"/>
              </a:rPr>
              <a:t>costs $140,000 and has a 10-year life.</a:t>
            </a:r>
          </a:p>
          <a:p>
            <a:pPr marL="1049337" lvl="4" indent="-457200" algn="l">
              <a:buClrTx/>
              <a:buFont typeface="Arial" panose="020B0604020202020204" pitchFamily="34" charset="0"/>
              <a:buChar char="•"/>
              <a:defRPr/>
            </a:pPr>
            <a:r>
              <a:rPr lang="en-CA" altLang="en-US" sz="2800" dirty="0">
                <a:solidFill>
                  <a:schemeClr val="tx1"/>
                </a:solidFill>
                <a:cs typeface="Arial" charset="0"/>
              </a:rPr>
              <a:t>will generate net annual cash inflows of $35,000.</a:t>
            </a:r>
          </a:p>
          <a:p>
            <a:pPr marL="533400" indent="-533400">
              <a:defRPr/>
            </a:pPr>
            <a:endParaRPr lang="en-CA" altLang="en-US" sz="1000" b="0" dirty="0">
              <a:solidFill>
                <a:schemeClr val="tx1"/>
              </a:solidFill>
              <a:cs typeface="Arial" charset="0"/>
            </a:endParaRPr>
          </a:p>
          <a:p>
            <a:pPr marL="533400" indent="-533400">
              <a:defRPr/>
            </a:pP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Management requires a payback period of 5 years or less on all investments.</a:t>
            </a:r>
          </a:p>
          <a:p>
            <a:pPr marL="533400" indent="-533400">
              <a:defRPr/>
            </a:pP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What is the payback period for the espresso bar?</a:t>
            </a:r>
          </a:p>
        </p:txBody>
      </p:sp>
      <p:sp>
        <p:nvSpPr>
          <p:cNvPr id="8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Payback Method… Let’s apply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981B4-EF58-3A32-BF77-A8F1BF43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1507"/>
      </p:ext>
    </p:extLst>
  </p:cSld>
  <p:clrMapOvr>
    <a:masterClrMapping/>
  </p:clrMapOvr>
  <p:transition>
    <p:checker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Payback Period</a:t>
            </a:r>
            <a:endParaRPr lang="en-CA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995" y="2474976"/>
            <a:ext cx="4530090" cy="11711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6487" y="2859404"/>
            <a:ext cx="2717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Investment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required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4210811"/>
            <a:ext cx="4530090" cy="11696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79093" y="4594986"/>
            <a:ext cx="3091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Net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annual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inflow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9634" y="3934205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>
                <a:moveTo>
                  <a:pt x="0" y="0"/>
                </a:moveTo>
                <a:lnTo>
                  <a:pt x="5040503" y="0"/>
                </a:lnTo>
              </a:path>
            </a:pathLst>
          </a:custGeom>
          <a:ln w="381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77409" y="1366799"/>
            <a:ext cx="6418580" cy="3281679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25"/>
              </a:spcBef>
              <a:buSzPct val="79545"/>
              <a:buChar char="•"/>
              <a:tabLst>
                <a:tab pos="46926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Length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recover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project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initial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cost.</a:t>
            </a:r>
            <a:endParaRPr sz="22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46990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Lower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payback</a:t>
            </a:r>
            <a:r>
              <a:rPr sz="2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period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means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investment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will</a:t>
            </a:r>
            <a:r>
              <a:rPr sz="2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Arial MT"/>
                <a:cs typeface="Arial MT"/>
              </a:rPr>
              <a:t>be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repaid</a:t>
            </a:r>
            <a:r>
              <a:rPr sz="22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faster.</a:t>
            </a:r>
            <a:endParaRPr sz="2200">
              <a:latin typeface="Arial MT"/>
              <a:cs typeface="Arial MT"/>
            </a:endParaRPr>
          </a:p>
          <a:p>
            <a:pPr marL="640080" marR="58419" lvl="1" indent="-17081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64008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Quicker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an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investment’s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recovered,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sooner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funds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may</a:t>
            </a:r>
            <a:r>
              <a:rPr sz="2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be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put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other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Arial MT"/>
                <a:cs typeface="Arial MT"/>
              </a:rPr>
              <a:t>use.</a:t>
            </a:r>
            <a:endParaRPr sz="2200">
              <a:latin typeface="Arial MT"/>
              <a:cs typeface="Arial MT"/>
            </a:endParaRPr>
          </a:p>
          <a:p>
            <a:pPr marL="640080" marR="442595" lvl="1" indent="-17081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64008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Reduces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risk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that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changes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economic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conditions</a:t>
            </a:r>
            <a:r>
              <a:rPr sz="2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will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prevent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full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recovery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Arial MT"/>
                <a:cs typeface="Arial MT"/>
              </a:rPr>
              <a:t>an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investment.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7409" y="4622698"/>
            <a:ext cx="6447155" cy="179705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225"/>
              </a:spcBef>
              <a:buSzPct val="79545"/>
              <a:buChar char="•"/>
              <a:tabLst>
                <a:tab pos="19050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BUT</a:t>
            </a:r>
            <a:r>
              <a:rPr sz="22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Payback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Period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ignores:</a:t>
            </a:r>
            <a:endParaRPr sz="2200">
              <a:latin typeface="Arial MT"/>
              <a:cs typeface="Arial MT"/>
            </a:endParaRPr>
          </a:p>
          <a:p>
            <a:pPr marL="640715" lvl="1" indent="-17081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640715" algn="l"/>
              </a:tabLst>
            </a:pP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Total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profitability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cash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flows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over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entire</a:t>
            </a:r>
            <a:endParaRPr sz="2200">
              <a:latin typeface="Arial MT"/>
              <a:cs typeface="Arial MT"/>
            </a:endParaRPr>
          </a:p>
          <a:p>
            <a:pPr marL="640080">
              <a:lnSpc>
                <a:spcPct val="100000"/>
              </a:lnSpc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life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an</a:t>
            </a:r>
            <a:r>
              <a:rPr sz="2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investment</a:t>
            </a:r>
            <a:endParaRPr sz="2200">
              <a:latin typeface="Arial MT"/>
              <a:cs typeface="Arial MT"/>
            </a:endParaRPr>
          </a:p>
          <a:p>
            <a:pPr marL="640715" lvl="1" indent="-17081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640715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Ignores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timing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future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cash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flows.</a:t>
            </a:r>
            <a:endParaRPr sz="2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21984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3">
            <a:extLst>
              <a:ext uri="{FF2B5EF4-FFF2-40B4-BE49-F238E27FC236}">
                <a16:creationId xmlns:a16="http://schemas.microsoft.com/office/drawing/2014/main" id="{EBB4F776-F1A4-4EB6-A613-62FE69C83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752599"/>
            <a:ext cx="327660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Payback period  =  </a:t>
            </a:r>
          </a:p>
        </p:txBody>
      </p:sp>
      <p:sp>
        <p:nvSpPr>
          <p:cNvPr id="141314" name="Rectangle 4">
            <a:extLst>
              <a:ext uri="{FF2B5EF4-FFF2-40B4-BE49-F238E27FC236}">
                <a16:creationId xmlns:a16="http://schemas.microsoft.com/office/drawing/2014/main" id="{6DCEE9C8-7131-4D36-9419-521F6C4B1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524000"/>
            <a:ext cx="3587522" cy="82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400" u="sng" dirty="0"/>
              <a:t>  </a:t>
            </a:r>
            <a:r>
              <a:rPr lang="en-CA" altLang="en-US" sz="2400" u="sng" dirty="0">
                <a:cs typeface="Arial" panose="020B0604020202020204" pitchFamily="34" charset="0"/>
              </a:rPr>
              <a:t>Investment required__  </a:t>
            </a:r>
            <a:endParaRPr lang="en-CA" altLang="en-US" sz="2400" dirty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Net annual cash inflow</a:t>
            </a:r>
          </a:p>
        </p:txBody>
      </p:sp>
      <p:grpSp>
        <p:nvGrpSpPr>
          <p:cNvPr id="141315" name="Group 5">
            <a:extLst>
              <a:ext uri="{FF2B5EF4-FFF2-40B4-BE49-F238E27FC236}">
                <a16:creationId xmlns:a16="http://schemas.microsoft.com/office/drawing/2014/main" id="{6C01F1A1-5A28-4EC2-8654-163AA0A5B9EB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514601"/>
            <a:ext cx="4506913" cy="828675"/>
            <a:chOff x="807" y="1671"/>
            <a:chExt cx="2839" cy="522"/>
          </a:xfrm>
        </p:grpSpPr>
        <p:sp>
          <p:nvSpPr>
            <p:cNvPr id="141323" name="Rectangle 6">
              <a:extLst>
                <a:ext uri="{FF2B5EF4-FFF2-40B4-BE49-F238E27FC236}">
                  <a16:creationId xmlns:a16="http://schemas.microsoft.com/office/drawing/2014/main" id="{6B64CA3C-EFA0-4692-ACC3-8F038D39D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1834"/>
              <a:ext cx="174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Payback period  </a:t>
              </a:r>
              <a:r>
                <a:rPr lang="en-CA" altLang="en-US" sz="2400" b="1" dirty="0">
                  <a:latin typeface="+mn-lt"/>
                </a:rPr>
                <a:t>=  </a:t>
              </a:r>
            </a:p>
          </p:txBody>
        </p:sp>
        <p:sp>
          <p:nvSpPr>
            <p:cNvPr id="141324" name="Rectangle 7">
              <a:extLst>
                <a:ext uri="{FF2B5EF4-FFF2-40B4-BE49-F238E27FC236}">
                  <a16:creationId xmlns:a16="http://schemas.microsoft.com/office/drawing/2014/main" id="{98DF95DE-6D82-4004-9BF7-93FA7BAF1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1671"/>
              <a:ext cx="978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u="sng" dirty="0">
                  <a:cs typeface="Arial" panose="020B0604020202020204" pitchFamily="34" charset="0"/>
                </a:rPr>
                <a:t>$140,000 </a:t>
              </a:r>
              <a:endParaRPr lang="en-CA" altLang="en-US" sz="2400" dirty="0">
                <a:cs typeface="Arial" panose="020B0604020202020204" pitchFamily="34" charset="0"/>
              </a:endParaRPr>
            </a:p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 $35,000</a:t>
              </a:r>
            </a:p>
          </p:txBody>
        </p:sp>
      </p:grpSp>
      <p:grpSp>
        <p:nvGrpSpPr>
          <p:cNvPr id="141316" name="Group 8">
            <a:extLst>
              <a:ext uri="{FF2B5EF4-FFF2-40B4-BE49-F238E27FC236}">
                <a16:creationId xmlns:a16="http://schemas.microsoft.com/office/drawing/2014/main" id="{CB63BD4F-5072-4536-9A14-B424F92F02F9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581400"/>
            <a:ext cx="4403726" cy="488950"/>
            <a:chOff x="807" y="2631"/>
            <a:chExt cx="2774" cy="308"/>
          </a:xfrm>
        </p:grpSpPr>
        <p:sp>
          <p:nvSpPr>
            <p:cNvPr id="141321" name="Rectangle 9">
              <a:extLst>
                <a:ext uri="{FF2B5EF4-FFF2-40B4-BE49-F238E27FC236}">
                  <a16:creationId xmlns:a16="http://schemas.microsoft.com/office/drawing/2014/main" id="{F1CA36DF-FB46-4A5B-86FE-A936A6C09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650"/>
              <a:ext cx="174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Payback period  </a:t>
              </a:r>
              <a:r>
                <a:rPr lang="en-CA" altLang="en-US" sz="2400" b="1" dirty="0">
                  <a:latin typeface="+mn-lt"/>
                </a:rPr>
                <a:t>=  </a:t>
              </a:r>
            </a:p>
          </p:txBody>
        </p:sp>
        <p:sp>
          <p:nvSpPr>
            <p:cNvPr id="141322" name="Rectangle 10">
              <a:extLst>
                <a:ext uri="{FF2B5EF4-FFF2-40B4-BE49-F238E27FC236}">
                  <a16:creationId xmlns:a16="http://schemas.microsoft.com/office/drawing/2014/main" id="{41D2B02F-0EDB-496C-8628-35CA0FE20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631"/>
              <a:ext cx="91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4.0 years</a:t>
              </a:r>
            </a:p>
          </p:txBody>
        </p:sp>
      </p:grpSp>
      <p:sp>
        <p:nvSpPr>
          <p:cNvPr id="681995" name="Rectangle 11">
            <a:extLst>
              <a:ext uri="{FF2B5EF4-FFF2-40B4-BE49-F238E27FC236}">
                <a16:creationId xmlns:a16="http://schemas.microsoft.com/office/drawing/2014/main" id="{DFD01D77-345B-44B8-937B-0EE1633C9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278" y="4632016"/>
            <a:ext cx="8575476" cy="13824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1" hangingPunct="1">
              <a:defRPr/>
            </a:pPr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According to the company’s policy, management would invest in the espresso bar because its payback period is less than 5 years.</a:t>
            </a:r>
          </a:p>
        </p:txBody>
      </p:sp>
      <p:sp>
        <p:nvSpPr>
          <p:cNvPr id="16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Payback Method… Let’s apply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BF4C71-57B9-DB11-0316-9C0033D1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0581"/>
      </p:ext>
    </p:extLst>
  </p:cSld>
  <p:clrMapOvr>
    <a:masterClrMapping/>
  </p:clrMapOvr>
  <p:transition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DABE48C2-23BE-484A-A30F-9D5D1A5AC83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numCol="1" rtlCol="0">
            <a:noAutofit/>
          </a:bodyPr>
          <a:lstStyle/>
          <a:p>
            <a:pPr marL="342900" indent="-342900" algn="ctr">
              <a:buNone/>
            </a:pPr>
            <a:r>
              <a:rPr lang="en-CA" altLang="en-US" sz="2800" dirty="0"/>
              <a:t>   </a:t>
            </a:r>
            <a:endParaRPr lang="en-CA" altLang="en-US" sz="2800" dirty="0">
              <a:solidFill>
                <a:schemeClr val="tx1"/>
              </a:solidFill>
            </a:endParaRPr>
          </a:p>
        </p:txBody>
      </p:sp>
      <p:sp>
        <p:nvSpPr>
          <p:cNvPr id="163844" name="Rectangle 5">
            <a:extLst>
              <a:ext uri="{FF2B5EF4-FFF2-40B4-BE49-F238E27FC236}">
                <a16:creationId xmlns:a16="http://schemas.microsoft.com/office/drawing/2014/main" id="{4BE84B8E-FFFC-4627-94E8-19FEA4564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1" y="5562601"/>
            <a:ext cx="10801199" cy="520655"/>
          </a:xfrm>
          <a:prstGeom prst="rect">
            <a:avLst/>
          </a:prstGeom>
          <a:noFill/>
          <a:ln>
            <a:noFill/>
          </a:ln>
        </p:spPr>
        <p:txBody>
          <a:bodyPr wrap="squar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Project One better because it has a shorter payback period?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730EDD-2CD6-D592-7EB2-25182BCD8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870720"/>
              </p:ext>
            </p:extLst>
          </p:nvPr>
        </p:nvGraphicFramePr>
        <p:xfrm>
          <a:off x="3215681" y="1988837"/>
          <a:ext cx="5337769" cy="3060387"/>
        </p:xfrm>
        <a:graphic>
          <a:graphicData uri="http://schemas.openxmlformats.org/drawingml/2006/table">
            <a:tbl>
              <a:tblPr/>
              <a:tblGrid>
                <a:gridCol w="1054038">
                  <a:extLst>
                    <a:ext uri="{9D8B030D-6E8A-4147-A177-3AD203B41FA5}">
                      <a16:colId xmlns:a16="http://schemas.microsoft.com/office/drawing/2014/main" val="4257173806"/>
                    </a:ext>
                  </a:extLst>
                </a:gridCol>
                <a:gridCol w="221095">
                  <a:extLst>
                    <a:ext uri="{9D8B030D-6E8A-4147-A177-3AD203B41FA5}">
                      <a16:colId xmlns:a16="http://schemas.microsoft.com/office/drawing/2014/main" val="588638634"/>
                    </a:ext>
                  </a:extLst>
                </a:gridCol>
                <a:gridCol w="2031318">
                  <a:extLst>
                    <a:ext uri="{9D8B030D-6E8A-4147-A177-3AD203B41FA5}">
                      <a16:colId xmlns:a16="http://schemas.microsoft.com/office/drawing/2014/main" val="1361140954"/>
                    </a:ext>
                  </a:extLst>
                </a:gridCol>
                <a:gridCol w="2031318">
                  <a:extLst>
                    <a:ext uri="{9D8B030D-6E8A-4147-A177-3AD203B41FA5}">
                      <a16:colId xmlns:a16="http://schemas.microsoft.com/office/drawing/2014/main" val="1055010677"/>
                    </a:ext>
                  </a:extLst>
                </a:gridCol>
              </a:tblGrid>
              <a:tr h="328037">
                <a:tc>
                  <a:txBody>
                    <a:bodyPr/>
                    <a:lstStyle/>
                    <a:p>
                      <a:pPr algn="l" fontAlgn="b"/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Project One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Project Two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845019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A" sz="2200" b="0" i="0" u="none" strike="noStrike">
                        <a:solidFill>
                          <a:srgbClr val="000000"/>
                        </a:solidFill>
                        <a:effectLst/>
                        <a:latin typeface="Rockwell (body)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Net Cash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Net Cash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78356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Year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Inflows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Inflows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4594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CA" sz="2200" b="0" i="0" u="none" strike="noStrike">
                        <a:solidFill>
                          <a:srgbClr val="000000"/>
                        </a:solidFill>
                        <a:effectLst/>
                        <a:latin typeface="Rockwell (body)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42458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A" sz="2200" b="0" i="0" u="none" strike="noStrike">
                        <a:solidFill>
                          <a:srgbClr val="0000CC"/>
                        </a:solidFill>
                        <a:effectLst/>
                        <a:latin typeface="Rockwell (body)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$           2,000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$           1,000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705528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2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A" sz="2200" b="0" i="0" u="none" strike="noStrike">
                        <a:solidFill>
                          <a:srgbClr val="0000CC"/>
                        </a:solidFill>
                        <a:effectLst/>
                        <a:latin typeface="Rockwell (body)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        2,000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        1,000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256350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3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A" sz="2200" b="0" i="0" u="none" strike="noStrike">
                        <a:solidFill>
                          <a:srgbClr val="0000CC"/>
                        </a:solidFill>
                        <a:effectLst/>
                        <a:latin typeface="Rockwell (body)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        2,000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        1,000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359715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4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CA" sz="2200" b="0" i="0" u="none" strike="noStrike">
                        <a:solidFill>
                          <a:srgbClr val="0000CC"/>
                        </a:solidFill>
                        <a:effectLst/>
                        <a:latin typeface="Rockwell (body)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        2,000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        1,000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012142"/>
                  </a:ext>
                </a:extLst>
              </a:tr>
              <a:tr h="328037"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5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200" b="0" i="0" u="none" strike="noStrike">
                          <a:solidFill>
                            <a:srgbClr val="0000CC"/>
                          </a:solidFill>
                          <a:effectLst/>
                          <a:latin typeface="Rockwell (body)"/>
                        </a:rPr>
                        <a:t> 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        2,000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F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Rockwell (body)"/>
                        </a:rPr>
                        <a:t>      1,000,000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0585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44761" y="692696"/>
            <a:ext cx="91490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buNone/>
            </a:pP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Consider two projects, each with a five-year life and each costing $6,000.</a:t>
            </a:r>
          </a:p>
        </p:txBody>
      </p:sp>
      <p:sp>
        <p:nvSpPr>
          <p:cNvPr id="11" name="Subtitle 1"/>
          <p:cNvSpPr txBox="1">
            <a:spLocks/>
          </p:cNvSpPr>
          <p:nvPr/>
        </p:nvSpPr>
        <p:spPr>
          <a:xfrm>
            <a:off x="381133" y="-18132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Payback Method… Shortcoming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4312CE-6E64-45FF-D6A0-E51F5186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9836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4517-C398-38E6-A002-3836E0FE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169D9D-A253-D59C-A129-C318D7CA4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Simple Rate of Return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8F7B85-7885-369C-ABEE-FB346FCB5A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4625"/>
            <a:ext cx="479425" cy="217488"/>
          </a:xfrm>
        </p:spPr>
        <p:txBody>
          <a:bodyPr/>
          <a:lstStyle/>
          <a:p>
            <a:fld id="{9B7CDB38-6350-4CC9-AB0E-B9078CE1CE4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33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7" name="Text Box 9">
            <a:extLst>
              <a:ext uri="{FF2B5EF4-FFF2-40B4-BE49-F238E27FC236}">
                <a16:creationId xmlns:a16="http://schemas.microsoft.com/office/drawing/2014/main" id="{54558BEF-6DA9-460E-BD57-95D815BCA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181601"/>
            <a:ext cx="872648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400" dirty="0">
                <a:solidFill>
                  <a:srgbClr val="ED037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Should be reduced by any salvage from the sale of old equipment at the beginning of the project</a:t>
            </a:r>
          </a:p>
        </p:txBody>
      </p:sp>
      <p:grpSp>
        <p:nvGrpSpPr>
          <p:cNvPr id="157700" name="Group 12">
            <a:extLst>
              <a:ext uri="{FF2B5EF4-FFF2-40B4-BE49-F238E27FC236}">
                <a16:creationId xmlns:a16="http://schemas.microsoft.com/office/drawing/2014/main" id="{6441F586-1C17-4CAB-B159-3F486D43F140}"/>
              </a:ext>
            </a:extLst>
          </p:cNvPr>
          <p:cNvGrpSpPr>
            <a:grpSpLocks/>
          </p:cNvGrpSpPr>
          <p:nvPr/>
        </p:nvGrpSpPr>
        <p:grpSpPr bwMode="auto">
          <a:xfrm>
            <a:off x="2209801" y="3505200"/>
            <a:ext cx="7961313" cy="1373188"/>
            <a:chOff x="480" y="2304"/>
            <a:chExt cx="5015" cy="865"/>
          </a:xfrm>
        </p:grpSpPr>
        <p:sp>
          <p:nvSpPr>
            <p:cNvPr id="157703" name="Rectangle 4">
              <a:extLst>
                <a:ext uri="{FF2B5EF4-FFF2-40B4-BE49-F238E27FC236}">
                  <a16:creationId xmlns:a16="http://schemas.microsoft.com/office/drawing/2014/main" id="{2A85ECC8-2AAD-4F27-A63E-71470066E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544"/>
              <a:ext cx="1097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Simple rate</a:t>
              </a:r>
            </a:p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of return</a:t>
              </a:r>
            </a:p>
          </p:txBody>
        </p:sp>
        <p:sp>
          <p:nvSpPr>
            <p:cNvPr id="157704" name="Rectangle 5">
              <a:extLst>
                <a:ext uri="{FF2B5EF4-FFF2-40B4-BE49-F238E27FC236}">
                  <a16:creationId xmlns:a16="http://schemas.microsoft.com/office/drawing/2014/main" id="{EF629547-CAEE-4BA5-A625-B8C93E891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721"/>
              <a:ext cx="210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b="1" dirty="0">
                  <a:latin typeface="+mn-lt"/>
                </a:rPr>
                <a:t>=</a:t>
              </a:r>
            </a:p>
          </p:txBody>
        </p:sp>
        <p:sp>
          <p:nvSpPr>
            <p:cNvPr id="157705" name="Rectangle 6">
              <a:extLst>
                <a:ext uri="{FF2B5EF4-FFF2-40B4-BE49-F238E27FC236}">
                  <a16:creationId xmlns:a16="http://schemas.microsoft.com/office/drawing/2014/main" id="{6F769612-3CC5-4F84-BDAC-EBC8BB749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433"/>
              <a:ext cx="22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b="1"/>
                <a:t>–</a:t>
              </a:r>
            </a:p>
          </p:txBody>
        </p:sp>
        <p:sp>
          <p:nvSpPr>
            <p:cNvPr id="157706" name="Rectangle 7">
              <a:extLst>
                <a:ext uri="{FF2B5EF4-FFF2-40B4-BE49-F238E27FC236}">
                  <a16:creationId xmlns:a16="http://schemas.microsoft.com/office/drawing/2014/main" id="{CAB19F10-0CA3-47FC-8312-829DF03C3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0" y="2880"/>
              <a:ext cx="170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Initial investment </a:t>
              </a:r>
              <a:r>
                <a:rPr lang="en-CA" altLang="en-US" sz="2400" b="1" dirty="0">
                  <a:solidFill>
                    <a:srgbClr val="ED037C"/>
                  </a:solidFill>
                  <a:latin typeface="+mn-lt"/>
                </a:rPr>
                <a:t>*</a:t>
              </a:r>
            </a:p>
          </p:txBody>
        </p:sp>
        <p:sp>
          <p:nvSpPr>
            <p:cNvPr id="157707" name="Line 8">
              <a:extLst>
                <a:ext uri="{FF2B5EF4-FFF2-40B4-BE49-F238E27FC236}">
                  <a16:creationId xmlns:a16="http://schemas.microsoft.com/office/drawing/2014/main" id="{BD5A2D80-EA95-413E-AB37-B83414AFF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" y="2841"/>
              <a:ext cx="35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7708" name="Rectangle 10">
              <a:extLst>
                <a:ext uri="{FF2B5EF4-FFF2-40B4-BE49-F238E27FC236}">
                  <a16:creationId xmlns:a16="http://schemas.microsoft.com/office/drawing/2014/main" id="{23C31634-527F-410F-8745-B77CA9312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304"/>
              <a:ext cx="3509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CA" altLang="en-US" sz="2400" b="1" dirty="0">
                  <a:cs typeface="Arial" panose="020B0604020202020204" pitchFamily="34" charset="0"/>
                </a:rPr>
                <a:t>   </a:t>
              </a:r>
              <a:r>
                <a:rPr lang="en-CA" altLang="en-US" sz="2400" dirty="0">
                  <a:cs typeface="Arial" panose="020B0604020202020204" pitchFamily="34" charset="0"/>
                </a:rPr>
                <a:t>Incremental     Incremental expenses,</a:t>
              </a:r>
            </a:p>
            <a:p>
              <a:pPr eaLnBrk="1" hangingPunct="1"/>
              <a:r>
                <a:rPr lang="en-CA" altLang="en-US" sz="2400" dirty="0">
                  <a:cs typeface="Arial" panose="020B0604020202020204" pitchFamily="34" charset="0"/>
                </a:rPr>
                <a:t>     revenues        including depreciation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1331504" y="881172"/>
            <a:ext cx="97210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Does not focus on cash flows – rather it focuses on accounting net operating income.</a:t>
            </a:r>
          </a:p>
          <a:p>
            <a:pPr>
              <a:defRPr/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formula is used to calculate the simple rate of return:</a:t>
            </a:r>
          </a:p>
        </p:txBody>
      </p:sp>
      <p:sp>
        <p:nvSpPr>
          <p:cNvPr id="17" name="Subtitle 1"/>
          <p:cNvSpPr txBox="1">
            <a:spLocks/>
          </p:cNvSpPr>
          <p:nvPr/>
        </p:nvSpPr>
        <p:spPr>
          <a:xfrm>
            <a:off x="381133" y="-18132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Simple Rate of Return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810013-2682-17F2-ED16-A287C6CF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5217"/>
      </p:ext>
    </p:extLst>
  </p:cSld>
  <p:clrMapOvr>
    <a:masterClrMapping/>
  </p:clrMapOvr>
  <p:transition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>
            <a:extLst>
              <a:ext uri="{FF2B5EF4-FFF2-40B4-BE49-F238E27FC236}">
                <a16:creationId xmlns:a16="http://schemas.microsoft.com/office/drawing/2014/main" id="{E901F0D8-218B-47EA-B64C-4BD13A91EDD2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5361" y="692696"/>
            <a:ext cx="11305255" cy="49685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533400" indent="-533400">
              <a:defRPr/>
            </a:pP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Management at The Daily Grind Café wants to install a new </a:t>
            </a:r>
            <a:r>
              <a:rPr lang="en-CA" altLang="en-US" sz="2800" b="0" dirty="0" err="1">
                <a:solidFill>
                  <a:schemeClr val="tx1"/>
                </a:solidFill>
                <a:cs typeface="Arial" charset="0"/>
              </a:rPr>
              <a:t>espress</a:t>
            </a: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 bar.</a:t>
            </a:r>
          </a:p>
          <a:p>
            <a:pPr marL="533400" indent="-533400">
              <a:defRPr/>
            </a:pPr>
            <a:endParaRPr lang="en-CA" altLang="en-US" sz="1000" b="0" dirty="0">
              <a:solidFill>
                <a:schemeClr val="tx1"/>
              </a:solidFill>
              <a:cs typeface="Arial" charset="0"/>
            </a:endParaRPr>
          </a:p>
          <a:p>
            <a:pPr marL="533400" indent="-533400">
              <a:defRPr/>
            </a:pPr>
            <a:r>
              <a:rPr lang="en-CA" altLang="en-US" sz="2800" b="0" dirty="0">
                <a:solidFill>
                  <a:schemeClr val="tx1"/>
                </a:solidFill>
                <a:cs typeface="Arial" charset="0"/>
              </a:rPr>
              <a:t>The espresso bar:</a:t>
            </a:r>
          </a:p>
          <a:p>
            <a:pPr marL="1049337" lvl="4" indent="-457200" algn="l">
              <a:buClrTx/>
              <a:buFont typeface="Arial" panose="020B0604020202020204" pitchFamily="34" charset="0"/>
              <a:buChar char="•"/>
              <a:defRPr/>
            </a:pPr>
            <a:r>
              <a:rPr lang="en-CA" altLang="en-US" sz="2800" dirty="0">
                <a:solidFill>
                  <a:schemeClr val="tx1"/>
                </a:solidFill>
                <a:cs typeface="Arial" charset="0"/>
              </a:rPr>
              <a:t>costs $140,000 and has a 10-year life.</a:t>
            </a:r>
          </a:p>
          <a:p>
            <a:pPr marL="1049337" lvl="4" indent="-457200" algn="l">
              <a:buFont typeface="Arial" panose="020B0604020202020204" pitchFamily="34" charset="0"/>
              <a:buChar char="•"/>
              <a:defRPr/>
            </a:pPr>
            <a:r>
              <a:rPr lang="en-CA" altLang="en-US" sz="2800" dirty="0">
                <a:solidFill>
                  <a:schemeClr val="tx1"/>
                </a:solidFill>
              </a:rPr>
              <a:t>will generate incremental revenues of $100,000 and incremental expenses of $65,000 including depreciation</a:t>
            </a:r>
          </a:p>
          <a:p>
            <a:pPr marL="592137" lvl="4" algn="l">
              <a:defRPr/>
            </a:pPr>
            <a:endParaRPr lang="en-CA" altLang="en-US" sz="2800" dirty="0">
              <a:solidFill>
                <a:schemeClr val="tx1"/>
              </a:solidFill>
              <a:cs typeface="Arial" charset="0"/>
            </a:endParaRPr>
          </a:p>
          <a:p>
            <a:pPr marL="592137" lvl="4" algn="l">
              <a:defRPr/>
            </a:pPr>
            <a:r>
              <a:rPr lang="en-CA" altLang="en-US" sz="2800" dirty="0">
                <a:solidFill>
                  <a:schemeClr val="tx1"/>
                </a:solidFill>
              </a:rPr>
              <a:t>What is the simple rate of return on the investment project?</a:t>
            </a:r>
          </a:p>
          <a:p>
            <a:pPr marL="533400" indent="-533400">
              <a:defRPr/>
            </a:pPr>
            <a:endParaRPr lang="en-CA" altLang="en-US" sz="1000" b="0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8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Simple Rate of Return… Let’s apply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627D96-89B4-7D34-21CF-BBDD1B83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98078"/>
      </p:ext>
    </p:extLst>
  </p:cSld>
  <p:clrMapOvr>
    <a:masterClrMapping/>
  </p:clrMapOvr>
  <p:transition>
    <p:checker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7" name="Rectangle 3">
            <a:extLst>
              <a:ext uri="{FF2B5EF4-FFF2-40B4-BE49-F238E27FC236}">
                <a16:creationId xmlns:a16="http://schemas.microsoft.com/office/drawing/2014/main" id="{B00CB434-DE16-403F-9C36-B0DF2160A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2668589"/>
            <a:ext cx="2286000" cy="10746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1" hangingPunct="1">
              <a:defRPr/>
            </a:pP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Simple rate</a:t>
            </a:r>
          </a:p>
          <a:p>
            <a:pPr algn="ctr" eaLnBrk="1" hangingPunct="1">
              <a:defRPr/>
            </a:pP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of return</a:t>
            </a:r>
          </a:p>
        </p:txBody>
      </p:sp>
      <p:sp>
        <p:nvSpPr>
          <p:cNvPr id="161794" name="Rectangle 4">
            <a:extLst>
              <a:ext uri="{FF2B5EF4-FFF2-40B4-BE49-F238E27FC236}">
                <a16:creationId xmlns:a16="http://schemas.microsoft.com/office/drawing/2014/main" id="{AE48B82B-EC19-4535-83FB-AD2655F4F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438" y="2860676"/>
            <a:ext cx="2747962" cy="1074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3200" b="1" u="sng" dirty="0">
                <a:latin typeface="+mn-lt"/>
              </a:rPr>
              <a:t>  </a:t>
            </a:r>
            <a:r>
              <a:rPr lang="en-CA" altLang="en-US" sz="3200" u="sng" dirty="0">
                <a:cs typeface="Arial" panose="020B0604020202020204" pitchFamily="34" charset="0"/>
              </a:rPr>
              <a:t>$35,000  </a:t>
            </a:r>
          </a:p>
          <a:p>
            <a:pPr eaLnBrk="1" hangingPunct="1"/>
            <a:r>
              <a:rPr lang="en-CA" altLang="en-US" sz="3200" dirty="0">
                <a:cs typeface="Arial" panose="020B0604020202020204" pitchFamily="34" charset="0"/>
              </a:rPr>
              <a:t>$140,000</a:t>
            </a:r>
          </a:p>
        </p:txBody>
      </p:sp>
      <p:sp>
        <p:nvSpPr>
          <p:cNvPr id="161795" name="Rectangle 5">
            <a:extLst>
              <a:ext uri="{FF2B5EF4-FFF2-40B4-BE49-F238E27FC236}">
                <a16:creationId xmlns:a16="http://schemas.microsoft.com/office/drawing/2014/main" id="{9E955003-A285-44FF-BBF2-A89A0B1B9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6" y="3073400"/>
            <a:ext cx="1643080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3600" b="1" dirty="0"/>
              <a:t>  </a:t>
            </a:r>
            <a:r>
              <a:rPr lang="en-CA" altLang="en-US" sz="3200" b="1" dirty="0">
                <a:latin typeface="+mn-lt"/>
              </a:rPr>
              <a:t>=  </a:t>
            </a:r>
            <a:r>
              <a:rPr lang="en-CA" altLang="en-US" sz="3200" dirty="0">
                <a:cs typeface="Arial" panose="020B0604020202020204" pitchFamily="34" charset="0"/>
              </a:rPr>
              <a:t>25%</a:t>
            </a:r>
          </a:p>
        </p:txBody>
      </p:sp>
      <p:sp>
        <p:nvSpPr>
          <p:cNvPr id="161796" name="Rectangle 6">
            <a:extLst>
              <a:ext uri="{FF2B5EF4-FFF2-40B4-BE49-F238E27FC236}">
                <a16:creationId xmlns:a16="http://schemas.microsoft.com/office/drawing/2014/main" id="{3A8B0C86-A896-43DC-B097-FDEFAB023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39" y="3089276"/>
            <a:ext cx="383119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3200" b="1" dirty="0">
                <a:latin typeface="+mn-lt"/>
              </a:rPr>
              <a:t>=</a:t>
            </a:r>
          </a:p>
        </p:txBody>
      </p:sp>
      <p:sp>
        <p:nvSpPr>
          <p:cNvPr id="11" name="Subtitle 1"/>
          <p:cNvSpPr txBox="1">
            <a:spLocks/>
          </p:cNvSpPr>
          <p:nvPr/>
        </p:nvSpPr>
        <p:spPr>
          <a:xfrm>
            <a:off x="335361" y="-27384"/>
            <a:ext cx="9601067" cy="50601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tabLst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spcAft>
                <a:spcPts val="600"/>
              </a:spcAft>
              <a:buSzPct val="80000"/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Simple Rate of Return… Let’s apply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45F05E-16E4-D297-80EB-A1890AE3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6164"/>
      </p:ext>
    </p:extLst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CLASS</a:t>
            </a:r>
            <a:r>
              <a:rPr sz="3600" spc="-10" dirty="0">
                <a:solidFill>
                  <a:srgbClr val="FFFFFF"/>
                </a:solidFill>
              </a:rPr>
              <a:t> EXAMPLE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558190" y="2654045"/>
            <a:ext cx="49898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Mountain</a:t>
            </a:r>
            <a:r>
              <a:rPr sz="26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Adventures</a:t>
            </a:r>
            <a:r>
              <a:rPr sz="2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Company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2107" y="1958339"/>
            <a:ext cx="2693035" cy="2689860"/>
            <a:chOff x="7722107" y="1958339"/>
            <a:chExt cx="2693035" cy="2689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2209799"/>
              <a:ext cx="2438400" cy="2438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5517" y="1958339"/>
              <a:ext cx="2079243" cy="2091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10280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70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_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103E23-3D7C-4E39-9DD5-75683B020A9E}">
  <ds:schemaRefs>
    <ds:schemaRef ds:uri="http://schemas.openxmlformats.org/package/2006/metadata/core-properties"/>
    <ds:schemaRef ds:uri="7e677d30-5ff7-4313-a396-6d249a69ab27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c18c8954-ab2f-4275-a5d7-b9aa33856ba2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12718</TotalTime>
  <Words>3028</Words>
  <Application>Microsoft Office PowerPoint</Application>
  <PresentationFormat>Widescreen</PresentationFormat>
  <Paragraphs>568</Paragraphs>
  <Slides>70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89" baseType="lpstr">
      <vt:lpstr>Cambria Math</vt:lpstr>
      <vt:lpstr>Arial MT</vt:lpstr>
      <vt:lpstr>Wingdings 3</vt:lpstr>
      <vt:lpstr>Arial</vt:lpstr>
      <vt:lpstr>Rockwell</vt:lpstr>
      <vt:lpstr>Calibri</vt:lpstr>
      <vt:lpstr>Rockwell (body)</vt:lpstr>
      <vt:lpstr>Times New Roman</vt:lpstr>
      <vt:lpstr>Wingdings 2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2_Foundry</vt:lpstr>
      <vt:lpstr>Worksheet</vt:lpstr>
      <vt:lpstr>Microsoft Excel 97-2003 Worksheet</vt:lpstr>
      <vt:lpstr>    RSM222 Management Accounting 1  Class 11: Capital Budgeting Decisions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 Present Value (NPV)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Internal Rate of Return (IRR)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Profitability Index</vt:lpstr>
      <vt:lpstr>PowerPoint Presentation</vt:lpstr>
      <vt:lpstr>PowerPoint Presentation</vt:lpstr>
      <vt:lpstr>Payback Period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Simple Rate of Return</vt:lpstr>
      <vt:lpstr>PowerPoint Presentation</vt:lpstr>
      <vt:lpstr>PowerPoint Presentation</vt:lpstr>
      <vt:lpstr>PowerPoint Presentation</vt:lpstr>
      <vt:lpstr>IN CLASS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Guest</cp:lastModifiedBy>
  <cp:revision>210</cp:revision>
  <cp:lastPrinted>2025-09-11T22:16:33Z</cp:lastPrinted>
  <dcterms:created xsi:type="dcterms:W3CDTF">2013-07-26T14:57:40Z</dcterms:created>
  <dcterms:modified xsi:type="dcterms:W3CDTF">2025-11-18T15:58:28Z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