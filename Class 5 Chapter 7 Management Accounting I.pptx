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42"/>
  </p:notesMasterIdLst>
  <p:sldIdLst>
    <p:sldId id="256" r:id="rId11"/>
    <p:sldId id="357" r:id="rId12"/>
    <p:sldId id="352" r:id="rId13"/>
    <p:sldId id="258" r:id="rId14"/>
    <p:sldId id="708" r:id="rId15"/>
    <p:sldId id="709" r:id="rId16"/>
    <p:sldId id="710" r:id="rId17"/>
    <p:sldId id="711" r:id="rId18"/>
    <p:sldId id="712" r:id="rId19"/>
    <p:sldId id="354" r:id="rId20"/>
    <p:sldId id="355" r:id="rId21"/>
    <p:sldId id="358" r:id="rId22"/>
    <p:sldId id="359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715" r:id="rId32"/>
    <p:sldId id="271" r:id="rId33"/>
    <p:sldId id="272" r:id="rId34"/>
    <p:sldId id="273" r:id="rId35"/>
    <p:sldId id="713" r:id="rId36"/>
    <p:sldId id="714" r:id="rId37"/>
    <p:sldId id="274" r:id="rId38"/>
    <p:sldId id="275" r:id="rId39"/>
    <p:sldId id="276" r:id="rId40"/>
    <p:sldId id="706" r:id="rId41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F6FB04-2EC5-478A-A2D5-0ACB0230804D}" v="33" dt="2025-09-13T01:54:48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50000" autoAdjust="0"/>
  </p:normalViewPr>
  <p:slideViewPr>
    <p:cSldViewPr>
      <p:cViewPr varScale="1">
        <p:scale>
          <a:sx n="63" d="100"/>
          <a:sy n="63" d="100"/>
        </p:scale>
        <p:origin x="1072" y="56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tableStyles" Target="tableStyles.xml"/><Relationship Id="rId20" Type="http://schemas.openxmlformats.org/officeDocument/2006/relationships/slide" Target="slides/slide10.xml"/><Relationship Id="rId41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22804-678A-4588-8318-46D4BE4921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52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D59299BF-D5DF-47E4-B16B-CD5752A471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06D27345-A4AB-4F3C-86DA-608A425AFA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4">
            <a:extLst>
              <a:ext uri="{FF2B5EF4-FFF2-40B4-BE49-F238E27FC236}">
                <a16:creationId xmlns:a16="http://schemas.microsoft.com/office/drawing/2014/main" id="{970EED35-0164-49F1-AD95-885215AF5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4" name="Rectangle 5">
            <a:extLst>
              <a:ext uri="{FF2B5EF4-FFF2-40B4-BE49-F238E27FC236}">
                <a16:creationId xmlns:a16="http://schemas.microsoft.com/office/drawing/2014/main" id="{C10440CC-D2AA-43C2-852A-1B84490CC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>
            <a:extLst>
              <a:ext uri="{FF2B5EF4-FFF2-40B4-BE49-F238E27FC236}">
                <a16:creationId xmlns:a16="http://schemas.microsoft.com/office/drawing/2014/main" id="{988C6733-5B2B-4D64-B31B-9824941501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Rectangle 5">
            <a:extLst>
              <a:ext uri="{FF2B5EF4-FFF2-40B4-BE49-F238E27FC236}">
                <a16:creationId xmlns:a16="http://schemas.microsoft.com/office/drawing/2014/main" id="{4CC323D7-3F16-4D5F-88FF-7D467D4E7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B464FA0F-DAED-4A8C-8885-184CAB41AA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61625050-59DC-41D9-9B0E-178689C1C7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7AAC9AA-1258-4F8A-9D22-7239145A41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954DF951-6E1D-4468-A435-6BD5EDDD18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242-C8DB-4802-BA0C-926516A62445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i.org/blog/apple-iphone-profits-dwarf-labor-costs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8bTeF--rPs&amp;t=91s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5: Costing Systems – ABC Costing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b="0" i="0" kern="1200">
                <a:solidFill>
                  <a:srgbClr val="888888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n-CA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2</a:t>
            </a:fld>
            <a:endParaRPr spc="-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AF863B-103C-9A3C-9F1A-BDFABDDCBC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Learning Objectives of Class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57A81-398D-62BB-AE29-506724B935F9}"/>
              </a:ext>
            </a:extLst>
          </p:cNvPr>
          <p:cNvSpPr txBox="1"/>
          <p:nvPr/>
        </p:nvSpPr>
        <p:spPr>
          <a:xfrm>
            <a:off x="719404" y="980728"/>
            <a:ext cx="107051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7685" marR="163195" indent="-515620">
              <a:lnSpc>
                <a:spcPct val="100000"/>
              </a:lnSpc>
              <a:spcBef>
                <a:spcPts val="100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Explain</a:t>
            </a:r>
            <a:r>
              <a:rPr lang="en-CA" sz="2400" spc="-2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the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activity-</a:t>
            </a:r>
            <a:r>
              <a:rPr lang="en-CA" sz="2400" dirty="0">
                <a:latin typeface="Arial MT"/>
                <a:cs typeface="Arial MT"/>
              </a:rPr>
              <a:t>based</a:t>
            </a:r>
            <a:r>
              <a:rPr lang="en-CA" sz="2400" spc="-4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costing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model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how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it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differs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from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traditional </a:t>
            </a:r>
            <a:r>
              <a:rPr lang="en-CA" sz="2400" dirty="0">
                <a:latin typeface="Arial MT"/>
                <a:cs typeface="Arial MT"/>
              </a:rPr>
              <a:t>costing</a:t>
            </a:r>
            <a:r>
              <a:rPr lang="en-CA" sz="2400" spc="-10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system.</a:t>
            </a:r>
            <a:endParaRPr lang="en-CA" sz="2400" dirty="0">
              <a:latin typeface="Arial MT"/>
              <a:cs typeface="Arial MT"/>
            </a:endParaRPr>
          </a:p>
          <a:p>
            <a:pPr marL="527685" marR="5080" indent="-515620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Assign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costs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to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pools</a:t>
            </a:r>
            <a:r>
              <a:rPr lang="en-CA" sz="2400" spc="-5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using</a:t>
            </a:r>
            <a:r>
              <a:rPr lang="en-CA" sz="2400" spc="-4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first-stage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allocation,</a:t>
            </a:r>
            <a:r>
              <a:rPr lang="en-CA" sz="2400" spc="-4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compute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activity rates.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80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Assign</a:t>
            </a:r>
            <a:r>
              <a:rPr lang="en-CA" sz="2400" spc="-3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costs</a:t>
            </a:r>
            <a:r>
              <a:rPr lang="en-CA" sz="2400" spc="-3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to</a:t>
            </a:r>
            <a:r>
              <a:rPr lang="en-CA" sz="2400" spc="-3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</a:t>
            </a:r>
            <a:r>
              <a:rPr lang="en-CA" sz="2400" spc="-3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</a:t>
            </a:r>
            <a:r>
              <a:rPr lang="en-CA" sz="2400" spc="-3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object</a:t>
            </a:r>
            <a:r>
              <a:rPr lang="en-CA" sz="2400" spc="-3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using</a:t>
            </a:r>
            <a:r>
              <a:rPr lang="en-CA" sz="2400" spc="-1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</a:t>
            </a:r>
            <a:r>
              <a:rPr lang="en-CA" sz="2400" spc="-40" dirty="0">
                <a:latin typeface="Arial MT"/>
                <a:cs typeface="Arial MT"/>
              </a:rPr>
              <a:t> </a:t>
            </a:r>
            <a:r>
              <a:rPr lang="en-CA" sz="2400" spc="-25" dirty="0">
                <a:latin typeface="Arial MT"/>
                <a:cs typeface="Arial MT"/>
              </a:rPr>
              <a:t>second-</a:t>
            </a:r>
            <a:r>
              <a:rPr lang="en-CA" sz="2400" dirty="0">
                <a:latin typeface="Arial MT"/>
                <a:cs typeface="Arial MT"/>
              </a:rPr>
              <a:t>stage</a:t>
            </a:r>
            <a:r>
              <a:rPr lang="en-CA" sz="2400" spc="-2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allocation.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Use</a:t>
            </a:r>
            <a:r>
              <a:rPr lang="en-CA" sz="2400" spc="-8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activity-</a:t>
            </a:r>
            <a:r>
              <a:rPr lang="en-CA" sz="2400" dirty="0">
                <a:latin typeface="Arial MT"/>
                <a:cs typeface="Arial MT"/>
              </a:rPr>
              <a:t>based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costing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to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compute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product</a:t>
            </a:r>
            <a:r>
              <a:rPr lang="en-CA" sz="2400" spc="-8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customer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margins.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75"/>
              </a:spcBef>
              <a:buSzPct val="79166"/>
              <a:buAutoNum type="arabicPeriod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Compare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product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costs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computed</a:t>
            </a:r>
            <a:r>
              <a:rPr lang="en-CA" sz="2400" spc="-8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using</a:t>
            </a:r>
            <a:r>
              <a:rPr lang="en-CA" sz="2400" spc="-5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traditional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activity-based</a:t>
            </a:r>
            <a:endParaRPr lang="en-CA" sz="2400" dirty="0">
              <a:latin typeface="Arial MT"/>
              <a:cs typeface="Arial MT"/>
            </a:endParaRPr>
          </a:p>
          <a:p>
            <a:pPr marL="527685">
              <a:lnSpc>
                <a:spcPct val="100000"/>
              </a:lnSpc>
            </a:pPr>
            <a:r>
              <a:rPr lang="en-CA" sz="2400" dirty="0">
                <a:latin typeface="Arial MT"/>
                <a:cs typeface="Arial MT"/>
              </a:rPr>
              <a:t>costing</a:t>
            </a:r>
            <a:r>
              <a:rPr lang="en-CA" sz="2400" spc="-105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methods.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80"/>
              </a:spcBef>
              <a:buSzPct val="79166"/>
              <a:buAutoNum type="arabicPeriod" startAt="6"/>
              <a:tabLst>
                <a:tab pos="527685" algn="l"/>
              </a:tabLst>
            </a:pPr>
            <a:r>
              <a:rPr lang="en-CA" sz="2400" dirty="0">
                <a:latin typeface="Arial MT"/>
                <a:cs typeface="Arial MT"/>
              </a:rPr>
              <a:t>Understand</a:t>
            </a:r>
            <a:r>
              <a:rPr lang="en-CA" sz="2400" spc="-10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the</a:t>
            </a:r>
            <a:r>
              <a:rPr lang="en-CA" sz="2400" spc="-7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benefits</a:t>
            </a:r>
            <a:r>
              <a:rPr lang="en-CA" sz="2400" spc="-7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and</a:t>
            </a:r>
            <a:r>
              <a:rPr lang="en-CA" sz="2400" spc="-65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limitations</a:t>
            </a:r>
            <a:r>
              <a:rPr lang="en-CA" sz="2400" spc="-6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of</a:t>
            </a:r>
            <a:r>
              <a:rPr lang="en-CA" sz="2400" spc="-165" dirty="0">
                <a:latin typeface="Arial MT"/>
                <a:cs typeface="Arial MT"/>
              </a:rPr>
              <a:t> </a:t>
            </a:r>
            <a:r>
              <a:rPr lang="en-CA" sz="2400" spc="-25" dirty="0">
                <a:latin typeface="Arial MT"/>
                <a:cs typeface="Arial MT"/>
              </a:rPr>
              <a:t>ABC</a:t>
            </a:r>
            <a:endParaRPr lang="en-CA" sz="24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180"/>
              </a:spcBef>
              <a:buSzPct val="80000"/>
              <a:buAutoNum type="arabicPeriod"/>
              <a:tabLst>
                <a:tab pos="527685" algn="l"/>
              </a:tabLst>
            </a:pPr>
            <a:endParaRPr lang="en-CA"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335360" y="2747963"/>
            <a:ext cx="10363200" cy="1362075"/>
          </a:xfrm>
        </p:spPr>
        <p:txBody>
          <a:bodyPr anchor="b"/>
          <a:lstStyle/>
          <a:p>
            <a:r>
              <a:rPr lang="en-CA" dirty="0"/>
              <a:t>Product Costing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407368" y="4110038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 Costing</a:t>
            </a:r>
          </a:p>
        </p:txBody>
      </p:sp>
    </p:spTree>
    <p:extLst>
      <p:ext uri="{BB962C8B-B14F-4D97-AF65-F5344CB8AC3E}">
        <p14:creationId xmlns:p14="http://schemas.microsoft.com/office/powerpoint/2010/main" val="58672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E5D1332-D765-EA83-ECAE-69A1B01C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Costing Methods 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997" y="949166"/>
            <a:ext cx="771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Costing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assign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manufactured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product.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48" y="5911625"/>
            <a:ext cx="1315720" cy="46228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3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1211" y="5911625"/>
            <a:ext cx="1315720" cy="46228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4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99452" y="5911625"/>
            <a:ext cx="1315720" cy="462280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5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65476" y="1728980"/>
            <a:ext cx="2665730" cy="4708490"/>
          </a:xfrm>
          <a:custGeom>
            <a:avLst/>
            <a:gdLst/>
            <a:ahLst/>
            <a:cxnLst/>
            <a:rect l="l" t="t" r="r" b="b"/>
            <a:pathLst>
              <a:path w="2665729" h="4434840">
                <a:moveTo>
                  <a:pt x="0" y="4434840"/>
                </a:moveTo>
                <a:lnTo>
                  <a:pt x="2665476" y="4434840"/>
                </a:lnTo>
                <a:lnTo>
                  <a:pt x="2665476" y="0"/>
                </a:lnTo>
                <a:lnTo>
                  <a:pt x="0" y="0"/>
                </a:lnTo>
                <a:lnTo>
                  <a:pt x="0" y="4434840"/>
                </a:lnTo>
                <a:close/>
              </a:path>
            </a:pathLst>
          </a:custGeom>
          <a:ln w="50800">
            <a:solidFill>
              <a:schemeClr val="accent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B53458-2511-C0B9-02A7-1BD6A2F89C08}"/>
              </a:ext>
            </a:extLst>
          </p:cNvPr>
          <p:cNvSpPr/>
          <p:nvPr/>
        </p:nvSpPr>
        <p:spPr>
          <a:xfrm>
            <a:off x="4223792" y="652453"/>
            <a:ext cx="3384376" cy="537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Costing Methods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BF1961-A4B2-96F7-28A6-03ADCB75807D}"/>
              </a:ext>
            </a:extLst>
          </p:cNvPr>
          <p:cNvSpPr/>
          <p:nvPr/>
        </p:nvSpPr>
        <p:spPr>
          <a:xfrm>
            <a:off x="3736790" y="1989031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Absorption Costing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F1E467-B7B8-C78D-912D-3E8AC78281EF}"/>
              </a:ext>
            </a:extLst>
          </p:cNvPr>
          <p:cNvSpPr/>
          <p:nvPr/>
        </p:nvSpPr>
        <p:spPr>
          <a:xfrm>
            <a:off x="567279" y="1967486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Absorption Costing</a:t>
            </a:r>
          </a:p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Job-Order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1E6AB2-1F7C-E2CA-ABD0-5CA0F4004660}"/>
              </a:ext>
            </a:extLst>
          </p:cNvPr>
          <p:cNvSpPr/>
          <p:nvPr/>
        </p:nvSpPr>
        <p:spPr>
          <a:xfrm>
            <a:off x="6698758" y="1989031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Based Costing (ABC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D3E553-0E33-FDBD-BAEA-9BF2FB796996}"/>
              </a:ext>
            </a:extLst>
          </p:cNvPr>
          <p:cNvSpPr/>
          <p:nvPr/>
        </p:nvSpPr>
        <p:spPr>
          <a:xfrm>
            <a:off x="9552384" y="1967486"/>
            <a:ext cx="2359210" cy="792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Costing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FC5F4-E38D-BB28-F5DF-520C93CC12C8}"/>
              </a:ext>
            </a:extLst>
          </p:cNvPr>
          <p:cNvSpPr txBox="1"/>
          <p:nvPr/>
        </p:nvSpPr>
        <p:spPr>
          <a:xfrm>
            <a:off x="626061" y="4208544"/>
            <a:ext cx="23298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Classify costs between </a:t>
            </a:r>
            <a:r>
              <a:rPr lang="en-CA" sz="1400" dirty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and period </a:t>
            </a: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OH rate used to allocate indirect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Accepted under ASPE and IFRS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F13B0B-DDCB-64D4-7A90-AEA769B2A627}"/>
              </a:ext>
            </a:extLst>
          </p:cNvPr>
          <p:cNvSpPr/>
          <p:nvPr/>
        </p:nvSpPr>
        <p:spPr>
          <a:xfrm rot="2844813">
            <a:off x="1359377" y="3281840"/>
            <a:ext cx="752966" cy="765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C7BD56-D26E-3595-E865-A5B7F5500531}"/>
              </a:ext>
            </a:extLst>
          </p:cNvPr>
          <p:cNvSpPr txBox="1"/>
          <p:nvPr/>
        </p:nvSpPr>
        <p:spPr>
          <a:xfrm>
            <a:off x="1370215" y="3402758"/>
            <a:ext cx="731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Gross </a:t>
            </a:r>
          </a:p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5C4E6F-21DA-4B0C-898C-4D2A2522CAEB}"/>
              </a:ext>
            </a:extLst>
          </p:cNvPr>
          <p:cNvSpPr/>
          <p:nvPr/>
        </p:nvSpPr>
        <p:spPr>
          <a:xfrm rot="2844813">
            <a:off x="4507724" y="3333307"/>
            <a:ext cx="752966" cy="7650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8C89A1-6574-270B-E811-8F3D46EA5744}"/>
              </a:ext>
            </a:extLst>
          </p:cNvPr>
          <p:cNvSpPr txBox="1"/>
          <p:nvPr/>
        </p:nvSpPr>
        <p:spPr>
          <a:xfrm>
            <a:off x="4518562" y="3454225"/>
            <a:ext cx="731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Gross </a:t>
            </a:r>
          </a:p>
          <a:p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9023EE-1DAE-0FAD-DDFB-08BC1D99A160}"/>
              </a:ext>
            </a:extLst>
          </p:cNvPr>
          <p:cNvSpPr txBox="1"/>
          <p:nvPr/>
        </p:nvSpPr>
        <p:spPr>
          <a:xfrm>
            <a:off x="7166654" y="3560005"/>
            <a:ext cx="1149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</a:p>
          <a:p>
            <a:pPr algn="ctr"/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A1B96D-83D5-9069-2F58-B72EEB9EDC42}"/>
              </a:ext>
            </a:extLst>
          </p:cNvPr>
          <p:cNvSpPr/>
          <p:nvPr/>
        </p:nvSpPr>
        <p:spPr>
          <a:xfrm rot="2844813">
            <a:off x="7350749" y="3395122"/>
            <a:ext cx="839027" cy="8140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C623CB-B50E-38B9-6C5E-79B1C25E4649}"/>
              </a:ext>
            </a:extLst>
          </p:cNvPr>
          <p:cNvSpPr txBox="1"/>
          <p:nvPr/>
        </p:nvSpPr>
        <p:spPr>
          <a:xfrm>
            <a:off x="3863752" y="4257857"/>
            <a:ext cx="23298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Unit costs are computed by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Products in a process costing environment in sequence from one department to another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EC3731-EC61-DDD5-3AB2-83A3E41C82E0}"/>
              </a:ext>
            </a:extLst>
          </p:cNvPr>
          <p:cNvSpPr txBox="1"/>
          <p:nvPr/>
        </p:nvSpPr>
        <p:spPr>
          <a:xfrm>
            <a:off x="6692369" y="4410113"/>
            <a:ext cx="2211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Classify costs between </a:t>
            </a:r>
            <a:r>
              <a:rPr lang="en-CA" sz="1400" b="1" dirty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and fixed costs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C908F9-5B83-CE95-09CF-2EFAE62EBC43}"/>
              </a:ext>
            </a:extLst>
          </p:cNvPr>
          <p:cNvSpPr txBox="1"/>
          <p:nvPr/>
        </p:nvSpPr>
        <p:spPr>
          <a:xfrm>
            <a:off x="9428509" y="3457638"/>
            <a:ext cx="23298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Classify costs based on judgment and decision at 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There are no specific rules to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Uses multiple cost pools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Find the best driver (allocation base) for each cost pool</a:t>
            </a: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8DB56C23-FA81-E727-1F9A-E96F3BA16862}"/>
              </a:ext>
            </a:extLst>
          </p:cNvPr>
          <p:cNvSpPr txBox="1"/>
          <p:nvPr/>
        </p:nvSpPr>
        <p:spPr>
          <a:xfrm>
            <a:off x="9888040" y="5916541"/>
            <a:ext cx="1315720" cy="407804"/>
          </a:xfrm>
          <a:prstGeom prst="rect">
            <a:avLst/>
          </a:prstGeom>
          <a:ln w="38100">
            <a:solidFill>
              <a:srgbClr val="929292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lang="en-CA" sz="2400" spc="-50" dirty="0">
                <a:latin typeface="Arial MT"/>
                <a:cs typeface="Arial MT"/>
              </a:rPr>
              <a:t>6</a:t>
            </a:r>
            <a:endParaRPr sz="2400" dirty="0">
              <a:latin typeface="Arial MT"/>
              <a:cs typeface="Arial M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761414B-D688-CECF-6A3B-48761EBF0CB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746884" y="2759574"/>
            <a:ext cx="0" cy="3606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764DB3-B5A2-6BFB-8A62-0CA705BCE1D7}"/>
              </a:ext>
            </a:extLst>
          </p:cNvPr>
          <p:cNvCxnSpPr>
            <a:cxnSpLocks/>
          </p:cNvCxnSpPr>
          <p:nvPr/>
        </p:nvCxnSpPr>
        <p:spPr>
          <a:xfrm>
            <a:off x="4886111" y="2819171"/>
            <a:ext cx="0" cy="3606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20FD190-CC1A-C90A-1EBA-52586DA69BAB}"/>
              </a:ext>
            </a:extLst>
          </p:cNvPr>
          <p:cNvCxnSpPr>
            <a:cxnSpLocks/>
          </p:cNvCxnSpPr>
          <p:nvPr/>
        </p:nvCxnSpPr>
        <p:spPr>
          <a:xfrm>
            <a:off x="7763040" y="2819171"/>
            <a:ext cx="0" cy="3606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9AF5C1B-5795-87A7-3631-CFCDAF6137AC}"/>
              </a:ext>
            </a:extLst>
          </p:cNvPr>
          <p:cNvCxnSpPr>
            <a:cxnSpLocks/>
          </p:cNvCxnSpPr>
          <p:nvPr/>
        </p:nvCxnSpPr>
        <p:spPr>
          <a:xfrm>
            <a:off x="1779268" y="1412776"/>
            <a:ext cx="0" cy="554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3FC2B89-FD7A-028F-E5E2-CE52179C5B6F}"/>
              </a:ext>
            </a:extLst>
          </p:cNvPr>
          <p:cNvCxnSpPr>
            <a:cxnSpLocks/>
          </p:cNvCxnSpPr>
          <p:nvPr/>
        </p:nvCxnSpPr>
        <p:spPr>
          <a:xfrm>
            <a:off x="4884207" y="1412776"/>
            <a:ext cx="0" cy="554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87BF4BA-D55B-0069-B78D-5BDA45A09BD9}"/>
              </a:ext>
            </a:extLst>
          </p:cNvPr>
          <p:cNvCxnSpPr>
            <a:cxnSpLocks/>
          </p:cNvCxnSpPr>
          <p:nvPr/>
        </p:nvCxnSpPr>
        <p:spPr>
          <a:xfrm>
            <a:off x="7763040" y="1427961"/>
            <a:ext cx="7222" cy="506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202AD3-4029-6F68-DC0A-569BBE457563}"/>
              </a:ext>
            </a:extLst>
          </p:cNvPr>
          <p:cNvCxnSpPr>
            <a:cxnSpLocks/>
          </p:cNvCxnSpPr>
          <p:nvPr/>
        </p:nvCxnSpPr>
        <p:spPr>
          <a:xfrm>
            <a:off x="10545900" y="1412776"/>
            <a:ext cx="0" cy="4846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71DA18-71DD-2D0D-7285-873AE9313EB0}"/>
              </a:ext>
            </a:extLst>
          </p:cNvPr>
          <p:cNvCxnSpPr/>
          <p:nvPr/>
        </p:nvCxnSpPr>
        <p:spPr>
          <a:xfrm>
            <a:off x="1779268" y="1412776"/>
            <a:ext cx="876663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9D17A23-48CF-40F8-E39A-9E24F8213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Traditional Costing Systems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45147"/>
              </p:ext>
            </p:extLst>
          </p:nvPr>
        </p:nvGraphicFramePr>
        <p:xfrm>
          <a:off x="984169" y="1268760"/>
          <a:ext cx="424815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labor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materials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Factory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Overhead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7087" y="3638677"/>
          <a:ext cx="424815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Period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Administrative</a:t>
                      </a:r>
                      <a:r>
                        <a:rPr sz="2400" spc="-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Expenses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Sales</a:t>
                      </a:r>
                      <a:r>
                        <a:rPr sz="2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Expenses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426861" y="1571146"/>
            <a:ext cx="685800" cy="1369060"/>
          </a:xfrm>
          <a:custGeom>
            <a:avLst/>
            <a:gdLst/>
            <a:ahLst/>
            <a:cxnLst/>
            <a:rect l="l" t="t" r="r" b="b"/>
            <a:pathLst>
              <a:path w="685800" h="1369060">
                <a:moveTo>
                  <a:pt x="0" y="0"/>
                </a:moveTo>
                <a:lnTo>
                  <a:pt x="78617" y="1506"/>
                </a:lnTo>
                <a:lnTo>
                  <a:pt x="150789" y="5798"/>
                </a:lnTo>
                <a:lnTo>
                  <a:pt x="214457" y="12536"/>
                </a:lnTo>
                <a:lnTo>
                  <a:pt x="267561" y="21380"/>
                </a:lnTo>
                <a:lnTo>
                  <a:pt x="308043" y="31990"/>
                </a:lnTo>
                <a:lnTo>
                  <a:pt x="342900" y="57150"/>
                </a:lnTo>
                <a:lnTo>
                  <a:pt x="342900" y="627126"/>
                </a:lnTo>
                <a:lnTo>
                  <a:pt x="351957" y="640248"/>
                </a:lnTo>
                <a:lnTo>
                  <a:pt x="418238" y="662895"/>
                </a:lnTo>
                <a:lnTo>
                  <a:pt x="471342" y="671739"/>
                </a:lnTo>
                <a:lnTo>
                  <a:pt x="535010" y="678477"/>
                </a:lnTo>
                <a:lnTo>
                  <a:pt x="607182" y="682769"/>
                </a:lnTo>
                <a:lnTo>
                  <a:pt x="685800" y="684276"/>
                </a:lnTo>
                <a:lnTo>
                  <a:pt x="607182" y="685782"/>
                </a:lnTo>
                <a:lnTo>
                  <a:pt x="535010" y="690074"/>
                </a:lnTo>
                <a:lnTo>
                  <a:pt x="471342" y="696812"/>
                </a:lnTo>
                <a:lnTo>
                  <a:pt x="418238" y="705656"/>
                </a:lnTo>
                <a:lnTo>
                  <a:pt x="377756" y="716266"/>
                </a:lnTo>
                <a:lnTo>
                  <a:pt x="342900" y="741426"/>
                </a:lnTo>
                <a:lnTo>
                  <a:pt x="342900" y="1311402"/>
                </a:lnTo>
                <a:lnTo>
                  <a:pt x="333842" y="1324524"/>
                </a:lnTo>
                <a:lnTo>
                  <a:pt x="267561" y="1347171"/>
                </a:lnTo>
                <a:lnTo>
                  <a:pt x="214457" y="1356015"/>
                </a:lnTo>
                <a:lnTo>
                  <a:pt x="150789" y="1362753"/>
                </a:lnTo>
                <a:lnTo>
                  <a:pt x="78617" y="1367045"/>
                </a:lnTo>
                <a:lnTo>
                  <a:pt x="0" y="1368552"/>
                </a:lnTo>
              </a:path>
            </a:pathLst>
          </a:custGeom>
          <a:ln w="381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0200" y="3882986"/>
            <a:ext cx="685800" cy="904240"/>
          </a:xfrm>
          <a:custGeom>
            <a:avLst/>
            <a:gdLst/>
            <a:ahLst/>
            <a:cxnLst/>
            <a:rect l="l" t="t" r="r" b="b"/>
            <a:pathLst>
              <a:path w="685800" h="904239">
                <a:moveTo>
                  <a:pt x="0" y="0"/>
                </a:moveTo>
                <a:lnTo>
                  <a:pt x="78617" y="1506"/>
                </a:lnTo>
                <a:lnTo>
                  <a:pt x="150789" y="5798"/>
                </a:lnTo>
                <a:lnTo>
                  <a:pt x="214457" y="12536"/>
                </a:lnTo>
                <a:lnTo>
                  <a:pt x="267561" y="21380"/>
                </a:lnTo>
                <a:lnTo>
                  <a:pt x="308043" y="31990"/>
                </a:lnTo>
                <a:lnTo>
                  <a:pt x="342900" y="57150"/>
                </a:lnTo>
                <a:lnTo>
                  <a:pt x="342900" y="394716"/>
                </a:lnTo>
                <a:lnTo>
                  <a:pt x="351957" y="407838"/>
                </a:lnTo>
                <a:lnTo>
                  <a:pt x="418238" y="430485"/>
                </a:lnTo>
                <a:lnTo>
                  <a:pt x="471342" y="439329"/>
                </a:lnTo>
                <a:lnTo>
                  <a:pt x="535010" y="446067"/>
                </a:lnTo>
                <a:lnTo>
                  <a:pt x="607182" y="450359"/>
                </a:lnTo>
                <a:lnTo>
                  <a:pt x="685800" y="451866"/>
                </a:lnTo>
                <a:lnTo>
                  <a:pt x="607182" y="453372"/>
                </a:lnTo>
                <a:lnTo>
                  <a:pt x="535010" y="457664"/>
                </a:lnTo>
                <a:lnTo>
                  <a:pt x="471342" y="464402"/>
                </a:lnTo>
                <a:lnTo>
                  <a:pt x="418238" y="473246"/>
                </a:lnTo>
                <a:lnTo>
                  <a:pt x="377756" y="483856"/>
                </a:lnTo>
                <a:lnTo>
                  <a:pt x="342900" y="509016"/>
                </a:lnTo>
                <a:lnTo>
                  <a:pt x="342900" y="846582"/>
                </a:lnTo>
                <a:lnTo>
                  <a:pt x="333842" y="859704"/>
                </a:lnTo>
                <a:lnTo>
                  <a:pt x="267561" y="882351"/>
                </a:lnTo>
                <a:lnTo>
                  <a:pt x="214457" y="891195"/>
                </a:lnTo>
                <a:lnTo>
                  <a:pt x="150789" y="897933"/>
                </a:lnTo>
                <a:lnTo>
                  <a:pt x="78617" y="902225"/>
                </a:lnTo>
                <a:lnTo>
                  <a:pt x="0" y="903732"/>
                </a:lnTo>
              </a:path>
            </a:pathLst>
          </a:custGeom>
          <a:ln w="381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07203" y="1578561"/>
            <a:ext cx="5041900" cy="156972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 marR="16637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Appear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income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statement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goods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sold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balance </a:t>
            </a:r>
            <a:r>
              <a:rPr sz="2400" dirty="0">
                <a:latin typeface="Arial MT"/>
                <a:cs typeface="Arial MT"/>
              </a:rPr>
              <a:t>sheet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inventory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0863" y="3909187"/>
            <a:ext cx="4968240" cy="830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Appear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income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</a:t>
            </a:r>
            <a:endParaRPr sz="2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period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incurred.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666" y="5445224"/>
            <a:ext cx="11113135" cy="7543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Issue?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allocation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appropriate?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non-</a:t>
            </a:r>
            <a:r>
              <a:rPr sz="2400" dirty="0">
                <a:latin typeface="Arial MT"/>
                <a:cs typeface="Arial MT"/>
              </a:rPr>
              <a:t>manufacturing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not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ts val="2745"/>
              </a:lnSpc>
            </a:pP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products?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574EF9A-AC99-9240-9153-1D77FE12A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Problem with Traditional (</a:t>
            </a:r>
            <a:r>
              <a:rPr lang="en-CA" dirty="0" err="1"/>
              <a:t>ie</a:t>
            </a:r>
            <a:r>
              <a:rPr lang="en-CA" dirty="0"/>
              <a:t>. Absorption Costing)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1304983"/>
            <a:ext cx="10685780" cy="238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1943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labor,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overhead,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major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cost </a:t>
            </a:r>
            <a:r>
              <a:rPr sz="2400" dirty="0">
                <a:latin typeface="Arial MT"/>
                <a:cs typeface="Arial MT"/>
              </a:rPr>
              <a:t>components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historically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materials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labor.</a:t>
            </a:r>
            <a:endParaRPr sz="2400" dirty="0">
              <a:latin typeface="Arial MT"/>
              <a:cs typeface="Arial MT"/>
            </a:endParaRPr>
          </a:p>
          <a:p>
            <a:pPr marL="919480" marR="5080" lvl="1" indent="-457834">
              <a:lnSpc>
                <a:spcPct val="100000"/>
              </a:lnSpc>
              <a:spcBef>
                <a:spcPts val="1120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technology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changes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ratio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direct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labor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overhead,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overhead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costs</a:t>
            </a:r>
            <a:r>
              <a:rPr sz="2200" u="sng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are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linked</a:t>
            </a:r>
            <a:r>
              <a:rPr sz="2200" u="sng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</a:t>
            </a:r>
            <a:r>
              <a:rPr sz="2200" u="sng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drivers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other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than</a:t>
            </a:r>
            <a:r>
              <a:rPr sz="2200" u="sng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direct</a:t>
            </a:r>
            <a:r>
              <a:rPr sz="2200" u="sng" spc="-6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labor</a:t>
            </a:r>
            <a:r>
              <a:rPr sz="2200" u="sng" spc="-6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and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machine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hours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 marL="919480" marR="13970" lvl="1" indent="-457834">
              <a:lnSpc>
                <a:spcPct val="100000"/>
              </a:lnSpc>
              <a:spcBef>
                <a:spcPts val="1135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companies,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cases,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now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significantly </a:t>
            </a:r>
            <a:r>
              <a:rPr sz="2200" dirty="0">
                <a:latin typeface="Arial MT"/>
                <a:cs typeface="Arial MT"/>
              </a:rPr>
              <a:t>larger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labor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costs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8694" y="5696951"/>
            <a:ext cx="1499349" cy="3520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1891" y="3933444"/>
            <a:ext cx="1260348" cy="14965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794" y="4302690"/>
            <a:ext cx="4091520" cy="8920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568" y="5473416"/>
            <a:ext cx="1838439" cy="5532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68840" y="4328159"/>
            <a:ext cx="1472183" cy="15438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2764" y="4158996"/>
            <a:ext cx="1985649" cy="20208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6175" y="5251703"/>
            <a:ext cx="1302089" cy="1239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65D6D7EB-F713-4A23-99CA-C1210AD9F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909" y="158878"/>
            <a:ext cx="9601067" cy="506016"/>
          </a:xfrm>
        </p:spPr>
        <p:txBody>
          <a:bodyPr/>
          <a:lstStyle/>
          <a:p>
            <a:r>
              <a:rPr lang="en-CA" dirty="0"/>
              <a:t>Problem with Traditional (</a:t>
            </a:r>
            <a:r>
              <a:rPr lang="en-CA" dirty="0" err="1"/>
              <a:t>ie</a:t>
            </a:r>
            <a:r>
              <a:rPr lang="en-CA" dirty="0"/>
              <a:t>. Absorption Costing)</a:t>
            </a:r>
          </a:p>
          <a:p>
            <a:endParaRPr lang="en-CA" dirty="0"/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72586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Note: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2011.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could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tell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avg. selling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price…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62329" y="1226347"/>
            <a:ext cx="5313680" cy="4320540"/>
            <a:chOff x="1051929" y="1557527"/>
            <a:chExt cx="5313680" cy="4320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929" y="1557527"/>
              <a:ext cx="5313397" cy="43205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68702" y="2061209"/>
              <a:ext cx="1007744" cy="576580"/>
            </a:xfrm>
            <a:custGeom>
              <a:avLst/>
              <a:gdLst/>
              <a:ahLst/>
              <a:cxnLst/>
              <a:rect l="l" t="t" r="r" b="b"/>
              <a:pathLst>
                <a:path w="1007745" h="576580">
                  <a:moveTo>
                    <a:pt x="0" y="576072"/>
                  </a:moveTo>
                  <a:lnTo>
                    <a:pt x="1007363" y="576072"/>
                  </a:lnTo>
                  <a:lnTo>
                    <a:pt x="1007363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329" y="5901944"/>
            <a:ext cx="5654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Source:</a:t>
            </a:r>
            <a:r>
              <a:rPr sz="1400" spc="175" dirty="0">
                <a:latin typeface="Arial MT"/>
                <a:cs typeface="Arial MT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https://www.epi.org/blog/apple-iphone-profits-dwarf-labor-costs/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9818" y="2014854"/>
            <a:ext cx="47656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359" marR="5080" indent="-454659" algn="just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machine 	</a:t>
            </a:r>
            <a:r>
              <a:rPr sz="2400" dirty="0">
                <a:latin typeface="Arial MT"/>
                <a:cs typeface="Arial MT"/>
              </a:rPr>
              <a:t>hours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approximate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OH 	</a:t>
            </a:r>
            <a:r>
              <a:rPr sz="2400" dirty="0">
                <a:latin typeface="Arial MT"/>
                <a:cs typeface="Arial MT"/>
              </a:rPr>
              <a:t>costs </a:t>
            </a:r>
            <a:r>
              <a:rPr sz="2400" spc="-50" dirty="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3543" y="3645408"/>
            <a:ext cx="1260348" cy="1496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FAB1E-A4CA-42B1-76B8-41DD02F2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CE0EAF-9440-B831-8161-FC18B85C6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Difference between Traditional &amp; ABC</a:t>
            </a:r>
          </a:p>
        </p:txBody>
      </p:sp>
      <p:pic>
        <p:nvPicPr>
          <p:cNvPr id="9" name="Picture 8" descr="A diagram of a manufacturing process&#10;&#10;AI-generated content may be incorrect.">
            <a:extLst>
              <a:ext uri="{FF2B5EF4-FFF2-40B4-BE49-F238E27FC236}">
                <a16:creationId xmlns:a16="http://schemas.microsoft.com/office/drawing/2014/main" id="{B0E8051B-884D-9738-6C96-49BCFC4D1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1009382"/>
            <a:ext cx="7795264" cy="537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3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Oval 2">
            <a:extLst>
              <a:ext uri="{FF2B5EF4-FFF2-40B4-BE49-F238E27FC236}">
                <a16:creationId xmlns:a16="http://schemas.microsoft.com/office/drawing/2014/main" id="{FD31CC73-CACA-48F5-B921-E903A6EA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010431"/>
            <a:ext cx="24384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CA" altLang="en-US" sz="2400" dirty="0">
                <a:latin typeface="+mn-lt"/>
              </a:rPr>
              <a:t>Activity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64419839-BB45-4BC4-A701-9BC980F79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488" y="2144772"/>
            <a:ext cx="4456112" cy="9890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CA" altLang="en-US" sz="2000" dirty="0">
                <a:latin typeface="+mn-lt"/>
              </a:rPr>
              <a:t>An event that causes the consumption of overhead resources.</a:t>
            </a:r>
          </a:p>
        </p:txBody>
      </p:sp>
      <p:cxnSp>
        <p:nvCxnSpPr>
          <p:cNvPr id="35843" name="AutoShape 4">
            <a:extLst>
              <a:ext uri="{FF2B5EF4-FFF2-40B4-BE49-F238E27FC236}">
                <a16:creationId xmlns:a16="http://schemas.microsoft.com/office/drawing/2014/main" id="{DAD752F9-5659-4244-BB0B-F881EA1FBE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48231" y="2590800"/>
            <a:ext cx="1411288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5">
            <a:extLst>
              <a:ext uri="{FF2B5EF4-FFF2-40B4-BE49-F238E27FC236}">
                <a16:creationId xmlns:a16="http://schemas.microsoft.com/office/drawing/2014/main" id="{110000E3-0445-49D2-9F97-32614993FA2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493324"/>
            <a:ext cx="8305800" cy="1181100"/>
            <a:chOff x="432" y="1632"/>
            <a:chExt cx="4944" cy="744"/>
          </a:xfrm>
        </p:grpSpPr>
        <p:sp>
          <p:nvSpPr>
            <p:cNvPr id="58387" name="Oval 6">
              <a:extLst>
                <a:ext uri="{FF2B5EF4-FFF2-40B4-BE49-F238E27FC236}">
                  <a16:creationId xmlns:a16="http://schemas.microsoft.com/office/drawing/2014/main" id="{EBFA8DE7-E715-4BCB-B120-F1721D59F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656"/>
              <a:ext cx="1451" cy="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CA" sz="2400" dirty="0"/>
                <a:t>Activity Cost Pool</a:t>
              </a:r>
            </a:p>
          </p:txBody>
        </p:sp>
        <p:sp>
          <p:nvSpPr>
            <p:cNvPr id="58388" name="Rectangle 7">
              <a:extLst>
                <a:ext uri="{FF2B5EF4-FFF2-40B4-BE49-F238E27FC236}">
                  <a16:creationId xmlns:a16="http://schemas.microsoft.com/office/drawing/2014/main" id="{576B807E-7FB4-4540-A8EA-DBDC552FB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4" y="1632"/>
              <a:ext cx="2652" cy="7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CA" sz="2000" dirty="0"/>
                <a:t>A “cost bucket” in which costs related to a particular activity measure are accumulated.</a:t>
              </a:r>
            </a:p>
          </p:txBody>
        </p:sp>
        <p:cxnSp>
          <p:nvCxnSpPr>
            <p:cNvPr id="35855" name="AutoShape 8">
              <a:extLst>
                <a:ext uri="{FF2B5EF4-FFF2-40B4-BE49-F238E27FC236}">
                  <a16:creationId xmlns:a16="http://schemas.microsoft.com/office/drawing/2014/main" id="{68A9814D-CFE4-4B36-A021-F88461D00656}"/>
                </a:ext>
              </a:extLst>
            </p:cNvPr>
            <p:cNvCxnSpPr>
              <a:cxnSpLocks noChangeShapeType="1"/>
              <a:stCxn id="58387" idx="6"/>
            </p:cNvCxnSpPr>
            <p:nvPr/>
          </p:nvCxnSpPr>
          <p:spPr bwMode="auto">
            <a:xfrm flipV="1">
              <a:off x="1883" y="2011"/>
              <a:ext cx="841" cy="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754D18C5-ADF5-419D-87B0-11EEFFD8C11A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029200"/>
            <a:ext cx="8305800" cy="1371600"/>
            <a:chOff x="432" y="1571"/>
            <a:chExt cx="4944" cy="864"/>
          </a:xfrm>
        </p:grpSpPr>
        <p:sp>
          <p:nvSpPr>
            <p:cNvPr id="25610" name="Oval 6">
              <a:extLst>
                <a:ext uri="{FF2B5EF4-FFF2-40B4-BE49-F238E27FC236}">
                  <a16:creationId xmlns:a16="http://schemas.microsoft.com/office/drawing/2014/main" id="{7F4D9F3A-36B2-49F2-AE74-C77EBCA5F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571"/>
              <a:ext cx="1451" cy="720"/>
            </a:xfrm>
            <a:prstGeom prst="ellipse">
              <a:avLst/>
            </a:prstGeom>
            <a:solidFill>
              <a:srgbClr val="1E316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CA" altLang="en-US" sz="2400" dirty="0">
                  <a:solidFill>
                    <a:schemeClr val="bg1"/>
                  </a:solidFill>
                  <a:latin typeface="+mn-lt"/>
                </a:rPr>
                <a:t>Activity Measure</a:t>
              </a:r>
            </a:p>
          </p:txBody>
        </p:sp>
        <p:sp>
          <p:nvSpPr>
            <p:cNvPr id="25611" name="Rectangle 7">
              <a:extLst>
                <a:ext uri="{FF2B5EF4-FFF2-40B4-BE49-F238E27FC236}">
                  <a16:creationId xmlns:a16="http://schemas.microsoft.com/office/drawing/2014/main" id="{C326444A-8108-4818-91D2-2044AFB9F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4" y="1574"/>
              <a:ext cx="2652" cy="861"/>
            </a:xfrm>
            <a:prstGeom prst="rect">
              <a:avLst/>
            </a:prstGeom>
            <a:solidFill>
              <a:srgbClr val="1E316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CA" altLang="en-US" sz="2000" dirty="0">
                  <a:solidFill>
                    <a:schemeClr val="bg1"/>
                  </a:solidFill>
                  <a:latin typeface="+mn-lt"/>
                </a:rPr>
                <a:t>An allocation base in an ABC system, also called a cost driver.  Two common types are transaction drivers and duration drivers </a:t>
              </a:r>
            </a:p>
          </p:txBody>
        </p:sp>
        <p:cxnSp>
          <p:nvCxnSpPr>
            <p:cNvPr id="35852" name="AutoShape 8">
              <a:extLst>
                <a:ext uri="{FF2B5EF4-FFF2-40B4-BE49-F238E27FC236}">
                  <a16:creationId xmlns:a16="http://schemas.microsoft.com/office/drawing/2014/main" id="{F3E17E59-3365-4730-8610-767C116333DE}"/>
                </a:ext>
              </a:extLst>
            </p:cNvPr>
            <p:cNvCxnSpPr>
              <a:cxnSpLocks noChangeShapeType="1"/>
              <a:stCxn id="25610" idx="6"/>
            </p:cNvCxnSpPr>
            <p:nvPr/>
          </p:nvCxnSpPr>
          <p:spPr bwMode="auto">
            <a:xfrm flipV="1">
              <a:off x="1883" y="1918"/>
              <a:ext cx="841" cy="1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E3A3BB-104B-42A5-9AE7-9A174F57C5D6}"/>
              </a:ext>
            </a:extLst>
          </p:cNvPr>
          <p:cNvSpPr txBox="1"/>
          <p:nvPr/>
        </p:nvSpPr>
        <p:spPr>
          <a:xfrm>
            <a:off x="911424" y="788857"/>
            <a:ext cx="1057577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ABC uses more cost pools and unique measures of activity to better understand the costs of managing and sustaining product diversity.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6D5258-CF7D-41A7-7BE8-AA92454468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Cost Pools, </a:t>
            </a:r>
            <a:r>
              <a:rPr lang="en-CA" dirty="0" err="1"/>
              <a:t>Allocatinon</a:t>
            </a:r>
            <a:r>
              <a:rPr lang="en-CA" dirty="0"/>
              <a:t> Bases &amp; ABC</a:t>
            </a:r>
          </a:p>
        </p:txBody>
      </p:sp>
      <p:sp>
        <p:nvSpPr>
          <p:cNvPr id="35849" name="Slide Number Placeholder 2">
            <a:extLst>
              <a:ext uri="{FF2B5EF4-FFF2-40B4-BE49-F238E27FC236}">
                <a16:creationId xmlns:a16="http://schemas.microsoft.com/office/drawing/2014/main" id="{7A10DF64-5BE8-4FE0-9C58-AE8438309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6492875"/>
            <a:ext cx="609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+mn-lt"/>
              </a:rPr>
              <a:t>7-</a:t>
            </a:r>
            <a:fld id="{5C584A40-3352-4241-9F86-C85D3113F044}" type="slidenum">
              <a:rPr lang="en-US" altLang="en-US" sz="1200">
                <a:latin typeface="+mn-lt"/>
              </a:rPr>
              <a:pPr algn="ctr"/>
              <a:t>9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79BB5-F8A9-F533-AAF5-B3404506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C445E62C-DFCC-49FE-80A2-F0B23678E1A3}"/>
              </a:ext>
            </a:extLst>
          </p:cNvPr>
          <p:cNvGrpSpPr>
            <a:grpSpLocks/>
          </p:cNvGrpSpPr>
          <p:nvPr/>
        </p:nvGrpSpPr>
        <p:grpSpPr bwMode="auto">
          <a:xfrm>
            <a:off x="2006600" y="2947988"/>
            <a:ext cx="3429000" cy="3452812"/>
            <a:chOff x="304" y="1809"/>
            <a:chExt cx="2160" cy="2175"/>
          </a:xfrm>
        </p:grpSpPr>
        <p:sp>
          <p:nvSpPr>
            <p:cNvPr id="56331" name="AutoShape 4">
              <a:extLst>
                <a:ext uri="{FF2B5EF4-FFF2-40B4-BE49-F238E27FC236}">
                  <a16:creationId xmlns:a16="http://schemas.microsoft.com/office/drawing/2014/main" id="{8E0DFBBF-55B1-4582-940A-59AACF4E7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" y="2496"/>
              <a:ext cx="2160" cy="1488"/>
            </a:xfrm>
            <a:prstGeom prst="hexagon">
              <a:avLst>
                <a:gd name="adj" fmla="val 36290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800" dirty="0"/>
                <a:t>Simple count</a:t>
              </a:r>
              <a:br>
                <a:rPr lang="en-US" sz="2800" dirty="0"/>
              </a:br>
              <a:r>
                <a:rPr lang="en-US" sz="2800" dirty="0"/>
                <a:t>of the number of</a:t>
              </a:r>
              <a:br>
                <a:rPr lang="en-US" sz="2800" dirty="0"/>
              </a:br>
              <a:r>
                <a:rPr lang="en-US" sz="2800" dirty="0"/>
                <a:t>times an activity</a:t>
              </a:r>
              <a:br>
                <a:rPr lang="en-US" sz="2800" dirty="0"/>
              </a:br>
              <a:r>
                <a:rPr lang="en-US" sz="2800" dirty="0"/>
                <a:t>occurs.</a:t>
              </a:r>
            </a:p>
          </p:txBody>
        </p:sp>
        <p:sp>
          <p:nvSpPr>
            <p:cNvPr id="27661" name="Text Box 5">
              <a:extLst>
                <a:ext uri="{FF2B5EF4-FFF2-40B4-BE49-F238E27FC236}">
                  <a16:creationId xmlns:a16="http://schemas.microsoft.com/office/drawing/2014/main" id="{2BFD27A5-5463-4993-8BC4-002996D17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809"/>
              <a:ext cx="1308" cy="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dirty="0">
                  <a:latin typeface="+mn-lt"/>
                </a:rPr>
                <a:t>Transaction</a:t>
              </a:r>
              <a:br>
                <a:rPr lang="en-CA" altLang="en-US" sz="3200" dirty="0">
                  <a:latin typeface="+mn-lt"/>
                </a:rPr>
              </a:br>
              <a:r>
                <a:rPr lang="en-CA" altLang="en-US" sz="3200" dirty="0">
                  <a:latin typeface="+mn-lt"/>
                </a:rPr>
                <a:t>driver</a:t>
              </a: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06041D65-FD6B-4D12-A538-6889E9CC77A2}"/>
              </a:ext>
            </a:extLst>
          </p:cNvPr>
          <p:cNvGrpSpPr>
            <a:grpSpLocks/>
          </p:cNvGrpSpPr>
          <p:nvPr/>
        </p:nvGrpSpPr>
        <p:grpSpPr bwMode="auto">
          <a:xfrm>
            <a:off x="6731000" y="2947988"/>
            <a:ext cx="3429000" cy="3452812"/>
            <a:chOff x="3280" y="1809"/>
            <a:chExt cx="2160" cy="2175"/>
          </a:xfrm>
        </p:grpSpPr>
        <p:sp>
          <p:nvSpPr>
            <p:cNvPr id="56329" name="AutoShape 7">
              <a:extLst>
                <a:ext uri="{FF2B5EF4-FFF2-40B4-BE49-F238E27FC236}">
                  <a16:creationId xmlns:a16="http://schemas.microsoft.com/office/drawing/2014/main" id="{86059DB5-51DC-4676-AE46-F1014D68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496"/>
              <a:ext cx="2160" cy="1488"/>
            </a:xfrm>
            <a:prstGeom prst="hexagon">
              <a:avLst>
                <a:gd name="adj" fmla="val 36290"/>
                <a:gd name="vf" fmla="val 115470"/>
              </a:avLst>
            </a:prstGeom>
            <a:solidFill>
              <a:srgbClr val="1E316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 measure</a:t>
              </a:r>
              <a:b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of the amount</a:t>
              </a:r>
              <a:b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of time needed</a:t>
              </a:r>
              <a:b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for an activity.</a:t>
              </a:r>
            </a:p>
          </p:txBody>
        </p:sp>
        <p:sp>
          <p:nvSpPr>
            <p:cNvPr id="27659" name="Text Box 8">
              <a:extLst>
                <a:ext uri="{FF2B5EF4-FFF2-40B4-BE49-F238E27FC236}">
                  <a16:creationId xmlns:a16="http://schemas.microsoft.com/office/drawing/2014/main" id="{E745850E-B816-48E4-9A55-21F64D604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9" y="1809"/>
              <a:ext cx="1023" cy="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CA" altLang="en-US" sz="3200" dirty="0">
                  <a:latin typeface="+mn-lt"/>
                </a:rPr>
                <a:t>Duration</a:t>
              </a:r>
              <a:br>
                <a:rPr lang="en-CA" altLang="en-US" sz="3200" dirty="0">
                  <a:latin typeface="+mn-lt"/>
                </a:rPr>
              </a:br>
              <a:r>
                <a:rPr lang="en-CA" altLang="en-US" sz="3200" dirty="0">
                  <a:latin typeface="+mn-lt"/>
                </a:rPr>
                <a:t>driver</a:t>
              </a:r>
            </a:p>
          </p:txBody>
        </p:sp>
      </p:grpSp>
      <p:sp>
        <p:nvSpPr>
          <p:cNvPr id="27651" name="AutoShape 9">
            <a:extLst>
              <a:ext uri="{FF2B5EF4-FFF2-40B4-BE49-F238E27FC236}">
                <a16:creationId xmlns:a16="http://schemas.microsoft.com/office/drawing/2014/main" id="{803F1A67-E0DF-48D1-B767-55FE5A522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934" y="769270"/>
            <a:ext cx="6774099" cy="646986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z="3200" b="1" dirty="0">
                <a:latin typeface="+mn-lt"/>
              </a:rPr>
              <a:t>Two common types of activity measures: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1A9B029D-6EC7-4245-962A-8D820D3B918C}"/>
              </a:ext>
            </a:extLst>
          </p:cNvPr>
          <p:cNvGrpSpPr>
            <a:grpSpLocks/>
          </p:cNvGrpSpPr>
          <p:nvPr/>
        </p:nvGrpSpPr>
        <p:grpSpPr bwMode="auto">
          <a:xfrm>
            <a:off x="3575720" y="1414466"/>
            <a:ext cx="4724400" cy="1533522"/>
            <a:chOff x="1385" y="843"/>
            <a:chExt cx="2976" cy="966"/>
          </a:xfrm>
        </p:grpSpPr>
        <p:cxnSp>
          <p:nvCxnSpPr>
            <p:cNvPr id="37896" name="AutoShape 11">
              <a:extLst>
                <a:ext uri="{FF2B5EF4-FFF2-40B4-BE49-F238E27FC236}">
                  <a16:creationId xmlns:a16="http://schemas.microsoft.com/office/drawing/2014/main" id="{27B28C6B-F507-4D14-B22D-BF348B237B7A}"/>
                </a:ext>
              </a:extLst>
            </p:cNvPr>
            <p:cNvCxnSpPr>
              <a:cxnSpLocks noChangeShapeType="1"/>
              <a:stCxn id="27651" idx="2"/>
              <a:endCxn id="27661" idx="0"/>
            </p:cNvCxnSpPr>
            <p:nvPr/>
          </p:nvCxnSpPr>
          <p:spPr bwMode="auto">
            <a:xfrm rot="5400000">
              <a:off x="1512" y="717"/>
              <a:ext cx="965" cy="122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897" name="AutoShape 12">
              <a:extLst>
                <a:ext uri="{FF2B5EF4-FFF2-40B4-BE49-F238E27FC236}">
                  <a16:creationId xmlns:a16="http://schemas.microsoft.com/office/drawing/2014/main" id="{ED36F45D-878F-423E-AD52-8BEE4B3129E4}"/>
                </a:ext>
              </a:extLst>
            </p:cNvPr>
            <p:cNvCxnSpPr>
              <a:cxnSpLocks noChangeShapeType="1"/>
              <a:stCxn id="27651" idx="2"/>
              <a:endCxn id="27659" idx="0"/>
            </p:cNvCxnSpPr>
            <p:nvPr/>
          </p:nvCxnSpPr>
          <p:spPr bwMode="auto">
            <a:xfrm rot="16200000" flipH="1">
              <a:off x="3000" y="448"/>
              <a:ext cx="965" cy="1756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" name="Subtitle 5">
            <a:extLst>
              <a:ext uri="{FF2B5EF4-FFF2-40B4-BE49-F238E27FC236}">
                <a16:creationId xmlns:a16="http://schemas.microsoft.com/office/drawing/2014/main" id="{827A774C-2384-5C3F-F12C-106CB4374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67" y="25494"/>
            <a:ext cx="9601067" cy="506016"/>
          </a:xfrm>
        </p:spPr>
        <p:txBody>
          <a:bodyPr/>
          <a:lstStyle/>
          <a:p>
            <a:r>
              <a:rPr lang="en-CA" dirty="0"/>
              <a:t>Overhead Costs Pools, Allocation Bases &amp; ABC</a:t>
            </a:r>
          </a:p>
        </p:txBody>
      </p:sp>
      <p:sp>
        <p:nvSpPr>
          <p:cNvPr id="37895" name="Slide Number Placeholder 2">
            <a:extLst>
              <a:ext uri="{FF2B5EF4-FFF2-40B4-BE49-F238E27FC236}">
                <a16:creationId xmlns:a16="http://schemas.microsoft.com/office/drawing/2014/main" id="{D0AC7E44-013B-43F4-999C-A180B7D2E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6492875"/>
            <a:ext cx="609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+mn-lt"/>
              </a:rPr>
              <a:t>7-</a:t>
            </a:r>
            <a:fld id="{CF3B5FDA-32D9-427C-A7FA-580CEF4DD788}" type="slidenum">
              <a:rPr lang="en-US" altLang="en-US" sz="1200">
                <a:latin typeface="+mn-lt"/>
              </a:rPr>
              <a:pPr algn="ctr"/>
              <a:t>10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8338D7-8D1E-72BF-FACD-B4908F57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24" name="Rectangle 8">
            <a:extLst>
              <a:ext uri="{FF2B5EF4-FFF2-40B4-BE49-F238E27FC236}">
                <a16:creationId xmlns:a16="http://schemas.microsoft.com/office/drawing/2014/main" id="{2A7079BC-D629-4A9C-ACC0-7A975044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509120"/>
            <a:ext cx="8686800" cy="1447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ED037C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spcBef>
                <a:spcPct val="30000"/>
              </a:spcBef>
              <a:defRPr/>
            </a:pPr>
            <a:r>
              <a:rPr lang="en-CA" sz="2600" dirty="0"/>
              <a:t>Traditional cost systems usually rely on volume</a:t>
            </a:r>
            <a:br>
              <a:rPr lang="en-CA" sz="2600" dirty="0"/>
            </a:br>
            <a:r>
              <a:rPr lang="en-CA" sz="2600" dirty="0"/>
              <a:t>measures such as direct labour hours and/or machine</a:t>
            </a:r>
            <a:br>
              <a:rPr lang="en-CA" sz="2600" dirty="0"/>
            </a:br>
            <a:r>
              <a:rPr lang="en-CA" sz="2600" dirty="0"/>
              <a:t>hours to allocate all overhead costs to products.</a:t>
            </a:r>
          </a:p>
        </p:txBody>
      </p:sp>
      <p:sp>
        <p:nvSpPr>
          <p:cNvPr id="521225" name="Oval 9">
            <a:extLst>
              <a:ext uri="{FF2B5EF4-FFF2-40B4-BE49-F238E27FC236}">
                <a16:creationId xmlns:a16="http://schemas.microsoft.com/office/drawing/2014/main" id="{FD7D94D7-E8E0-4F45-B7AD-90DA172B9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1256460"/>
            <a:ext cx="6858000" cy="2590800"/>
          </a:xfrm>
          <a:prstGeom prst="ellips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800" b="1" dirty="0"/>
              <a:t>ABC defines</a:t>
            </a:r>
            <a:br>
              <a:rPr lang="en-US" sz="2800" b="1" dirty="0"/>
            </a:br>
            <a:r>
              <a:rPr lang="en-US" sz="2800" b="1" dirty="0"/>
              <a:t>five levels of activity</a:t>
            </a:r>
            <a:br>
              <a:rPr lang="en-US" sz="2800" b="1" dirty="0"/>
            </a:br>
            <a:r>
              <a:rPr lang="en-US" sz="2800" b="1" dirty="0"/>
              <a:t>that largely do not relate</a:t>
            </a:r>
            <a:br>
              <a:rPr lang="en-US" sz="2800" b="1" dirty="0"/>
            </a:br>
            <a:r>
              <a:rPr lang="en-US" sz="2800" b="1" dirty="0"/>
              <a:t>to the volume of units</a:t>
            </a:r>
            <a:br>
              <a:rPr lang="en-US" sz="2800" b="1" dirty="0"/>
            </a:br>
            <a:r>
              <a:rPr lang="en-US" sz="2800" b="1" dirty="0"/>
              <a:t>produced.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037C8-D7D0-FC4E-50B8-B7E989971F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cost Pools, Allocation Bases &amp; ABC</a:t>
            </a:r>
          </a:p>
        </p:txBody>
      </p:sp>
      <p:sp>
        <p:nvSpPr>
          <p:cNvPr id="39941" name="Slide Number Placeholder 2">
            <a:extLst>
              <a:ext uri="{FF2B5EF4-FFF2-40B4-BE49-F238E27FC236}">
                <a16:creationId xmlns:a16="http://schemas.microsoft.com/office/drawing/2014/main" id="{6F5B40DA-F69D-4CF3-A5CB-BC4927E9E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6492875"/>
            <a:ext cx="609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+mn-lt"/>
              </a:rPr>
              <a:t>7-</a:t>
            </a:r>
            <a:fld id="{4A51B059-6BD8-4E4A-B793-A819A5DB8138}" type="slidenum">
              <a:rPr lang="en-US" altLang="en-US" sz="1200">
                <a:latin typeface="+mn-lt"/>
              </a:rPr>
              <a:pPr algn="ctr"/>
              <a:t>11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882EF-AEB2-A9FB-A1AB-A1976A1C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E7-3">
            <a:hlinkClick r:id="" action="ppaction://media"/>
            <a:extLst>
              <a:ext uri="{FF2B5EF4-FFF2-40B4-BE49-F238E27FC236}">
                <a16:creationId xmlns:a16="http://schemas.microsoft.com/office/drawing/2014/main" id="{D2E33BDD-12F6-4A45-BA06-2948875E1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52801" y="1330328"/>
            <a:ext cx="5584825" cy="491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Box 11">
            <a:extLst>
              <a:ext uri="{FF2B5EF4-FFF2-40B4-BE49-F238E27FC236}">
                <a16:creationId xmlns:a16="http://schemas.microsoft.com/office/drawing/2014/main" id="{73B481F5-CB1F-44A9-A599-571F6728B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447800"/>
            <a:ext cx="1219200" cy="338138"/>
          </a:xfrm>
          <a:prstGeom prst="rect">
            <a:avLst/>
          </a:prstGeom>
          <a:solidFill>
            <a:srgbClr val="1E3163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1600" dirty="0">
                <a:solidFill>
                  <a:schemeClr val="bg1"/>
                </a:solidFill>
                <a:latin typeface="+mn-lt"/>
                <a:ea typeface="ＭＳ Ｐゴシック" charset="-128"/>
              </a:rPr>
              <a:t>Exhibit 7-3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26C2495-6EFB-B1DB-0D30-CC7A282F1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Designing an ABC System</a:t>
            </a:r>
          </a:p>
        </p:txBody>
      </p:sp>
      <p:sp>
        <p:nvSpPr>
          <p:cNvPr id="44037" name="Slide Number Placeholder 2">
            <a:extLst>
              <a:ext uri="{FF2B5EF4-FFF2-40B4-BE49-F238E27FC236}">
                <a16:creationId xmlns:a16="http://schemas.microsoft.com/office/drawing/2014/main" id="{4984D305-BEA2-446C-8F66-4404931BC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6492875"/>
            <a:ext cx="609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+mn-lt"/>
              </a:rPr>
              <a:t>7-</a:t>
            </a:r>
            <a:fld id="{3DDB2C14-2DD7-4677-A2B5-C5D553C18874}" type="slidenum">
              <a:rPr lang="en-US" altLang="en-US" sz="1200">
                <a:latin typeface="+mn-lt"/>
              </a:rPr>
              <a:pPr algn="ctr"/>
              <a:t>12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2E82F-2AA0-3DFD-5BC3-8DBBEADC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 spd="med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3">
            <a:extLst>
              <a:ext uri="{FF2B5EF4-FFF2-40B4-BE49-F238E27FC236}">
                <a16:creationId xmlns:a16="http://schemas.microsoft.com/office/drawing/2014/main" id="{00EAD04D-94DC-4016-BC0D-46A2C54661B7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5360" y="5421"/>
            <a:ext cx="9601067" cy="506016"/>
          </a:xfrm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None/>
              <a:defRPr/>
            </a:pPr>
            <a:r>
              <a:rPr lang="en-CA" altLang="en-US" dirty="0"/>
              <a:t>Steps for Implementing ABC:</a:t>
            </a:r>
          </a:p>
          <a:p>
            <a:pPr marL="514350" indent="-514350">
              <a:buSzPct val="100000"/>
              <a:buFont typeface="+mj-lt"/>
              <a:buAutoNum type="arabicPeriod"/>
              <a:defRPr/>
            </a:pPr>
            <a:endParaRPr lang="en-CA" altLang="en-US" sz="2800" b="0" dirty="0"/>
          </a:p>
        </p:txBody>
      </p:sp>
      <p:sp>
        <p:nvSpPr>
          <p:cNvPr id="46084" name="Slide Number Placeholder 2">
            <a:extLst>
              <a:ext uri="{FF2B5EF4-FFF2-40B4-BE49-F238E27FC236}">
                <a16:creationId xmlns:a16="http://schemas.microsoft.com/office/drawing/2014/main" id="{30AE2F7F-0160-44E3-8EE1-10222FEB4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0" y="6492875"/>
            <a:ext cx="6096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200" dirty="0">
                <a:latin typeface="+mn-lt"/>
              </a:rPr>
              <a:t>7-</a:t>
            </a:r>
            <a:fld id="{5B01C11A-FEB2-46AD-A918-381E6F07E15F}" type="slidenum">
              <a:rPr lang="en-US" altLang="en-US" sz="1200">
                <a:latin typeface="+mn-lt"/>
              </a:rPr>
              <a:pPr algn="ctr"/>
              <a:t>13</a:t>
            </a:fld>
            <a:endParaRPr lang="en-US" altLang="en-US" sz="12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E8055-D071-42E3-E3EF-BD51F761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52418-EBDC-1009-3C56-33AE5D47978B}"/>
              </a:ext>
            </a:extLst>
          </p:cNvPr>
          <p:cNvSpPr txBox="1"/>
          <p:nvPr/>
        </p:nvSpPr>
        <p:spPr>
          <a:xfrm>
            <a:off x="911424" y="1556792"/>
            <a:ext cx="10153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Tx/>
              <a:buSzPct val="100000"/>
              <a:buFont typeface="+mj-lt"/>
              <a:buAutoNum type="arabicPeriod"/>
              <a:defRPr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and define activities, activity cost pools and activity measures.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  <a:defRPr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 overhead costs to activity cost pools.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  <a:defRPr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Calculate activity rates.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  <a:defRPr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 overhead costs to cost objects using the activity rates and activity measures.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  <a:defRPr/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Prepare management reports.</a:t>
            </a:r>
          </a:p>
          <a:p>
            <a:endParaRPr lang="en-CA" dirty="0"/>
          </a:p>
        </p:txBody>
      </p:sp>
    </p:spTree>
  </p:cSld>
  <p:clrMapOvr>
    <a:masterClrMapping/>
  </p:clrMapOvr>
  <p:transition spd="med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7A5E170-8424-B782-8C8F-70AD1EC33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84" y="1124744"/>
            <a:ext cx="10885805" cy="314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Musicality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Manufacturing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musicians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playing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along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publicly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available.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20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three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features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ability:</a:t>
            </a:r>
            <a:endParaRPr sz="2200" dirty="0">
              <a:latin typeface="Arial MT"/>
              <a:cs typeface="Arial MT"/>
            </a:endParaRPr>
          </a:p>
          <a:p>
            <a:pPr marL="1367155" lvl="2" indent="-456565">
              <a:lnSpc>
                <a:spcPct val="100000"/>
              </a:lnSpc>
              <a:spcBef>
                <a:spcPts val="1130"/>
              </a:spcBef>
              <a:buSzPct val="79545"/>
              <a:buAutoNum type="arabicPeriod"/>
              <a:tabLst>
                <a:tab pos="1367155" algn="l"/>
              </a:tabLst>
            </a:pPr>
            <a:r>
              <a:rPr sz="2200" spc="-20" dirty="0">
                <a:latin typeface="Arial MT"/>
                <a:cs typeface="Arial MT"/>
              </a:rPr>
              <a:t>Solo</a:t>
            </a:r>
            <a:endParaRPr sz="2200" dirty="0">
              <a:latin typeface="Arial MT"/>
              <a:cs typeface="Arial MT"/>
            </a:endParaRPr>
          </a:p>
          <a:p>
            <a:pPr marL="1367155" lvl="2" indent="-456565">
              <a:lnSpc>
                <a:spcPct val="100000"/>
              </a:lnSpc>
              <a:spcBef>
                <a:spcPts val="1130"/>
              </a:spcBef>
              <a:buSzPct val="79545"/>
              <a:buAutoNum type="arabicPeriod"/>
              <a:tabLst>
                <a:tab pos="1367155" algn="l"/>
              </a:tabLst>
            </a:pPr>
            <a:r>
              <a:rPr sz="2200" spc="-20" dirty="0">
                <a:latin typeface="Arial MT"/>
                <a:cs typeface="Arial MT"/>
              </a:rPr>
              <a:t>Band</a:t>
            </a:r>
            <a:endParaRPr sz="2200" dirty="0">
              <a:latin typeface="Arial MT"/>
              <a:cs typeface="Arial MT"/>
            </a:endParaRPr>
          </a:p>
          <a:p>
            <a:pPr marL="1367155" lvl="2" indent="-456565">
              <a:lnSpc>
                <a:spcPct val="100000"/>
              </a:lnSpc>
              <a:spcBef>
                <a:spcPts val="1130"/>
              </a:spcBef>
              <a:buSzPct val="79545"/>
              <a:buAutoNum type="arabicPeriod"/>
              <a:tabLst>
                <a:tab pos="1367155" algn="l"/>
              </a:tabLst>
            </a:pPr>
            <a:r>
              <a:rPr sz="2200" spc="-10" dirty="0">
                <a:latin typeface="Arial MT"/>
                <a:cs typeface="Arial MT"/>
              </a:rPr>
              <a:t>Orchestra</a:t>
            </a:r>
            <a:endParaRPr sz="22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latin typeface="Arial MT"/>
                <a:cs typeface="Arial MT"/>
              </a:rPr>
              <a:t>Direct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shown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below:</a:t>
            </a:r>
            <a:endParaRPr sz="22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16799" y="4862829"/>
          <a:ext cx="10226039" cy="1370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6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Orchestra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DM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$3.50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$6.00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$11.70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DL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$10.00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$2.75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$4.30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45973208-345E-9933-F500-997E49135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Example – Traditional 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1120459"/>
            <a:ext cx="10627995" cy="1713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Musicality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overhead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hours.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beginning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year,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estimates: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20"/>
              </a:spcBef>
              <a:buSzPct val="79545"/>
              <a:buChar char="•"/>
              <a:tabLst>
                <a:tab pos="919480" algn="l"/>
              </a:tabLst>
            </a:pPr>
            <a:r>
              <a:rPr sz="2200" spc="-45" dirty="0">
                <a:latin typeface="Arial MT"/>
                <a:cs typeface="Arial MT"/>
              </a:rPr>
              <a:t>Total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costs: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$2,500,000</a:t>
            </a:r>
            <a:endParaRPr sz="22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919480" algn="l"/>
              </a:tabLst>
            </a:pPr>
            <a:r>
              <a:rPr sz="2200" spc="-45" dirty="0">
                <a:latin typeface="Arial MT"/>
                <a:cs typeface="Arial MT"/>
              </a:rPr>
              <a:t>Total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direct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labor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hours: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1,250,000</a:t>
            </a:r>
            <a:endParaRPr sz="22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9205" y="3570985"/>
            <a:ext cx="2162175" cy="487680"/>
            <a:chOff x="759205" y="3570985"/>
            <a:chExt cx="2162175" cy="487680"/>
          </a:xfrm>
        </p:grpSpPr>
        <p:sp>
          <p:nvSpPr>
            <p:cNvPr id="5" name="object 5"/>
            <p:cNvSpPr/>
            <p:nvPr/>
          </p:nvSpPr>
          <p:spPr>
            <a:xfrm>
              <a:off x="771905" y="358368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2136648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2136648" y="461771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1905" y="358368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0" y="461771"/>
                  </a:moveTo>
                  <a:lnTo>
                    <a:pt x="2136648" y="461771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461771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60470" y="3583685"/>
            <a:ext cx="7115809" cy="4622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Estimated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OH/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Estimated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Driver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9205" y="4218685"/>
            <a:ext cx="2162175" cy="487680"/>
            <a:chOff x="759205" y="4218685"/>
            <a:chExt cx="2162175" cy="487680"/>
          </a:xfrm>
        </p:grpSpPr>
        <p:sp>
          <p:nvSpPr>
            <p:cNvPr id="9" name="object 9"/>
            <p:cNvSpPr/>
            <p:nvPr/>
          </p:nvSpPr>
          <p:spPr>
            <a:xfrm>
              <a:off x="771905" y="423138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2136648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2136648" y="461771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1905" y="423138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0" y="461771"/>
                  </a:moveTo>
                  <a:lnTo>
                    <a:pt x="2136648" y="461771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461771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60469" y="4254196"/>
            <a:ext cx="7115809" cy="4622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$2,500,000/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1,250,000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9205" y="4867909"/>
            <a:ext cx="2162175" cy="487680"/>
            <a:chOff x="759205" y="4867909"/>
            <a:chExt cx="2162175" cy="487680"/>
          </a:xfrm>
        </p:grpSpPr>
        <p:sp>
          <p:nvSpPr>
            <p:cNvPr id="13" name="object 13"/>
            <p:cNvSpPr/>
            <p:nvPr/>
          </p:nvSpPr>
          <p:spPr>
            <a:xfrm>
              <a:off x="771905" y="4880609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2136648" y="0"/>
                  </a:moveTo>
                  <a:lnTo>
                    <a:pt x="0" y="0"/>
                  </a:lnTo>
                  <a:lnTo>
                    <a:pt x="0" y="461771"/>
                  </a:lnTo>
                  <a:lnTo>
                    <a:pt x="2136648" y="461771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1905" y="4880609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0" y="461771"/>
                  </a:moveTo>
                  <a:lnTo>
                    <a:pt x="2136648" y="461771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461771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84605" y="3611371"/>
            <a:ext cx="2660650" cy="1688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315">
              <a:lnSpc>
                <a:spcPct val="100000"/>
              </a:lnSpc>
              <a:spcBef>
                <a:spcPts val="100"/>
              </a:spcBef>
              <a:tabLst>
                <a:tab pos="2469515" algn="l"/>
              </a:tabLst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POHR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  <a:p>
            <a:pPr marL="615315">
              <a:lnSpc>
                <a:spcPct val="100000"/>
              </a:lnSpc>
              <a:spcBef>
                <a:spcPts val="2225"/>
              </a:spcBef>
              <a:tabLst>
                <a:tab pos="2469515" algn="l"/>
              </a:tabLst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POHR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  <a:p>
            <a:pPr marL="615315">
              <a:lnSpc>
                <a:spcPct val="100000"/>
              </a:lnSpc>
              <a:spcBef>
                <a:spcPts val="2225"/>
              </a:spcBef>
              <a:tabLst>
                <a:tab pos="2469515" algn="l"/>
              </a:tabLst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POHR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60470" y="4880609"/>
            <a:ext cx="7115809" cy="4622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$2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Hour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B49DC2-B7BB-1E16-96BD-2CC01E6A7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Example – Traditional Method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6213" y="1550416"/>
          <a:ext cx="10488295" cy="435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Orchestra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DL</a:t>
                      </a:r>
                      <a:r>
                        <a:rPr sz="20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Product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350,000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400,000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500,000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1,250,000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POHR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$2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$2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$2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$2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2000" spc="-1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Assigned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$700,000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$800,000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$1,000,000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$2,500,000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# of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Units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140,000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100,000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250,000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490,000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unit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$8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DM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$3.50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$6.00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$11.70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DL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$10.00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$2.75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$4.30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Cost</a:t>
                      </a:r>
                      <a:r>
                        <a:rPr sz="20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per</a:t>
                      </a:r>
                      <a:r>
                        <a:rPr sz="20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Unit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$18.50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$16.75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$20.00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022F96F-097E-8D69-2254-7EFEF2803A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Example – ABC 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5400" y="954399"/>
            <a:ext cx="97307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Musicality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believes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necessary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complete production: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11717"/>
              </p:ext>
            </p:extLst>
          </p:nvPr>
        </p:nvGraphicFramePr>
        <p:xfrm>
          <a:off x="359271" y="2051858"/>
          <a:ext cx="11311889" cy="299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3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Estimated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486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Setting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machines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Machine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Setups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$40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486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Purchasing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material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Purchase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Requisitions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486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Inspecting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products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Inspection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Hours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486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Assembling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products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Parts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Requiring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labor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30,000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548640" algn="l"/>
                        </a:tabLst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5.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Technological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Production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Machine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Hours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$900,000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TOTAL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$2,500,000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5186" y="5446014"/>
            <a:ext cx="11275060" cy="42227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Notice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Anything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Similar?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ABC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collection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POHR?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83AFCB4-7DED-F00C-AE31-EEF701011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Example – ABC 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701733"/>
            <a:ext cx="10116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Musicality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est.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be: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986788"/>
              </p:ext>
            </p:extLst>
          </p:nvPr>
        </p:nvGraphicFramePr>
        <p:xfrm>
          <a:off x="479377" y="1484784"/>
          <a:ext cx="11184886" cy="427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49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Solo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OH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7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Band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OH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Orchestra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1683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Orchestra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OH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Machine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Setups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$40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$80,000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1,500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1,500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0805" marR="8832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Purchase Requisitions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Inspection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Hours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9,000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$135,000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Parts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Requiring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labor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3,000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12,000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$240,000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Machine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Hours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80,000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$480,000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TOTAL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$1,260,000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$815,000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$425,000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Units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140,000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100,000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250,000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unit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$8.15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$1.70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72434BB-D87F-6009-8C29-D4373B997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Example - 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883" y="708187"/>
            <a:ext cx="93122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difference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impact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decisions??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461156"/>
              </p:ext>
            </p:extLst>
          </p:nvPr>
        </p:nvGraphicFramePr>
        <p:xfrm>
          <a:off x="845223" y="1763477"/>
          <a:ext cx="8442960" cy="197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Traditional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Orchestra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unit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$8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$4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DM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$3.50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$6.00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$11.70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DL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$10.00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$2.75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$4.30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Cost</a:t>
                      </a:r>
                      <a:r>
                        <a:rPr sz="20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per</a:t>
                      </a:r>
                      <a:r>
                        <a:rPr sz="20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Unit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$18.50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$16.75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$20.00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80421"/>
              </p:ext>
            </p:extLst>
          </p:nvPr>
        </p:nvGraphicFramePr>
        <p:xfrm>
          <a:off x="914413" y="4082812"/>
          <a:ext cx="8442960" cy="197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Orchestra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unit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$9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$8.15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$1.70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DM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$3.50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$6.00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$11.70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DL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$10.00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$2.75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$4.30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Cost</a:t>
                      </a:r>
                      <a:r>
                        <a:rPr sz="20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per</a:t>
                      </a:r>
                      <a:r>
                        <a:rPr sz="20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Unit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$22.50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$16.90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$17.70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9553193" y="2494026"/>
            <a:ext cx="647700" cy="3383279"/>
          </a:xfrm>
          <a:custGeom>
            <a:avLst/>
            <a:gdLst/>
            <a:ahLst/>
            <a:cxnLst/>
            <a:rect l="l" t="t" r="r" b="b"/>
            <a:pathLst>
              <a:path w="647700" h="3383279">
                <a:moveTo>
                  <a:pt x="0" y="0"/>
                </a:moveTo>
                <a:lnTo>
                  <a:pt x="74242" y="1423"/>
                </a:lnTo>
                <a:lnTo>
                  <a:pt x="142402" y="5479"/>
                </a:lnTo>
                <a:lnTo>
                  <a:pt x="202534" y="11846"/>
                </a:lnTo>
                <a:lnTo>
                  <a:pt x="252690" y="20201"/>
                </a:lnTo>
                <a:lnTo>
                  <a:pt x="290926" y="30222"/>
                </a:lnTo>
                <a:lnTo>
                  <a:pt x="323850" y="53975"/>
                </a:lnTo>
                <a:lnTo>
                  <a:pt x="323850" y="1664335"/>
                </a:lnTo>
                <a:lnTo>
                  <a:pt x="332405" y="1676682"/>
                </a:lnTo>
                <a:lnTo>
                  <a:pt x="395009" y="1698055"/>
                </a:lnTo>
                <a:lnTo>
                  <a:pt x="445165" y="1706423"/>
                </a:lnTo>
                <a:lnTo>
                  <a:pt x="505297" y="1712807"/>
                </a:lnTo>
                <a:lnTo>
                  <a:pt x="573457" y="1716879"/>
                </a:lnTo>
                <a:lnTo>
                  <a:pt x="647700" y="1718310"/>
                </a:lnTo>
                <a:lnTo>
                  <a:pt x="573457" y="1719733"/>
                </a:lnTo>
                <a:lnTo>
                  <a:pt x="505297" y="1723789"/>
                </a:lnTo>
                <a:lnTo>
                  <a:pt x="445165" y="1730156"/>
                </a:lnTo>
                <a:lnTo>
                  <a:pt x="395009" y="1738511"/>
                </a:lnTo>
                <a:lnTo>
                  <a:pt x="356773" y="1748532"/>
                </a:lnTo>
                <a:lnTo>
                  <a:pt x="323850" y="1772285"/>
                </a:lnTo>
                <a:lnTo>
                  <a:pt x="323850" y="3329304"/>
                </a:lnTo>
                <a:lnTo>
                  <a:pt x="315294" y="3341680"/>
                </a:lnTo>
                <a:lnTo>
                  <a:pt x="252690" y="3363062"/>
                </a:lnTo>
                <a:lnTo>
                  <a:pt x="202534" y="3371421"/>
                </a:lnTo>
                <a:lnTo>
                  <a:pt x="142402" y="3377793"/>
                </a:lnTo>
                <a:lnTo>
                  <a:pt x="74242" y="3381854"/>
                </a:lnTo>
                <a:lnTo>
                  <a:pt x="0" y="3383279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72521" y="3728465"/>
            <a:ext cx="1649095" cy="108839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54305" marR="147955" indent="635" algn="ctr">
              <a:lnSpc>
                <a:spcPts val="2590"/>
              </a:lnSpc>
              <a:spcBef>
                <a:spcPts val="335"/>
              </a:spcBef>
            </a:pP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spc="-20" dirty="0">
                <a:latin typeface="Arial MT"/>
                <a:cs typeface="Arial MT"/>
              </a:rPr>
              <a:t>more </a:t>
            </a:r>
            <a:r>
              <a:rPr sz="2400" spc="-10" dirty="0">
                <a:latin typeface="Arial MT"/>
                <a:cs typeface="Arial MT"/>
              </a:rPr>
              <a:t>accurate?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97C9DA-30AD-1762-C705-F384E1FC9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What is Activity Based Costing (ABC)?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682" y="882018"/>
            <a:ext cx="11049000" cy="374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81940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Traditional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allocation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factory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overhead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on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volume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production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resources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consumed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20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Allocates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single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volume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measure,</a:t>
            </a:r>
            <a:r>
              <a:rPr sz="2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such</a:t>
            </a:r>
            <a:r>
              <a:rPr sz="2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direct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labour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hours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52525"/>
                </a:solidFill>
                <a:latin typeface="Arial MT"/>
                <a:cs typeface="Arial MT"/>
              </a:rPr>
              <a:t>or</a:t>
            </a:r>
            <a:endParaRPr sz="2200" dirty="0">
              <a:latin typeface="Arial MT"/>
              <a:cs typeface="Arial MT"/>
            </a:endParaRPr>
          </a:p>
          <a:p>
            <a:pPr marL="91948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machine</a:t>
            </a:r>
            <a:r>
              <a:rPr sz="22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hours.</a:t>
            </a:r>
            <a:endParaRPr sz="2200" dirty="0">
              <a:latin typeface="Arial MT"/>
              <a:cs typeface="Arial MT"/>
            </a:endParaRPr>
          </a:p>
          <a:p>
            <a:pPr marL="919480" marR="549275" lvl="1" indent="-457834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latin typeface="Arial MT"/>
                <a:cs typeface="Arial MT"/>
              </a:rPr>
              <a:t>Does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consider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certain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responsible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fewer </a:t>
            </a:r>
            <a:r>
              <a:rPr sz="2200" dirty="0">
                <a:latin typeface="Arial MT"/>
                <a:cs typeface="Arial MT"/>
              </a:rPr>
              <a:t>costs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specific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activities.</a:t>
            </a:r>
            <a:endParaRPr sz="22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265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Activity-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(ABC)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costing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system,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which</a:t>
            </a:r>
            <a:r>
              <a:rPr sz="24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focuses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activities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performed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Products.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919480" algn="l"/>
              </a:tabLst>
            </a:pP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are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first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traced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activities</a:t>
            </a:r>
            <a:r>
              <a:rPr sz="2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and</a:t>
            </a:r>
            <a:r>
              <a:rPr sz="2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then</a:t>
            </a:r>
            <a:r>
              <a:rPr sz="2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Arial MT"/>
                <a:cs typeface="Arial MT"/>
              </a:rPr>
              <a:t>products.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682" y="5126815"/>
            <a:ext cx="11186160" cy="83248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413000" marR="323215" indent="-208343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ABC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recognizes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activities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undertakes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produce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create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E7DF787F-B0CC-59D9-3FB0-9CE545F2C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in Traditional versus ABC Costing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32143"/>
              </p:ext>
            </p:extLst>
          </p:nvPr>
        </p:nvGraphicFramePr>
        <p:xfrm>
          <a:off x="983932" y="902148"/>
          <a:ext cx="10224135" cy="2559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Traditional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OH</a:t>
                      </a:r>
                      <a:r>
                        <a:rPr sz="2400" spc="-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Assigned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driver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Multiple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drivers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Optimal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Usage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827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When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driver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large</a:t>
                      </a:r>
                      <a:r>
                        <a:rPr sz="2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portion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cost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924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When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technology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large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portion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24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cost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Orientation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Driven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Process</a:t>
                      </a:r>
                      <a:r>
                        <a:rPr sz="24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Driven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304" y="4648074"/>
            <a:ext cx="1046395" cy="6166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3257" y="4833620"/>
            <a:ext cx="528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/>
                <a:cs typeface="Calibri"/>
              </a:rPr>
              <a:t>Overhead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1386" y="4203319"/>
            <a:ext cx="535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 Light"/>
                <a:cs typeface="Calibri Light"/>
              </a:rPr>
              <a:t>Marketing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3769" y="4194809"/>
            <a:ext cx="447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 Light"/>
                <a:cs typeface="Calibri Light"/>
              </a:rPr>
              <a:t>Shipping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0052" y="4103370"/>
            <a:ext cx="7194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 marR="5080" indent="-1193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 Light"/>
                <a:cs typeface="Calibri Light"/>
              </a:rPr>
              <a:t>Selling</a:t>
            </a:r>
            <a:r>
              <a:rPr sz="1000" spc="-5" dirty="0">
                <a:latin typeface="Calibri Light"/>
                <a:cs typeface="Calibri Light"/>
              </a:rPr>
              <a:t> </a:t>
            </a:r>
            <a:r>
              <a:rPr sz="1000" dirty="0">
                <a:latin typeface="Calibri Light"/>
                <a:cs typeface="Calibri Light"/>
              </a:rPr>
              <a:t>/</a:t>
            </a:r>
            <a:r>
              <a:rPr sz="1000" spc="-35" dirty="0">
                <a:latin typeface="Calibri Light"/>
                <a:cs typeface="Calibri Light"/>
              </a:rPr>
              <a:t> </a:t>
            </a:r>
            <a:r>
              <a:rPr sz="1000" spc="-10" dirty="0">
                <a:latin typeface="Calibri Light"/>
                <a:cs typeface="Calibri Light"/>
              </a:rPr>
              <a:t>Store Expenses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8631" y="4628624"/>
            <a:ext cx="578776" cy="55121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6491" y="4521708"/>
            <a:ext cx="428243" cy="655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3411" y="4565903"/>
            <a:ext cx="585215" cy="5867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79522" y="4163695"/>
            <a:ext cx="82994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 Light"/>
                <a:cs typeface="Calibri Light"/>
              </a:rPr>
              <a:t>Rent</a:t>
            </a:r>
            <a:r>
              <a:rPr sz="1000" spc="-15" dirty="0">
                <a:latin typeface="Calibri Light"/>
                <a:cs typeface="Calibri Light"/>
              </a:rPr>
              <a:t> </a:t>
            </a:r>
            <a:r>
              <a:rPr sz="1000" dirty="0">
                <a:latin typeface="Calibri Light"/>
                <a:cs typeface="Calibri Light"/>
              </a:rPr>
              <a:t>for</a:t>
            </a:r>
            <a:r>
              <a:rPr sz="1000" spc="-10" dirty="0">
                <a:latin typeface="Calibri Light"/>
                <a:cs typeface="Calibri Light"/>
              </a:rPr>
              <a:t> factory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6807" y="4193540"/>
            <a:ext cx="570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 Light"/>
                <a:cs typeface="Calibri Light"/>
              </a:rPr>
              <a:t>CEO</a:t>
            </a:r>
            <a:r>
              <a:rPr sz="1000" spc="-30" dirty="0">
                <a:latin typeface="Calibri Light"/>
                <a:cs typeface="Calibri Light"/>
              </a:rPr>
              <a:t> </a:t>
            </a:r>
            <a:r>
              <a:rPr sz="1000" spc="-10" dirty="0">
                <a:latin typeface="Calibri Light"/>
                <a:cs typeface="Calibri Light"/>
              </a:rPr>
              <a:t>Salary</a:t>
            </a:r>
            <a:endParaRPr sz="10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6127" y="4193540"/>
            <a:ext cx="41020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 Light"/>
                <a:cs typeface="Calibri Light"/>
              </a:rPr>
              <a:t>Utilities</a:t>
            </a:r>
            <a:endParaRPr sz="1000">
              <a:latin typeface="Calibri Light"/>
              <a:cs typeface="Calibri Ligh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69979" y="4589088"/>
            <a:ext cx="539135" cy="53913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947665" y="4191380"/>
            <a:ext cx="6318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 Light"/>
                <a:cs typeface="Calibri Light"/>
              </a:rPr>
              <a:t>Maintenance</a:t>
            </a:r>
            <a:endParaRPr sz="900">
              <a:latin typeface="Calibri Light"/>
              <a:cs typeface="Calibri Ligh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68534" y="4317491"/>
            <a:ext cx="2759075" cy="1092835"/>
            <a:chOff x="7468534" y="4317491"/>
            <a:chExt cx="2759075" cy="109283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8534" y="4526112"/>
              <a:ext cx="605785" cy="6057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8368" y="4317491"/>
              <a:ext cx="1092707" cy="10927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74726" y="4559945"/>
              <a:ext cx="752819" cy="62762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17868" y="4528820"/>
            <a:ext cx="228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solidFill>
                  <a:srgbClr val="C7004A"/>
                </a:solidFill>
                <a:latin typeface="Calibri Light"/>
                <a:cs typeface="Calibri Light"/>
              </a:rPr>
              <a:t>+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46511" y="5599603"/>
            <a:ext cx="8976360" cy="83248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623185" marR="187325" indent="-243141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ABC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than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manufacturing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48906" y="4106417"/>
            <a:ext cx="3215640" cy="1240790"/>
          </a:xfrm>
          <a:custGeom>
            <a:avLst/>
            <a:gdLst/>
            <a:ahLst/>
            <a:cxnLst/>
            <a:rect l="l" t="t" r="r" b="b"/>
            <a:pathLst>
              <a:path w="3215640" h="1240789">
                <a:moveTo>
                  <a:pt x="0" y="1240536"/>
                </a:moveTo>
                <a:lnTo>
                  <a:pt x="3215640" y="1240536"/>
                </a:lnTo>
                <a:lnTo>
                  <a:pt x="3215640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5400">
            <a:solidFill>
              <a:srgbClr val="92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CDE2-59FD-14FE-D951-38AEEB0B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1E85E13-5799-DF11-9DE0-A0261B71F67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93F4FCE-2BD5-BAB4-6DD6-55CB3492F9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The Difference Between ABC &amp; Traditional Costing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35C5B5C-12A0-0679-23A8-417B2F31D12B}"/>
              </a:ext>
            </a:extLst>
          </p:cNvPr>
          <p:cNvSpPr txBox="1"/>
          <p:nvPr/>
        </p:nvSpPr>
        <p:spPr>
          <a:xfrm>
            <a:off x="719404" y="882019"/>
            <a:ext cx="10951278" cy="4496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81940" indent="-457200">
              <a:spcBef>
                <a:spcPts val="100"/>
              </a:spcBef>
              <a:buSzPct val="79166"/>
              <a:buFont typeface="+mj-lt"/>
              <a:buAutoNum type="arabicPeriod"/>
              <a:tabLst>
                <a:tab pos="469900" algn="l"/>
              </a:tabLst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Traditional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costing allocates all manufacturing overhead to products.            ABC costing only assigns manufacturing overhead costs to products that can be directly traced to those products.</a:t>
            </a:r>
          </a:p>
          <a:p>
            <a:pPr marL="469900" marR="281940" indent="-457200">
              <a:spcBef>
                <a:spcPts val="100"/>
              </a:spcBef>
              <a:buSzPct val="79166"/>
              <a:buFont typeface="+mj-lt"/>
              <a:buAutoNum type="arabicPeriod"/>
              <a:tabLst>
                <a:tab pos="469900" algn="l"/>
              </a:tabLst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281940" indent="-457200">
              <a:spcBef>
                <a:spcPts val="100"/>
              </a:spcBef>
              <a:buSzPct val="79166"/>
              <a:buFont typeface="+mj-lt"/>
              <a:buAutoNum type="arabicPeriod"/>
              <a:tabLst>
                <a:tab pos="469900" algn="l"/>
              </a:tabLst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Traditional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costing allocates all manufacturing overhead costs using a volume-related allocation base. ABC costing also uses non-volume related allocation bases.</a:t>
            </a:r>
          </a:p>
          <a:p>
            <a:pPr marL="469900" marR="281940" indent="-457200">
              <a:spcBef>
                <a:spcPts val="100"/>
              </a:spcBef>
              <a:buSzPct val="79166"/>
              <a:buFont typeface="+mj-lt"/>
              <a:buAutoNum type="arabicPeriod"/>
              <a:tabLst>
                <a:tab pos="469900" algn="l"/>
              </a:tabLst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281940" indent="-457200">
              <a:spcBef>
                <a:spcPts val="100"/>
              </a:spcBef>
              <a:buSzPct val="79166"/>
              <a:buFont typeface="+mj-lt"/>
              <a:buAutoNum type="arabicPeriod"/>
              <a:tabLst>
                <a:tab pos="469900" algn="l"/>
              </a:tabLst>
            </a:pP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Traditional costing disregards selling and administrative expenses because they are classified as </a:t>
            </a:r>
            <a:r>
              <a:rPr lang="en-CA" altLang="en-US" sz="240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period expenses ABC </a:t>
            </a:r>
            <a:r>
              <a:rPr lang="en-CA" alt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costing directly traces shipping costs to products and includes non-manufacturing overhead costs caused by products in the activity cost pools that are assigned to the products.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226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14F99011-E444-2B7F-B030-D43F84994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618" y="0"/>
            <a:ext cx="9601067" cy="506016"/>
          </a:xfrm>
        </p:spPr>
        <p:txBody>
          <a:bodyPr/>
          <a:lstStyle/>
          <a:p>
            <a:r>
              <a:rPr lang="en-CA" dirty="0"/>
              <a:t>Activity Based Costing Key Terms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17" y="1103694"/>
            <a:ext cx="2162175" cy="487680"/>
            <a:chOff x="359918" y="1917445"/>
            <a:chExt cx="2162175" cy="487680"/>
          </a:xfrm>
        </p:grpSpPr>
        <p:sp>
          <p:nvSpPr>
            <p:cNvPr id="4" name="object 4"/>
            <p:cNvSpPr/>
            <p:nvPr/>
          </p:nvSpPr>
          <p:spPr>
            <a:xfrm>
              <a:off x="372618" y="193014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80">
                  <a:moveTo>
                    <a:pt x="2136648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2136648" y="461772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2618" y="193014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80">
                  <a:moveTo>
                    <a:pt x="0" y="461772"/>
                  </a:moveTo>
                  <a:lnTo>
                    <a:pt x="2136648" y="461772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9377" y="1153117"/>
            <a:ext cx="2111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Activity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8826" y="1107308"/>
            <a:ext cx="8770620" cy="4622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consumption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overhead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9916" y="2202042"/>
            <a:ext cx="2162175" cy="857885"/>
            <a:chOff x="359918" y="2549905"/>
            <a:chExt cx="2162175" cy="857885"/>
          </a:xfrm>
        </p:grpSpPr>
        <p:sp>
          <p:nvSpPr>
            <p:cNvPr id="9" name="object 9"/>
            <p:cNvSpPr/>
            <p:nvPr/>
          </p:nvSpPr>
          <p:spPr>
            <a:xfrm>
              <a:off x="372618" y="2562605"/>
              <a:ext cx="2136775" cy="832485"/>
            </a:xfrm>
            <a:custGeom>
              <a:avLst/>
              <a:gdLst/>
              <a:ahLst/>
              <a:cxnLst/>
              <a:rect l="l" t="t" r="r" b="b"/>
              <a:pathLst>
                <a:path w="2136775" h="832485">
                  <a:moveTo>
                    <a:pt x="2136648" y="0"/>
                  </a:moveTo>
                  <a:lnTo>
                    <a:pt x="0" y="0"/>
                  </a:lnTo>
                  <a:lnTo>
                    <a:pt x="0" y="832103"/>
                  </a:lnTo>
                  <a:lnTo>
                    <a:pt x="2136648" y="832103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2618" y="2562605"/>
              <a:ext cx="2136775" cy="832485"/>
            </a:xfrm>
            <a:custGeom>
              <a:avLst/>
              <a:gdLst/>
              <a:ahLst/>
              <a:cxnLst/>
              <a:rect l="l" t="t" r="r" b="b"/>
              <a:pathLst>
                <a:path w="2136775" h="832485">
                  <a:moveTo>
                    <a:pt x="0" y="832103"/>
                  </a:moveTo>
                  <a:lnTo>
                    <a:pt x="2136648" y="832103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616" y="2211578"/>
            <a:ext cx="2111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935" marR="212725" indent="-5353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Activity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Cost Pool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8847" y="2192576"/>
            <a:ext cx="8770620" cy="830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“cost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bucket”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particular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activity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measure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accumulated.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18" y="3791965"/>
            <a:ext cx="2162175" cy="487680"/>
            <a:chOff x="359918" y="3791965"/>
            <a:chExt cx="2162175" cy="487680"/>
          </a:xfrm>
        </p:grpSpPr>
        <p:sp>
          <p:nvSpPr>
            <p:cNvPr id="14" name="object 14"/>
            <p:cNvSpPr/>
            <p:nvPr/>
          </p:nvSpPr>
          <p:spPr>
            <a:xfrm>
              <a:off x="372618" y="380466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2136648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2136648" y="461772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2618" y="3804665"/>
              <a:ext cx="2136775" cy="462280"/>
            </a:xfrm>
            <a:custGeom>
              <a:avLst/>
              <a:gdLst/>
              <a:ahLst/>
              <a:cxnLst/>
              <a:rect l="l" t="t" r="r" b="b"/>
              <a:pathLst>
                <a:path w="2136775" h="462279">
                  <a:moveTo>
                    <a:pt x="0" y="461772"/>
                  </a:moveTo>
                  <a:lnTo>
                    <a:pt x="2136648" y="461772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5318" y="3832352"/>
            <a:ext cx="2111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Activity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Driver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98826" y="3606546"/>
            <a:ext cx="8770620" cy="830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536065" marR="722630" indent="-80962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cause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and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effect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relationship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resources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consumed.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041" y="4909565"/>
            <a:ext cx="11233785" cy="8305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217160" marR="153670" indent="-505904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Remember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allocating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overhead costs.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0" name="Subtitle 29">
            <a:extLst>
              <a:ext uri="{FF2B5EF4-FFF2-40B4-BE49-F238E27FC236}">
                <a16:creationId xmlns:a16="http://schemas.microsoft.com/office/drawing/2014/main" id="{196B775F-09C6-90EF-03B5-A50118AC9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Cost Hierarchy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991952"/>
            <a:ext cx="1014158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Activity-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based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costs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can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classified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into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one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following</a:t>
            </a:r>
            <a:r>
              <a:rPr sz="2400" spc="-1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ABC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cost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hierarchy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elements: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634" y="2697733"/>
            <a:ext cx="2162175" cy="424815"/>
            <a:chOff x="373634" y="2697733"/>
            <a:chExt cx="2162175" cy="424815"/>
          </a:xfrm>
        </p:grpSpPr>
        <p:sp>
          <p:nvSpPr>
            <p:cNvPr id="5" name="object 5"/>
            <p:cNvSpPr/>
            <p:nvPr/>
          </p:nvSpPr>
          <p:spPr>
            <a:xfrm>
              <a:off x="386334" y="2710433"/>
              <a:ext cx="2136775" cy="399415"/>
            </a:xfrm>
            <a:custGeom>
              <a:avLst/>
              <a:gdLst/>
              <a:ahLst/>
              <a:cxnLst/>
              <a:rect l="l" t="t" r="r" b="b"/>
              <a:pathLst>
                <a:path w="2136775" h="399414">
                  <a:moveTo>
                    <a:pt x="2136648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2136648" y="399288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6334" y="2710433"/>
              <a:ext cx="2136775" cy="399415"/>
            </a:xfrm>
            <a:custGeom>
              <a:avLst/>
              <a:gdLst/>
              <a:ahLst/>
              <a:cxnLst/>
              <a:rect l="l" t="t" r="r" b="b"/>
              <a:pathLst>
                <a:path w="2136775" h="399414">
                  <a:moveTo>
                    <a:pt x="0" y="399288"/>
                  </a:moveTo>
                  <a:lnTo>
                    <a:pt x="2136648" y="399288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399288"/>
                  </a:lnTo>
                  <a:close/>
                </a:path>
              </a:pathLst>
            </a:custGeom>
            <a:ln w="2539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9034" y="2736850"/>
            <a:ext cx="21113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324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Unit-level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2542" y="2740914"/>
            <a:ext cx="8770620" cy="33845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latin typeface="Arial MT"/>
                <a:cs typeface="Arial MT"/>
              </a:rPr>
              <a:t>Performed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produced.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3634" y="3285997"/>
            <a:ext cx="2162175" cy="424815"/>
            <a:chOff x="373634" y="3285997"/>
            <a:chExt cx="2162175" cy="424815"/>
          </a:xfrm>
        </p:grpSpPr>
        <p:sp>
          <p:nvSpPr>
            <p:cNvPr id="10" name="object 10"/>
            <p:cNvSpPr/>
            <p:nvPr/>
          </p:nvSpPr>
          <p:spPr>
            <a:xfrm>
              <a:off x="386334" y="3298697"/>
              <a:ext cx="2136775" cy="399415"/>
            </a:xfrm>
            <a:custGeom>
              <a:avLst/>
              <a:gdLst/>
              <a:ahLst/>
              <a:cxnLst/>
              <a:rect l="l" t="t" r="r" b="b"/>
              <a:pathLst>
                <a:path w="2136775" h="399414">
                  <a:moveTo>
                    <a:pt x="2136648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2136648" y="399288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6334" y="3298697"/>
              <a:ext cx="2136775" cy="399415"/>
            </a:xfrm>
            <a:custGeom>
              <a:avLst/>
              <a:gdLst/>
              <a:ahLst/>
              <a:cxnLst/>
              <a:rect l="l" t="t" r="r" b="b"/>
              <a:pathLst>
                <a:path w="2136775" h="399414">
                  <a:moveTo>
                    <a:pt x="0" y="399288"/>
                  </a:moveTo>
                  <a:lnTo>
                    <a:pt x="2136648" y="399288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399288"/>
                  </a:lnTo>
                  <a:close/>
                </a:path>
              </a:pathLst>
            </a:custGeom>
            <a:ln w="2539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9034" y="3325495"/>
            <a:ext cx="21113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Batch-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2542" y="3198177"/>
            <a:ext cx="8770620" cy="58547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Arial MT"/>
                <a:cs typeface="Arial MT"/>
              </a:rPr>
              <a:t>Incurred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whenever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batch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group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processed,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regardless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units.</a:t>
            </a:r>
            <a:endParaRPr sz="1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Ex.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Machine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Set-</a:t>
            </a:r>
            <a:r>
              <a:rPr sz="1600" spc="-25" dirty="0">
                <a:latin typeface="Arial MT"/>
                <a:cs typeface="Arial MT"/>
              </a:rPr>
              <a:t>Up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3634" y="3883405"/>
            <a:ext cx="2162175" cy="734060"/>
            <a:chOff x="373634" y="3883405"/>
            <a:chExt cx="2162175" cy="734060"/>
          </a:xfrm>
        </p:grpSpPr>
        <p:sp>
          <p:nvSpPr>
            <p:cNvPr id="15" name="object 15"/>
            <p:cNvSpPr/>
            <p:nvPr/>
          </p:nvSpPr>
          <p:spPr>
            <a:xfrm>
              <a:off x="386334" y="3896105"/>
              <a:ext cx="2136775" cy="708660"/>
            </a:xfrm>
            <a:custGeom>
              <a:avLst/>
              <a:gdLst/>
              <a:ahLst/>
              <a:cxnLst/>
              <a:rect l="l" t="t" r="r" b="b"/>
              <a:pathLst>
                <a:path w="2136775" h="708660">
                  <a:moveTo>
                    <a:pt x="2136648" y="0"/>
                  </a:moveTo>
                  <a:lnTo>
                    <a:pt x="0" y="0"/>
                  </a:lnTo>
                  <a:lnTo>
                    <a:pt x="0" y="708659"/>
                  </a:lnTo>
                  <a:lnTo>
                    <a:pt x="2136648" y="708659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6334" y="3896105"/>
              <a:ext cx="2136775" cy="708660"/>
            </a:xfrm>
            <a:custGeom>
              <a:avLst/>
              <a:gdLst/>
              <a:ahLst/>
              <a:cxnLst/>
              <a:rect l="l" t="t" r="r" b="b"/>
              <a:pathLst>
                <a:path w="2136775" h="708660">
                  <a:moveTo>
                    <a:pt x="0" y="708659"/>
                  </a:moveTo>
                  <a:lnTo>
                    <a:pt x="2136648" y="708659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708659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9034" y="3925265"/>
            <a:ext cx="211137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Product-</a:t>
            </a:r>
            <a:endParaRPr sz="2000">
              <a:latin typeface="Arial MT"/>
              <a:cs typeface="Arial MT"/>
            </a:endParaRPr>
          </a:p>
          <a:p>
            <a:pPr marL="48069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sustaining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2542" y="4082034"/>
            <a:ext cx="8770620" cy="33845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641985">
              <a:lnSpc>
                <a:spcPct val="100000"/>
              </a:lnSpc>
              <a:spcBef>
                <a:spcPts val="315"/>
              </a:spcBef>
            </a:pPr>
            <a:r>
              <a:rPr sz="1600" dirty="0">
                <a:latin typeface="Arial MT"/>
                <a:cs typeface="Arial MT"/>
              </a:rPr>
              <a:t>Incurred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without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regard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batches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units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produced.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Ex.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Advertising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3634" y="4680458"/>
            <a:ext cx="2162175" cy="734060"/>
            <a:chOff x="373634" y="4680458"/>
            <a:chExt cx="2162175" cy="734060"/>
          </a:xfrm>
        </p:grpSpPr>
        <p:sp>
          <p:nvSpPr>
            <p:cNvPr id="20" name="object 20"/>
            <p:cNvSpPr/>
            <p:nvPr/>
          </p:nvSpPr>
          <p:spPr>
            <a:xfrm>
              <a:off x="386334" y="4693158"/>
              <a:ext cx="2136775" cy="708660"/>
            </a:xfrm>
            <a:custGeom>
              <a:avLst/>
              <a:gdLst/>
              <a:ahLst/>
              <a:cxnLst/>
              <a:rect l="l" t="t" r="r" b="b"/>
              <a:pathLst>
                <a:path w="2136775" h="708660">
                  <a:moveTo>
                    <a:pt x="2136648" y="0"/>
                  </a:moveTo>
                  <a:lnTo>
                    <a:pt x="0" y="0"/>
                  </a:lnTo>
                  <a:lnTo>
                    <a:pt x="0" y="708659"/>
                  </a:lnTo>
                  <a:lnTo>
                    <a:pt x="2136648" y="708659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6334" y="4693158"/>
              <a:ext cx="2136775" cy="708660"/>
            </a:xfrm>
            <a:custGeom>
              <a:avLst/>
              <a:gdLst/>
              <a:ahLst/>
              <a:cxnLst/>
              <a:rect l="l" t="t" r="r" b="b"/>
              <a:pathLst>
                <a:path w="2136775" h="708660">
                  <a:moveTo>
                    <a:pt x="0" y="708659"/>
                  </a:moveTo>
                  <a:lnTo>
                    <a:pt x="2136648" y="708659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708659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9034" y="4723002"/>
            <a:ext cx="21113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 marR="454025" indent="-2159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Customer- sustaining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81122" y="4755641"/>
            <a:ext cx="8770620" cy="58547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966845" marR="513715" indent="-3453765">
              <a:lnSpc>
                <a:spcPct val="100000"/>
              </a:lnSpc>
              <a:spcBef>
                <a:spcPts val="320"/>
              </a:spcBef>
            </a:pPr>
            <a:r>
              <a:rPr sz="1600" dirty="0">
                <a:latin typeface="Arial MT"/>
                <a:cs typeface="Arial MT"/>
              </a:rPr>
              <a:t>Incurred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provide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service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specific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customers.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Ex.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Sales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representative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visits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 </a:t>
            </a:r>
            <a:r>
              <a:rPr sz="1600" spc="-10" dirty="0">
                <a:latin typeface="Arial MT"/>
                <a:cs typeface="Arial MT"/>
              </a:rPr>
              <a:t>customer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73634" y="5503417"/>
            <a:ext cx="2162175" cy="732790"/>
            <a:chOff x="373634" y="5503417"/>
            <a:chExt cx="2162175" cy="732790"/>
          </a:xfrm>
        </p:grpSpPr>
        <p:sp>
          <p:nvSpPr>
            <p:cNvPr id="25" name="object 25"/>
            <p:cNvSpPr/>
            <p:nvPr/>
          </p:nvSpPr>
          <p:spPr>
            <a:xfrm>
              <a:off x="386334" y="5516117"/>
              <a:ext cx="2136775" cy="707390"/>
            </a:xfrm>
            <a:custGeom>
              <a:avLst/>
              <a:gdLst/>
              <a:ahLst/>
              <a:cxnLst/>
              <a:rect l="l" t="t" r="r" b="b"/>
              <a:pathLst>
                <a:path w="2136775" h="707389">
                  <a:moveTo>
                    <a:pt x="2136648" y="0"/>
                  </a:moveTo>
                  <a:lnTo>
                    <a:pt x="0" y="0"/>
                  </a:lnTo>
                  <a:lnTo>
                    <a:pt x="0" y="707135"/>
                  </a:lnTo>
                  <a:lnTo>
                    <a:pt x="2136648" y="707135"/>
                  </a:lnTo>
                  <a:lnTo>
                    <a:pt x="2136648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6334" y="5516117"/>
              <a:ext cx="2136775" cy="707390"/>
            </a:xfrm>
            <a:custGeom>
              <a:avLst/>
              <a:gdLst/>
              <a:ahLst/>
              <a:cxnLst/>
              <a:rect l="l" t="t" r="r" b="b"/>
              <a:pathLst>
                <a:path w="2136775" h="707389">
                  <a:moveTo>
                    <a:pt x="0" y="707135"/>
                  </a:moveTo>
                  <a:lnTo>
                    <a:pt x="2136648" y="707135"/>
                  </a:lnTo>
                  <a:lnTo>
                    <a:pt x="2136648" y="0"/>
                  </a:lnTo>
                  <a:lnTo>
                    <a:pt x="0" y="0"/>
                  </a:lnTo>
                  <a:lnTo>
                    <a:pt x="0" y="707135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9034" y="5545023"/>
            <a:ext cx="211137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Facility-</a:t>
            </a:r>
            <a:endParaRPr sz="2000">
              <a:latin typeface="Arial MT"/>
              <a:cs typeface="Arial MT"/>
            </a:endParaRPr>
          </a:p>
          <a:p>
            <a:pPr marL="480695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sustaining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81122" y="5590794"/>
            <a:ext cx="8770620" cy="58547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54330" marR="355600" indent="146050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Arial MT"/>
                <a:cs typeface="Arial MT"/>
              </a:rPr>
              <a:t>Benefit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business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functions.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incurred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enable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organization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continue, </a:t>
            </a:r>
            <a:r>
              <a:rPr sz="1600" dirty="0">
                <a:latin typeface="Arial MT"/>
                <a:cs typeface="Arial MT"/>
              </a:rPr>
              <a:t>regardless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customers,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products,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batches,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units.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Ex.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Head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office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administrative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costs.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F0044F48-2E54-A1EC-76F2-40873BE8C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Steps in the ABC 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1544574" y="3519678"/>
            <a:ext cx="8159750" cy="741045"/>
          </a:xfrm>
          <a:custGeom>
            <a:avLst/>
            <a:gdLst/>
            <a:ahLst/>
            <a:cxnLst/>
            <a:rect l="l" t="t" r="r" b="b"/>
            <a:pathLst>
              <a:path w="8159750" h="741045">
                <a:moveTo>
                  <a:pt x="0" y="123444"/>
                </a:moveTo>
                <a:lnTo>
                  <a:pt x="9697" y="75384"/>
                </a:lnTo>
                <a:lnTo>
                  <a:pt x="36147" y="36147"/>
                </a:lnTo>
                <a:lnTo>
                  <a:pt x="75384" y="9697"/>
                </a:lnTo>
                <a:lnTo>
                  <a:pt x="123443" y="0"/>
                </a:lnTo>
                <a:lnTo>
                  <a:pt x="8036052" y="0"/>
                </a:lnTo>
                <a:lnTo>
                  <a:pt x="8084111" y="9697"/>
                </a:lnTo>
                <a:lnTo>
                  <a:pt x="8123348" y="36147"/>
                </a:lnTo>
                <a:lnTo>
                  <a:pt x="8149798" y="75384"/>
                </a:lnTo>
                <a:lnTo>
                  <a:pt x="8159496" y="123444"/>
                </a:lnTo>
                <a:lnTo>
                  <a:pt x="8159496" y="617220"/>
                </a:lnTo>
                <a:lnTo>
                  <a:pt x="8149798" y="665279"/>
                </a:lnTo>
                <a:lnTo>
                  <a:pt x="8123348" y="704516"/>
                </a:lnTo>
                <a:lnTo>
                  <a:pt x="8084111" y="730966"/>
                </a:lnTo>
                <a:lnTo>
                  <a:pt x="8036052" y="740664"/>
                </a:lnTo>
                <a:lnTo>
                  <a:pt x="123443" y="740664"/>
                </a:lnTo>
                <a:lnTo>
                  <a:pt x="75384" y="730966"/>
                </a:lnTo>
                <a:lnTo>
                  <a:pt x="36147" y="704516"/>
                </a:lnTo>
                <a:lnTo>
                  <a:pt x="9697" y="665279"/>
                </a:lnTo>
                <a:lnTo>
                  <a:pt x="0" y="617220"/>
                </a:lnTo>
                <a:lnTo>
                  <a:pt x="0" y="123444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88719" y="3687317"/>
            <a:ext cx="3497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latin typeface="Arial MT"/>
                <a:cs typeface="Arial MT"/>
              </a:rPr>
              <a:t>3.</a:t>
            </a:r>
            <a:r>
              <a:rPr sz="2400" dirty="0">
                <a:latin typeface="Arial MT"/>
                <a:cs typeface="Arial MT"/>
              </a:rPr>
              <a:t>	Compute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984" y="1601708"/>
            <a:ext cx="292639" cy="461242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43050" y="1581150"/>
            <a:ext cx="8120380" cy="715010"/>
          </a:xfrm>
          <a:custGeom>
            <a:avLst/>
            <a:gdLst/>
            <a:ahLst/>
            <a:cxnLst/>
            <a:rect l="l" t="t" r="r" b="b"/>
            <a:pathLst>
              <a:path w="8120380" h="715010">
                <a:moveTo>
                  <a:pt x="0" y="119125"/>
                </a:moveTo>
                <a:lnTo>
                  <a:pt x="9362" y="72759"/>
                </a:lnTo>
                <a:lnTo>
                  <a:pt x="34893" y="34893"/>
                </a:lnTo>
                <a:lnTo>
                  <a:pt x="72759" y="9362"/>
                </a:lnTo>
                <a:lnTo>
                  <a:pt x="119125" y="0"/>
                </a:lnTo>
                <a:lnTo>
                  <a:pt x="8000746" y="0"/>
                </a:lnTo>
                <a:lnTo>
                  <a:pt x="8047112" y="9362"/>
                </a:lnTo>
                <a:lnTo>
                  <a:pt x="8084978" y="34893"/>
                </a:lnTo>
                <a:lnTo>
                  <a:pt x="8110509" y="72759"/>
                </a:lnTo>
                <a:lnTo>
                  <a:pt x="8119872" y="119125"/>
                </a:lnTo>
                <a:lnTo>
                  <a:pt x="8119872" y="595629"/>
                </a:lnTo>
                <a:lnTo>
                  <a:pt x="8110509" y="641996"/>
                </a:lnTo>
                <a:lnTo>
                  <a:pt x="8084978" y="679862"/>
                </a:lnTo>
                <a:lnTo>
                  <a:pt x="8047112" y="705393"/>
                </a:lnTo>
                <a:lnTo>
                  <a:pt x="8000746" y="714755"/>
                </a:lnTo>
                <a:lnTo>
                  <a:pt x="119125" y="714755"/>
                </a:lnTo>
                <a:lnTo>
                  <a:pt x="72759" y="705393"/>
                </a:lnTo>
                <a:lnTo>
                  <a:pt x="34893" y="679862"/>
                </a:lnTo>
                <a:lnTo>
                  <a:pt x="9362" y="641996"/>
                </a:lnTo>
                <a:lnTo>
                  <a:pt x="0" y="595629"/>
                </a:lnTo>
                <a:lnTo>
                  <a:pt x="0" y="119125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87195" y="1735073"/>
            <a:ext cx="5633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latin typeface="Arial MT"/>
                <a:cs typeface="Arial MT"/>
              </a:rPr>
              <a:t>1.</a:t>
            </a:r>
            <a:r>
              <a:rPr sz="2400" dirty="0">
                <a:latin typeface="Arial MT"/>
                <a:cs typeface="Arial MT"/>
              </a:rPr>
              <a:t>	Identify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pools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measures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3050" y="2515361"/>
            <a:ext cx="8161020" cy="719455"/>
          </a:xfrm>
          <a:custGeom>
            <a:avLst/>
            <a:gdLst/>
            <a:ahLst/>
            <a:cxnLst/>
            <a:rect l="l" t="t" r="r" b="b"/>
            <a:pathLst>
              <a:path w="8161020" h="719455">
                <a:moveTo>
                  <a:pt x="0" y="119887"/>
                </a:moveTo>
                <a:lnTo>
                  <a:pt x="9427" y="73241"/>
                </a:lnTo>
                <a:lnTo>
                  <a:pt x="35131" y="35131"/>
                </a:lnTo>
                <a:lnTo>
                  <a:pt x="73241" y="9427"/>
                </a:lnTo>
                <a:lnTo>
                  <a:pt x="119887" y="0"/>
                </a:lnTo>
                <a:lnTo>
                  <a:pt x="8041132" y="0"/>
                </a:lnTo>
                <a:lnTo>
                  <a:pt x="8087778" y="9427"/>
                </a:lnTo>
                <a:lnTo>
                  <a:pt x="8125888" y="35131"/>
                </a:lnTo>
                <a:lnTo>
                  <a:pt x="8151592" y="73241"/>
                </a:lnTo>
                <a:lnTo>
                  <a:pt x="8161020" y="119887"/>
                </a:lnTo>
                <a:lnTo>
                  <a:pt x="8161020" y="599439"/>
                </a:lnTo>
                <a:lnTo>
                  <a:pt x="8151592" y="646086"/>
                </a:lnTo>
                <a:lnTo>
                  <a:pt x="8125888" y="684196"/>
                </a:lnTo>
                <a:lnTo>
                  <a:pt x="8087778" y="709900"/>
                </a:lnTo>
                <a:lnTo>
                  <a:pt x="8041132" y="719327"/>
                </a:lnTo>
                <a:lnTo>
                  <a:pt x="119887" y="719327"/>
                </a:lnTo>
                <a:lnTo>
                  <a:pt x="73241" y="709900"/>
                </a:lnTo>
                <a:lnTo>
                  <a:pt x="35131" y="684196"/>
                </a:lnTo>
                <a:lnTo>
                  <a:pt x="9427" y="646086"/>
                </a:lnTo>
                <a:lnTo>
                  <a:pt x="0" y="599439"/>
                </a:lnTo>
                <a:lnTo>
                  <a:pt x="0" y="119887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87195" y="2671317"/>
            <a:ext cx="5716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spc="-25" dirty="0">
                <a:latin typeface="Arial MT"/>
                <a:cs typeface="Arial MT"/>
              </a:rPr>
              <a:t>2.</a:t>
            </a:r>
            <a:r>
              <a:rPr sz="2400" dirty="0">
                <a:latin typeface="Arial MT"/>
                <a:cs typeface="Arial MT"/>
              </a:rPr>
              <a:t>	Assign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overhead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pools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44574" y="4499609"/>
            <a:ext cx="8161020" cy="722630"/>
          </a:xfrm>
          <a:custGeom>
            <a:avLst/>
            <a:gdLst/>
            <a:ahLst/>
            <a:cxnLst/>
            <a:rect l="l" t="t" r="r" b="b"/>
            <a:pathLst>
              <a:path w="8161020" h="722629">
                <a:moveTo>
                  <a:pt x="0" y="120395"/>
                </a:moveTo>
                <a:lnTo>
                  <a:pt x="9453" y="73509"/>
                </a:lnTo>
                <a:lnTo>
                  <a:pt x="35242" y="35242"/>
                </a:lnTo>
                <a:lnTo>
                  <a:pt x="73509" y="9453"/>
                </a:lnTo>
                <a:lnTo>
                  <a:pt x="120395" y="0"/>
                </a:lnTo>
                <a:lnTo>
                  <a:pt x="8040624" y="0"/>
                </a:lnTo>
                <a:lnTo>
                  <a:pt x="8087510" y="9453"/>
                </a:lnTo>
                <a:lnTo>
                  <a:pt x="8125777" y="35242"/>
                </a:lnTo>
                <a:lnTo>
                  <a:pt x="8151566" y="73509"/>
                </a:lnTo>
                <a:lnTo>
                  <a:pt x="8161020" y="120395"/>
                </a:lnTo>
                <a:lnTo>
                  <a:pt x="8161020" y="601979"/>
                </a:lnTo>
                <a:lnTo>
                  <a:pt x="8151566" y="648866"/>
                </a:lnTo>
                <a:lnTo>
                  <a:pt x="8125777" y="687133"/>
                </a:lnTo>
                <a:lnTo>
                  <a:pt x="8087510" y="712922"/>
                </a:lnTo>
                <a:lnTo>
                  <a:pt x="8040624" y="722376"/>
                </a:lnTo>
                <a:lnTo>
                  <a:pt x="120395" y="722376"/>
                </a:lnTo>
                <a:lnTo>
                  <a:pt x="73509" y="712922"/>
                </a:lnTo>
                <a:lnTo>
                  <a:pt x="35242" y="687133"/>
                </a:lnTo>
                <a:lnTo>
                  <a:pt x="9453" y="648866"/>
                </a:lnTo>
                <a:lnTo>
                  <a:pt x="0" y="601979"/>
                </a:lnTo>
                <a:lnTo>
                  <a:pt x="0" y="120395"/>
                </a:lnTo>
                <a:close/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87829" y="4658105"/>
            <a:ext cx="4613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25" dirty="0">
                <a:latin typeface="Arial MT"/>
                <a:cs typeface="Arial MT"/>
              </a:rPr>
              <a:t>4.</a:t>
            </a:r>
            <a:r>
              <a:rPr sz="2400" dirty="0">
                <a:latin typeface="Arial MT"/>
                <a:cs typeface="Arial MT"/>
              </a:rPr>
              <a:t>	Assign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object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889" y="2904460"/>
            <a:ext cx="330200" cy="16554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libri Light"/>
                <a:cs typeface="Calibri Light"/>
              </a:rPr>
              <a:t>COST</a:t>
            </a:r>
            <a:r>
              <a:rPr sz="2400" spc="-95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Calibri Light"/>
                <a:cs typeface="Calibri Light"/>
              </a:rPr>
              <a:t>OBJECT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3050" y="5410809"/>
            <a:ext cx="8162925" cy="721360"/>
          </a:xfrm>
          <a:custGeom>
            <a:avLst/>
            <a:gdLst/>
            <a:ahLst/>
            <a:cxnLst/>
            <a:rect l="l" t="t" r="r" b="b"/>
            <a:pathLst>
              <a:path w="8162925" h="721360">
                <a:moveTo>
                  <a:pt x="0" y="120142"/>
                </a:moveTo>
                <a:lnTo>
                  <a:pt x="9449" y="73402"/>
                </a:lnTo>
                <a:lnTo>
                  <a:pt x="35210" y="35210"/>
                </a:lnTo>
                <a:lnTo>
                  <a:pt x="73402" y="9449"/>
                </a:lnTo>
                <a:lnTo>
                  <a:pt x="120141" y="0"/>
                </a:lnTo>
                <a:lnTo>
                  <a:pt x="8042402" y="0"/>
                </a:lnTo>
                <a:lnTo>
                  <a:pt x="8089141" y="9449"/>
                </a:lnTo>
                <a:lnTo>
                  <a:pt x="8127333" y="35210"/>
                </a:lnTo>
                <a:lnTo>
                  <a:pt x="8153094" y="73402"/>
                </a:lnTo>
                <a:lnTo>
                  <a:pt x="8162544" y="120142"/>
                </a:lnTo>
                <a:lnTo>
                  <a:pt x="8162544" y="600710"/>
                </a:lnTo>
                <a:lnTo>
                  <a:pt x="8153094" y="647471"/>
                </a:lnTo>
                <a:lnTo>
                  <a:pt x="8127333" y="685660"/>
                </a:lnTo>
                <a:lnTo>
                  <a:pt x="8089141" y="711409"/>
                </a:lnTo>
                <a:lnTo>
                  <a:pt x="8042402" y="720852"/>
                </a:lnTo>
                <a:lnTo>
                  <a:pt x="120141" y="720852"/>
                </a:lnTo>
                <a:lnTo>
                  <a:pt x="73402" y="711409"/>
                </a:lnTo>
                <a:lnTo>
                  <a:pt x="35210" y="685660"/>
                </a:lnTo>
                <a:lnTo>
                  <a:pt x="9449" y="647471"/>
                </a:lnTo>
                <a:lnTo>
                  <a:pt x="0" y="600710"/>
                </a:lnTo>
                <a:lnTo>
                  <a:pt x="0" y="120142"/>
                </a:lnTo>
                <a:close/>
              </a:path>
            </a:pathLst>
          </a:custGeom>
          <a:ln w="2539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93545" y="5602630"/>
            <a:ext cx="446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sz="2400" spc="-25" dirty="0">
                <a:latin typeface="Arial MT"/>
                <a:cs typeface="Arial MT"/>
              </a:rPr>
              <a:t>5.</a:t>
            </a:r>
            <a:r>
              <a:rPr sz="2400" dirty="0">
                <a:latin typeface="Arial MT"/>
                <a:cs typeface="Arial MT"/>
              </a:rPr>
              <a:t>	Prepare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51134" y="1625041"/>
            <a:ext cx="871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Costs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94875" y="2540000"/>
            <a:ext cx="214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Consumed</a:t>
            </a:r>
            <a:r>
              <a:rPr sz="2400" b="1" i="1" spc="-95" dirty="0">
                <a:latin typeface="Arial"/>
                <a:cs typeface="Arial"/>
              </a:rPr>
              <a:t> </a:t>
            </a:r>
            <a:r>
              <a:rPr sz="2400" b="1" i="1" spc="-25" dirty="0">
                <a:latin typeface="Arial"/>
                <a:cs typeface="Arial"/>
              </a:rPr>
              <a:t>by: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50957" y="4597654"/>
            <a:ext cx="214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Arial"/>
                <a:cs typeface="Arial"/>
              </a:rPr>
              <a:t>Consumed</a:t>
            </a:r>
            <a:r>
              <a:rPr sz="2400" b="1" i="1" spc="-95" dirty="0">
                <a:latin typeface="Arial"/>
                <a:cs typeface="Arial"/>
              </a:rPr>
              <a:t> </a:t>
            </a:r>
            <a:r>
              <a:rPr sz="2400" b="1" i="1" spc="-25" dirty="0">
                <a:latin typeface="Arial"/>
                <a:cs typeface="Arial"/>
              </a:rPr>
              <a:t>by: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65791" y="5741009"/>
            <a:ext cx="1345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Products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70921" y="3607054"/>
            <a:ext cx="1383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Activities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690859" y="2972561"/>
            <a:ext cx="190500" cy="609600"/>
          </a:xfrm>
          <a:custGeom>
            <a:avLst/>
            <a:gdLst/>
            <a:ahLst/>
            <a:cxnLst/>
            <a:rect l="l" t="t" r="r" b="b"/>
            <a:pathLst>
              <a:path w="190500" h="609600">
                <a:moveTo>
                  <a:pt x="0" y="419100"/>
                </a:moveTo>
                <a:lnTo>
                  <a:pt x="95250" y="609600"/>
                </a:lnTo>
                <a:lnTo>
                  <a:pt x="152400" y="495300"/>
                </a:lnTo>
                <a:lnTo>
                  <a:pt x="76200" y="495300"/>
                </a:lnTo>
                <a:lnTo>
                  <a:pt x="76200" y="480060"/>
                </a:lnTo>
                <a:lnTo>
                  <a:pt x="0" y="419100"/>
                </a:lnTo>
                <a:close/>
              </a:path>
              <a:path w="190500" h="609600">
                <a:moveTo>
                  <a:pt x="76200" y="480060"/>
                </a:moveTo>
                <a:lnTo>
                  <a:pt x="76200" y="495300"/>
                </a:lnTo>
                <a:lnTo>
                  <a:pt x="95250" y="495300"/>
                </a:lnTo>
                <a:lnTo>
                  <a:pt x="76200" y="480060"/>
                </a:lnTo>
                <a:close/>
              </a:path>
              <a:path w="190500" h="609600">
                <a:moveTo>
                  <a:pt x="114300" y="0"/>
                </a:moveTo>
                <a:lnTo>
                  <a:pt x="76200" y="0"/>
                </a:lnTo>
                <a:lnTo>
                  <a:pt x="76200" y="480060"/>
                </a:lnTo>
                <a:lnTo>
                  <a:pt x="95250" y="495300"/>
                </a:lnTo>
                <a:lnTo>
                  <a:pt x="114300" y="480060"/>
                </a:lnTo>
                <a:lnTo>
                  <a:pt x="114300" y="0"/>
                </a:lnTo>
                <a:close/>
              </a:path>
              <a:path w="190500" h="609600">
                <a:moveTo>
                  <a:pt x="114300" y="480060"/>
                </a:moveTo>
                <a:lnTo>
                  <a:pt x="95250" y="495300"/>
                </a:lnTo>
                <a:lnTo>
                  <a:pt x="114300" y="495300"/>
                </a:lnTo>
                <a:lnTo>
                  <a:pt x="114300" y="480060"/>
                </a:lnTo>
                <a:close/>
              </a:path>
              <a:path w="190500" h="609600">
                <a:moveTo>
                  <a:pt x="190500" y="419100"/>
                </a:moveTo>
                <a:lnTo>
                  <a:pt x="114300" y="480060"/>
                </a:lnTo>
                <a:lnTo>
                  <a:pt x="114300" y="495300"/>
                </a:lnTo>
                <a:lnTo>
                  <a:pt x="152400" y="495300"/>
                </a:lnTo>
                <a:lnTo>
                  <a:pt x="190500" y="41910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690859" y="4039361"/>
            <a:ext cx="190500" cy="533400"/>
          </a:xfrm>
          <a:custGeom>
            <a:avLst/>
            <a:gdLst/>
            <a:ahLst/>
            <a:cxnLst/>
            <a:rect l="l" t="t" r="r" b="b"/>
            <a:pathLst>
              <a:path w="190500" h="533400">
                <a:moveTo>
                  <a:pt x="0" y="342900"/>
                </a:moveTo>
                <a:lnTo>
                  <a:pt x="95250" y="533400"/>
                </a:lnTo>
                <a:lnTo>
                  <a:pt x="152400" y="419100"/>
                </a:lnTo>
                <a:lnTo>
                  <a:pt x="76200" y="419100"/>
                </a:lnTo>
                <a:lnTo>
                  <a:pt x="76200" y="403860"/>
                </a:lnTo>
                <a:lnTo>
                  <a:pt x="0" y="342900"/>
                </a:lnTo>
                <a:close/>
              </a:path>
              <a:path w="190500" h="533400">
                <a:moveTo>
                  <a:pt x="76200" y="403860"/>
                </a:moveTo>
                <a:lnTo>
                  <a:pt x="76200" y="419100"/>
                </a:lnTo>
                <a:lnTo>
                  <a:pt x="95250" y="419100"/>
                </a:lnTo>
                <a:lnTo>
                  <a:pt x="76200" y="403860"/>
                </a:lnTo>
                <a:close/>
              </a:path>
              <a:path w="190500" h="533400">
                <a:moveTo>
                  <a:pt x="114300" y="0"/>
                </a:moveTo>
                <a:lnTo>
                  <a:pt x="76200" y="0"/>
                </a:lnTo>
                <a:lnTo>
                  <a:pt x="76200" y="403860"/>
                </a:lnTo>
                <a:lnTo>
                  <a:pt x="95250" y="419100"/>
                </a:lnTo>
                <a:lnTo>
                  <a:pt x="114300" y="403860"/>
                </a:lnTo>
                <a:lnTo>
                  <a:pt x="114300" y="0"/>
                </a:lnTo>
                <a:close/>
              </a:path>
              <a:path w="190500" h="533400">
                <a:moveTo>
                  <a:pt x="114300" y="403860"/>
                </a:moveTo>
                <a:lnTo>
                  <a:pt x="95250" y="419100"/>
                </a:lnTo>
                <a:lnTo>
                  <a:pt x="114300" y="419100"/>
                </a:lnTo>
                <a:lnTo>
                  <a:pt x="114300" y="403860"/>
                </a:lnTo>
                <a:close/>
              </a:path>
              <a:path w="190500" h="533400">
                <a:moveTo>
                  <a:pt x="190500" y="342900"/>
                </a:moveTo>
                <a:lnTo>
                  <a:pt x="114300" y="403860"/>
                </a:lnTo>
                <a:lnTo>
                  <a:pt x="114300" y="419100"/>
                </a:lnTo>
                <a:lnTo>
                  <a:pt x="152400" y="419100"/>
                </a:lnTo>
                <a:lnTo>
                  <a:pt x="190500" y="34290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690859" y="4953761"/>
            <a:ext cx="190500" cy="762000"/>
          </a:xfrm>
          <a:custGeom>
            <a:avLst/>
            <a:gdLst/>
            <a:ahLst/>
            <a:cxnLst/>
            <a:rect l="l" t="t" r="r" b="b"/>
            <a:pathLst>
              <a:path w="190500" h="762000">
                <a:moveTo>
                  <a:pt x="0" y="571500"/>
                </a:moveTo>
                <a:lnTo>
                  <a:pt x="95250" y="762000"/>
                </a:lnTo>
                <a:lnTo>
                  <a:pt x="152400" y="647700"/>
                </a:lnTo>
                <a:lnTo>
                  <a:pt x="76200" y="647700"/>
                </a:lnTo>
                <a:lnTo>
                  <a:pt x="76200" y="632460"/>
                </a:lnTo>
                <a:lnTo>
                  <a:pt x="0" y="571500"/>
                </a:lnTo>
                <a:close/>
              </a:path>
              <a:path w="190500" h="762000">
                <a:moveTo>
                  <a:pt x="76200" y="632460"/>
                </a:moveTo>
                <a:lnTo>
                  <a:pt x="76200" y="647700"/>
                </a:lnTo>
                <a:lnTo>
                  <a:pt x="95250" y="647700"/>
                </a:lnTo>
                <a:lnTo>
                  <a:pt x="76200" y="632460"/>
                </a:lnTo>
                <a:close/>
              </a:path>
              <a:path w="190500" h="762000">
                <a:moveTo>
                  <a:pt x="114300" y="0"/>
                </a:moveTo>
                <a:lnTo>
                  <a:pt x="76200" y="0"/>
                </a:lnTo>
                <a:lnTo>
                  <a:pt x="76200" y="632460"/>
                </a:lnTo>
                <a:lnTo>
                  <a:pt x="95250" y="647700"/>
                </a:lnTo>
                <a:lnTo>
                  <a:pt x="114300" y="632460"/>
                </a:lnTo>
                <a:lnTo>
                  <a:pt x="114300" y="0"/>
                </a:lnTo>
                <a:close/>
              </a:path>
              <a:path w="190500" h="762000">
                <a:moveTo>
                  <a:pt x="114300" y="632460"/>
                </a:moveTo>
                <a:lnTo>
                  <a:pt x="95250" y="647700"/>
                </a:lnTo>
                <a:lnTo>
                  <a:pt x="114300" y="647700"/>
                </a:lnTo>
                <a:lnTo>
                  <a:pt x="114300" y="632460"/>
                </a:lnTo>
                <a:close/>
              </a:path>
              <a:path w="190500" h="762000">
                <a:moveTo>
                  <a:pt x="190500" y="571500"/>
                </a:moveTo>
                <a:lnTo>
                  <a:pt x="114300" y="632460"/>
                </a:lnTo>
                <a:lnTo>
                  <a:pt x="114300" y="647700"/>
                </a:lnTo>
                <a:lnTo>
                  <a:pt x="152400" y="647700"/>
                </a:lnTo>
                <a:lnTo>
                  <a:pt x="190500" y="57150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90859" y="2058161"/>
            <a:ext cx="190500" cy="533400"/>
          </a:xfrm>
          <a:custGeom>
            <a:avLst/>
            <a:gdLst/>
            <a:ahLst/>
            <a:cxnLst/>
            <a:rect l="l" t="t" r="r" b="b"/>
            <a:pathLst>
              <a:path w="190500" h="533400">
                <a:moveTo>
                  <a:pt x="0" y="342900"/>
                </a:moveTo>
                <a:lnTo>
                  <a:pt x="95250" y="533400"/>
                </a:lnTo>
                <a:lnTo>
                  <a:pt x="152400" y="419100"/>
                </a:lnTo>
                <a:lnTo>
                  <a:pt x="76200" y="419100"/>
                </a:lnTo>
                <a:lnTo>
                  <a:pt x="76200" y="403860"/>
                </a:lnTo>
                <a:lnTo>
                  <a:pt x="0" y="342900"/>
                </a:lnTo>
                <a:close/>
              </a:path>
              <a:path w="190500" h="533400">
                <a:moveTo>
                  <a:pt x="76200" y="403860"/>
                </a:moveTo>
                <a:lnTo>
                  <a:pt x="76200" y="419100"/>
                </a:lnTo>
                <a:lnTo>
                  <a:pt x="95250" y="419100"/>
                </a:lnTo>
                <a:lnTo>
                  <a:pt x="76200" y="403860"/>
                </a:lnTo>
                <a:close/>
              </a:path>
              <a:path w="190500" h="533400">
                <a:moveTo>
                  <a:pt x="114300" y="0"/>
                </a:moveTo>
                <a:lnTo>
                  <a:pt x="76200" y="0"/>
                </a:lnTo>
                <a:lnTo>
                  <a:pt x="76200" y="403860"/>
                </a:lnTo>
                <a:lnTo>
                  <a:pt x="95250" y="419100"/>
                </a:lnTo>
                <a:lnTo>
                  <a:pt x="114300" y="403860"/>
                </a:lnTo>
                <a:lnTo>
                  <a:pt x="114300" y="0"/>
                </a:lnTo>
                <a:close/>
              </a:path>
              <a:path w="190500" h="533400">
                <a:moveTo>
                  <a:pt x="114300" y="403860"/>
                </a:moveTo>
                <a:lnTo>
                  <a:pt x="95250" y="419100"/>
                </a:lnTo>
                <a:lnTo>
                  <a:pt x="114300" y="419100"/>
                </a:lnTo>
                <a:lnTo>
                  <a:pt x="114300" y="403860"/>
                </a:lnTo>
                <a:close/>
              </a:path>
              <a:path w="190500" h="533400">
                <a:moveTo>
                  <a:pt x="190500" y="342900"/>
                </a:moveTo>
                <a:lnTo>
                  <a:pt x="114300" y="403860"/>
                </a:lnTo>
                <a:lnTo>
                  <a:pt x="114300" y="419100"/>
                </a:lnTo>
                <a:lnTo>
                  <a:pt x="152400" y="419100"/>
                </a:lnTo>
                <a:lnTo>
                  <a:pt x="190500" y="34290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A28E-6174-8924-2FE4-196256B2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DA77C6-31E7-35AD-BE1C-8C02DA104A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ABCBEF-B141-23CB-086B-F7B34AC88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94093"/>
              </p:ext>
            </p:extLst>
          </p:nvPr>
        </p:nvGraphicFramePr>
        <p:xfrm>
          <a:off x="1271464" y="746720"/>
          <a:ext cx="8763000" cy="5852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ACTIVITY-BASED COSTING VERSUS TRADITIONAL PRODUCT COSTING</a:t>
                      </a:r>
                    </a:p>
                  </a:txBody>
                  <a:tcPr marT="45725" marB="45725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0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marT="45725" marB="45725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ABC</a:t>
                      </a:r>
                    </a:p>
                  </a:txBody>
                  <a:tcPr marT="45725" marB="45725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Traditional</a:t>
                      </a:r>
                    </a:p>
                  </a:txBody>
                  <a:tcPr marT="45725" marB="45725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16">
                <a:tc>
                  <a:txBody>
                    <a:bodyPr/>
                    <a:lstStyle/>
                    <a:p>
                      <a:pPr marL="342900" indent="-342900" algn="l" rtl="0" eaLnBrk="1" latinLnBrk="0" hangingPunct="1">
                        <a:buFont typeface="+mj-lt"/>
                        <a:buAutoNum type="arabicPeriod"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Number of cost pools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Numerous, based on key activities involved in product/service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number, based on key production/service departments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96">
                <a:tc>
                  <a:txBody>
                    <a:bodyPr/>
                    <a:lstStyle/>
                    <a:p>
                      <a:pPr marL="342900" indent="-342900" algn="l" rtl="0" eaLnBrk="1" latinLnBrk="0" hangingPunct="1">
                        <a:buFont typeface="+mj-lt"/>
                        <a:buAutoNum type="arabicPeriod" startAt="2"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Treatment of manufacturing overhead (MOH)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Allocated to products only if </a:t>
                      </a:r>
                      <a:r>
                        <a:rPr lang="en-US" sz="16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caused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by products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MOH allocated to products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6089">
                <a:tc>
                  <a:txBody>
                    <a:bodyPr/>
                    <a:lstStyle/>
                    <a:p>
                      <a:pPr marL="342900" indent="-342900" algn="l" rtl="0" eaLnBrk="1" latinLnBrk="0" hangingPunct="1">
                        <a:buFont typeface="+mj-lt"/>
                        <a:buAutoNum type="arabicPeriod" startAt="3"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Activity measures used for applying overhead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 of unit-level (e.g., labour-hours) and non-unit-level (e.g., batches); vary by activity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Typically, unit-level (e.g., labour-hours); vary by department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516">
                <a:tc>
                  <a:txBody>
                    <a:bodyPr/>
                    <a:lstStyle/>
                    <a:p>
                      <a:pPr marL="342900" indent="-342900" algn="l" rtl="0" eaLnBrk="1" latinLnBrk="0" hangingPunct="1">
                        <a:buFont typeface="+mj-lt"/>
                        <a:buAutoNum type="arabicPeriod" startAt="4"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Treatment of non-manufacturing overhead (e.g., shipping costs)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4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Allocated to products or customers if </a:t>
                      </a:r>
                      <a:r>
                        <a:rPr lang="en-US" sz="16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caused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by products or customers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4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Expensed as period costs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405">
                <a:tc>
                  <a:txBody>
                    <a:bodyPr/>
                    <a:lstStyle/>
                    <a:p>
                      <a:pPr marL="342900" indent="-342900" algn="l" rtl="0" eaLnBrk="1" latinLnBrk="0" hangingPunct="1">
                        <a:buFont typeface="+mj-lt"/>
                        <a:buAutoNum type="arabicPeriod" startAt="5"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Treatment of direct materials and labour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5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Directly traced to cost objects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5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Directly traced to cost objects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88">
                <a:tc>
                  <a:txBody>
                    <a:bodyPr/>
                    <a:lstStyle/>
                    <a:p>
                      <a:pPr marL="342900" indent="-342900" algn="l" rtl="0" eaLnBrk="1" latinLnBrk="0" hangingPunct="1">
                        <a:buFont typeface="+mj-lt"/>
                        <a:buAutoNum type="arabicPeriod" startAt="6"/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for external financial reporting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6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Usually requires modification because of items 2 and 4 (see Appendix 7A)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6"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Typically, no modifications required as it conforms to GAAP</a:t>
                      </a:r>
                    </a:p>
                  </a:txBody>
                  <a:tcPr marT="45725" marB="4572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989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3CAD-5AD2-D041-1F65-491E0921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00B430D-5E14-FB08-AD8B-5AD1174178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&amp; External Reporting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7AF1F-4A85-0225-D9AB-EC4CD81E957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3456384"/>
          </a:xfrm>
        </p:spPr>
        <p:txBody>
          <a:bodyPr/>
          <a:lstStyle/>
          <a:p>
            <a:pPr marL="0" indent="0">
              <a:spcBef>
                <a:spcPct val="50000"/>
              </a:spcBef>
              <a:buClr>
                <a:srgbClr val="213260"/>
              </a:buClr>
              <a:buNone/>
              <a:defRPr/>
            </a:pPr>
            <a:r>
              <a:rPr lang="en-CA" sz="2400" dirty="0">
                <a:solidFill>
                  <a:schemeClr val="tx1"/>
                </a:solidFill>
              </a:rPr>
              <a:t>Most companies do not use ABC for external reporting because </a:t>
            </a:r>
            <a:r>
              <a:rPr lang="en-CA" sz="2400" dirty="0">
                <a:solidFill>
                  <a:schemeClr val="tx1"/>
                </a:solidFill>
                <a:sym typeface="Wingdings" pitchFamily="2" charset="2"/>
              </a:rPr>
              <a:t></a:t>
            </a:r>
            <a:endParaRPr lang="en-CA" sz="2400" dirty="0"/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CA" sz="2400" dirty="0"/>
              <a:t>External reports are less detailed than internal reports.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CA" sz="2400" dirty="0"/>
              <a:t>It may be difficult to make changes to the company’s accounting system.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CA" sz="2400" dirty="0"/>
              <a:t>ABC does not conform to GAAP.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  <a:defRPr/>
            </a:pPr>
            <a:r>
              <a:rPr lang="en-CA" sz="2400" dirty="0"/>
              <a:t>Auditors may be suspect of the subjective allocation process that is based on interviews with employees.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3132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ADF172B-7D3F-7BEF-49DB-A7D701308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ABC Advantages and Disadvantages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43747"/>
              </p:ext>
            </p:extLst>
          </p:nvPr>
        </p:nvGraphicFramePr>
        <p:xfrm>
          <a:off x="947420" y="1196752"/>
          <a:ext cx="10297160" cy="4834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4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Disadvantages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840"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305"/>
                        </a:spcBef>
                        <a:buChar char="•"/>
                        <a:tabLst>
                          <a:tab pos="377825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accurate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costs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377825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Behaviour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377825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20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Spending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377825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managed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better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605"/>
                        </a:spcBef>
                        <a:buChar char="•"/>
                        <a:tabLst>
                          <a:tab pos="377825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allows you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assign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overhead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expensive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products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30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implementation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378460" marR="610235" indent="-287020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require experts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378460" marR="292735" indent="-287020">
                        <a:lnSpc>
                          <a:spcPct val="100000"/>
                        </a:lnSpc>
                        <a:spcBef>
                          <a:spcPts val="600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Does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conform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GAAP;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costing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systems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needed,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external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reporting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one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internal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reporting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375285" marR="136525" indent="-283845" algn="just">
                        <a:lnSpc>
                          <a:spcPct val="100000"/>
                        </a:lnSpc>
                        <a:spcBef>
                          <a:spcPts val="60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resulting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good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the 	</a:t>
                      </a:r>
                      <a:r>
                        <a:rPr sz="20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assumptions</a:t>
                      </a:r>
                      <a:r>
                        <a:rPr sz="20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went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into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divisions 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cost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estimation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being 	tracked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375285" marR="429895" indent="-283845" algn="just">
                        <a:lnSpc>
                          <a:spcPct val="100000"/>
                        </a:lnSpc>
                        <a:spcBef>
                          <a:spcPts val="605"/>
                        </a:spcBef>
                        <a:buChar char="•"/>
                        <a:tabLst>
                          <a:tab pos="378460" algn="l"/>
                        </a:tabLst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Difficulty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assigning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certain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overhead 	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costs,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e.g.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executive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salaries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ED07CC4-231C-A112-E486-B9AD20FAE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When is ABC Most Beneficial?</a:t>
            </a:r>
          </a:p>
        </p:txBody>
      </p:sp>
      <p:sp>
        <p:nvSpPr>
          <p:cNvPr id="3" name="object 3"/>
          <p:cNvSpPr/>
          <p:nvPr/>
        </p:nvSpPr>
        <p:spPr>
          <a:xfrm>
            <a:off x="1035558" y="4510278"/>
            <a:ext cx="10401300" cy="1440180"/>
          </a:xfrm>
          <a:custGeom>
            <a:avLst/>
            <a:gdLst/>
            <a:ahLst/>
            <a:cxnLst/>
            <a:rect l="l" t="t" r="r" b="b"/>
            <a:pathLst>
              <a:path w="10401300" h="1440179">
                <a:moveTo>
                  <a:pt x="0" y="240030"/>
                </a:moveTo>
                <a:lnTo>
                  <a:pt x="4876" y="191648"/>
                </a:lnTo>
                <a:lnTo>
                  <a:pt x="18863" y="146589"/>
                </a:lnTo>
                <a:lnTo>
                  <a:pt x="40993" y="105816"/>
                </a:lnTo>
                <a:lnTo>
                  <a:pt x="70304" y="70294"/>
                </a:lnTo>
                <a:lnTo>
                  <a:pt x="105827" y="40987"/>
                </a:lnTo>
                <a:lnTo>
                  <a:pt x="146600" y="18859"/>
                </a:lnTo>
                <a:lnTo>
                  <a:pt x="191656" y="4875"/>
                </a:lnTo>
                <a:lnTo>
                  <a:pt x="240029" y="0"/>
                </a:lnTo>
                <a:lnTo>
                  <a:pt x="10161270" y="0"/>
                </a:lnTo>
                <a:lnTo>
                  <a:pt x="10209651" y="4875"/>
                </a:lnTo>
                <a:lnTo>
                  <a:pt x="10254710" y="18859"/>
                </a:lnTo>
                <a:lnTo>
                  <a:pt x="10295483" y="40987"/>
                </a:lnTo>
                <a:lnTo>
                  <a:pt x="10331005" y="70294"/>
                </a:lnTo>
                <a:lnTo>
                  <a:pt x="10360312" y="105816"/>
                </a:lnTo>
                <a:lnTo>
                  <a:pt x="10382440" y="146589"/>
                </a:lnTo>
                <a:lnTo>
                  <a:pt x="10396424" y="191648"/>
                </a:lnTo>
                <a:lnTo>
                  <a:pt x="10401300" y="240030"/>
                </a:lnTo>
                <a:lnTo>
                  <a:pt x="10401300" y="1200150"/>
                </a:lnTo>
                <a:lnTo>
                  <a:pt x="10396424" y="1248523"/>
                </a:lnTo>
                <a:lnTo>
                  <a:pt x="10382440" y="1293579"/>
                </a:lnTo>
                <a:lnTo>
                  <a:pt x="10360312" y="1334352"/>
                </a:lnTo>
                <a:lnTo>
                  <a:pt x="10331005" y="1369875"/>
                </a:lnTo>
                <a:lnTo>
                  <a:pt x="10295483" y="1399186"/>
                </a:lnTo>
                <a:lnTo>
                  <a:pt x="10254710" y="1421316"/>
                </a:lnTo>
                <a:lnTo>
                  <a:pt x="10209651" y="1435303"/>
                </a:lnTo>
                <a:lnTo>
                  <a:pt x="10161270" y="1440180"/>
                </a:lnTo>
                <a:lnTo>
                  <a:pt x="240029" y="1440180"/>
                </a:lnTo>
                <a:lnTo>
                  <a:pt x="191656" y="1435303"/>
                </a:lnTo>
                <a:lnTo>
                  <a:pt x="146600" y="1421316"/>
                </a:lnTo>
                <a:lnTo>
                  <a:pt x="105827" y="1399186"/>
                </a:lnTo>
                <a:lnTo>
                  <a:pt x="70304" y="1369875"/>
                </a:lnTo>
                <a:lnTo>
                  <a:pt x="40993" y="1334352"/>
                </a:lnTo>
                <a:lnTo>
                  <a:pt x="18863" y="1293579"/>
                </a:lnTo>
                <a:lnTo>
                  <a:pt x="4876" y="1248523"/>
                </a:lnTo>
                <a:lnTo>
                  <a:pt x="0" y="1200150"/>
                </a:lnTo>
                <a:lnTo>
                  <a:pt x="0" y="240030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0123" y="1433322"/>
            <a:ext cx="10514330" cy="428625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5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When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products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differ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significantly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their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use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firm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resources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What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contributes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different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usage</a:t>
            </a:r>
            <a:r>
              <a:rPr sz="24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resources?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</a:t>
            </a:r>
            <a:r>
              <a:rPr sz="2400" spc="-1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diversity</a:t>
            </a:r>
            <a:r>
              <a:rPr sz="2400" spc="-10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(functions</a:t>
            </a:r>
            <a:r>
              <a:rPr sz="24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used,</a:t>
            </a:r>
            <a:r>
              <a:rPr sz="24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inspections</a:t>
            </a:r>
            <a:r>
              <a:rPr sz="2400" spc="-9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required,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batch</a:t>
            </a:r>
            <a:r>
              <a:rPr sz="2400" spc="-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sizes,….)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Production</a:t>
            </a:r>
            <a:r>
              <a:rPr sz="2400" spc="-1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complexity</a:t>
            </a:r>
            <a:endParaRPr sz="2400" dirty="0">
              <a:latin typeface="Arial MT"/>
              <a:cs typeface="Arial MT"/>
            </a:endParaRPr>
          </a:p>
          <a:p>
            <a:pPr marL="919480" lvl="1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919480" algn="l"/>
              </a:tabLst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Customer</a:t>
            </a:r>
            <a:r>
              <a:rPr sz="2400" spc="-8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diversity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(order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sizes,</a:t>
            </a:r>
            <a:r>
              <a:rPr sz="24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distribution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requirements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Arial MT"/>
              <a:cs typeface="Arial MT"/>
            </a:endParaRPr>
          </a:p>
          <a:p>
            <a:pPr marL="3178810" marR="5080" indent="-2470785">
              <a:lnSpc>
                <a:spcPct val="100000"/>
              </a:lnSpc>
            </a:pPr>
            <a:r>
              <a:rPr sz="3200" spc="-10" dirty="0">
                <a:latin typeface="Arial MT"/>
                <a:cs typeface="Arial MT"/>
              </a:rPr>
              <a:t>Remember:</a:t>
            </a:r>
            <a:r>
              <a:rPr sz="3200" spc="-2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ABC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estimates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allocation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costs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still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exact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science!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8889BAE-8E3D-CF76-A2C6-605927BC8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“ABC” in the News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980728"/>
            <a:ext cx="11036935" cy="341122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85"/>
              </a:spcBef>
              <a:buClr>
                <a:srgbClr val="252525"/>
              </a:buClr>
              <a:buSzPct val="79166"/>
              <a:buChar char="•"/>
              <a:tabLst>
                <a:tab pos="469265" algn="l"/>
              </a:tabLst>
            </a:pPr>
            <a:r>
              <a:rPr sz="24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https://www.youtube.com/watch?v=d8bTeF-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-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rPs&amp;t=91s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Fact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8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Day</a:t>
            </a:r>
            <a:endParaRPr sz="2800" dirty="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spcBef>
                <a:spcPts val="1270"/>
              </a:spcBef>
              <a:buSzPct val="80357"/>
              <a:buChar char="•"/>
              <a:tabLst>
                <a:tab pos="469900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COVID-</a:t>
            </a:r>
            <a:r>
              <a:rPr sz="2800" dirty="0">
                <a:latin typeface="Arial MT"/>
                <a:cs typeface="Arial MT"/>
              </a:rPr>
              <a:t>19–related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hospitalization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ICU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admission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estimated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$50,000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—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3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a </a:t>
            </a:r>
            <a:r>
              <a:rPr sz="2800" dirty="0">
                <a:latin typeface="Arial MT"/>
                <a:cs typeface="Arial MT"/>
              </a:rPr>
              <a:t>stay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without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ICU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admission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($15,000).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comparison,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average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ICU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admission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pneumonia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$22,000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heart </a:t>
            </a:r>
            <a:r>
              <a:rPr sz="2800" dirty="0">
                <a:latin typeface="Arial MT"/>
                <a:cs typeface="Arial MT"/>
              </a:rPr>
              <a:t>attack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$8,400.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820" y="4996368"/>
            <a:ext cx="8976360" cy="462280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2400" spc="-20" dirty="0">
                <a:latin typeface="Arial MT"/>
                <a:cs typeface="Arial MT"/>
              </a:rPr>
              <a:t>HOW?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103E23-3D7C-4E39-9DD5-75683B020A9E}">
  <ds:schemaRefs>
    <ds:schemaRef ds:uri="http://schemas.microsoft.com/office/2006/documentManagement/types"/>
    <ds:schemaRef ds:uri="c18c8954-ab2f-4275-a5d7-b9aa33856ba2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purl.org/dc/terms/"/>
    <ds:schemaRef ds:uri="7e677d30-5ff7-4313-a396-6d249a69ab27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10931</TotalTime>
  <Words>2253</Words>
  <Application>Microsoft Office PowerPoint</Application>
  <PresentationFormat>Widescreen</PresentationFormat>
  <Paragraphs>465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Calibri</vt:lpstr>
      <vt:lpstr>Arial MT</vt:lpstr>
      <vt:lpstr>Times New Roman</vt:lpstr>
      <vt:lpstr>Wingdings</vt:lpstr>
      <vt:lpstr>Calibri Light</vt:lpstr>
      <vt:lpstr>Arial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    RSM222 Management Accounting 1  Class 5: Costing Systems – ABC Costing </vt:lpstr>
      <vt:lpstr>PowerPoint Presentation</vt:lpstr>
      <vt:lpstr>Product Costing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Guest</cp:lastModifiedBy>
  <cp:revision>188</cp:revision>
  <cp:lastPrinted>2025-09-11T22:16:33Z</cp:lastPrinted>
  <dcterms:created xsi:type="dcterms:W3CDTF">2013-07-26T14:57:40Z</dcterms:created>
  <dcterms:modified xsi:type="dcterms:W3CDTF">2025-09-30T14:05:51Z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