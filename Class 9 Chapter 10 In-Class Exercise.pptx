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2" r:id="rId4"/>
    <p:sldMasterId id="2147483759" r:id="rId5"/>
    <p:sldMasterId id="2147483769" r:id="rId6"/>
    <p:sldMasterId id="2147483779" r:id="rId7"/>
    <p:sldMasterId id="2147483789" r:id="rId8"/>
    <p:sldMasterId id="2147483799" r:id="rId9"/>
    <p:sldMasterId id="2147483827" r:id="rId10"/>
  </p:sldMasterIdLst>
  <p:notesMasterIdLst>
    <p:notesMasterId r:id="rId26"/>
  </p:notesMasterIdLst>
  <p:sldIdLst>
    <p:sldId id="256" r:id="rId11"/>
    <p:sldId id="270" r:id="rId12"/>
    <p:sldId id="707" r:id="rId13"/>
    <p:sldId id="708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706" r:id="rId25"/>
  </p:sldIdLst>
  <p:sldSz cx="12192000" cy="6858000"/>
  <p:notesSz cx="6985000" cy="9283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 userDrawn="1">
          <p15:clr>
            <a:srgbClr val="A4A3A4"/>
          </p15:clr>
        </p15:guide>
        <p15:guide id="2" pos="220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037C"/>
    <a:srgbClr val="CF55A1"/>
    <a:srgbClr val="EACC1B"/>
    <a:srgbClr val="929292"/>
    <a:srgbClr val="FCAF17"/>
    <a:srgbClr val="CE9D00"/>
    <a:srgbClr val="00C2E2"/>
    <a:srgbClr val="7C98AE"/>
    <a:srgbClr val="FF8C3F"/>
    <a:srgbClr val="398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E03BFF-52F3-8484-77CF-72FB44359821}" v="11" dt="2025-11-04T15:10:31.9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89" autoAdjust="0"/>
    <p:restoredTop sz="50000" autoAdjust="0"/>
  </p:normalViewPr>
  <p:slideViewPr>
    <p:cSldViewPr>
      <p:cViewPr varScale="1">
        <p:scale>
          <a:sx n="63" d="100"/>
          <a:sy n="63" d="100"/>
        </p:scale>
        <p:origin x="1008" y="56"/>
      </p:cViewPr>
      <p:guideLst>
        <p:guide orient="horz" pos="2160"/>
        <p:guide pos="3840"/>
        <p:guide pos="39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2664" y="-96"/>
      </p:cViewPr>
      <p:guideLst>
        <p:guide orient="horz" pos="2924"/>
        <p:guide pos="22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0A013A6D-A27B-464A-8085-12C2023C33AE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696913"/>
            <a:ext cx="6188075" cy="3481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8500" y="4409758"/>
            <a:ext cx="5588000" cy="4177665"/>
          </a:xfrm>
          <a:prstGeom prst="rect">
            <a:avLst/>
          </a:prstGeom>
        </p:spPr>
        <p:txBody>
          <a:bodyPr vert="horz" lIns="92958" tIns="46479" rIns="92958" bIns="464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56550" y="8817904"/>
            <a:ext cx="3026833" cy="464185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99B22804-678A-4588-8318-46D4BE492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19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Blank - Log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A7E160-31FD-C540-B0FF-DC1FB7686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DC81263-C894-4873-89C2-971E5590E23B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60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Bar -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0ED6BF8-7C6F-6F4F-967B-BD627575E3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0980B6D-915E-41AE-AD5B-A36BF2CAC5C5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20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8315FBE-0FCD-7A43-A51F-8D7A70A8E2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1C3432-9C42-4A48-825B-C3094C036AEB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730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09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43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Basic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9783AF-9CA9-F643-9710-CDABBD628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C88A52-FA99-4BEC-9A78-5E07FCAB4954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98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C0562C7-A6C2-594B-86B1-EC3B8C2D7C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0C1E9A2-12C1-4979-AFFA-5E8BA8DB4F7D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18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- With Formal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6D2C611-B2AF-49AE-AFE1-B2114802218D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DD24ED-7FEE-BC40-8BEB-EFDEB1B510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36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46EC379-6D58-A14A-BEBA-44C77DE61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751478A-F9E3-4EE4-9087-211C1938799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59" y="4583089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81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13D517-41DE-5D40-A368-5FB76062B4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5D07D92-6294-4F14-86FE-D10AC9A801A2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1D495-C219-A746-8610-2F0C983835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409" y="5651500"/>
            <a:ext cx="2842199" cy="75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2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6534C-45DE-41A8-AA2B-DD797E8BAE16}" type="datetime1">
              <a:rPr lang="en-US" smtClean="0"/>
              <a:t>11/4/2025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This is the slide footer, which can be edited under Header &amp; Footer, along with slide numbers and date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792" y="4542655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7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2859" y="210769"/>
            <a:ext cx="11346281" cy="468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F8B65-1483-4B3F-A448-0521E8C9ED3A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82504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88975-7FA8-4990-A221-A8D4AA93DF1B}" type="datetime1">
              <a:rPr lang="en-US" smtClean="0"/>
              <a:t>11/4/2025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952010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263B5-A16B-4CBF-89AF-1583C81BD7FF}" type="datetime1">
              <a:rPr lang="en-US" smtClean="0"/>
              <a:t>11/4/2025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919446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3021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EDAA2-DF3E-4D48-856F-FB5399E9F66B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3372553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0EEC23F-7C14-469F-A1B9-38D397306EDD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0617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59B159E-9C66-4E28-A9E0-71CCCBDB9217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EC20C1-EED5-9F44-9014-775D277A0C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5174B0-7AB5-F542-A5F8-596151682DE7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99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29DE60-3DCA-4247-9B9A-9CF7F29EAB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E1691D9-E12D-42C0-8BA1-F5A1373BE1C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0D783E-D406-104A-8E62-287FB56CA2E9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02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Bar -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A868AFA-FE36-4FFE-A031-ED80A79D509B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99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760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390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Blank - 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00C2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4BDE068-A8D9-459D-AC95-5BD6982A9031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1320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4FAEB19-06AB-4F2D-BE96-61EE880A4037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5961784"/>
            <a:ext cx="11713301" cy="563563"/>
          </a:xfrm>
        </p:spPr>
        <p:txBody>
          <a:bodyPr anchor="b">
            <a:normAutofit/>
          </a:bodyPr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8771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61E413C-54E0-0E47-9173-86A258A0A7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DD7E247-1F04-458A-9755-259C385159AB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3361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FC9C2BC-0E48-6041-8B55-69563B3D23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B2F29FF-CD2E-4E47-819B-780FE6BE24A4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363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Cyan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79D93F3-E9DF-6A47-A3B6-27C4DC28D3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00C2E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7D5D68-E52E-4203-9A92-55A760F85E0D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00C2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D61C1D-0A55-2249-AE5E-EBFB47DADBC4}"/>
              </a:ext>
            </a:extLst>
          </p:cNvPr>
          <p:cNvSpPr/>
          <p:nvPr userDrawn="1"/>
        </p:nvSpPr>
        <p:spPr>
          <a:xfrm>
            <a:off x="10200456" y="6417921"/>
            <a:ext cx="1872208" cy="4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6423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C9118D4-9F30-447E-848C-3E56CBEBE4F4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684829-7E9C-F64F-9C1B-54FA176E0A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0DFE46C-76B7-0F41-A5F3-963324091D7F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600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D32BE11-4D8F-1740-BE19-BE288FB716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3D877D-EBF1-49DB-A072-4E9B70D223C6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8248FB-0E2E-BA44-BA49-725257B11DF0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7457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56E6461-DFDE-413E-BCDC-E5351B674790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4610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6421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0977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07B4548-819E-4C00-8C36-57BF13901DBD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1213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op Bar - 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ECA07C-CB2E-4A6F-987C-8933693716E0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1544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B606A2-C5BE-8347-AC2D-E16F02D330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3CB5EE4-02A8-4F4F-AF71-F2F97FA0C0D9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530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F74C05C-EDD5-DE4E-A665-68D9CD302E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BCF6243-C493-4C50-BECA-51D2680F588D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463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sic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EB1F70B-7F65-7D47-95E6-F3E523AD0D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0AAD8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05AC2C6-CC36-47EF-BE8D-83E3AE7A39C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9B4413-1374-5B4E-B988-72DF93ECD468}"/>
              </a:ext>
            </a:extLst>
          </p:cNvPr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20C128-7ABB-1B44-A68F-ECCC4C7A0E18}"/>
              </a:ext>
            </a:extLst>
          </p:cNvPr>
          <p:cNvSpPr/>
          <p:nvPr userDrawn="1"/>
        </p:nvSpPr>
        <p:spPr>
          <a:xfrm>
            <a:off x="10200456" y="6417921"/>
            <a:ext cx="1872208" cy="4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074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8EAA225-43EB-49CC-9625-09C5D0CC1807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863" y="476672"/>
            <a:ext cx="1510777" cy="24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7ADDDE-045B-E44F-BDEA-08AE7E6AC4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069" y="318420"/>
            <a:ext cx="1616364" cy="41768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A9C1ECB-7705-6B42-B534-5DF04A5F771B}"/>
              </a:ext>
            </a:extLst>
          </p:cNvPr>
          <p:cNvSpPr/>
          <p:nvPr userDrawn="1"/>
        </p:nvSpPr>
        <p:spPr>
          <a:xfrm>
            <a:off x="10345863" y="347241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4776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05B02B6-E7B4-42F3-90B2-2801B747EAE3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D90012-C036-0F41-B75F-09A3674CE1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9EC9B9-43AC-CB49-8487-347669B75B16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668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ar - Logo Bottom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2983B62-8B8E-4396-AAC0-029254DDE05B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5572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733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225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D60A48C-828F-4C74-85B6-794E5A2C5D6A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2059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8204AA-A46B-482B-9D21-B43E59128823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5961784"/>
            <a:ext cx="11713301" cy="563563"/>
          </a:xfrm>
        </p:spPr>
        <p:txBody>
          <a:bodyPr anchor="b"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0750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50FE744-3BC4-0C41-A71D-DB17FDE4A6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D382845-11ED-4EB8-9640-DD33DC65F96D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530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EF07A5D-A511-024A-BFBF-792F92A4D9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5EF182A-FB98-480A-9C7C-7811435576C6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689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E40A3BE-0884-9A40-9729-B4511D3904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3989C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F7DCC81-9C0B-407A-AC87-A022B5FF8E16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A79E1E-4059-6D4C-B2DA-D243E675219E}"/>
              </a:ext>
            </a:extLst>
          </p:cNvPr>
          <p:cNvSpPr/>
          <p:nvPr userDrawn="1"/>
        </p:nvSpPr>
        <p:spPr>
          <a:xfrm>
            <a:off x="10200456" y="6417921"/>
            <a:ext cx="1728192" cy="32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619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C7091C9-50D1-4B3B-AE95-6538AA595F8F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28924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3E69555-D04C-4701-AB19-0B211266A9BF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CC098A-9E4A-0E46-9529-FEABB0D27F62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8CCDB9-4EA1-EB48-A095-88664431E2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6141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3489B49-3815-4A08-9320-389A0F7D6AFD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95188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2682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2211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EC4451B-16AF-4D16-A530-933208496501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6613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50C6CFD-519D-41A3-99F2-FAE9DD011415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2919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0D5F9C7-9FF4-F941-8C81-F3197D2D03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651C4A-EDF0-4FE1-A52A-76F290528895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4244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D3160C0-A6C3-6145-BC13-2FF2038ECF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D5AB31F-EF1E-4C98-A04F-0A3648BBA970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3552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9528109-03A2-E64F-967C-36BC1EFB1F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FCAF1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BE26218-A5B9-4E80-878F-DBCFACBF30C9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FCAF1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E75FC-B753-5945-B1F8-09D61C52AB2C}"/>
              </a:ext>
            </a:extLst>
          </p:cNvPr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F8600E-CCBB-3648-941C-B98583C319F9}"/>
              </a:ext>
            </a:extLst>
          </p:cNvPr>
          <p:cNvSpPr/>
          <p:nvPr userDrawn="1"/>
        </p:nvSpPr>
        <p:spPr>
          <a:xfrm>
            <a:off x="10200456" y="6417921"/>
            <a:ext cx="1728192" cy="32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8899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lank with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F3BB86-6445-456B-B00D-98A3E75CB0BA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0917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lank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172B862-DC74-442F-820A-A2A58A496AB0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35456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Bar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A7933AB-54BF-478C-8E1B-42B08795FE4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A9C6CD-C211-CD45-AF14-B91B0C3675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5C0DB1-217D-D84F-BCFF-D85D9250277D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365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97FC774-152B-4C82-917D-645053E2AC73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AFE199-E756-F240-9DD5-700C15C11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1424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01585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9053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ty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E07093A-6BD4-4E03-BB46-27F22930560B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48160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1957994-B2A1-4E2A-9557-58020F828B0A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55956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D85D5B3-F476-1948-B9C5-A6FAFD8D8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14AB20-C775-4524-84AC-D2ED5DAF412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10576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A19CBFF-5DA8-C341-A194-572FB5991E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5407160-66BB-49B8-B3DD-0005465EAFD6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467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ty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92929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DF0C750-8BCA-48D8-AC8D-73EB38A4B137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2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B46D33-AEE0-4B44-96C5-9DF44DA9F4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FBFAEFA-7989-2D4E-B407-C70594E59033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2546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Blank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C29CC7E-DC52-4939-AC1F-796D56CE109E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9EBD09-9E6C-EA45-8A15-D292326849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54153"/>
            <a:ext cx="1440161" cy="22849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B6B18B-AB28-AA4D-83BD-446B5D203650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0111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ar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2208BB1-B402-4387-8CFF-84B532F8A4E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C5FD76-5D1E-DD46-92C4-84879FCD4A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D2CD78-9605-124A-BD79-E9E50314E2B9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671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E313E0F-CEB1-4D88-BC27-54F7A2EA785C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2799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42764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7BBE12-5279-134C-8C5C-B521F5578401}"/>
              </a:ext>
            </a:extLst>
          </p:cNvPr>
          <p:cNvSpPr/>
          <p:nvPr userDrawn="1"/>
        </p:nvSpPr>
        <p:spPr>
          <a:xfrm>
            <a:off x="10272464" y="6309320"/>
            <a:ext cx="1584175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37898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EACC1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DBF29EB-1CAF-42D5-A3ED-0FB8398F04E9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654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D4240F8-07ED-4467-B016-17843176ECF7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20158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11DAD7-7E79-4C01-AD23-8F7F083D0A6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A26479-5203-0C49-B7D7-8080A14B66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9676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4EE84C1-B19C-4F79-8A67-00A4DCDDD9C8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1CA3E9-B6E4-8A4B-8871-5A4E67F333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04037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6C91FA7-57C1-4941-9861-38B69BDC2235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EACC1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1D495-C219-A746-8610-2F0C983835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409" y="5651500"/>
            <a:ext cx="2842199" cy="7572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EAC545-525B-E24B-883C-56D60E4E60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348241C-3B0A-7749-B7A2-6AD8F3FB35F6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4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F13BF13-5C1A-43F5-8E5F-E63ED09CFA19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070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694" r:id="rId2"/>
    <p:sldLayoutId id="2147483757" r:id="rId3"/>
    <p:sldLayoutId id="2147483815" r:id="rId4"/>
    <p:sldLayoutId id="2147483816" r:id="rId5"/>
    <p:sldLayoutId id="2147483695" r:id="rId6"/>
    <p:sldLayoutId id="2147483697" r:id="rId7"/>
    <p:sldLayoutId id="2147483700" r:id="rId8"/>
    <p:sldLayoutId id="2147483809" r:id="rId9"/>
    <p:sldLayoutId id="2147483758" r:id="rId10"/>
    <p:sldLayoutId id="2147483839" r:id="rId11"/>
    <p:sldLayoutId id="2147483841" r:id="rId12"/>
    <p:sldLayoutId id="2147483844" r:id="rId13"/>
    <p:sldLayoutId id="2147483845" r:id="rId14"/>
    <p:sldLayoutId id="2147483846" r:id="rId15"/>
    <p:sldLayoutId id="2147483847" r:id="rId1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ED03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E61E5-4F51-5244-AF22-7E7830F6013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23BEAF0-9531-439F-A5E2-5A73EE5D0C27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461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817" r:id="rId5"/>
    <p:sldLayoutId id="2147483818" r:id="rId6"/>
    <p:sldLayoutId id="2147483764" r:id="rId7"/>
    <p:sldLayoutId id="2147483765" r:id="rId8"/>
    <p:sldLayoutId id="2147483767" r:id="rId9"/>
    <p:sldLayoutId id="2147483810" r:id="rId10"/>
    <p:sldLayoutId id="214748376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00C2E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506057-B2D2-8D43-A4F7-12D8B3B0A82F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6E1617C-1B21-4073-96B0-CD63E59AB7E0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826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819" r:id="rId4"/>
    <p:sldLayoutId id="2147483820" r:id="rId5"/>
    <p:sldLayoutId id="2147483774" r:id="rId6"/>
    <p:sldLayoutId id="2147483776" r:id="rId7"/>
    <p:sldLayoutId id="2147483777" r:id="rId8"/>
    <p:sldLayoutId id="2147483811" r:id="rId9"/>
    <p:sldLayoutId id="214748377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0AAD8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19A9C5-52BF-F84D-A94B-A728BCB51A2B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6E4B64D-87D1-4754-A671-7503FD453606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03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821" r:id="rId4"/>
    <p:sldLayoutId id="2147483822" r:id="rId5"/>
    <p:sldLayoutId id="2147483784" r:id="rId6"/>
    <p:sldLayoutId id="2147483785" r:id="rId7"/>
    <p:sldLayoutId id="2147483787" r:id="rId8"/>
    <p:sldLayoutId id="2147483812" r:id="rId9"/>
    <p:sldLayoutId id="214748378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3989C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DC6D27-6BC2-DC43-9B42-6982FEEBBA2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F0AE750-AED6-4FC9-B676-5D500A12F61A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823" r:id="rId4"/>
    <p:sldLayoutId id="2147483824" r:id="rId5"/>
    <p:sldLayoutId id="2147483794" r:id="rId6"/>
    <p:sldLayoutId id="2147483796" r:id="rId7"/>
    <p:sldLayoutId id="2147483797" r:id="rId8"/>
    <p:sldLayoutId id="2147483813" r:id="rId9"/>
    <p:sldLayoutId id="214748379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FCAF1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1CAB05-2034-4AA0-A8B5-541E5845A646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1E2860-83AC-7A4B-943A-076630A98A8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93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25" r:id="rId5"/>
    <p:sldLayoutId id="2147483826" r:id="rId6"/>
    <p:sldLayoutId id="2147483804" r:id="rId7"/>
    <p:sldLayoutId id="2147483806" r:id="rId8"/>
    <p:sldLayoutId id="2147483807" r:id="rId9"/>
    <p:sldLayoutId id="2147483814" r:id="rId10"/>
    <p:sldLayoutId id="2147483808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92929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03CABBC-1DA2-49DD-BC1B-AC2E3B9E91C1}" type="datetime1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BA3B90-0677-3D47-A75A-7CA89423C63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72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5" r:id="rId7"/>
    <p:sldLayoutId id="2147483836" r:id="rId8"/>
    <p:sldLayoutId id="2147483837" r:id="rId9"/>
    <p:sldLayoutId id="2147483838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EACC1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368" y="3573016"/>
            <a:ext cx="10363200" cy="2010147"/>
          </a:xfrm>
        </p:spPr>
        <p:txBody>
          <a:bodyPr>
            <a:normAutofit fontScale="90000"/>
          </a:bodyPr>
          <a:lstStyle/>
          <a:p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r>
              <a:rPr lang="en-CA" dirty="0"/>
              <a:t>RSM222</a:t>
            </a:r>
            <a:br>
              <a:rPr lang="en-CA" dirty="0"/>
            </a:br>
            <a:r>
              <a:rPr lang="en-CA" sz="3900" dirty="0"/>
              <a:t>Management Accounting 1</a:t>
            </a:r>
            <a:br>
              <a:rPr lang="en-CA" sz="3900" dirty="0"/>
            </a:br>
            <a:br>
              <a:rPr lang="en-CA" sz="3900" dirty="0"/>
            </a:br>
            <a:r>
              <a:rPr lang="en-CA" sz="3100" dirty="0"/>
              <a:t>Class 9: In Class Exercise – Variance Analysis</a:t>
            </a:r>
            <a:br>
              <a:rPr lang="en-CA" sz="3900" dirty="0"/>
            </a:br>
            <a:endParaRPr lang="en-CA" sz="3900"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261764" y="6093296"/>
            <a:ext cx="10363200" cy="504056"/>
          </a:xfrm>
        </p:spPr>
        <p:txBody>
          <a:bodyPr>
            <a:normAutofit/>
          </a:bodyPr>
          <a:lstStyle/>
          <a:p>
            <a:r>
              <a:rPr lang="en-CA" dirty="0"/>
              <a:t>Elisa Zuliani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52327-40D4-DB86-08A7-3C044CEB8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DB38-6350-4CC9-AB0E-B9078CE1CE4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622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</a:rPr>
              <a:t>IN</a:t>
            </a:r>
            <a:r>
              <a:rPr sz="3600" spc="-15" dirty="0">
                <a:solidFill>
                  <a:srgbClr val="FFFFFF"/>
                </a:solidFill>
              </a:rPr>
              <a:t> </a:t>
            </a:r>
            <a:r>
              <a:rPr sz="3600" dirty="0">
                <a:solidFill>
                  <a:srgbClr val="FFFFFF"/>
                </a:solidFill>
              </a:rPr>
              <a:t>CLASS</a:t>
            </a:r>
            <a:r>
              <a:rPr sz="3600" spc="-10" dirty="0">
                <a:solidFill>
                  <a:srgbClr val="FFFFFF"/>
                </a:solidFill>
              </a:rPr>
              <a:t> EXAMPLE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58190" y="2638805"/>
            <a:ext cx="2316504" cy="873957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CA" sz="2800" b="1">
                <a:solidFill>
                  <a:srgbClr val="FFFFFF"/>
                </a:solidFill>
                <a:latin typeface="Arial"/>
                <a:cs typeface="Arial"/>
              </a:rPr>
              <a:t>Emerson Sports</a:t>
            </a:r>
          </a:p>
        </p:txBody>
      </p:sp>
      <p:pic>
        <p:nvPicPr>
          <p:cNvPr id="5" name="Picture 4" descr="A yellow helmet with a strap&#10;&#10;AI-generated content may be incorrect.">
            <a:extLst>
              <a:ext uri="{FF2B5EF4-FFF2-40B4-BE49-F238E27FC236}">
                <a16:creationId xmlns:a16="http://schemas.microsoft.com/office/drawing/2014/main" id="{E4F8ECAE-E072-D02F-14BD-A1477EE10A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8432" y="1406526"/>
            <a:ext cx="2740258" cy="32466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AA5F007-079B-1374-D4D4-EDE8F9BF88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Actual Results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35560" y="5373216"/>
            <a:ext cx="4825365" cy="462280"/>
          </a:xfrm>
          <a:prstGeom prst="rect">
            <a:avLst/>
          </a:prstGeom>
          <a:ln w="28575">
            <a:solidFill>
              <a:srgbClr val="0070C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310515">
              <a:lnSpc>
                <a:spcPct val="100000"/>
              </a:lnSpc>
              <a:spcBef>
                <a:spcPts val="305"/>
              </a:spcBef>
            </a:pPr>
            <a:r>
              <a:rPr sz="2400" dirty="0">
                <a:latin typeface="Arial MT"/>
                <a:cs typeface="Arial MT"/>
              </a:rPr>
              <a:t>Did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company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well?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2C64F2-49F5-10D4-7D46-C12292B8C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74" y="1556792"/>
            <a:ext cx="9297690" cy="3399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344199"/>
              </p:ext>
            </p:extLst>
          </p:nvPr>
        </p:nvGraphicFramePr>
        <p:xfrm>
          <a:off x="217897" y="1484784"/>
          <a:ext cx="11789410" cy="48543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9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97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30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94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Flex</a:t>
                      </a:r>
                      <a:r>
                        <a:rPr sz="20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Budget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Quantity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949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Price/Cost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per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unit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Total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Actual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Variance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22606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Favourable/ Unfav.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Sales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CA" sz="2000" spc="-10" dirty="0">
                          <a:latin typeface="Arial MT"/>
                          <a:cs typeface="Arial MT"/>
                        </a:rPr>
                        <a:t>4,800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2000" spc="-20" dirty="0">
                          <a:latin typeface="Arial MT"/>
                          <a:cs typeface="Arial MT"/>
                        </a:rPr>
                        <a:t>229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2000" spc="-10" dirty="0">
                          <a:latin typeface="Arial MT"/>
                          <a:cs typeface="Arial MT"/>
                        </a:rPr>
                        <a:t>1,099,20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2000" spc="-10" dirty="0">
                          <a:latin typeface="Arial MT"/>
                          <a:cs typeface="Arial MT"/>
                        </a:rPr>
                        <a:t>1,080,00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2000" spc="-10" dirty="0">
                          <a:latin typeface="Arial MT"/>
                          <a:cs typeface="Arial MT"/>
                        </a:rPr>
                        <a:t>19,20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CA" sz="2000" spc="-50" dirty="0">
                          <a:latin typeface="Arial MT"/>
                          <a:cs typeface="Arial MT"/>
                        </a:rPr>
                        <a:t>U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pPr marL="91440" marR="2152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Direct Materials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3pnd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@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CA" sz="1800" spc="-20" dirty="0">
                          <a:latin typeface="Arial MT"/>
                          <a:cs typeface="Arial MT"/>
                        </a:rPr>
                        <a:t>15.00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CA" sz="2000" spc="-10" dirty="0">
                          <a:latin typeface="Arial MT"/>
                          <a:cs typeface="Arial MT"/>
                        </a:rPr>
                        <a:t>4,80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2000" spc="-10" dirty="0">
                          <a:latin typeface="Arial MT"/>
                          <a:cs typeface="Arial MT"/>
                        </a:rPr>
                        <a:t>45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2000" spc="-10" dirty="0">
                          <a:latin typeface="Arial MT"/>
                          <a:cs typeface="Arial MT"/>
                        </a:rPr>
                        <a:t>216,0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00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2000" spc="-10" dirty="0">
                          <a:latin typeface="Arial MT"/>
                          <a:cs typeface="Arial MT"/>
                        </a:rPr>
                        <a:t>197,280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CA" sz="2000" dirty="0">
                          <a:latin typeface="Arial MT"/>
                          <a:cs typeface="Arial MT"/>
                        </a:rPr>
                        <a:t>18,720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CA" sz="2000" spc="-50" dirty="0">
                          <a:latin typeface="Arial MT"/>
                          <a:cs typeface="Arial MT"/>
                        </a:rPr>
                        <a:t>F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8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Direct</a:t>
                      </a:r>
                      <a:r>
                        <a:rPr sz="2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Labour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lang="en-CA" sz="160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hours</a:t>
                      </a:r>
                      <a:r>
                        <a:rPr sz="16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@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 $21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lang="en-CA" sz="2000" spc="-10" dirty="0">
                          <a:latin typeface="Arial MT"/>
                          <a:cs typeface="Arial MT"/>
                        </a:rPr>
                        <a:t>4,800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905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2000" spc="-10" dirty="0">
                          <a:latin typeface="Arial MT"/>
                          <a:cs typeface="Arial MT"/>
                        </a:rPr>
                        <a:t>63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905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2000" spc="-10" dirty="0">
                          <a:latin typeface="Arial MT"/>
                          <a:cs typeface="Arial MT"/>
                        </a:rPr>
                        <a:t>302,400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962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2000" spc="-10" dirty="0">
                          <a:latin typeface="Arial MT"/>
                          <a:cs typeface="Arial MT"/>
                        </a:rPr>
                        <a:t>300,960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962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54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2000" spc="-10" dirty="0">
                          <a:latin typeface="Arial MT"/>
                          <a:cs typeface="Arial MT"/>
                        </a:rPr>
                        <a:t>1,44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962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r>
                        <a:rPr lang="en-CA" sz="2000" spc="-50" dirty="0">
                          <a:latin typeface="Arial MT"/>
                          <a:cs typeface="Arial MT"/>
                        </a:rPr>
                        <a:t>F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905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5360">
                <a:tc>
                  <a:txBody>
                    <a:bodyPr/>
                    <a:lstStyle/>
                    <a:p>
                      <a:pPr marL="91440" marR="73787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30" dirty="0">
                          <a:latin typeface="Arial MT"/>
                          <a:cs typeface="Arial MT"/>
                        </a:rPr>
                        <a:t>Variable 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MOH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1800" dirty="0">
                          <a:latin typeface="Arial MT"/>
                          <a:cs typeface="Arial MT"/>
                        </a:rPr>
                        <a:t>3.5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DLH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lang="en-CA" sz="2000" spc="-10" dirty="0">
                          <a:latin typeface="Arial MT"/>
                          <a:cs typeface="Arial MT"/>
                        </a:rPr>
                        <a:t>4,800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2000" spc="-10" dirty="0">
                          <a:latin typeface="Arial MT"/>
                          <a:cs typeface="Arial MT"/>
                        </a:rPr>
                        <a:t>10.50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2000" spc="-10" dirty="0">
                          <a:latin typeface="Arial MT"/>
                          <a:cs typeface="Arial MT"/>
                        </a:rPr>
                        <a:t>50,40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2000" spc="-10" dirty="0">
                          <a:latin typeface="Arial MT"/>
                          <a:cs typeface="Arial MT"/>
                        </a:rPr>
                        <a:t>45,350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CA" sz="2000" dirty="0">
                          <a:latin typeface="Arial MT"/>
                          <a:cs typeface="Arial MT"/>
                        </a:rPr>
                        <a:t>$5,050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lang="en-CA" sz="2000" spc="-50" dirty="0">
                          <a:latin typeface="Arial MT"/>
                          <a:cs typeface="Arial MT"/>
                        </a:rPr>
                        <a:t>F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50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Fixed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MOH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60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1600" dirty="0">
                          <a:latin typeface="Arial MT"/>
                          <a:cs typeface="Arial MT"/>
                        </a:rPr>
                        <a:t>9.5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latin typeface="Arial MT"/>
                          <a:cs typeface="Arial MT"/>
                        </a:rPr>
                        <a:t>per</a:t>
                      </a:r>
                      <a:r>
                        <a:rPr sz="16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latin typeface="Arial MT"/>
                          <a:cs typeface="Arial MT"/>
                        </a:rPr>
                        <a:t>DLH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L="91440" algn="l">
                        <a:lnSpc>
                          <a:spcPct val="100000"/>
                        </a:lnSpc>
                      </a:pPr>
                      <a:r>
                        <a:rPr lang="en-CA" sz="2000" spc="-10" dirty="0">
                          <a:latin typeface="Arial MT"/>
                          <a:cs typeface="Arial MT"/>
                        </a:rPr>
                        <a:t> 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CA" sz="2000" kern="1200" spc="-10" dirty="0">
                          <a:solidFill>
                            <a:schemeClr val="tx1"/>
                          </a:solidFill>
                          <a:latin typeface="Arial MT"/>
                          <a:ea typeface="+mn-ea"/>
                          <a:cs typeface="Arial MT"/>
                        </a:rPr>
                        <a:t>$28.50</a:t>
                      </a:r>
                      <a:endParaRPr sz="2000" kern="1200" spc="-10" dirty="0">
                        <a:solidFill>
                          <a:schemeClr val="tx1"/>
                        </a:solidFill>
                        <a:latin typeface="Arial MT"/>
                        <a:ea typeface="+mn-ea"/>
                        <a:cs typeface="Arial MT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2000" spc="-10" dirty="0">
                          <a:latin typeface="Arial MT"/>
                          <a:cs typeface="Arial MT"/>
                        </a:rPr>
                        <a:t>136,800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6764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2000" spc="-10" dirty="0">
                          <a:latin typeface="Arial MT"/>
                          <a:cs typeface="Arial MT"/>
                        </a:rPr>
                        <a:t>140,960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lang="en-CA" sz="2000" dirty="0">
                          <a:latin typeface="Arial MT"/>
                          <a:cs typeface="Arial MT"/>
                        </a:rPr>
                        <a:t>$4,160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lang="en-CA" sz="2000" spc="-50" dirty="0">
                          <a:latin typeface="Arial MT"/>
                          <a:cs typeface="Arial MT"/>
                        </a:rPr>
                        <a:t>U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161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Margin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CA" sz="2000" kern="1200" spc="-10" dirty="0">
                          <a:solidFill>
                            <a:schemeClr val="tx1"/>
                          </a:solidFill>
                          <a:latin typeface="Arial MT"/>
                          <a:ea typeface="+mn-ea"/>
                          <a:cs typeface="Times New Roman"/>
                        </a:rPr>
                        <a:t>$82</a:t>
                      </a:r>
                      <a:endParaRPr sz="2000" kern="1200" spc="-10" dirty="0">
                        <a:solidFill>
                          <a:schemeClr val="tx1"/>
                        </a:solidFill>
                        <a:latin typeface="Arial MT"/>
                        <a:ea typeface="+mn-ea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2000" spc="-10" dirty="0">
                          <a:latin typeface="Arial MT"/>
                          <a:cs typeface="Arial MT"/>
                        </a:rPr>
                        <a:t>393,600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</a:t>
                      </a:r>
                      <a:r>
                        <a:rPr lang="en-CA" sz="2000" spc="-10" dirty="0">
                          <a:latin typeface="Arial MT"/>
                          <a:cs typeface="Arial MT"/>
                        </a:rPr>
                        <a:t>395,450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CA" sz="2000" dirty="0">
                          <a:latin typeface="Arial MT"/>
                          <a:cs typeface="Arial MT"/>
                        </a:rPr>
                        <a:t>$1,850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CA" sz="2000" spc="-50" dirty="0">
                          <a:latin typeface="Arial MT"/>
                          <a:cs typeface="Arial MT"/>
                        </a:rPr>
                        <a:t>F</a:t>
                      </a:r>
                      <a:endParaRPr sz="2000" dirty="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A9CEC36C-6018-E7B2-AF1D-1C08560F68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1. Prepare a Flexible Budget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927649" y="742588"/>
            <a:ext cx="7416824" cy="382156"/>
          </a:xfrm>
          <a:prstGeom prst="rect">
            <a:avLst/>
          </a:prstGeom>
          <a:ln w="38100">
            <a:solidFill>
              <a:srgbClr val="ED037C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b="0" dirty="0">
                <a:solidFill>
                  <a:srgbClr val="0070C0"/>
                </a:solidFill>
                <a:latin typeface="Arial MT"/>
                <a:cs typeface="Arial MT"/>
              </a:rPr>
              <a:t>Flex</a:t>
            </a:r>
            <a:r>
              <a:rPr sz="2400" b="0" spc="-70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2400" b="0" spc="-10" dirty="0">
                <a:solidFill>
                  <a:srgbClr val="0070C0"/>
                </a:solidFill>
                <a:latin typeface="Arial MT"/>
                <a:cs typeface="Arial MT"/>
              </a:rPr>
              <a:t>Budget:</a:t>
            </a:r>
            <a:r>
              <a:rPr sz="2400" b="0" spc="-155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70C0"/>
                </a:solidFill>
                <a:latin typeface="Arial MT"/>
                <a:cs typeface="Arial MT"/>
              </a:rPr>
              <a:t>Actual</a:t>
            </a:r>
            <a:r>
              <a:rPr sz="2400" b="0" spc="-60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70C0"/>
                </a:solidFill>
                <a:latin typeface="Arial MT"/>
                <a:cs typeface="Arial MT"/>
              </a:rPr>
              <a:t>Quantity</a:t>
            </a:r>
            <a:r>
              <a:rPr sz="2400" b="0" spc="-55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70C0"/>
                </a:solidFill>
                <a:latin typeface="Arial MT"/>
                <a:cs typeface="Arial MT"/>
              </a:rPr>
              <a:t>*</a:t>
            </a:r>
            <a:r>
              <a:rPr sz="2400" b="0" spc="-65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0070C0"/>
                </a:solidFill>
                <a:latin typeface="Arial MT"/>
                <a:cs typeface="Arial MT"/>
              </a:rPr>
              <a:t>Standard</a:t>
            </a:r>
            <a:r>
              <a:rPr sz="2400" b="0" spc="-45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2400" b="0" spc="-10" dirty="0">
                <a:solidFill>
                  <a:srgbClr val="0070C0"/>
                </a:solidFill>
                <a:latin typeface="Arial MT"/>
                <a:cs typeface="Arial MT"/>
              </a:rPr>
              <a:t>Price</a:t>
            </a:r>
            <a:endParaRPr sz="2400" dirty="0">
              <a:solidFill>
                <a:srgbClr val="0070C0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7E116911-052E-1D4A-B753-3D2EDE8616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2. Compute the Sales Price Variance and Sales Quantity Variance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8164" y="1361313"/>
            <a:ext cx="4830445" cy="208661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75"/>
              </a:spcBef>
              <a:buSzPct val="79166"/>
              <a:buFont typeface="Arial MT"/>
              <a:buChar char="•"/>
              <a:tabLst>
                <a:tab pos="469265" algn="l"/>
              </a:tabLst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Sales</a:t>
            </a:r>
            <a:r>
              <a:rPr sz="2400" b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Price</a:t>
            </a:r>
            <a:r>
              <a:rPr sz="2400" b="1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Variance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(AQ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AP)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(AQ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SP)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lang="en-CA" sz="2400" dirty="0">
                <a:latin typeface="Arial MT"/>
                <a:cs typeface="Arial MT"/>
              </a:rPr>
              <a:t>4,80</a:t>
            </a:r>
            <a:r>
              <a:rPr sz="2400" dirty="0">
                <a:latin typeface="Arial MT"/>
                <a:cs typeface="Arial MT"/>
              </a:rPr>
              <a:t>0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</a:t>
            </a:r>
            <a:r>
              <a:rPr lang="en-CA" sz="2400" dirty="0">
                <a:latin typeface="Arial MT"/>
                <a:cs typeface="Arial MT"/>
              </a:rPr>
              <a:t>225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lang="en-CA" sz="2400" dirty="0">
                <a:latin typeface="Arial MT"/>
                <a:cs typeface="Arial MT"/>
              </a:rPr>
              <a:t>4,800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$</a:t>
            </a:r>
            <a:r>
              <a:rPr lang="en-CA" sz="2400" spc="-10" dirty="0">
                <a:latin typeface="Arial MT"/>
                <a:cs typeface="Arial MT"/>
              </a:rPr>
              <a:t>229</a:t>
            </a:r>
            <a:r>
              <a:rPr sz="2400" spc="-10" dirty="0"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</a:t>
            </a:r>
            <a:r>
              <a:rPr lang="en-CA" sz="2400" dirty="0">
                <a:latin typeface="Arial MT"/>
                <a:cs typeface="Arial MT"/>
              </a:rPr>
              <a:t>1,080,0</a:t>
            </a:r>
            <a:r>
              <a:rPr sz="2400" dirty="0">
                <a:latin typeface="Arial MT"/>
                <a:cs typeface="Arial MT"/>
              </a:rPr>
              <a:t>00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$</a:t>
            </a:r>
            <a:r>
              <a:rPr lang="en-CA" sz="2400" spc="-10" dirty="0">
                <a:latin typeface="Arial MT"/>
                <a:cs typeface="Arial MT"/>
              </a:rPr>
              <a:t>1,099,200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8164" y="3571494"/>
            <a:ext cx="20504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lang="en-CA" sz="2400" spc="-10" dirty="0">
                <a:latin typeface="Arial MT"/>
                <a:cs typeface="Arial MT"/>
              </a:rPr>
              <a:t>$19,200 </a:t>
            </a:r>
            <a:r>
              <a:rPr sz="2400" spc="-50" dirty="0">
                <a:latin typeface="Arial MT"/>
                <a:cs typeface="Arial MT"/>
              </a:rPr>
              <a:t>U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8164" y="4086605"/>
            <a:ext cx="37776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SzPct val="79166"/>
              <a:buFont typeface="Arial MT"/>
              <a:buChar char="•"/>
              <a:tabLst>
                <a:tab pos="469265" algn="l"/>
              </a:tabLst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Sales</a:t>
            </a:r>
            <a:r>
              <a:rPr sz="2400" b="1" u="sng" spc="-8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Volume</a:t>
            </a:r>
            <a:r>
              <a:rPr sz="2400" b="1" u="sng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Variance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8164" y="4452620"/>
            <a:ext cx="4830445" cy="208661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(AQ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SP)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 (SQ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SP)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lang="en-CA" sz="2400" dirty="0">
                <a:latin typeface="Arial MT"/>
                <a:cs typeface="Arial MT"/>
              </a:rPr>
              <a:t>4,80</a:t>
            </a:r>
            <a:r>
              <a:rPr sz="2400" dirty="0">
                <a:latin typeface="Arial MT"/>
                <a:cs typeface="Arial MT"/>
              </a:rPr>
              <a:t>0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</a:t>
            </a:r>
            <a:r>
              <a:rPr lang="en-CA" sz="2400" dirty="0">
                <a:latin typeface="Arial MT"/>
                <a:cs typeface="Arial MT"/>
              </a:rPr>
              <a:t>22</a:t>
            </a:r>
            <a:r>
              <a:rPr sz="2400" dirty="0">
                <a:latin typeface="Arial MT"/>
                <a:cs typeface="Arial MT"/>
              </a:rPr>
              <a:t>9)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lang="en-CA" sz="2400" dirty="0">
                <a:latin typeface="Arial MT"/>
                <a:cs typeface="Arial MT"/>
              </a:rPr>
              <a:t>4,500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$</a:t>
            </a:r>
            <a:r>
              <a:rPr lang="en-CA" sz="2400" spc="-10" dirty="0">
                <a:latin typeface="Arial MT"/>
                <a:cs typeface="Arial MT"/>
              </a:rPr>
              <a:t>22</a:t>
            </a:r>
            <a:r>
              <a:rPr sz="2400" spc="-10" dirty="0">
                <a:latin typeface="Arial MT"/>
                <a:cs typeface="Arial MT"/>
              </a:rPr>
              <a:t>9)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</a:t>
            </a:r>
            <a:r>
              <a:rPr lang="en-CA" sz="2400" dirty="0">
                <a:latin typeface="Arial MT"/>
                <a:cs typeface="Arial MT"/>
              </a:rPr>
              <a:t>1,099,20</a:t>
            </a:r>
            <a:r>
              <a:rPr sz="2400" dirty="0">
                <a:latin typeface="Arial MT"/>
                <a:cs typeface="Arial MT"/>
              </a:rPr>
              <a:t>0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$</a:t>
            </a:r>
            <a:r>
              <a:rPr lang="en-CA" sz="2400" spc="-10" dirty="0">
                <a:latin typeface="Arial MT"/>
                <a:cs typeface="Arial MT"/>
              </a:rPr>
              <a:t>1,030,5</a:t>
            </a:r>
            <a:r>
              <a:rPr sz="2400" spc="-10" dirty="0">
                <a:latin typeface="Arial MT"/>
                <a:cs typeface="Arial MT"/>
              </a:rPr>
              <a:t>00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  <a:tabLst>
                <a:tab pos="360045" algn="l"/>
                <a:tab pos="2054860" algn="l"/>
              </a:tabLst>
            </a:pPr>
            <a:r>
              <a:rPr sz="2400" spc="-50" dirty="0">
                <a:latin typeface="Arial MT"/>
                <a:cs typeface="Arial MT"/>
              </a:rPr>
              <a:t>=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$</a:t>
            </a:r>
            <a:r>
              <a:rPr lang="en-CA" sz="2400" spc="-10" dirty="0">
                <a:latin typeface="Arial MT"/>
                <a:cs typeface="Arial MT"/>
              </a:rPr>
              <a:t>68,7</a:t>
            </a:r>
            <a:r>
              <a:rPr sz="2400" spc="-10" dirty="0">
                <a:latin typeface="Arial MT"/>
                <a:cs typeface="Arial MT"/>
              </a:rPr>
              <a:t>00</a:t>
            </a:r>
            <a:r>
              <a:rPr lang="en-CA" sz="2400" spc="-1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F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3145" y="3496817"/>
            <a:ext cx="3578860" cy="462280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Where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this?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32497" y="3646170"/>
            <a:ext cx="576580" cy="2807335"/>
          </a:xfrm>
          <a:custGeom>
            <a:avLst/>
            <a:gdLst/>
            <a:ahLst/>
            <a:cxnLst/>
            <a:rect l="l" t="t" r="r" b="b"/>
            <a:pathLst>
              <a:path w="576579" h="2807335">
                <a:moveTo>
                  <a:pt x="0" y="0"/>
                </a:moveTo>
                <a:lnTo>
                  <a:pt x="66060" y="1895"/>
                </a:lnTo>
                <a:lnTo>
                  <a:pt x="126694" y="7297"/>
                </a:lnTo>
                <a:lnTo>
                  <a:pt x="180174" y="15775"/>
                </a:lnTo>
                <a:lnTo>
                  <a:pt x="224774" y="26901"/>
                </a:lnTo>
                <a:lnTo>
                  <a:pt x="280431" y="55383"/>
                </a:lnTo>
                <a:lnTo>
                  <a:pt x="288035" y="71881"/>
                </a:lnTo>
                <a:lnTo>
                  <a:pt x="288035" y="1331721"/>
                </a:lnTo>
                <a:lnTo>
                  <a:pt x="295640" y="1348220"/>
                </a:lnTo>
                <a:lnTo>
                  <a:pt x="351297" y="1376702"/>
                </a:lnTo>
                <a:lnTo>
                  <a:pt x="395897" y="1387828"/>
                </a:lnTo>
                <a:lnTo>
                  <a:pt x="449377" y="1396306"/>
                </a:lnTo>
                <a:lnTo>
                  <a:pt x="510011" y="1401708"/>
                </a:lnTo>
                <a:lnTo>
                  <a:pt x="576072" y="1403603"/>
                </a:lnTo>
                <a:lnTo>
                  <a:pt x="510011" y="1405499"/>
                </a:lnTo>
                <a:lnTo>
                  <a:pt x="449377" y="1410901"/>
                </a:lnTo>
                <a:lnTo>
                  <a:pt x="395897" y="1419379"/>
                </a:lnTo>
                <a:lnTo>
                  <a:pt x="351297" y="1430505"/>
                </a:lnTo>
                <a:lnTo>
                  <a:pt x="295640" y="1458987"/>
                </a:lnTo>
                <a:lnTo>
                  <a:pt x="288035" y="1475485"/>
                </a:lnTo>
                <a:lnTo>
                  <a:pt x="288035" y="2735351"/>
                </a:lnTo>
                <a:lnTo>
                  <a:pt x="280431" y="2751828"/>
                </a:lnTo>
                <a:lnTo>
                  <a:pt x="224774" y="2780294"/>
                </a:lnTo>
                <a:lnTo>
                  <a:pt x="180174" y="2791422"/>
                </a:lnTo>
                <a:lnTo>
                  <a:pt x="126694" y="2799904"/>
                </a:lnTo>
                <a:lnTo>
                  <a:pt x="66060" y="2805310"/>
                </a:lnTo>
                <a:lnTo>
                  <a:pt x="0" y="2807207"/>
                </a:lnTo>
              </a:path>
            </a:pathLst>
          </a:custGeom>
          <a:ln w="38100">
            <a:solidFill>
              <a:srgbClr val="ED03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803642" y="4616958"/>
            <a:ext cx="4175760" cy="777777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5"/>
              </a:spcBef>
            </a:pPr>
            <a:r>
              <a:rPr sz="2400" dirty="0">
                <a:latin typeface="Arial MT"/>
                <a:cs typeface="Arial MT"/>
              </a:rPr>
              <a:t>Sum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</a:t>
            </a:r>
            <a:r>
              <a:rPr lang="en-CA" sz="2400" dirty="0">
                <a:latin typeface="Arial MT"/>
                <a:cs typeface="Arial MT"/>
              </a:rPr>
              <a:t>49,5</a:t>
            </a:r>
            <a:r>
              <a:rPr sz="2400" dirty="0">
                <a:latin typeface="Arial MT"/>
                <a:cs typeface="Arial MT"/>
              </a:rPr>
              <a:t>00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F</a:t>
            </a:r>
            <a:endParaRPr sz="2400" dirty="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Look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Actual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vs.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Budget…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>
            <a:extLst>
              <a:ext uri="{FF2B5EF4-FFF2-40B4-BE49-F238E27FC236}">
                <a16:creationId xmlns:a16="http://schemas.microsoft.com/office/drawing/2014/main" id="{C060702E-26FA-0BCF-A5AD-B52F13698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3. Compute the Materials Variance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8164" y="891156"/>
            <a:ext cx="6424930" cy="3148939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75"/>
              </a:spcBef>
              <a:buSzPct val="79166"/>
              <a:buFont typeface="Arial MT"/>
              <a:buChar char="•"/>
              <a:tabLst>
                <a:tab pos="469265" algn="l"/>
              </a:tabLst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Material</a:t>
            </a:r>
            <a:r>
              <a:rPr sz="2400" b="1" u="sng" spc="-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Price</a:t>
            </a:r>
            <a:r>
              <a:rPr sz="2400" b="1" u="sng" spc="-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Variance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(AQ</a:t>
            </a:r>
            <a:r>
              <a:rPr sz="24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×</a:t>
            </a:r>
            <a:r>
              <a:rPr sz="2400" spc="-1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AP)</a:t>
            </a:r>
            <a:r>
              <a:rPr sz="2400" spc="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–</a:t>
            </a:r>
            <a:r>
              <a:rPr sz="24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(AQ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×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SP)</a:t>
            </a:r>
            <a:r>
              <a:rPr lang="en-CA" sz="2400" spc="-25" dirty="0">
                <a:solidFill>
                  <a:srgbClr val="252525"/>
                </a:solidFill>
                <a:latin typeface="Arial MT"/>
                <a:cs typeface="Arial MT"/>
              </a:rPr>
              <a:t>  </a:t>
            </a:r>
            <a:r>
              <a:rPr lang="en-CA" sz="2400" spc="-25" dirty="0">
                <a:solidFill>
                  <a:srgbClr val="0070C0"/>
                </a:solidFill>
                <a:latin typeface="Arial MT"/>
                <a:cs typeface="Arial MT"/>
              </a:rPr>
              <a:t>or</a:t>
            </a:r>
            <a:r>
              <a:rPr lang="en-CA" sz="24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lang="en-CA" sz="2400" spc="-25" dirty="0">
                <a:solidFill>
                  <a:srgbClr val="0070C0"/>
                </a:solidFill>
                <a:latin typeface="Arial MT"/>
                <a:cs typeface="Arial MT"/>
              </a:rPr>
              <a:t>AQ (AP – SP)</a:t>
            </a:r>
            <a:endParaRPr sz="2400" dirty="0">
              <a:solidFill>
                <a:srgbClr val="0070C0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(3*</a:t>
            </a:r>
            <a:r>
              <a:rPr lang="en-CA" sz="2400" dirty="0">
                <a:latin typeface="Arial MT"/>
                <a:cs typeface="Arial MT"/>
              </a:rPr>
              <a:t>4,8</a:t>
            </a:r>
            <a:r>
              <a:rPr sz="2400" dirty="0">
                <a:latin typeface="Arial MT"/>
                <a:cs typeface="Arial MT"/>
              </a:rPr>
              <a:t>00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</a:t>
            </a:r>
            <a:r>
              <a:rPr lang="en-CA" sz="2400" dirty="0">
                <a:latin typeface="Arial MT"/>
                <a:cs typeface="Arial MT"/>
              </a:rPr>
              <a:t>13.70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(3*</a:t>
            </a:r>
            <a:r>
              <a:rPr lang="en-CA" sz="2400" dirty="0">
                <a:latin typeface="Arial MT"/>
                <a:cs typeface="Arial MT"/>
              </a:rPr>
              <a:t>4,8</a:t>
            </a:r>
            <a:r>
              <a:rPr sz="2400" dirty="0">
                <a:latin typeface="Arial MT"/>
                <a:cs typeface="Arial MT"/>
              </a:rPr>
              <a:t>00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$</a:t>
            </a:r>
            <a:r>
              <a:rPr lang="en-CA" sz="2400" spc="-10" dirty="0">
                <a:latin typeface="Arial MT"/>
                <a:cs typeface="Arial MT"/>
              </a:rPr>
              <a:t>15</a:t>
            </a:r>
            <a:r>
              <a:rPr sz="2400" spc="-10" dirty="0"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  <a:tabLst>
                <a:tab pos="360045" algn="l"/>
              </a:tabLst>
            </a:pPr>
            <a:r>
              <a:rPr sz="2400" spc="-50" dirty="0">
                <a:latin typeface="Arial MT"/>
                <a:cs typeface="Arial MT"/>
              </a:rPr>
              <a:t>=</a:t>
            </a:r>
            <a:r>
              <a:rPr sz="2400" dirty="0">
                <a:latin typeface="Arial MT"/>
                <a:cs typeface="Arial MT"/>
              </a:rPr>
              <a:t>	$</a:t>
            </a:r>
            <a:r>
              <a:rPr lang="en-CA" sz="2400" dirty="0">
                <a:latin typeface="Arial MT"/>
                <a:cs typeface="Arial MT"/>
              </a:rPr>
              <a:t>197,280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$</a:t>
            </a:r>
            <a:r>
              <a:rPr lang="en-CA" sz="2400" spc="-10" dirty="0">
                <a:latin typeface="Arial MT"/>
                <a:cs typeface="Arial MT"/>
              </a:rPr>
              <a:t>216,000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</a:t>
            </a:r>
            <a:r>
              <a:rPr lang="en-CA" sz="2400" dirty="0">
                <a:latin typeface="Arial MT"/>
                <a:cs typeface="Arial MT"/>
              </a:rPr>
              <a:t>18,720 F</a:t>
            </a:r>
            <a:endParaRPr sz="2400" dirty="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175"/>
              </a:spcBef>
              <a:buSzPct val="79166"/>
              <a:buFont typeface="Arial MT"/>
              <a:buChar char="•"/>
              <a:tabLst>
                <a:tab pos="469265" algn="l"/>
              </a:tabLst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Material</a:t>
            </a:r>
            <a:r>
              <a:rPr sz="2400" b="1" u="sng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Quantity</a:t>
            </a:r>
            <a:r>
              <a:rPr sz="2400" b="1" u="sng" spc="-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Variance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8164" y="4149080"/>
            <a:ext cx="6102350" cy="157099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(AQ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SP)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 (SQ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SP)</a:t>
            </a:r>
            <a:r>
              <a:rPr lang="en-CA" sz="2400" spc="-25" dirty="0">
                <a:latin typeface="Arial MT"/>
                <a:cs typeface="Arial MT"/>
              </a:rPr>
              <a:t>  </a:t>
            </a:r>
            <a:r>
              <a:rPr lang="en-CA" sz="2400" spc="-25" dirty="0">
                <a:solidFill>
                  <a:srgbClr val="0070C0"/>
                </a:solidFill>
                <a:latin typeface="Arial MT"/>
                <a:cs typeface="Arial MT"/>
              </a:rPr>
              <a:t>or SP (AQ – SQ)</a:t>
            </a:r>
            <a:endParaRPr sz="2400" dirty="0">
              <a:solidFill>
                <a:srgbClr val="0070C0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lang="en-CA" sz="2400" dirty="0">
                <a:latin typeface="Arial MT"/>
                <a:cs typeface="Arial MT"/>
              </a:rPr>
              <a:t>3 pounds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</a:t>
            </a:r>
            <a:r>
              <a:rPr lang="en-CA" sz="2400" dirty="0">
                <a:latin typeface="Arial MT"/>
                <a:cs typeface="Arial MT"/>
              </a:rPr>
              <a:t>15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lang="en-CA" sz="2400" dirty="0">
                <a:latin typeface="Arial MT"/>
                <a:cs typeface="Arial MT"/>
              </a:rPr>
              <a:t>3 pounds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$</a:t>
            </a:r>
            <a:r>
              <a:rPr lang="en-CA" sz="2400" spc="-10" dirty="0">
                <a:latin typeface="Arial MT"/>
                <a:cs typeface="Arial MT"/>
              </a:rPr>
              <a:t>15</a:t>
            </a:r>
            <a:r>
              <a:rPr sz="2400" spc="-10" dirty="0"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</a:t>
            </a:r>
            <a:r>
              <a:rPr lang="en-CA" sz="2400" dirty="0">
                <a:latin typeface="Arial MT"/>
                <a:cs typeface="Arial MT"/>
              </a:rPr>
              <a:t>45 - $45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87483" y="3140968"/>
            <a:ext cx="576580" cy="2880320"/>
          </a:xfrm>
          <a:custGeom>
            <a:avLst/>
            <a:gdLst/>
            <a:ahLst/>
            <a:cxnLst/>
            <a:rect l="l" t="t" r="r" b="b"/>
            <a:pathLst>
              <a:path w="576579" h="2463165">
                <a:moveTo>
                  <a:pt x="0" y="0"/>
                </a:moveTo>
                <a:lnTo>
                  <a:pt x="76589" y="1712"/>
                </a:lnTo>
                <a:lnTo>
                  <a:pt x="145400" y="6547"/>
                </a:lnTo>
                <a:lnTo>
                  <a:pt x="203692" y="14049"/>
                </a:lnTo>
                <a:lnTo>
                  <a:pt x="248722" y="23763"/>
                </a:lnTo>
                <a:lnTo>
                  <a:pt x="288036" y="48006"/>
                </a:lnTo>
                <a:lnTo>
                  <a:pt x="288036" y="1183386"/>
                </a:lnTo>
                <a:lnTo>
                  <a:pt x="298321" y="1196158"/>
                </a:lnTo>
                <a:lnTo>
                  <a:pt x="372379" y="1217342"/>
                </a:lnTo>
                <a:lnTo>
                  <a:pt x="430671" y="1224844"/>
                </a:lnTo>
                <a:lnTo>
                  <a:pt x="499482" y="1229679"/>
                </a:lnTo>
                <a:lnTo>
                  <a:pt x="576072" y="1231392"/>
                </a:lnTo>
                <a:lnTo>
                  <a:pt x="499482" y="1233104"/>
                </a:lnTo>
                <a:lnTo>
                  <a:pt x="430671" y="1237939"/>
                </a:lnTo>
                <a:lnTo>
                  <a:pt x="372379" y="1245441"/>
                </a:lnTo>
                <a:lnTo>
                  <a:pt x="327349" y="1255155"/>
                </a:lnTo>
                <a:lnTo>
                  <a:pt x="288036" y="1279398"/>
                </a:lnTo>
                <a:lnTo>
                  <a:pt x="288036" y="2414778"/>
                </a:lnTo>
                <a:lnTo>
                  <a:pt x="277750" y="2427541"/>
                </a:lnTo>
                <a:lnTo>
                  <a:pt x="248722" y="2439009"/>
                </a:lnTo>
                <a:lnTo>
                  <a:pt x="203692" y="2448725"/>
                </a:lnTo>
                <a:lnTo>
                  <a:pt x="145400" y="2456230"/>
                </a:lnTo>
                <a:lnTo>
                  <a:pt x="76589" y="2461069"/>
                </a:lnTo>
                <a:lnTo>
                  <a:pt x="0" y="2462784"/>
                </a:lnTo>
              </a:path>
            </a:pathLst>
          </a:custGeom>
          <a:ln w="38100">
            <a:solidFill>
              <a:srgbClr val="ED03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464152" y="4192560"/>
            <a:ext cx="4175760" cy="777136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Sum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lang="en-CA" sz="2400" dirty="0">
                <a:latin typeface="Arial MT"/>
                <a:cs typeface="Arial MT"/>
              </a:rPr>
              <a:t>$18,720 </a:t>
            </a:r>
            <a:r>
              <a:rPr sz="2400" spc="-50" dirty="0">
                <a:latin typeface="Arial MT"/>
                <a:cs typeface="Arial MT"/>
              </a:rPr>
              <a:t>F</a:t>
            </a:r>
            <a:endParaRPr sz="2400" dirty="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Look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Flex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Budget…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0720" y="5838095"/>
            <a:ext cx="1865630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lang="en-CA" sz="2400" spc="-60" dirty="0">
                <a:latin typeface="Arial MT"/>
                <a:cs typeface="Arial MT"/>
              </a:rPr>
              <a:t>$0 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132" y="6561080"/>
            <a:ext cx="15367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25" dirty="0">
                <a:solidFill>
                  <a:srgbClr val="888888"/>
                </a:solidFill>
                <a:latin typeface="Arial MT"/>
                <a:cs typeface="Arial MT"/>
              </a:rPr>
              <a:t>21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11">
            <a:extLst>
              <a:ext uri="{FF2B5EF4-FFF2-40B4-BE49-F238E27FC236}">
                <a16:creationId xmlns:a16="http://schemas.microsoft.com/office/drawing/2014/main" id="{3DCA054C-A171-9EDF-3722-EED6D03300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4. Compute the Labour Variance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8164" y="844647"/>
            <a:ext cx="3597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SzPct val="79166"/>
              <a:buFont typeface="Arial MT"/>
              <a:buChar char="•"/>
              <a:tabLst>
                <a:tab pos="469265" algn="l"/>
              </a:tabLst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Labour</a:t>
            </a:r>
            <a:r>
              <a:rPr sz="2400" b="1" u="sng" spc="-6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Rate</a:t>
            </a:r>
            <a:r>
              <a:rPr sz="2400" b="1" u="sng" spc="-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Variance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1491" y="1326905"/>
            <a:ext cx="6001385" cy="208661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(AQ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AP)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(AQ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SP)</a:t>
            </a:r>
            <a:r>
              <a:rPr lang="en-CA" sz="2400" spc="-25" dirty="0">
                <a:latin typeface="Arial MT"/>
                <a:cs typeface="Arial MT"/>
              </a:rPr>
              <a:t>  </a:t>
            </a:r>
            <a:r>
              <a:rPr lang="en-CA" sz="2400" spc="-25" dirty="0">
                <a:solidFill>
                  <a:srgbClr val="0070C0"/>
                </a:solidFill>
                <a:latin typeface="Arial MT"/>
                <a:cs typeface="Arial MT"/>
              </a:rPr>
              <a:t>or AQ (AP – SP)</a:t>
            </a:r>
            <a:endParaRPr sz="2400" dirty="0">
              <a:solidFill>
                <a:srgbClr val="0070C0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lang="en-CA" sz="2400" dirty="0">
                <a:latin typeface="Arial MT"/>
                <a:cs typeface="Arial MT"/>
              </a:rPr>
              <a:t>3.3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lang="en-CA" sz="2400" dirty="0">
                <a:latin typeface="Arial MT"/>
                <a:cs typeface="Arial MT"/>
              </a:rPr>
              <a:t>4,800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</a:t>
            </a:r>
            <a:r>
              <a:rPr lang="en-CA" sz="2400" dirty="0">
                <a:latin typeface="Arial MT"/>
                <a:cs typeface="Arial MT"/>
              </a:rPr>
              <a:t>19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lang="en-CA" sz="2400" dirty="0">
                <a:latin typeface="Arial MT"/>
                <a:cs typeface="Arial MT"/>
              </a:rPr>
              <a:t>3.3*4,800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$21)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  <a:tabLst>
                <a:tab pos="360045" algn="l"/>
              </a:tabLst>
            </a:pPr>
            <a:r>
              <a:rPr sz="2400" spc="-50" dirty="0">
                <a:latin typeface="Arial MT"/>
                <a:cs typeface="Arial MT"/>
              </a:rPr>
              <a:t>=</a:t>
            </a:r>
            <a:r>
              <a:rPr sz="2400" dirty="0">
                <a:latin typeface="Arial MT"/>
                <a:cs typeface="Arial MT"/>
              </a:rPr>
              <a:t>	$</a:t>
            </a:r>
            <a:r>
              <a:rPr lang="en-CA" sz="2400" dirty="0">
                <a:latin typeface="Arial MT"/>
                <a:cs typeface="Arial MT"/>
              </a:rPr>
              <a:t>300,960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$</a:t>
            </a:r>
            <a:r>
              <a:rPr lang="en-CA" sz="2400" spc="-10" dirty="0">
                <a:latin typeface="Arial MT"/>
                <a:cs typeface="Arial MT"/>
              </a:rPr>
              <a:t>332,640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</a:t>
            </a:r>
            <a:r>
              <a:rPr lang="en-CA" sz="2400" dirty="0">
                <a:latin typeface="Arial MT"/>
                <a:cs typeface="Arial MT"/>
              </a:rPr>
              <a:t>31,680 F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8164" y="4086605"/>
            <a:ext cx="4375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SzPct val="79166"/>
              <a:buFont typeface="Arial MT"/>
              <a:buChar char="•"/>
              <a:tabLst>
                <a:tab pos="469265" algn="l"/>
              </a:tabLst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Labour</a:t>
            </a:r>
            <a:r>
              <a:rPr sz="2400" b="1" u="sng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Efficiency</a:t>
            </a:r>
            <a:r>
              <a:rPr sz="2400" b="1" u="sng" spc="-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Variance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8164" y="4452620"/>
            <a:ext cx="5797876" cy="2102499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(AQ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SP)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 (SQ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SP)</a:t>
            </a:r>
            <a:r>
              <a:rPr lang="en-CA" sz="2400" spc="-25" dirty="0">
                <a:latin typeface="Arial MT"/>
                <a:cs typeface="Arial MT"/>
              </a:rPr>
              <a:t> </a:t>
            </a:r>
            <a:r>
              <a:rPr lang="en-CA" sz="2400" spc="-25" dirty="0">
                <a:solidFill>
                  <a:srgbClr val="0070C0"/>
                </a:solidFill>
                <a:latin typeface="Arial MT"/>
                <a:cs typeface="Arial MT"/>
              </a:rPr>
              <a:t>or SP (AQ – SQ)</a:t>
            </a:r>
            <a:endParaRPr sz="2400" dirty="0">
              <a:solidFill>
                <a:srgbClr val="0070C0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lang="en-CA" sz="2400" dirty="0">
                <a:latin typeface="Arial MT"/>
                <a:cs typeface="Arial MT"/>
              </a:rPr>
              <a:t>3.3*4,800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$21)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lang="en-CA" sz="2400" dirty="0">
                <a:latin typeface="Arial MT"/>
                <a:cs typeface="Arial MT"/>
              </a:rPr>
              <a:t>3*4,500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$21)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  <a:tabLst>
                <a:tab pos="2157095" algn="l"/>
              </a:tabLst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</a:t>
            </a:r>
            <a:r>
              <a:rPr lang="en-CA" sz="2400" dirty="0">
                <a:latin typeface="Arial MT"/>
                <a:cs typeface="Arial MT"/>
              </a:rPr>
              <a:t>332,640 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$</a:t>
            </a:r>
            <a:r>
              <a:rPr lang="en-CA" sz="2400" spc="-10" dirty="0">
                <a:latin typeface="Arial MT"/>
                <a:cs typeface="Arial MT"/>
              </a:rPr>
              <a:t>302,400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</a:t>
            </a:r>
            <a:r>
              <a:rPr lang="en-CA" sz="2400" dirty="0">
                <a:latin typeface="Arial MT"/>
                <a:cs typeface="Arial MT"/>
              </a:rPr>
              <a:t>30,240 U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15275" y="3789040"/>
            <a:ext cx="576580" cy="2664296"/>
          </a:xfrm>
          <a:custGeom>
            <a:avLst/>
            <a:gdLst/>
            <a:ahLst/>
            <a:cxnLst/>
            <a:rect l="l" t="t" r="r" b="b"/>
            <a:pathLst>
              <a:path w="576579" h="3313429">
                <a:moveTo>
                  <a:pt x="0" y="0"/>
                </a:moveTo>
                <a:lnTo>
                  <a:pt x="76589" y="1712"/>
                </a:lnTo>
                <a:lnTo>
                  <a:pt x="145400" y="6547"/>
                </a:lnTo>
                <a:lnTo>
                  <a:pt x="203692" y="14049"/>
                </a:lnTo>
                <a:lnTo>
                  <a:pt x="248722" y="23763"/>
                </a:lnTo>
                <a:lnTo>
                  <a:pt x="288035" y="48005"/>
                </a:lnTo>
                <a:lnTo>
                  <a:pt x="288035" y="1608581"/>
                </a:lnTo>
                <a:lnTo>
                  <a:pt x="298321" y="1621354"/>
                </a:lnTo>
                <a:lnTo>
                  <a:pt x="372379" y="1642538"/>
                </a:lnTo>
                <a:lnTo>
                  <a:pt x="430671" y="1650040"/>
                </a:lnTo>
                <a:lnTo>
                  <a:pt x="499482" y="1654875"/>
                </a:lnTo>
                <a:lnTo>
                  <a:pt x="576072" y="1656587"/>
                </a:lnTo>
                <a:lnTo>
                  <a:pt x="499482" y="1658300"/>
                </a:lnTo>
                <a:lnTo>
                  <a:pt x="430671" y="1663135"/>
                </a:lnTo>
                <a:lnTo>
                  <a:pt x="372379" y="1670637"/>
                </a:lnTo>
                <a:lnTo>
                  <a:pt x="327349" y="1680351"/>
                </a:lnTo>
                <a:lnTo>
                  <a:pt x="288035" y="1704593"/>
                </a:lnTo>
                <a:lnTo>
                  <a:pt x="288035" y="3265169"/>
                </a:lnTo>
                <a:lnTo>
                  <a:pt x="277750" y="3277933"/>
                </a:lnTo>
                <a:lnTo>
                  <a:pt x="248722" y="3289401"/>
                </a:lnTo>
                <a:lnTo>
                  <a:pt x="203692" y="3299117"/>
                </a:lnTo>
                <a:lnTo>
                  <a:pt x="145400" y="3306622"/>
                </a:lnTo>
                <a:lnTo>
                  <a:pt x="76589" y="3311461"/>
                </a:lnTo>
                <a:lnTo>
                  <a:pt x="0" y="3313176"/>
                </a:lnTo>
              </a:path>
            </a:pathLst>
          </a:custGeom>
          <a:ln w="38100">
            <a:solidFill>
              <a:srgbClr val="ED03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032104" y="4480502"/>
            <a:ext cx="4175760" cy="777136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Sum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$</a:t>
            </a:r>
            <a:r>
              <a:rPr lang="en-CA" sz="2400" spc="-20" dirty="0">
                <a:latin typeface="Arial MT"/>
                <a:cs typeface="Arial MT"/>
              </a:rPr>
              <a:t>1,440 F</a:t>
            </a:r>
            <a:endParaRPr sz="2400" dirty="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Look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Flex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Budget…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132" y="6561080"/>
            <a:ext cx="15367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25" dirty="0">
                <a:solidFill>
                  <a:srgbClr val="888888"/>
                </a:solidFill>
                <a:latin typeface="Arial MT"/>
                <a:cs typeface="Arial MT"/>
              </a:rPr>
              <a:t>22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5B6478FC-1F16-2028-A846-38526D57EC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5. Compute the Variable Overhead Variances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3392" y="620688"/>
            <a:ext cx="6003290" cy="3148939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75"/>
              </a:spcBef>
              <a:buSzPct val="79166"/>
              <a:buFont typeface="Arial MT"/>
              <a:buChar char="•"/>
              <a:tabLst>
                <a:tab pos="469265" algn="l"/>
              </a:tabLst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Variable</a:t>
            </a:r>
            <a:r>
              <a:rPr sz="2400" b="1" u="sng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Overhead</a:t>
            </a:r>
            <a:r>
              <a:rPr sz="2400" b="1" u="sng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Spending</a:t>
            </a:r>
            <a:r>
              <a:rPr sz="2400" b="1" u="sng" spc="-1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Variance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(AQ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AP)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(AQ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SP)</a:t>
            </a:r>
            <a:r>
              <a:rPr lang="en-CA" sz="2400" spc="-25" dirty="0">
                <a:latin typeface="Arial MT"/>
                <a:cs typeface="Arial MT"/>
              </a:rPr>
              <a:t>  </a:t>
            </a:r>
            <a:r>
              <a:rPr lang="en-CA" sz="2400" spc="-25" dirty="0">
                <a:solidFill>
                  <a:srgbClr val="0070C0"/>
                </a:solidFill>
                <a:latin typeface="Arial MT"/>
                <a:cs typeface="Arial MT"/>
              </a:rPr>
              <a:t>or AQ (AP – SP)</a:t>
            </a:r>
            <a:endParaRPr sz="2400" dirty="0">
              <a:solidFill>
                <a:srgbClr val="0070C0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</a:t>
            </a:r>
            <a:r>
              <a:rPr lang="en-CA" sz="2400" spc="-10" dirty="0">
                <a:latin typeface="Arial MT"/>
                <a:cs typeface="Arial MT"/>
              </a:rPr>
              <a:t>3.3*4,800</a:t>
            </a:r>
            <a:r>
              <a:rPr sz="2400" spc="-10" dirty="0">
                <a:latin typeface="Arial MT"/>
                <a:cs typeface="Arial MT"/>
              </a:rPr>
              <a:t>*</a:t>
            </a:r>
            <a:r>
              <a:rPr lang="en-CA" sz="2400" spc="-10" dirty="0">
                <a:latin typeface="Arial MT"/>
                <a:cs typeface="Arial MT"/>
              </a:rPr>
              <a:t>$2.863 </a:t>
            </a:r>
            <a:r>
              <a:rPr lang="en-CA" sz="2400" spc="-10" dirty="0">
                <a:solidFill>
                  <a:srgbClr val="0070C0"/>
                </a:solidFill>
                <a:latin typeface="Arial MT"/>
                <a:cs typeface="Arial MT"/>
              </a:rPr>
              <a:t>**</a:t>
            </a:r>
            <a:r>
              <a:rPr sz="2400" spc="-10" dirty="0">
                <a:latin typeface="Arial MT"/>
                <a:cs typeface="Arial MT"/>
              </a:rPr>
              <a:t>)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</a:t>
            </a:r>
            <a:r>
              <a:rPr lang="en-CA" sz="2400" spc="-10" dirty="0">
                <a:latin typeface="Arial MT"/>
                <a:cs typeface="Arial MT"/>
              </a:rPr>
              <a:t>3.3*4,800</a:t>
            </a:r>
            <a:r>
              <a:rPr sz="2400" spc="-10" dirty="0">
                <a:latin typeface="Arial MT"/>
                <a:cs typeface="Arial MT"/>
              </a:rPr>
              <a:t>*</a:t>
            </a:r>
            <a:r>
              <a:rPr lang="en-CA" sz="2400" spc="-10" dirty="0">
                <a:latin typeface="Arial MT"/>
                <a:cs typeface="Arial MT"/>
              </a:rPr>
              <a:t>$3.50</a:t>
            </a:r>
            <a:r>
              <a:rPr sz="2400" spc="-10" dirty="0"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  <a:tabLst>
                <a:tab pos="360045" algn="l"/>
              </a:tabLst>
            </a:pPr>
            <a:r>
              <a:rPr sz="2400" spc="-50" dirty="0">
                <a:latin typeface="Arial MT"/>
                <a:cs typeface="Arial MT"/>
              </a:rPr>
              <a:t>=</a:t>
            </a:r>
            <a:r>
              <a:rPr sz="2400" dirty="0">
                <a:latin typeface="Arial MT"/>
                <a:cs typeface="Arial MT"/>
              </a:rPr>
              <a:t>	$</a:t>
            </a:r>
            <a:r>
              <a:rPr lang="en-CA" sz="2400" dirty="0">
                <a:latin typeface="Arial MT"/>
                <a:cs typeface="Arial MT"/>
              </a:rPr>
              <a:t>45,350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$</a:t>
            </a:r>
            <a:r>
              <a:rPr lang="en-CA" sz="2400" spc="-10" dirty="0">
                <a:latin typeface="Arial MT"/>
                <a:cs typeface="Arial MT"/>
              </a:rPr>
              <a:t>55,440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  <a:tabLst>
                <a:tab pos="360045" algn="l"/>
              </a:tabLst>
            </a:pPr>
            <a:r>
              <a:rPr sz="2400" spc="-50" dirty="0">
                <a:latin typeface="Arial MT"/>
                <a:cs typeface="Arial MT"/>
              </a:rPr>
              <a:t>=</a:t>
            </a:r>
            <a:r>
              <a:rPr sz="2400" dirty="0">
                <a:latin typeface="Arial MT"/>
                <a:cs typeface="Arial MT"/>
              </a:rPr>
              <a:t>	$</a:t>
            </a:r>
            <a:r>
              <a:rPr lang="en-CA" sz="2400" dirty="0">
                <a:latin typeface="Arial MT"/>
                <a:cs typeface="Arial MT"/>
              </a:rPr>
              <a:t>10,090 F</a:t>
            </a:r>
            <a:endParaRPr sz="2400" dirty="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175"/>
              </a:spcBef>
              <a:buSzPct val="79166"/>
              <a:buFont typeface="Arial MT"/>
              <a:buChar char="•"/>
              <a:tabLst>
                <a:tab pos="469265" algn="l"/>
              </a:tabLst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Variable</a:t>
            </a:r>
            <a:r>
              <a:rPr sz="2400" b="1" u="sng" spc="-10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Overhead</a:t>
            </a:r>
            <a:r>
              <a:rPr sz="2400" b="1" u="sng" spc="-10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Efficiency</a:t>
            </a:r>
            <a:r>
              <a:rPr sz="2400" b="1" u="sng" spc="-1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Variance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340" y="3769627"/>
            <a:ext cx="5911716" cy="2102499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(AQ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SP)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 (SQ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SP)</a:t>
            </a:r>
            <a:r>
              <a:rPr lang="en-CA" sz="2400" spc="-25" dirty="0">
                <a:latin typeface="Arial MT"/>
                <a:cs typeface="Arial MT"/>
              </a:rPr>
              <a:t>  </a:t>
            </a:r>
            <a:r>
              <a:rPr lang="en-CA" sz="2400" spc="-25" dirty="0">
                <a:solidFill>
                  <a:srgbClr val="0070C0"/>
                </a:solidFill>
                <a:latin typeface="Arial MT"/>
                <a:cs typeface="Arial MT"/>
              </a:rPr>
              <a:t>or SP (AQ – SQ)</a:t>
            </a:r>
            <a:endParaRPr sz="2400" dirty="0">
              <a:solidFill>
                <a:srgbClr val="0070C0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</a:t>
            </a:r>
            <a:r>
              <a:rPr lang="en-CA" sz="2400" spc="-10" dirty="0">
                <a:latin typeface="Arial MT"/>
                <a:cs typeface="Arial MT"/>
              </a:rPr>
              <a:t>3.3*4,800</a:t>
            </a:r>
            <a:r>
              <a:rPr sz="2400" spc="-10" dirty="0">
                <a:latin typeface="Arial MT"/>
                <a:cs typeface="Arial MT"/>
              </a:rPr>
              <a:t>*</a:t>
            </a:r>
            <a:r>
              <a:rPr lang="en-CA" sz="2400" spc="-10" dirty="0">
                <a:latin typeface="Arial MT"/>
                <a:cs typeface="Arial MT"/>
              </a:rPr>
              <a:t>$3.50</a:t>
            </a:r>
            <a:r>
              <a:rPr sz="2400" spc="-10" dirty="0">
                <a:latin typeface="Arial MT"/>
                <a:cs typeface="Arial MT"/>
              </a:rPr>
              <a:t>)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10" dirty="0">
                <a:latin typeface="Arial MT"/>
                <a:cs typeface="Arial MT"/>
              </a:rPr>
              <a:t> (</a:t>
            </a:r>
            <a:r>
              <a:rPr lang="en-CA" sz="2400" spc="-10" dirty="0">
                <a:latin typeface="Arial MT"/>
                <a:cs typeface="Arial MT"/>
              </a:rPr>
              <a:t>3*4,800</a:t>
            </a:r>
            <a:r>
              <a:rPr sz="2400" spc="-10" dirty="0">
                <a:latin typeface="Arial MT"/>
                <a:cs typeface="Arial MT"/>
              </a:rPr>
              <a:t>*</a:t>
            </a:r>
            <a:r>
              <a:rPr lang="en-CA" sz="2400" spc="-10" dirty="0">
                <a:latin typeface="Arial MT"/>
                <a:cs typeface="Arial MT"/>
              </a:rPr>
              <a:t>$3.50</a:t>
            </a:r>
            <a:r>
              <a:rPr sz="2400" spc="-10" dirty="0">
                <a:latin typeface="Arial MT"/>
                <a:cs typeface="Arial MT"/>
              </a:rPr>
              <a:t>)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  <a:tabLst>
                <a:tab pos="360045" algn="l"/>
              </a:tabLst>
            </a:pPr>
            <a:r>
              <a:rPr sz="2400" spc="-50" dirty="0">
                <a:latin typeface="Arial MT"/>
                <a:cs typeface="Arial MT"/>
              </a:rPr>
              <a:t>=</a:t>
            </a:r>
            <a:r>
              <a:rPr sz="2400" dirty="0">
                <a:latin typeface="Arial MT"/>
                <a:cs typeface="Arial MT"/>
              </a:rPr>
              <a:t>	$</a:t>
            </a:r>
            <a:r>
              <a:rPr lang="en-CA" sz="2400" dirty="0">
                <a:latin typeface="Arial MT"/>
                <a:cs typeface="Arial MT"/>
              </a:rPr>
              <a:t>55,440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$</a:t>
            </a:r>
            <a:r>
              <a:rPr lang="en-CA" sz="2400" spc="-10" dirty="0">
                <a:latin typeface="Arial MT"/>
                <a:cs typeface="Arial MT"/>
              </a:rPr>
              <a:t>50,400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  <a:tabLst>
                <a:tab pos="360045" algn="l"/>
              </a:tabLst>
            </a:pPr>
            <a:r>
              <a:rPr sz="2400" spc="-50" dirty="0">
                <a:latin typeface="Arial MT"/>
                <a:cs typeface="Arial MT"/>
              </a:rPr>
              <a:t>=</a:t>
            </a:r>
            <a:r>
              <a:rPr sz="2400" dirty="0">
                <a:latin typeface="Arial MT"/>
                <a:cs typeface="Arial MT"/>
              </a:rPr>
              <a:t>	$</a:t>
            </a:r>
            <a:r>
              <a:rPr lang="en-CA" sz="2400" dirty="0">
                <a:latin typeface="Arial MT"/>
                <a:cs typeface="Arial MT"/>
              </a:rPr>
              <a:t>5,040 U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28028" y="2924944"/>
            <a:ext cx="576580" cy="2809240"/>
          </a:xfrm>
          <a:custGeom>
            <a:avLst/>
            <a:gdLst/>
            <a:ahLst/>
            <a:cxnLst/>
            <a:rect l="l" t="t" r="r" b="b"/>
            <a:pathLst>
              <a:path w="576579" h="2809240">
                <a:moveTo>
                  <a:pt x="0" y="0"/>
                </a:moveTo>
                <a:lnTo>
                  <a:pt x="76589" y="1712"/>
                </a:lnTo>
                <a:lnTo>
                  <a:pt x="145400" y="6547"/>
                </a:lnTo>
                <a:lnTo>
                  <a:pt x="203692" y="14049"/>
                </a:lnTo>
                <a:lnTo>
                  <a:pt x="248722" y="23763"/>
                </a:lnTo>
                <a:lnTo>
                  <a:pt x="288036" y="48006"/>
                </a:lnTo>
                <a:lnTo>
                  <a:pt x="288036" y="1356360"/>
                </a:lnTo>
                <a:lnTo>
                  <a:pt x="298321" y="1369132"/>
                </a:lnTo>
                <a:lnTo>
                  <a:pt x="372379" y="1390316"/>
                </a:lnTo>
                <a:lnTo>
                  <a:pt x="430671" y="1397818"/>
                </a:lnTo>
                <a:lnTo>
                  <a:pt x="499482" y="1402653"/>
                </a:lnTo>
                <a:lnTo>
                  <a:pt x="576072" y="1404365"/>
                </a:lnTo>
                <a:lnTo>
                  <a:pt x="499482" y="1406078"/>
                </a:lnTo>
                <a:lnTo>
                  <a:pt x="430671" y="1410913"/>
                </a:lnTo>
                <a:lnTo>
                  <a:pt x="372379" y="1418415"/>
                </a:lnTo>
                <a:lnTo>
                  <a:pt x="327349" y="1428129"/>
                </a:lnTo>
                <a:lnTo>
                  <a:pt x="288036" y="1452371"/>
                </a:lnTo>
                <a:lnTo>
                  <a:pt x="288036" y="2760726"/>
                </a:lnTo>
                <a:lnTo>
                  <a:pt x="277750" y="2773489"/>
                </a:lnTo>
                <a:lnTo>
                  <a:pt x="248722" y="2784957"/>
                </a:lnTo>
                <a:lnTo>
                  <a:pt x="203692" y="2794673"/>
                </a:lnTo>
                <a:lnTo>
                  <a:pt x="145400" y="2802178"/>
                </a:lnTo>
                <a:lnTo>
                  <a:pt x="76589" y="2807017"/>
                </a:lnTo>
                <a:lnTo>
                  <a:pt x="0" y="2808732"/>
                </a:lnTo>
              </a:path>
            </a:pathLst>
          </a:custGeom>
          <a:ln w="38100">
            <a:solidFill>
              <a:srgbClr val="ED03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536160" y="4036437"/>
            <a:ext cx="4175760" cy="776495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</a:pPr>
            <a:r>
              <a:rPr sz="2400" dirty="0">
                <a:latin typeface="Arial MT"/>
                <a:cs typeface="Arial MT"/>
              </a:rPr>
              <a:t>Sum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</a:t>
            </a:r>
            <a:r>
              <a:rPr lang="en-CA" sz="2400" dirty="0">
                <a:latin typeface="Arial MT"/>
                <a:cs typeface="Arial MT"/>
              </a:rPr>
              <a:t>5,05</a:t>
            </a:r>
            <a:r>
              <a:rPr sz="2400" dirty="0">
                <a:latin typeface="Arial MT"/>
                <a:cs typeface="Arial MT"/>
              </a:rPr>
              <a:t>0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F</a:t>
            </a:r>
            <a:endParaRPr sz="2400" dirty="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Look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Flex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Budget…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EEA472-0B43-C8DF-23AF-949CF5A9F5E5}"/>
              </a:ext>
            </a:extLst>
          </p:cNvPr>
          <p:cNvSpPr txBox="1"/>
          <p:nvPr/>
        </p:nvSpPr>
        <p:spPr>
          <a:xfrm>
            <a:off x="1991544" y="6202182"/>
            <a:ext cx="6120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**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Actual Price    = $45,350 / 3.3 hours x 4800</a:t>
            </a:r>
          </a:p>
          <a:p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= $2.863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34059FF-F7AA-9DB6-0E92-43464C0AB1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6. Compute the Fixed Overhead Variances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9377" y="881080"/>
            <a:ext cx="8750204" cy="524182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  <a:buSzPct val="79166"/>
              <a:tabLst>
                <a:tab pos="469265" algn="l"/>
              </a:tabLst>
            </a:pPr>
            <a:r>
              <a:rPr sz="2400" b="1" u="sng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Budget</a:t>
            </a:r>
            <a:r>
              <a:rPr sz="2400" b="1" u="sng" spc="-50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Arial"/>
                <a:cs typeface="Arial"/>
              </a:rPr>
              <a:t>Variance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=</a:t>
            </a:r>
            <a:r>
              <a:rPr sz="2400" spc="-1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Actual</a:t>
            </a:r>
            <a:r>
              <a:rPr sz="2400" spc="-9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Fixed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OH</a:t>
            </a:r>
            <a:r>
              <a:rPr sz="2400" spc="-7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–</a:t>
            </a:r>
            <a:r>
              <a:rPr sz="24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Flexible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Budget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Fixed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Arial MT"/>
                <a:cs typeface="Arial MT"/>
              </a:rPr>
              <a:t>OH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=</a:t>
            </a:r>
            <a:r>
              <a:rPr sz="24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$</a:t>
            </a:r>
            <a:r>
              <a:rPr lang="en-CA" sz="2400" dirty="0">
                <a:solidFill>
                  <a:srgbClr val="252525"/>
                </a:solidFill>
                <a:latin typeface="Arial MT"/>
                <a:cs typeface="Arial MT"/>
              </a:rPr>
              <a:t>140,960 </a:t>
            </a:r>
            <a:r>
              <a:rPr sz="24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-</a:t>
            </a:r>
            <a:r>
              <a:rPr sz="24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Arial MT"/>
                <a:cs typeface="Arial MT"/>
              </a:rPr>
              <a:t>$</a:t>
            </a:r>
            <a:r>
              <a:rPr lang="en-CA" sz="2400" spc="-10" dirty="0">
                <a:solidFill>
                  <a:srgbClr val="252525"/>
                </a:solidFill>
                <a:latin typeface="Arial MT"/>
                <a:cs typeface="Arial MT"/>
              </a:rPr>
              <a:t>128,250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=</a:t>
            </a:r>
            <a:r>
              <a:rPr sz="24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52525"/>
                </a:solidFill>
                <a:latin typeface="Arial MT"/>
                <a:cs typeface="Arial MT"/>
              </a:rPr>
              <a:t>$</a:t>
            </a:r>
            <a:r>
              <a:rPr lang="en-CA" sz="2400" dirty="0">
                <a:solidFill>
                  <a:srgbClr val="252525"/>
                </a:solidFill>
                <a:latin typeface="Arial MT"/>
                <a:cs typeface="Arial MT"/>
              </a:rPr>
              <a:t>12,710 U</a:t>
            </a: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endParaRPr lang="en-CA" sz="2400" dirty="0">
              <a:solidFill>
                <a:srgbClr val="252525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lang="en-CA" sz="2400" b="1" u="sng" dirty="0">
                <a:solidFill>
                  <a:srgbClr val="252525"/>
                </a:solidFill>
                <a:latin typeface="Arial MT"/>
                <a:cs typeface="Arial MT"/>
              </a:rPr>
              <a:t>Volume Variance</a:t>
            </a: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lang="en-CA" sz="2400" dirty="0">
                <a:solidFill>
                  <a:srgbClr val="252525"/>
                </a:solidFill>
                <a:latin typeface="Arial MT"/>
                <a:cs typeface="Arial MT"/>
              </a:rPr>
              <a:t>= Fixed OH Rate * (Denominator Hours * Standard Hours)</a:t>
            </a: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lang="en-CA" sz="2400" dirty="0">
                <a:solidFill>
                  <a:srgbClr val="252525"/>
                </a:solidFill>
                <a:latin typeface="Arial MT"/>
                <a:cs typeface="Arial MT"/>
              </a:rPr>
              <a:t>= $9.50 * </a:t>
            </a:r>
            <a:r>
              <a:rPr lang="en-CA" sz="2400">
                <a:solidFill>
                  <a:srgbClr val="252525"/>
                </a:solidFill>
                <a:latin typeface="Arial MT"/>
                <a:cs typeface="Arial MT"/>
              </a:rPr>
              <a:t>(4,500 </a:t>
            </a:r>
            <a:r>
              <a:rPr lang="en-CA" sz="2400" dirty="0">
                <a:solidFill>
                  <a:srgbClr val="252525"/>
                </a:solidFill>
                <a:latin typeface="Arial MT"/>
                <a:cs typeface="Arial MT"/>
              </a:rPr>
              <a:t>units * 3 hours – 4,800 units * 3 hours)</a:t>
            </a: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lang="en-CA" sz="2400" dirty="0">
                <a:solidFill>
                  <a:srgbClr val="252525"/>
                </a:solidFill>
                <a:latin typeface="Arial MT"/>
                <a:cs typeface="Arial MT"/>
              </a:rPr>
              <a:t>= $9.50 (13,500 – 14,400 hours)</a:t>
            </a: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lang="en-CA" sz="2400" dirty="0">
                <a:solidFill>
                  <a:srgbClr val="252525"/>
                </a:solidFill>
                <a:latin typeface="Arial MT"/>
                <a:cs typeface="Arial MT"/>
              </a:rPr>
              <a:t>= $8,550 F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8FD21968-40EC-A1C7-462B-135F09F5712E}"/>
              </a:ext>
            </a:extLst>
          </p:cNvPr>
          <p:cNvSpPr/>
          <p:nvPr/>
        </p:nvSpPr>
        <p:spPr>
          <a:xfrm>
            <a:off x="8328248" y="2636912"/>
            <a:ext cx="576580" cy="3384376"/>
          </a:xfrm>
          <a:custGeom>
            <a:avLst/>
            <a:gdLst/>
            <a:ahLst/>
            <a:cxnLst/>
            <a:rect l="l" t="t" r="r" b="b"/>
            <a:pathLst>
              <a:path w="576579" h="2809240">
                <a:moveTo>
                  <a:pt x="0" y="0"/>
                </a:moveTo>
                <a:lnTo>
                  <a:pt x="76589" y="1712"/>
                </a:lnTo>
                <a:lnTo>
                  <a:pt x="145400" y="6547"/>
                </a:lnTo>
                <a:lnTo>
                  <a:pt x="203692" y="14049"/>
                </a:lnTo>
                <a:lnTo>
                  <a:pt x="248722" y="23763"/>
                </a:lnTo>
                <a:lnTo>
                  <a:pt x="288036" y="48006"/>
                </a:lnTo>
                <a:lnTo>
                  <a:pt x="288036" y="1356360"/>
                </a:lnTo>
                <a:lnTo>
                  <a:pt x="298321" y="1369132"/>
                </a:lnTo>
                <a:lnTo>
                  <a:pt x="372379" y="1390316"/>
                </a:lnTo>
                <a:lnTo>
                  <a:pt x="430671" y="1397818"/>
                </a:lnTo>
                <a:lnTo>
                  <a:pt x="499482" y="1402653"/>
                </a:lnTo>
                <a:lnTo>
                  <a:pt x="576072" y="1404365"/>
                </a:lnTo>
                <a:lnTo>
                  <a:pt x="499482" y="1406078"/>
                </a:lnTo>
                <a:lnTo>
                  <a:pt x="430671" y="1410913"/>
                </a:lnTo>
                <a:lnTo>
                  <a:pt x="372379" y="1418415"/>
                </a:lnTo>
                <a:lnTo>
                  <a:pt x="327349" y="1428129"/>
                </a:lnTo>
                <a:lnTo>
                  <a:pt x="288036" y="1452371"/>
                </a:lnTo>
                <a:lnTo>
                  <a:pt x="288036" y="2760726"/>
                </a:lnTo>
                <a:lnTo>
                  <a:pt x="277750" y="2773489"/>
                </a:lnTo>
                <a:lnTo>
                  <a:pt x="248722" y="2784957"/>
                </a:lnTo>
                <a:lnTo>
                  <a:pt x="203692" y="2794673"/>
                </a:lnTo>
                <a:lnTo>
                  <a:pt x="145400" y="2802178"/>
                </a:lnTo>
                <a:lnTo>
                  <a:pt x="76589" y="2807017"/>
                </a:lnTo>
                <a:lnTo>
                  <a:pt x="0" y="2808732"/>
                </a:lnTo>
              </a:path>
            </a:pathLst>
          </a:custGeom>
          <a:ln w="38100">
            <a:solidFill>
              <a:srgbClr val="ED03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28D57BDC-F5B4-0C68-9FE1-854F9A496429}"/>
              </a:ext>
            </a:extLst>
          </p:cNvPr>
          <p:cNvSpPr txBox="1"/>
          <p:nvPr/>
        </p:nvSpPr>
        <p:spPr>
          <a:xfrm>
            <a:off x="9113190" y="4005064"/>
            <a:ext cx="2627059" cy="1145826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</a:pPr>
            <a:r>
              <a:rPr sz="2400" dirty="0">
                <a:latin typeface="Arial MT"/>
                <a:cs typeface="Arial MT"/>
              </a:rPr>
              <a:t>Sum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$</a:t>
            </a:r>
            <a:r>
              <a:rPr lang="en-CA" sz="2400" dirty="0">
                <a:latin typeface="Arial MT"/>
                <a:cs typeface="Arial MT"/>
              </a:rPr>
              <a:t>4,16</a:t>
            </a:r>
            <a:r>
              <a:rPr sz="2400" dirty="0">
                <a:latin typeface="Arial MT"/>
                <a:cs typeface="Arial MT"/>
              </a:rPr>
              <a:t>0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lang="en-CA" sz="2400" spc="-50" dirty="0">
                <a:latin typeface="Arial MT"/>
                <a:cs typeface="Arial MT"/>
              </a:rPr>
              <a:t>U</a:t>
            </a:r>
            <a:endParaRPr sz="2400" dirty="0">
              <a:latin typeface="Arial MT"/>
              <a:cs typeface="Arial MT"/>
            </a:endParaRPr>
          </a:p>
          <a:p>
            <a:pPr marL="90805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Look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Flex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Budget…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B443930F-A6A5-1B04-7A11-1B673DA1A2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Why do Variances Occur?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4019" y="947673"/>
            <a:ext cx="18186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Remember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this?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621240"/>
              </p:ext>
            </p:extLst>
          </p:nvPr>
        </p:nvGraphicFramePr>
        <p:xfrm>
          <a:off x="911424" y="1052736"/>
          <a:ext cx="10554970" cy="455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7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7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Direct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Materials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Variances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Direct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Labour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Variances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3560">
                <a:tc>
                  <a:txBody>
                    <a:bodyPr/>
                    <a:lstStyle/>
                    <a:p>
                      <a:pPr marL="170180" indent="-88900">
                        <a:lnSpc>
                          <a:spcPct val="100000"/>
                        </a:lnSpc>
                        <a:spcBef>
                          <a:spcPts val="315"/>
                        </a:spcBef>
                        <a:buSzPct val="94444"/>
                        <a:buChar char="•"/>
                        <a:tabLst>
                          <a:tab pos="170180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quality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material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0180" indent="-88900">
                        <a:lnSpc>
                          <a:spcPct val="100000"/>
                        </a:lnSpc>
                        <a:spcBef>
                          <a:spcPts val="430"/>
                        </a:spcBef>
                        <a:buSzPct val="94444"/>
                        <a:buChar char="•"/>
                        <a:tabLst>
                          <a:tab pos="170180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quantity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purchased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(volume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discount)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0180" indent="-88900">
                        <a:lnSpc>
                          <a:spcPct val="100000"/>
                        </a:lnSpc>
                        <a:spcBef>
                          <a:spcPts val="434"/>
                        </a:spcBef>
                        <a:buSzPct val="94444"/>
                        <a:buChar char="•"/>
                        <a:tabLst>
                          <a:tab pos="170180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New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supplier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0180" indent="-88900">
                        <a:lnSpc>
                          <a:spcPct val="100000"/>
                        </a:lnSpc>
                        <a:spcBef>
                          <a:spcPts val="430"/>
                        </a:spcBef>
                        <a:buSzPct val="94444"/>
                        <a:buChar char="•"/>
                        <a:tabLst>
                          <a:tab pos="170180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Better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negociation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0180" indent="-88900">
                        <a:lnSpc>
                          <a:spcPct val="100000"/>
                        </a:lnSpc>
                        <a:spcBef>
                          <a:spcPts val="434"/>
                        </a:spcBef>
                        <a:buSzPct val="94444"/>
                        <a:buChar char="•"/>
                        <a:tabLst>
                          <a:tab pos="170180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Drop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/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increase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price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material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70815" indent="-88900">
                        <a:lnSpc>
                          <a:spcPct val="100000"/>
                        </a:lnSpc>
                        <a:spcBef>
                          <a:spcPts val="315"/>
                        </a:spcBef>
                        <a:buSzPct val="94444"/>
                        <a:buChar char="•"/>
                        <a:tabLst>
                          <a:tab pos="170815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1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new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union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contract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92075" marR="652145" indent="-10160">
                        <a:lnSpc>
                          <a:spcPct val="100000"/>
                        </a:lnSpc>
                        <a:spcBef>
                          <a:spcPts val="430"/>
                        </a:spcBef>
                        <a:buSzPct val="94444"/>
                        <a:buChar char="•"/>
                        <a:tabLst>
                          <a:tab pos="170815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	Change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average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experience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training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workers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0815" indent="-88900">
                        <a:lnSpc>
                          <a:spcPct val="100000"/>
                        </a:lnSpc>
                        <a:spcBef>
                          <a:spcPts val="434"/>
                        </a:spcBef>
                        <a:buSzPct val="94444"/>
                        <a:buChar char="•"/>
                        <a:tabLst>
                          <a:tab pos="170815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government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regulations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0815" indent="-88900">
                        <a:lnSpc>
                          <a:spcPct val="100000"/>
                        </a:lnSpc>
                        <a:spcBef>
                          <a:spcPts val="434"/>
                        </a:spcBef>
                        <a:buSzPct val="94444"/>
                        <a:buChar char="•"/>
                        <a:tabLst>
                          <a:tab pos="170815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Unanticipated</a:t>
                      </a:r>
                      <a:r>
                        <a:rPr sz="18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overtime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2995">
                <a:tc>
                  <a:txBody>
                    <a:bodyPr/>
                    <a:lstStyle/>
                    <a:p>
                      <a:pPr marL="170180" indent="-88900">
                        <a:lnSpc>
                          <a:spcPct val="100000"/>
                        </a:lnSpc>
                        <a:spcBef>
                          <a:spcPts val="315"/>
                        </a:spcBef>
                        <a:buSzPct val="94444"/>
                        <a:buChar char="•"/>
                        <a:tabLst>
                          <a:tab pos="170180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Normal</a:t>
                      </a:r>
                      <a:r>
                        <a:rPr sz="1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fluctuations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usage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0180" indent="-88900">
                        <a:lnSpc>
                          <a:spcPct val="100000"/>
                        </a:lnSpc>
                        <a:spcBef>
                          <a:spcPts val="434"/>
                        </a:spcBef>
                        <a:buSzPct val="94444"/>
                        <a:buChar char="•"/>
                        <a:tabLst>
                          <a:tab pos="170180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production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process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0180" indent="-88900">
                        <a:lnSpc>
                          <a:spcPct val="100000"/>
                        </a:lnSpc>
                        <a:spcBef>
                          <a:spcPts val="430"/>
                        </a:spcBef>
                        <a:buSzPct val="94444"/>
                        <a:buChar char="•"/>
                        <a:tabLst>
                          <a:tab pos="170180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proportion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spoilage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0180" indent="-88900">
                        <a:lnSpc>
                          <a:spcPct val="100000"/>
                        </a:lnSpc>
                        <a:spcBef>
                          <a:spcPts val="434"/>
                        </a:spcBef>
                        <a:buSzPct val="94444"/>
                        <a:buChar char="•"/>
                        <a:tabLst>
                          <a:tab pos="170180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quality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materials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0180" indent="-88900">
                        <a:lnSpc>
                          <a:spcPct val="100000"/>
                        </a:lnSpc>
                        <a:spcBef>
                          <a:spcPts val="430"/>
                        </a:spcBef>
                        <a:buSzPct val="94444"/>
                        <a:buChar char="•"/>
                        <a:tabLst>
                          <a:tab pos="170180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equipment &amp;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technology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0180" indent="-88900">
                        <a:lnSpc>
                          <a:spcPct val="100000"/>
                        </a:lnSpc>
                        <a:spcBef>
                          <a:spcPts val="434"/>
                        </a:spcBef>
                        <a:buSzPct val="94444"/>
                        <a:buChar char="•"/>
                        <a:tabLst>
                          <a:tab pos="170180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Equipment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malfunction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170180" indent="-88900">
                        <a:lnSpc>
                          <a:spcPct val="100000"/>
                        </a:lnSpc>
                        <a:spcBef>
                          <a:spcPts val="434"/>
                        </a:spcBef>
                        <a:buSzPct val="94444"/>
                        <a:buChar char="•"/>
                        <a:tabLst>
                          <a:tab pos="170180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Theft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material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70815" indent="-88900">
                        <a:lnSpc>
                          <a:spcPct val="100000"/>
                        </a:lnSpc>
                        <a:spcBef>
                          <a:spcPts val="315"/>
                        </a:spcBef>
                        <a:buSzPct val="94444"/>
                        <a:buChar char="•"/>
                        <a:tabLst>
                          <a:tab pos="170815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equipment or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technology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170815" indent="-88900">
                        <a:lnSpc>
                          <a:spcPct val="100000"/>
                        </a:lnSpc>
                        <a:spcBef>
                          <a:spcPts val="434"/>
                        </a:spcBef>
                        <a:buSzPct val="94444"/>
                        <a:buChar char="•"/>
                        <a:tabLst>
                          <a:tab pos="170815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training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experience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workers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170815" indent="-88900">
                        <a:lnSpc>
                          <a:spcPct val="100000"/>
                        </a:lnSpc>
                        <a:spcBef>
                          <a:spcPts val="430"/>
                        </a:spcBef>
                        <a:buSzPct val="94444"/>
                        <a:buChar char="•"/>
                        <a:tabLst>
                          <a:tab pos="170815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Improved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performance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from</a:t>
                      </a:r>
                      <a:r>
                        <a:rPr sz="1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training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programs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170815" indent="-88900">
                        <a:lnSpc>
                          <a:spcPct val="100000"/>
                        </a:lnSpc>
                        <a:spcBef>
                          <a:spcPts val="434"/>
                        </a:spcBef>
                        <a:buSzPct val="94444"/>
                        <a:buChar char="•"/>
                        <a:tabLst>
                          <a:tab pos="170815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Change</a:t>
                      </a:r>
                      <a:r>
                        <a:rPr sz="1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employee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turnover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92075" marR="438150" indent="-10160">
                        <a:lnSpc>
                          <a:spcPct val="100000"/>
                        </a:lnSpc>
                        <a:spcBef>
                          <a:spcPts val="430"/>
                        </a:spcBef>
                        <a:buSzPct val="94444"/>
                        <a:buChar char="•"/>
                        <a:tabLst>
                          <a:tab pos="170815" algn="l"/>
                          <a:tab pos="3943350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	Intentional</a:t>
                      </a:r>
                      <a:r>
                        <a:rPr sz="1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unintentional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reporting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	of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 labour hours.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170815" indent="-88900">
                        <a:lnSpc>
                          <a:spcPct val="100000"/>
                        </a:lnSpc>
                        <a:spcBef>
                          <a:spcPts val="434"/>
                        </a:spcBef>
                        <a:buSzPct val="94444"/>
                        <a:buChar char="•"/>
                        <a:tabLst>
                          <a:tab pos="170815" algn="l"/>
                        </a:tabLst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Unreasonable</a:t>
                      </a:r>
                      <a:r>
                        <a:rPr sz="1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labour</a:t>
                      </a:r>
                      <a:r>
                        <a:rPr sz="1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hours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standard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58268" y="3861048"/>
            <a:ext cx="281305" cy="118491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latin typeface="Arial MT"/>
                <a:cs typeface="Arial MT"/>
              </a:rPr>
              <a:t>QUANTITY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0312" y="1932608"/>
            <a:ext cx="281305" cy="7245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latin typeface="Arial MT"/>
                <a:cs typeface="Arial MT"/>
              </a:rPr>
              <a:t>PRICE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1488" y="6513574"/>
            <a:ext cx="1440179" cy="22707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0293095" y="6452615"/>
            <a:ext cx="1617345" cy="288290"/>
            <a:chOff x="10293095" y="6452615"/>
            <a:chExt cx="1617345" cy="288290"/>
          </a:xfrm>
        </p:grpSpPr>
        <p:sp>
          <p:nvSpPr>
            <p:cNvPr id="5" name="object 5"/>
            <p:cNvSpPr/>
            <p:nvPr/>
          </p:nvSpPr>
          <p:spPr>
            <a:xfrm>
              <a:off x="10293095" y="6452615"/>
              <a:ext cx="1617345" cy="288290"/>
            </a:xfrm>
            <a:custGeom>
              <a:avLst/>
              <a:gdLst/>
              <a:ahLst/>
              <a:cxnLst/>
              <a:rect l="l" t="t" r="r" b="b"/>
              <a:pathLst>
                <a:path w="1617345" h="288290">
                  <a:moveTo>
                    <a:pt x="1616963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1616963" y="288036"/>
                  </a:lnTo>
                  <a:lnTo>
                    <a:pt x="16169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81487" y="6513574"/>
              <a:ext cx="1440179" cy="227074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300767" y="980728"/>
            <a:ext cx="11515725" cy="3731260"/>
            <a:chOff x="338327" y="1629155"/>
            <a:chExt cx="11515725" cy="373126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327" y="1629155"/>
              <a:ext cx="11515343" cy="373075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043933" y="3070097"/>
              <a:ext cx="6122035" cy="360045"/>
            </a:xfrm>
            <a:custGeom>
              <a:avLst/>
              <a:gdLst/>
              <a:ahLst/>
              <a:cxnLst/>
              <a:rect l="l" t="t" r="r" b="b"/>
              <a:pathLst>
                <a:path w="6122034" h="360045">
                  <a:moveTo>
                    <a:pt x="0" y="359663"/>
                  </a:moveTo>
                  <a:lnTo>
                    <a:pt x="972312" y="359663"/>
                  </a:lnTo>
                  <a:lnTo>
                    <a:pt x="972312" y="0"/>
                  </a:lnTo>
                  <a:lnTo>
                    <a:pt x="0" y="0"/>
                  </a:lnTo>
                  <a:lnTo>
                    <a:pt x="0" y="359663"/>
                  </a:lnTo>
                  <a:close/>
                </a:path>
                <a:path w="6122034" h="360045">
                  <a:moveTo>
                    <a:pt x="4788408" y="359663"/>
                  </a:moveTo>
                  <a:lnTo>
                    <a:pt x="6121908" y="359663"/>
                  </a:lnTo>
                  <a:lnTo>
                    <a:pt x="6121908" y="21336"/>
                  </a:lnTo>
                  <a:lnTo>
                    <a:pt x="4788408" y="21336"/>
                  </a:lnTo>
                  <a:lnTo>
                    <a:pt x="4788408" y="359663"/>
                  </a:lnTo>
                  <a:close/>
                </a:path>
              </a:pathLst>
            </a:custGeom>
            <a:ln w="25400">
              <a:solidFill>
                <a:srgbClr val="ED037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45990" y="5240428"/>
            <a:ext cx="6120765" cy="777136"/>
          </a:xfrm>
          <a:prstGeom prst="rect">
            <a:avLst/>
          </a:prstGeom>
          <a:ln w="25400">
            <a:solidFill>
              <a:srgbClr val="0070C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90170" algn="ctr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latin typeface="Arial MT"/>
                <a:cs typeface="Arial MT"/>
              </a:rPr>
              <a:t>Notice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difference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Applied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OH</a:t>
            </a:r>
            <a:endParaRPr sz="2400" dirty="0">
              <a:latin typeface="Arial MT"/>
              <a:cs typeface="Arial MT"/>
            </a:endParaRPr>
          </a:p>
          <a:p>
            <a:pPr marL="377190" indent="-287020" algn="ctr">
              <a:lnSpc>
                <a:spcPct val="100000"/>
              </a:lnSpc>
              <a:buFont typeface="Arial MT"/>
              <a:buChar char="•"/>
              <a:tabLst>
                <a:tab pos="377190" algn="l"/>
              </a:tabLst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Actual</a:t>
            </a:r>
            <a:r>
              <a:rPr sz="2400" b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vs.</a:t>
            </a:r>
            <a:r>
              <a:rPr sz="2400" b="1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Standard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101AC41B-E056-64CB-0E3D-5B3A2F03C5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Overhead Application in Standard Costing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1488" y="6513574"/>
            <a:ext cx="1440179" cy="22707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0293095" y="6452615"/>
            <a:ext cx="1617345" cy="288290"/>
            <a:chOff x="10293095" y="6452615"/>
            <a:chExt cx="1617345" cy="288290"/>
          </a:xfrm>
        </p:grpSpPr>
        <p:sp>
          <p:nvSpPr>
            <p:cNvPr id="5" name="object 5"/>
            <p:cNvSpPr/>
            <p:nvPr/>
          </p:nvSpPr>
          <p:spPr>
            <a:xfrm>
              <a:off x="10293095" y="6452615"/>
              <a:ext cx="1617345" cy="288290"/>
            </a:xfrm>
            <a:custGeom>
              <a:avLst/>
              <a:gdLst/>
              <a:ahLst/>
              <a:cxnLst/>
              <a:rect l="l" t="t" r="r" b="b"/>
              <a:pathLst>
                <a:path w="1617345" h="288290">
                  <a:moveTo>
                    <a:pt x="1616963" y="0"/>
                  </a:moveTo>
                  <a:lnTo>
                    <a:pt x="0" y="0"/>
                  </a:lnTo>
                  <a:lnTo>
                    <a:pt x="0" y="288036"/>
                  </a:lnTo>
                  <a:lnTo>
                    <a:pt x="1616963" y="288036"/>
                  </a:lnTo>
                  <a:lnTo>
                    <a:pt x="16169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81487" y="6513574"/>
              <a:ext cx="1440179" cy="227074"/>
            </a:xfrm>
            <a:prstGeom prst="rect">
              <a:avLst/>
            </a:prstGeom>
          </p:spPr>
        </p:pic>
      </p:grpSp>
      <p:sp>
        <p:nvSpPr>
          <p:cNvPr id="24" name="object 2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25" name="Subtitle 24">
            <a:extLst>
              <a:ext uri="{FF2B5EF4-FFF2-40B4-BE49-F238E27FC236}">
                <a16:creationId xmlns:a16="http://schemas.microsoft.com/office/drawing/2014/main" id="{DB9EDB6F-A2F2-A7ED-D9B5-B6C6BABB85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Overhead Application in Standard Costing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501980" y="1584452"/>
            <a:ext cx="4467860" cy="2913380"/>
            <a:chOff x="501980" y="1584452"/>
            <a:chExt cx="4467860" cy="2913380"/>
          </a:xfrm>
        </p:grpSpPr>
        <p:sp>
          <p:nvSpPr>
            <p:cNvPr id="9" name="object 9"/>
            <p:cNvSpPr/>
            <p:nvPr/>
          </p:nvSpPr>
          <p:spPr>
            <a:xfrm>
              <a:off x="527380" y="2084831"/>
              <a:ext cx="4417060" cy="1912620"/>
            </a:xfrm>
            <a:custGeom>
              <a:avLst/>
              <a:gdLst/>
              <a:ahLst/>
              <a:cxnLst/>
              <a:rect l="l" t="t" r="r" b="b"/>
              <a:pathLst>
                <a:path w="4417060" h="1912620">
                  <a:moveTo>
                    <a:pt x="4416476" y="0"/>
                  </a:moveTo>
                  <a:lnTo>
                    <a:pt x="2208276" y="0"/>
                  </a:lnTo>
                  <a:lnTo>
                    <a:pt x="0" y="0"/>
                  </a:lnTo>
                  <a:lnTo>
                    <a:pt x="0" y="1912620"/>
                  </a:lnTo>
                  <a:lnTo>
                    <a:pt x="2208199" y="1912620"/>
                  </a:lnTo>
                  <a:lnTo>
                    <a:pt x="4416476" y="1912620"/>
                  </a:lnTo>
                  <a:lnTo>
                    <a:pt x="4416476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7380" y="3997451"/>
              <a:ext cx="4417060" cy="487680"/>
            </a:xfrm>
            <a:custGeom>
              <a:avLst/>
              <a:gdLst/>
              <a:ahLst/>
              <a:cxnLst/>
              <a:rect l="l" t="t" r="r" b="b"/>
              <a:pathLst>
                <a:path w="4417060" h="487679">
                  <a:moveTo>
                    <a:pt x="4416476" y="0"/>
                  </a:moveTo>
                  <a:lnTo>
                    <a:pt x="2208276" y="0"/>
                  </a:lnTo>
                  <a:lnTo>
                    <a:pt x="0" y="0"/>
                  </a:lnTo>
                  <a:lnTo>
                    <a:pt x="0" y="487680"/>
                  </a:lnTo>
                  <a:lnTo>
                    <a:pt x="2208199" y="487680"/>
                  </a:lnTo>
                  <a:lnTo>
                    <a:pt x="4416476" y="487680"/>
                  </a:lnTo>
                  <a:lnTo>
                    <a:pt x="4416476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35579" y="2065782"/>
              <a:ext cx="0" cy="2425700"/>
            </a:xfrm>
            <a:custGeom>
              <a:avLst/>
              <a:gdLst/>
              <a:ahLst/>
              <a:cxnLst/>
              <a:rect l="l" t="t" r="r" b="b"/>
              <a:pathLst>
                <a:path h="2425700">
                  <a:moveTo>
                    <a:pt x="0" y="0"/>
                  </a:moveTo>
                  <a:lnTo>
                    <a:pt x="0" y="242569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1030" y="2084832"/>
              <a:ext cx="4429760" cy="0"/>
            </a:xfrm>
            <a:custGeom>
              <a:avLst/>
              <a:gdLst/>
              <a:ahLst/>
              <a:cxnLst/>
              <a:rect l="l" t="t" r="r" b="b"/>
              <a:pathLst>
                <a:path w="4429760">
                  <a:moveTo>
                    <a:pt x="0" y="0"/>
                  </a:moveTo>
                  <a:lnTo>
                    <a:pt x="4429175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1030" y="1590802"/>
              <a:ext cx="4429760" cy="2900680"/>
            </a:xfrm>
            <a:custGeom>
              <a:avLst/>
              <a:gdLst/>
              <a:ahLst/>
              <a:cxnLst/>
              <a:rect l="l" t="t" r="r" b="b"/>
              <a:pathLst>
                <a:path w="4429760" h="2900679">
                  <a:moveTo>
                    <a:pt x="0" y="2406650"/>
                  </a:moveTo>
                  <a:lnTo>
                    <a:pt x="4429175" y="2406650"/>
                  </a:lnTo>
                </a:path>
                <a:path w="4429760" h="2900679">
                  <a:moveTo>
                    <a:pt x="6350" y="0"/>
                  </a:moveTo>
                  <a:lnTo>
                    <a:pt x="6350" y="2900680"/>
                  </a:lnTo>
                </a:path>
                <a:path w="4429760" h="2900679">
                  <a:moveTo>
                    <a:pt x="4422825" y="0"/>
                  </a:moveTo>
                  <a:lnTo>
                    <a:pt x="4422825" y="2900680"/>
                  </a:lnTo>
                </a:path>
                <a:path w="4429760" h="2900679">
                  <a:moveTo>
                    <a:pt x="0" y="6350"/>
                  </a:moveTo>
                  <a:lnTo>
                    <a:pt x="4429175" y="6350"/>
                  </a:lnTo>
                </a:path>
                <a:path w="4429760" h="2900679">
                  <a:moveTo>
                    <a:pt x="0" y="2894330"/>
                  </a:moveTo>
                  <a:lnTo>
                    <a:pt x="4429175" y="289433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27380" y="1597152"/>
            <a:ext cx="4417060" cy="48768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2400" spc="-20" dirty="0">
                <a:solidFill>
                  <a:srgbClr val="FFFFFF"/>
                </a:solidFill>
                <a:latin typeface="Calibri Light"/>
                <a:cs typeface="Calibri Light"/>
              </a:rPr>
              <a:t>Fixed</a:t>
            </a:r>
            <a:r>
              <a:rPr sz="24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Calibri Light"/>
                <a:cs typeface="Calibri Light"/>
              </a:rPr>
              <a:t>Manufacturing</a:t>
            </a:r>
            <a:r>
              <a:rPr sz="24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 Light"/>
                <a:cs typeface="Calibri Light"/>
              </a:rPr>
              <a:t>OH</a:t>
            </a:r>
            <a:endParaRPr sz="2400">
              <a:latin typeface="Calibri Light"/>
              <a:cs typeface="Calibri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3730" y="2113915"/>
            <a:ext cx="2195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73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$140,960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05797" y="2905002"/>
            <a:ext cx="237015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979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$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 136,800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3730" y="4026789"/>
            <a:ext cx="21958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713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$</a:t>
            </a:r>
            <a:r>
              <a:rPr sz="24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0" dirty="0">
                <a:latin typeface="Arial" panose="020B0604020202020204" pitchFamily="34" charset="0"/>
                <a:cs typeface="Arial" panose="020B0604020202020204" pitchFamily="34" charset="0"/>
              </a:rPr>
              <a:t>4,160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342043" y="2264672"/>
            <a:ext cx="4286885" cy="3211195"/>
          </a:xfrm>
          <a:custGeom>
            <a:avLst/>
            <a:gdLst/>
            <a:ahLst/>
            <a:cxnLst/>
            <a:rect l="l" t="t" r="r" b="b"/>
            <a:pathLst>
              <a:path w="4286884" h="3211195">
                <a:moveTo>
                  <a:pt x="408432" y="3115945"/>
                </a:moveTo>
                <a:lnTo>
                  <a:pt x="381558" y="3125736"/>
                </a:lnTo>
                <a:lnTo>
                  <a:pt x="26924" y="2150237"/>
                </a:lnTo>
                <a:lnTo>
                  <a:pt x="0" y="2159889"/>
                </a:lnTo>
                <a:lnTo>
                  <a:pt x="354761" y="3135503"/>
                </a:lnTo>
                <a:lnTo>
                  <a:pt x="327914" y="3145282"/>
                </a:lnTo>
                <a:lnTo>
                  <a:pt x="397510" y="3211195"/>
                </a:lnTo>
                <a:lnTo>
                  <a:pt x="404634" y="3148965"/>
                </a:lnTo>
                <a:lnTo>
                  <a:pt x="408432" y="3115945"/>
                </a:lnTo>
                <a:close/>
              </a:path>
              <a:path w="4286884" h="3211195">
                <a:moveTo>
                  <a:pt x="4141978" y="42799"/>
                </a:moveTo>
                <a:lnTo>
                  <a:pt x="4113479" y="28575"/>
                </a:lnTo>
                <a:lnTo>
                  <a:pt x="4056253" y="0"/>
                </a:lnTo>
                <a:lnTo>
                  <a:pt x="4056253" y="28575"/>
                </a:lnTo>
                <a:lnTo>
                  <a:pt x="397510" y="28575"/>
                </a:lnTo>
                <a:lnTo>
                  <a:pt x="397510" y="57150"/>
                </a:lnTo>
                <a:lnTo>
                  <a:pt x="4056253" y="57150"/>
                </a:lnTo>
                <a:lnTo>
                  <a:pt x="4056253" y="85725"/>
                </a:lnTo>
                <a:lnTo>
                  <a:pt x="4113314" y="57150"/>
                </a:lnTo>
                <a:lnTo>
                  <a:pt x="4141978" y="42799"/>
                </a:lnTo>
                <a:close/>
              </a:path>
              <a:path w="4286884" h="3211195">
                <a:moveTo>
                  <a:pt x="4286758" y="1195705"/>
                </a:moveTo>
                <a:lnTo>
                  <a:pt x="4284726" y="1194054"/>
                </a:lnTo>
                <a:lnTo>
                  <a:pt x="4212463" y="1135126"/>
                </a:lnTo>
                <a:lnTo>
                  <a:pt x="4206189" y="1162977"/>
                </a:lnTo>
                <a:lnTo>
                  <a:pt x="2561717" y="793877"/>
                </a:lnTo>
                <a:lnTo>
                  <a:pt x="2555367" y="821817"/>
                </a:lnTo>
                <a:lnTo>
                  <a:pt x="4199902" y="1190929"/>
                </a:lnTo>
                <a:lnTo>
                  <a:pt x="4193667" y="1218692"/>
                </a:lnTo>
                <a:lnTo>
                  <a:pt x="4286758" y="1195705"/>
                </a:lnTo>
                <a:close/>
              </a:path>
            </a:pathLst>
          </a:custGeom>
          <a:solidFill>
            <a:srgbClr val="929292"/>
          </a:solidFill>
          <a:ln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751701" y="1810257"/>
            <a:ext cx="303974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Actual</a:t>
            </a:r>
            <a:r>
              <a:rPr sz="2000" u="sng" spc="-5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OH</a:t>
            </a:r>
            <a:endParaRPr sz="2000">
              <a:latin typeface="Arial MT"/>
              <a:cs typeface="Arial MT"/>
            </a:endParaRPr>
          </a:p>
          <a:p>
            <a:pPr marL="152400" marR="5080" indent="-140335">
              <a:lnSpc>
                <a:spcPct val="100000"/>
              </a:lnSpc>
              <a:tabLst>
                <a:tab pos="629920" algn="l"/>
              </a:tabLst>
            </a:pPr>
            <a:r>
              <a:rPr sz="2000" dirty="0">
                <a:latin typeface="Arial MT"/>
                <a:cs typeface="Arial MT"/>
              </a:rPr>
              <a:t>Dr: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Manufacturing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OH… Cr:</a:t>
            </a:r>
            <a:r>
              <a:rPr sz="2000" dirty="0">
                <a:latin typeface="Arial MT"/>
                <a:cs typeface="Arial MT"/>
              </a:rPr>
              <a:t>	Cash,</a:t>
            </a:r>
            <a:r>
              <a:rPr sz="2000" spc="-140" dirty="0">
                <a:latin typeface="Arial MT"/>
                <a:cs typeface="Arial MT"/>
              </a:rPr>
              <a:t> </a:t>
            </a:r>
            <a:r>
              <a:rPr sz="2000" spc="-85" dirty="0">
                <a:latin typeface="Arial MT"/>
                <a:cs typeface="Arial MT"/>
              </a:rPr>
              <a:t>AP,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Supplies…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43192" y="3061462"/>
            <a:ext cx="463994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OH</a:t>
            </a:r>
            <a:r>
              <a:rPr sz="2000" u="sng" spc="-13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Applied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unit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produced,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allocate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standard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hrs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*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standard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rate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69219" y="4241291"/>
            <a:ext cx="5448808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(3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hrs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unit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*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$9.5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standard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rate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* </a:t>
            </a:r>
            <a:r>
              <a:rPr sz="2000" spc="-20" dirty="0">
                <a:latin typeface="Arial MT"/>
                <a:cs typeface="Arial MT"/>
              </a:rPr>
              <a:t>4</a:t>
            </a:r>
            <a:r>
              <a:rPr lang="en-CA" sz="2000" spc="-20" dirty="0">
                <a:latin typeface="Arial MT"/>
                <a:cs typeface="Arial MT"/>
              </a:rPr>
              <a:t>,</a:t>
            </a:r>
            <a:r>
              <a:rPr sz="2000" spc="-20" dirty="0">
                <a:latin typeface="Arial MT"/>
                <a:cs typeface="Arial MT"/>
              </a:rPr>
              <a:t>800 </a:t>
            </a:r>
            <a:r>
              <a:rPr sz="2000" spc="-10" dirty="0">
                <a:latin typeface="Arial MT"/>
                <a:cs typeface="Arial MT"/>
              </a:rPr>
              <a:t>units)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68448" y="5473700"/>
            <a:ext cx="16224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 MT"/>
                <a:cs typeface="Arial MT"/>
              </a:rPr>
              <a:t>Under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Applied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838200"/>
            <a:ext cx="12192000" cy="1582420"/>
            <a:chOff x="0" y="838200"/>
            <a:chExt cx="12192000" cy="1582420"/>
          </a:xfrm>
        </p:grpSpPr>
        <p:sp>
          <p:nvSpPr>
            <p:cNvPr id="3" name="object 3"/>
            <p:cNvSpPr/>
            <p:nvPr/>
          </p:nvSpPr>
          <p:spPr>
            <a:xfrm>
              <a:off x="7357109" y="1428750"/>
              <a:ext cx="2456815" cy="972819"/>
            </a:xfrm>
            <a:custGeom>
              <a:avLst/>
              <a:gdLst/>
              <a:ahLst/>
              <a:cxnLst/>
              <a:rect l="l" t="t" r="r" b="b"/>
              <a:pathLst>
                <a:path w="2456815" h="972819">
                  <a:moveTo>
                    <a:pt x="1228344" y="0"/>
                  </a:moveTo>
                  <a:lnTo>
                    <a:pt x="1160944" y="719"/>
                  </a:lnTo>
                  <a:lnTo>
                    <a:pt x="1094495" y="2852"/>
                  </a:lnTo>
                  <a:lnTo>
                    <a:pt x="1029090" y="6363"/>
                  </a:lnTo>
                  <a:lnTo>
                    <a:pt x="964823" y="11213"/>
                  </a:lnTo>
                  <a:lnTo>
                    <a:pt x="901788" y="17367"/>
                  </a:lnTo>
                  <a:lnTo>
                    <a:pt x="840077" y="24786"/>
                  </a:lnTo>
                  <a:lnTo>
                    <a:pt x="779785" y="33434"/>
                  </a:lnTo>
                  <a:lnTo>
                    <a:pt x="721005" y="43273"/>
                  </a:lnTo>
                  <a:lnTo>
                    <a:pt x="663832" y="54267"/>
                  </a:lnTo>
                  <a:lnTo>
                    <a:pt x="608358" y="66378"/>
                  </a:lnTo>
                  <a:lnTo>
                    <a:pt x="554677" y="79570"/>
                  </a:lnTo>
                  <a:lnTo>
                    <a:pt x="502883" y="93805"/>
                  </a:lnTo>
                  <a:lnTo>
                    <a:pt x="453069" y="109046"/>
                  </a:lnTo>
                  <a:lnTo>
                    <a:pt x="405330" y="125256"/>
                  </a:lnTo>
                  <a:lnTo>
                    <a:pt x="359759" y="142398"/>
                  </a:lnTo>
                  <a:lnTo>
                    <a:pt x="316449" y="160435"/>
                  </a:lnTo>
                  <a:lnTo>
                    <a:pt x="275494" y="179330"/>
                  </a:lnTo>
                  <a:lnTo>
                    <a:pt x="236988" y="199046"/>
                  </a:lnTo>
                  <a:lnTo>
                    <a:pt x="201024" y="219546"/>
                  </a:lnTo>
                  <a:lnTo>
                    <a:pt x="167696" y="240792"/>
                  </a:lnTo>
                  <a:lnTo>
                    <a:pt x="109323" y="285375"/>
                  </a:lnTo>
                  <a:lnTo>
                    <a:pt x="62618" y="332500"/>
                  </a:lnTo>
                  <a:lnTo>
                    <a:pt x="28329" y="381869"/>
                  </a:lnTo>
                  <a:lnTo>
                    <a:pt x="7207" y="433187"/>
                  </a:lnTo>
                  <a:lnTo>
                    <a:pt x="0" y="486155"/>
                  </a:lnTo>
                  <a:lnTo>
                    <a:pt x="1817" y="512828"/>
                  </a:lnTo>
                  <a:lnTo>
                    <a:pt x="16075" y="565008"/>
                  </a:lnTo>
                  <a:lnTo>
                    <a:pt x="43874" y="615389"/>
                  </a:lnTo>
                  <a:lnTo>
                    <a:pt x="84465" y="663673"/>
                  </a:lnTo>
                  <a:lnTo>
                    <a:pt x="137098" y="709564"/>
                  </a:lnTo>
                  <a:lnTo>
                    <a:pt x="201024" y="752765"/>
                  </a:lnTo>
                  <a:lnTo>
                    <a:pt x="236988" y="773265"/>
                  </a:lnTo>
                  <a:lnTo>
                    <a:pt x="275494" y="792981"/>
                  </a:lnTo>
                  <a:lnTo>
                    <a:pt x="316449" y="811876"/>
                  </a:lnTo>
                  <a:lnTo>
                    <a:pt x="359759" y="829913"/>
                  </a:lnTo>
                  <a:lnTo>
                    <a:pt x="405330" y="847055"/>
                  </a:lnTo>
                  <a:lnTo>
                    <a:pt x="453069" y="863265"/>
                  </a:lnTo>
                  <a:lnTo>
                    <a:pt x="502883" y="878506"/>
                  </a:lnTo>
                  <a:lnTo>
                    <a:pt x="554677" y="892741"/>
                  </a:lnTo>
                  <a:lnTo>
                    <a:pt x="608358" y="905933"/>
                  </a:lnTo>
                  <a:lnTo>
                    <a:pt x="663832" y="918044"/>
                  </a:lnTo>
                  <a:lnTo>
                    <a:pt x="721005" y="929038"/>
                  </a:lnTo>
                  <a:lnTo>
                    <a:pt x="779785" y="938877"/>
                  </a:lnTo>
                  <a:lnTo>
                    <a:pt x="840077" y="947525"/>
                  </a:lnTo>
                  <a:lnTo>
                    <a:pt x="901788" y="954944"/>
                  </a:lnTo>
                  <a:lnTo>
                    <a:pt x="964823" y="961098"/>
                  </a:lnTo>
                  <a:lnTo>
                    <a:pt x="1029090" y="965948"/>
                  </a:lnTo>
                  <a:lnTo>
                    <a:pt x="1094495" y="969459"/>
                  </a:lnTo>
                  <a:lnTo>
                    <a:pt x="1160944" y="971592"/>
                  </a:lnTo>
                  <a:lnTo>
                    <a:pt x="1228344" y="972312"/>
                  </a:lnTo>
                  <a:lnTo>
                    <a:pt x="1295743" y="971592"/>
                  </a:lnTo>
                  <a:lnTo>
                    <a:pt x="1362192" y="969459"/>
                  </a:lnTo>
                  <a:lnTo>
                    <a:pt x="1427597" y="965948"/>
                  </a:lnTo>
                  <a:lnTo>
                    <a:pt x="1491864" y="961098"/>
                  </a:lnTo>
                  <a:lnTo>
                    <a:pt x="1554899" y="954944"/>
                  </a:lnTo>
                  <a:lnTo>
                    <a:pt x="1616610" y="947525"/>
                  </a:lnTo>
                  <a:lnTo>
                    <a:pt x="1676902" y="938877"/>
                  </a:lnTo>
                  <a:lnTo>
                    <a:pt x="1735682" y="929038"/>
                  </a:lnTo>
                  <a:lnTo>
                    <a:pt x="1792855" y="918044"/>
                  </a:lnTo>
                  <a:lnTo>
                    <a:pt x="1848329" y="905933"/>
                  </a:lnTo>
                  <a:lnTo>
                    <a:pt x="1902010" y="892741"/>
                  </a:lnTo>
                  <a:lnTo>
                    <a:pt x="1953804" y="878506"/>
                  </a:lnTo>
                  <a:lnTo>
                    <a:pt x="2003618" y="863265"/>
                  </a:lnTo>
                  <a:lnTo>
                    <a:pt x="2051357" y="847055"/>
                  </a:lnTo>
                  <a:lnTo>
                    <a:pt x="2096928" y="829913"/>
                  </a:lnTo>
                  <a:lnTo>
                    <a:pt x="2140238" y="811876"/>
                  </a:lnTo>
                  <a:lnTo>
                    <a:pt x="2181193" y="792981"/>
                  </a:lnTo>
                  <a:lnTo>
                    <a:pt x="2219699" y="773265"/>
                  </a:lnTo>
                  <a:lnTo>
                    <a:pt x="2255663" y="752765"/>
                  </a:lnTo>
                  <a:lnTo>
                    <a:pt x="2288991" y="731520"/>
                  </a:lnTo>
                  <a:lnTo>
                    <a:pt x="2347364" y="686936"/>
                  </a:lnTo>
                  <a:lnTo>
                    <a:pt x="2394069" y="639811"/>
                  </a:lnTo>
                  <a:lnTo>
                    <a:pt x="2428358" y="590442"/>
                  </a:lnTo>
                  <a:lnTo>
                    <a:pt x="2449480" y="539124"/>
                  </a:lnTo>
                  <a:lnTo>
                    <a:pt x="2456688" y="486155"/>
                  </a:lnTo>
                  <a:lnTo>
                    <a:pt x="2454870" y="459483"/>
                  </a:lnTo>
                  <a:lnTo>
                    <a:pt x="2440612" y="407303"/>
                  </a:lnTo>
                  <a:lnTo>
                    <a:pt x="2412813" y="356922"/>
                  </a:lnTo>
                  <a:lnTo>
                    <a:pt x="2372222" y="308638"/>
                  </a:lnTo>
                  <a:lnTo>
                    <a:pt x="2319589" y="262747"/>
                  </a:lnTo>
                  <a:lnTo>
                    <a:pt x="2255663" y="219546"/>
                  </a:lnTo>
                  <a:lnTo>
                    <a:pt x="2219699" y="199046"/>
                  </a:lnTo>
                  <a:lnTo>
                    <a:pt x="2181193" y="179330"/>
                  </a:lnTo>
                  <a:lnTo>
                    <a:pt x="2140238" y="160435"/>
                  </a:lnTo>
                  <a:lnTo>
                    <a:pt x="2096928" y="142398"/>
                  </a:lnTo>
                  <a:lnTo>
                    <a:pt x="2051357" y="125256"/>
                  </a:lnTo>
                  <a:lnTo>
                    <a:pt x="2003618" y="109046"/>
                  </a:lnTo>
                  <a:lnTo>
                    <a:pt x="1953804" y="93805"/>
                  </a:lnTo>
                  <a:lnTo>
                    <a:pt x="1902010" y="79570"/>
                  </a:lnTo>
                  <a:lnTo>
                    <a:pt x="1848329" y="66378"/>
                  </a:lnTo>
                  <a:lnTo>
                    <a:pt x="1792855" y="54267"/>
                  </a:lnTo>
                  <a:lnTo>
                    <a:pt x="1735682" y="43273"/>
                  </a:lnTo>
                  <a:lnTo>
                    <a:pt x="1676902" y="33434"/>
                  </a:lnTo>
                  <a:lnTo>
                    <a:pt x="1616610" y="24786"/>
                  </a:lnTo>
                  <a:lnTo>
                    <a:pt x="1554899" y="17367"/>
                  </a:lnTo>
                  <a:lnTo>
                    <a:pt x="1491864" y="11213"/>
                  </a:lnTo>
                  <a:lnTo>
                    <a:pt x="1427597" y="6363"/>
                  </a:lnTo>
                  <a:lnTo>
                    <a:pt x="1362192" y="2852"/>
                  </a:lnTo>
                  <a:lnTo>
                    <a:pt x="1295743" y="719"/>
                  </a:lnTo>
                  <a:lnTo>
                    <a:pt x="1228344" y="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357109" y="1428750"/>
              <a:ext cx="2456815" cy="972819"/>
            </a:xfrm>
            <a:custGeom>
              <a:avLst/>
              <a:gdLst/>
              <a:ahLst/>
              <a:cxnLst/>
              <a:rect l="l" t="t" r="r" b="b"/>
              <a:pathLst>
                <a:path w="2456815" h="972819">
                  <a:moveTo>
                    <a:pt x="0" y="486155"/>
                  </a:moveTo>
                  <a:lnTo>
                    <a:pt x="7207" y="433187"/>
                  </a:lnTo>
                  <a:lnTo>
                    <a:pt x="28329" y="381869"/>
                  </a:lnTo>
                  <a:lnTo>
                    <a:pt x="62618" y="332500"/>
                  </a:lnTo>
                  <a:lnTo>
                    <a:pt x="109323" y="285375"/>
                  </a:lnTo>
                  <a:lnTo>
                    <a:pt x="167696" y="240792"/>
                  </a:lnTo>
                  <a:lnTo>
                    <a:pt x="201024" y="219546"/>
                  </a:lnTo>
                  <a:lnTo>
                    <a:pt x="236988" y="199046"/>
                  </a:lnTo>
                  <a:lnTo>
                    <a:pt x="275494" y="179330"/>
                  </a:lnTo>
                  <a:lnTo>
                    <a:pt x="316449" y="160435"/>
                  </a:lnTo>
                  <a:lnTo>
                    <a:pt x="359759" y="142398"/>
                  </a:lnTo>
                  <a:lnTo>
                    <a:pt x="405330" y="125256"/>
                  </a:lnTo>
                  <a:lnTo>
                    <a:pt x="453069" y="109046"/>
                  </a:lnTo>
                  <a:lnTo>
                    <a:pt x="502883" y="93805"/>
                  </a:lnTo>
                  <a:lnTo>
                    <a:pt x="554677" y="79570"/>
                  </a:lnTo>
                  <a:lnTo>
                    <a:pt x="608358" y="66378"/>
                  </a:lnTo>
                  <a:lnTo>
                    <a:pt x="663832" y="54267"/>
                  </a:lnTo>
                  <a:lnTo>
                    <a:pt x="721005" y="43273"/>
                  </a:lnTo>
                  <a:lnTo>
                    <a:pt x="779785" y="33434"/>
                  </a:lnTo>
                  <a:lnTo>
                    <a:pt x="840077" y="24786"/>
                  </a:lnTo>
                  <a:lnTo>
                    <a:pt x="901788" y="17367"/>
                  </a:lnTo>
                  <a:lnTo>
                    <a:pt x="964823" y="11213"/>
                  </a:lnTo>
                  <a:lnTo>
                    <a:pt x="1029090" y="6363"/>
                  </a:lnTo>
                  <a:lnTo>
                    <a:pt x="1094495" y="2852"/>
                  </a:lnTo>
                  <a:lnTo>
                    <a:pt x="1160944" y="719"/>
                  </a:lnTo>
                  <a:lnTo>
                    <a:pt x="1228344" y="0"/>
                  </a:lnTo>
                  <a:lnTo>
                    <a:pt x="1295743" y="719"/>
                  </a:lnTo>
                  <a:lnTo>
                    <a:pt x="1362192" y="2852"/>
                  </a:lnTo>
                  <a:lnTo>
                    <a:pt x="1427597" y="6363"/>
                  </a:lnTo>
                  <a:lnTo>
                    <a:pt x="1491864" y="11213"/>
                  </a:lnTo>
                  <a:lnTo>
                    <a:pt x="1554899" y="17367"/>
                  </a:lnTo>
                  <a:lnTo>
                    <a:pt x="1616610" y="24786"/>
                  </a:lnTo>
                  <a:lnTo>
                    <a:pt x="1676902" y="33434"/>
                  </a:lnTo>
                  <a:lnTo>
                    <a:pt x="1735682" y="43273"/>
                  </a:lnTo>
                  <a:lnTo>
                    <a:pt x="1792855" y="54267"/>
                  </a:lnTo>
                  <a:lnTo>
                    <a:pt x="1848329" y="66378"/>
                  </a:lnTo>
                  <a:lnTo>
                    <a:pt x="1902010" y="79570"/>
                  </a:lnTo>
                  <a:lnTo>
                    <a:pt x="1953804" y="93805"/>
                  </a:lnTo>
                  <a:lnTo>
                    <a:pt x="2003618" y="109046"/>
                  </a:lnTo>
                  <a:lnTo>
                    <a:pt x="2051357" y="125256"/>
                  </a:lnTo>
                  <a:lnTo>
                    <a:pt x="2096928" y="142398"/>
                  </a:lnTo>
                  <a:lnTo>
                    <a:pt x="2140238" y="160435"/>
                  </a:lnTo>
                  <a:lnTo>
                    <a:pt x="2181193" y="179330"/>
                  </a:lnTo>
                  <a:lnTo>
                    <a:pt x="2219699" y="199046"/>
                  </a:lnTo>
                  <a:lnTo>
                    <a:pt x="2255663" y="219546"/>
                  </a:lnTo>
                  <a:lnTo>
                    <a:pt x="2288991" y="240791"/>
                  </a:lnTo>
                  <a:lnTo>
                    <a:pt x="2347364" y="285375"/>
                  </a:lnTo>
                  <a:lnTo>
                    <a:pt x="2394069" y="332500"/>
                  </a:lnTo>
                  <a:lnTo>
                    <a:pt x="2428358" y="381869"/>
                  </a:lnTo>
                  <a:lnTo>
                    <a:pt x="2449480" y="433187"/>
                  </a:lnTo>
                  <a:lnTo>
                    <a:pt x="2456688" y="486155"/>
                  </a:lnTo>
                  <a:lnTo>
                    <a:pt x="2454870" y="512828"/>
                  </a:lnTo>
                  <a:lnTo>
                    <a:pt x="2440612" y="565008"/>
                  </a:lnTo>
                  <a:lnTo>
                    <a:pt x="2412813" y="615389"/>
                  </a:lnTo>
                  <a:lnTo>
                    <a:pt x="2372222" y="663673"/>
                  </a:lnTo>
                  <a:lnTo>
                    <a:pt x="2319589" y="709564"/>
                  </a:lnTo>
                  <a:lnTo>
                    <a:pt x="2255663" y="752765"/>
                  </a:lnTo>
                  <a:lnTo>
                    <a:pt x="2219699" y="773265"/>
                  </a:lnTo>
                  <a:lnTo>
                    <a:pt x="2181193" y="792981"/>
                  </a:lnTo>
                  <a:lnTo>
                    <a:pt x="2140238" y="811876"/>
                  </a:lnTo>
                  <a:lnTo>
                    <a:pt x="2096928" y="829913"/>
                  </a:lnTo>
                  <a:lnTo>
                    <a:pt x="2051357" y="847055"/>
                  </a:lnTo>
                  <a:lnTo>
                    <a:pt x="2003618" y="863265"/>
                  </a:lnTo>
                  <a:lnTo>
                    <a:pt x="1953804" y="878506"/>
                  </a:lnTo>
                  <a:lnTo>
                    <a:pt x="1902010" y="892741"/>
                  </a:lnTo>
                  <a:lnTo>
                    <a:pt x="1848329" y="905933"/>
                  </a:lnTo>
                  <a:lnTo>
                    <a:pt x="1792855" y="918044"/>
                  </a:lnTo>
                  <a:lnTo>
                    <a:pt x="1735682" y="929038"/>
                  </a:lnTo>
                  <a:lnTo>
                    <a:pt x="1676902" y="938877"/>
                  </a:lnTo>
                  <a:lnTo>
                    <a:pt x="1616610" y="947525"/>
                  </a:lnTo>
                  <a:lnTo>
                    <a:pt x="1554899" y="954944"/>
                  </a:lnTo>
                  <a:lnTo>
                    <a:pt x="1491864" y="961098"/>
                  </a:lnTo>
                  <a:lnTo>
                    <a:pt x="1427597" y="965948"/>
                  </a:lnTo>
                  <a:lnTo>
                    <a:pt x="1362192" y="969459"/>
                  </a:lnTo>
                  <a:lnTo>
                    <a:pt x="1295743" y="971592"/>
                  </a:lnTo>
                  <a:lnTo>
                    <a:pt x="1228344" y="972312"/>
                  </a:lnTo>
                  <a:lnTo>
                    <a:pt x="1160944" y="971592"/>
                  </a:lnTo>
                  <a:lnTo>
                    <a:pt x="1094495" y="969459"/>
                  </a:lnTo>
                  <a:lnTo>
                    <a:pt x="1029090" y="965948"/>
                  </a:lnTo>
                  <a:lnTo>
                    <a:pt x="964823" y="961098"/>
                  </a:lnTo>
                  <a:lnTo>
                    <a:pt x="901788" y="954944"/>
                  </a:lnTo>
                  <a:lnTo>
                    <a:pt x="840077" y="947525"/>
                  </a:lnTo>
                  <a:lnTo>
                    <a:pt x="779785" y="938877"/>
                  </a:lnTo>
                  <a:lnTo>
                    <a:pt x="721005" y="929038"/>
                  </a:lnTo>
                  <a:lnTo>
                    <a:pt x="663832" y="918044"/>
                  </a:lnTo>
                  <a:lnTo>
                    <a:pt x="608358" y="905933"/>
                  </a:lnTo>
                  <a:lnTo>
                    <a:pt x="554677" y="892741"/>
                  </a:lnTo>
                  <a:lnTo>
                    <a:pt x="502883" y="878506"/>
                  </a:lnTo>
                  <a:lnTo>
                    <a:pt x="453069" y="863265"/>
                  </a:lnTo>
                  <a:lnTo>
                    <a:pt x="405330" y="847055"/>
                  </a:lnTo>
                  <a:lnTo>
                    <a:pt x="359759" y="829913"/>
                  </a:lnTo>
                  <a:lnTo>
                    <a:pt x="316449" y="811876"/>
                  </a:lnTo>
                  <a:lnTo>
                    <a:pt x="275494" y="792981"/>
                  </a:lnTo>
                  <a:lnTo>
                    <a:pt x="236988" y="773265"/>
                  </a:lnTo>
                  <a:lnTo>
                    <a:pt x="201024" y="752765"/>
                  </a:lnTo>
                  <a:lnTo>
                    <a:pt x="167696" y="731520"/>
                  </a:lnTo>
                  <a:lnTo>
                    <a:pt x="109323" y="686936"/>
                  </a:lnTo>
                  <a:lnTo>
                    <a:pt x="62618" y="639811"/>
                  </a:lnTo>
                  <a:lnTo>
                    <a:pt x="28329" y="590442"/>
                  </a:lnTo>
                  <a:lnTo>
                    <a:pt x="7207" y="539124"/>
                  </a:lnTo>
                  <a:lnTo>
                    <a:pt x="0" y="48615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8" name="Subtitle 17">
            <a:extLst>
              <a:ext uri="{FF2B5EF4-FFF2-40B4-BE49-F238E27FC236}">
                <a16:creationId xmlns:a16="http://schemas.microsoft.com/office/drawing/2014/main" id="{596C3575-18DC-E103-3F6B-F5E2152EBE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Manufacturing Overhead Variances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idx="14"/>
          </p:nvPr>
        </p:nvSpPr>
        <p:spPr>
          <a:xfrm>
            <a:off x="287354" y="846491"/>
            <a:ext cx="5010576" cy="41678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33655" indent="-457200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900" algn="l"/>
              </a:tabLst>
            </a:pPr>
            <a:r>
              <a:rPr sz="2400" spc="-40" dirty="0"/>
              <a:t>Total</a:t>
            </a:r>
            <a:r>
              <a:rPr sz="2400" spc="-100" dirty="0"/>
              <a:t> </a:t>
            </a:r>
            <a:r>
              <a:rPr sz="2400" dirty="0"/>
              <a:t>overhead</a:t>
            </a:r>
            <a:r>
              <a:rPr sz="2400" spc="-100" dirty="0"/>
              <a:t> </a:t>
            </a:r>
            <a:r>
              <a:rPr sz="2400" dirty="0"/>
              <a:t>variance</a:t>
            </a:r>
            <a:r>
              <a:rPr sz="2400" spc="-90" dirty="0"/>
              <a:t> </a:t>
            </a:r>
            <a:r>
              <a:rPr sz="2400" dirty="0"/>
              <a:t>is</a:t>
            </a:r>
            <a:r>
              <a:rPr sz="2400" spc="-100" dirty="0"/>
              <a:t> </a:t>
            </a:r>
            <a:r>
              <a:rPr sz="2400" spc="-25" dirty="0"/>
              <a:t>the </a:t>
            </a:r>
            <a:r>
              <a:rPr sz="2400" dirty="0"/>
              <a:t>difference</a:t>
            </a:r>
            <a:r>
              <a:rPr sz="2400" spc="-135" dirty="0"/>
              <a:t> </a:t>
            </a:r>
            <a:r>
              <a:rPr sz="2400" dirty="0"/>
              <a:t>between</a:t>
            </a:r>
            <a:r>
              <a:rPr sz="2400" spc="-130" dirty="0"/>
              <a:t> </a:t>
            </a:r>
            <a:r>
              <a:rPr sz="2400" spc="-10" dirty="0"/>
              <a:t>actual </a:t>
            </a:r>
            <a:r>
              <a:rPr sz="2400" dirty="0"/>
              <a:t>overhead</a:t>
            </a:r>
            <a:r>
              <a:rPr sz="2400" spc="-50" dirty="0"/>
              <a:t> </a:t>
            </a:r>
            <a:r>
              <a:rPr sz="2400" dirty="0"/>
              <a:t>costs</a:t>
            </a:r>
            <a:r>
              <a:rPr sz="2400" spc="-65" dirty="0"/>
              <a:t> </a:t>
            </a:r>
            <a:r>
              <a:rPr sz="2400" dirty="0"/>
              <a:t>and</a:t>
            </a:r>
            <a:r>
              <a:rPr sz="2400" spc="-65" dirty="0"/>
              <a:t> </a:t>
            </a:r>
            <a:r>
              <a:rPr sz="2400" spc="-10" dirty="0"/>
              <a:t>overhead </a:t>
            </a:r>
            <a:r>
              <a:rPr sz="2400" dirty="0"/>
              <a:t>costs</a:t>
            </a:r>
            <a:r>
              <a:rPr sz="2400" spc="-50" dirty="0"/>
              <a:t> </a:t>
            </a:r>
            <a:r>
              <a:rPr sz="2400" dirty="0"/>
              <a:t>applied</a:t>
            </a:r>
            <a:r>
              <a:rPr sz="2400" spc="-15" dirty="0"/>
              <a:t> </a:t>
            </a:r>
            <a:r>
              <a:rPr sz="2400" dirty="0"/>
              <a:t>to</a:t>
            </a:r>
            <a:r>
              <a:rPr sz="2400" spc="-45" dirty="0"/>
              <a:t> </a:t>
            </a:r>
            <a:r>
              <a:rPr sz="2400" dirty="0"/>
              <a:t>work</a:t>
            </a:r>
            <a:r>
              <a:rPr sz="2400" spc="-40" dirty="0"/>
              <a:t> </a:t>
            </a:r>
            <a:r>
              <a:rPr sz="2400" spc="-20" dirty="0"/>
              <a:t>done.</a:t>
            </a:r>
          </a:p>
          <a:p>
            <a:pPr marL="469900" marR="422909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/>
              <a:t>Computation</a:t>
            </a:r>
            <a:r>
              <a:rPr sz="2400" spc="-65" dirty="0"/>
              <a:t> </a:t>
            </a:r>
            <a:r>
              <a:rPr sz="2400" dirty="0"/>
              <a:t>of</a:t>
            </a:r>
            <a:r>
              <a:rPr sz="2400" spc="-80" dirty="0"/>
              <a:t> </a:t>
            </a:r>
            <a:r>
              <a:rPr sz="2400" spc="-10" dirty="0"/>
              <a:t>actual </a:t>
            </a:r>
            <a:r>
              <a:rPr sz="2400" dirty="0"/>
              <a:t>overhead</a:t>
            </a:r>
            <a:r>
              <a:rPr sz="2400" spc="-65" dirty="0"/>
              <a:t> </a:t>
            </a:r>
            <a:r>
              <a:rPr sz="2400" dirty="0"/>
              <a:t>is</a:t>
            </a:r>
            <a:r>
              <a:rPr sz="2400" spc="-75" dirty="0"/>
              <a:t> </a:t>
            </a:r>
            <a:r>
              <a:rPr sz="2400" dirty="0"/>
              <a:t>comprised</a:t>
            </a:r>
            <a:r>
              <a:rPr sz="2400" spc="-70" dirty="0"/>
              <a:t> </a:t>
            </a:r>
            <a:r>
              <a:rPr sz="2400" dirty="0"/>
              <a:t>of</a:t>
            </a:r>
            <a:r>
              <a:rPr sz="2400" spc="-75" dirty="0"/>
              <a:t> </a:t>
            </a:r>
            <a:r>
              <a:rPr sz="2400" spc="-50" dirty="0"/>
              <a:t>a </a:t>
            </a:r>
            <a:r>
              <a:rPr sz="2400" dirty="0"/>
              <a:t>variable</a:t>
            </a:r>
            <a:r>
              <a:rPr sz="2400" spc="-50" dirty="0"/>
              <a:t> </a:t>
            </a:r>
            <a:r>
              <a:rPr sz="2400" dirty="0"/>
              <a:t>and</a:t>
            </a:r>
            <a:r>
              <a:rPr sz="2400" spc="-55" dirty="0"/>
              <a:t> </a:t>
            </a:r>
            <a:r>
              <a:rPr sz="2400" dirty="0"/>
              <a:t>a</a:t>
            </a:r>
            <a:r>
              <a:rPr sz="2400" spc="-65" dirty="0"/>
              <a:t> </a:t>
            </a:r>
            <a:r>
              <a:rPr sz="2400" spc="-20" dirty="0"/>
              <a:t>fixed </a:t>
            </a:r>
            <a:r>
              <a:rPr sz="2400" spc="-10" dirty="0"/>
              <a:t>component.</a:t>
            </a:r>
          </a:p>
          <a:p>
            <a:pPr marL="469900" marR="5080" indent="-457200">
              <a:lnSpc>
                <a:spcPct val="100000"/>
              </a:lnSpc>
              <a:spcBef>
                <a:spcPts val="118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/>
              <a:t>Formula</a:t>
            </a:r>
            <a:r>
              <a:rPr sz="2400" spc="-55" dirty="0"/>
              <a:t> </a:t>
            </a:r>
            <a:r>
              <a:rPr sz="2400" dirty="0"/>
              <a:t>for</a:t>
            </a:r>
            <a:r>
              <a:rPr sz="2400" spc="-70" dirty="0"/>
              <a:t> </a:t>
            </a:r>
            <a:r>
              <a:rPr sz="2400" dirty="0"/>
              <a:t>the</a:t>
            </a:r>
            <a:r>
              <a:rPr sz="2400" spc="-55" dirty="0"/>
              <a:t> </a:t>
            </a:r>
            <a:r>
              <a:rPr sz="2400" dirty="0"/>
              <a:t>total</a:t>
            </a:r>
            <a:r>
              <a:rPr sz="2400" spc="-60" dirty="0"/>
              <a:t> </a:t>
            </a:r>
            <a:r>
              <a:rPr sz="2400" spc="-10" dirty="0"/>
              <a:t>overhead variance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Manufacturing</a:t>
            </a:r>
            <a:r>
              <a:rPr spc="-85" dirty="0"/>
              <a:t> </a:t>
            </a:r>
            <a:r>
              <a:rPr dirty="0"/>
              <a:t>Overhead</a:t>
            </a:r>
            <a:r>
              <a:rPr spc="-50" dirty="0"/>
              <a:t> </a:t>
            </a:r>
            <a:r>
              <a:rPr spc="-10" dirty="0"/>
              <a:t>Variances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424" y="5553455"/>
            <a:ext cx="9765792" cy="103174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744206" y="1574419"/>
            <a:ext cx="16846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" marR="5080" indent="-18415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FFFF99"/>
                </a:solidFill>
                <a:latin typeface="Arial"/>
                <a:cs typeface="Arial"/>
              </a:rPr>
              <a:t>In</a:t>
            </a:r>
            <a:r>
              <a:rPr sz="2100" b="1" spc="-5" dirty="0">
                <a:solidFill>
                  <a:srgbClr val="FFFF99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FFFF99"/>
                </a:solidFill>
                <a:latin typeface="Arial"/>
                <a:cs typeface="Arial"/>
              </a:rPr>
              <a:t>a</a:t>
            </a:r>
            <a:r>
              <a:rPr sz="2100" b="1" spc="-10" dirty="0">
                <a:solidFill>
                  <a:srgbClr val="FFFF99"/>
                </a:solidFill>
                <a:latin typeface="Arial"/>
                <a:cs typeface="Arial"/>
              </a:rPr>
              <a:t> standard </a:t>
            </a:r>
            <a:r>
              <a:rPr sz="2100" b="1" dirty="0">
                <a:solidFill>
                  <a:srgbClr val="FFFF99"/>
                </a:solidFill>
                <a:latin typeface="Arial"/>
                <a:cs typeface="Arial"/>
              </a:rPr>
              <a:t>cost</a:t>
            </a:r>
            <a:r>
              <a:rPr sz="2100" b="1" spc="-30" dirty="0">
                <a:solidFill>
                  <a:srgbClr val="FFFF99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FFFF99"/>
                </a:solidFill>
                <a:latin typeface="Arial"/>
                <a:cs typeface="Arial"/>
              </a:rPr>
              <a:t>system:</a:t>
            </a:r>
            <a:endParaRPr sz="2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37809" y="3147822"/>
            <a:ext cx="2818130" cy="817244"/>
          </a:xfrm>
          <a:prstGeom prst="rect">
            <a:avLst/>
          </a:prstGeom>
          <a:solidFill>
            <a:srgbClr val="FFFF99"/>
          </a:solidFill>
          <a:ln w="38100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82550" marR="76200" indent="596900">
              <a:lnSpc>
                <a:spcPts val="1939"/>
              </a:lnSpc>
              <a:spcBef>
                <a:spcPts val="250"/>
              </a:spcBef>
            </a:pP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Unfavourable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variances</a:t>
            </a:r>
            <a:r>
              <a:rPr sz="1800" spc="-20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are</a:t>
            </a:r>
            <a:r>
              <a:rPr sz="1800" spc="-20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487C"/>
                </a:solidFill>
                <a:latin typeface="Arial MT"/>
                <a:cs typeface="Arial MT"/>
              </a:rPr>
              <a:t>equivalent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to</a:t>
            </a:r>
            <a:r>
              <a:rPr sz="1800" spc="-4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underapplied</a:t>
            </a:r>
            <a:r>
              <a:rPr sz="1800" spc="-10" dirty="0">
                <a:solidFill>
                  <a:srgbClr val="1F487C"/>
                </a:solidFill>
                <a:latin typeface="Arial MT"/>
                <a:cs typeface="Arial MT"/>
              </a:rPr>
              <a:t> overhead.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688835" y="1895855"/>
            <a:ext cx="668020" cy="1252855"/>
          </a:xfrm>
          <a:custGeom>
            <a:avLst/>
            <a:gdLst/>
            <a:ahLst/>
            <a:cxnLst/>
            <a:rect l="l" t="t" r="r" b="b"/>
            <a:pathLst>
              <a:path w="668020" h="1252855">
                <a:moveTo>
                  <a:pt x="38100" y="1138174"/>
                </a:moveTo>
                <a:lnTo>
                  <a:pt x="0" y="1138174"/>
                </a:lnTo>
                <a:lnTo>
                  <a:pt x="57150" y="1252474"/>
                </a:lnTo>
                <a:lnTo>
                  <a:pt x="104775" y="1157224"/>
                </a:lnTo>
                <a:lnTo>
                  <a:pt x="38100" y="1157224"/>
                </a:lnTo>
                <a:lnTo>
                  <a:pt x="38100" y="1138174"/>
                </a:lnTo>
                <a:close/>
              </a:path>
              <a:path w="668020" h="1252855">
                <a:moveTo>
                  <a:pt x="667893" y="0"/>
                </a:moveTo>
                <a:lnTo>
                  <a:pt x="38100" y="0"/>
                </a:lnTo>
                <a:lnTo>
                  <a:pt x="38100" y="1157224"/>
                </a:lnTo>
                <a:lnTo>
                  <a:pt x="76200" y="1157224"/>
                </a:lnTo>
                <a:lnTo>
                  <a:pt x="76200" y="38100"/>
                </a:lnTo>
                <a:lnTo>
                  <a:pt x="57150" y="38100"/>
                </a:lnTo>
                <a:lnTo>
                  <a:pt x="76200" y="19050"/>
                </a:lnTo>
                <a:lnTo>
                  <a:pt x="667893" y="19050"/>
                </a:lnTo>
                <a:lnTo>
                  <a:pt x="667893" y="0"/>
                </a:lnTo>
                <a:close/>
              </a:path>
              <a:path w="668020" h="1252855">
                <a:moveTo>
                  <a:pt x="114300" y="1138174"/>
                </a:moveTo>
                <a:lnTo>
                  <a:pt x="76200" y="1138174"/>
                </a:lnTo>
                <a:lnTo>
                  <a:pt x="76200" y="1157224"/>
                </a:lnTo>
                <a:lnTo>
                  <a:pt x="104775" y="1157224"/>
                </a:lnTo>
                <a:lnTo>
                  <a:pt x="114300" y="1138174"/>
                </a:lnTo>
                <a:close/>
              </a:path>
              <a:path w="668020" h="1252855">
                <a:moveTo>
                  <a:pt x="76200" y="19050"/>
                </a:moveTo>
                <a:lnTo>
                  <a:pt x="57150" y="38100"/>
                </a:lnTo>
                <a:lnTo>
                  <a:pt x="76200" y="38100"/>
                </a:lnTo>
                <a:lnTo>
                  <a:pt x="76200" y="19050"/>
                </a:lnTo>
                <a:close/>
              </a:path>
              <a:path w="668020" h="1252855">
                <a:moveTo>
                  <a:pt x="667893" y="19050"/>
                </a:moveTo>
                <a:lnTo>
                  <a:pt x="76200" y="19050"/>
                </a:lnTo>
                <a:lnTo>
                  <a:pt x="76200" y="38100"/>
                </a:lnTo>
                <a:lnTo>
                  <a:pt x="667893" y="38100"/>
                </a:lnTo>
                <a:lnTo>
                  <a:pt x="667893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964930" y="3147822"/>
            <a:ext cx="2676525" cy="817244"/>
          </a:xfrm>
          <a:prstGeom prst="rect">
            <a:avLst/>
          </a:prstGeom>
          <a:solidFill>
            <a:srgbClr val="CCFFFF"/>
          </a:solidFill>
          <a:ln w="38100">
            <a:solidFill>
              <a:srgbClr val="0000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81915" marR="74930" indent="648970">
              <a:lnSpc>
                <a:spcPts val="1939"/>
              </a:lnSpc>
              <a:spcBef>
                <a:spcPts val="250"/>
              </a:spcBef>
            </a:pPr>
            <a:r>
              <a:rPr sz="1800" b="1" spc="-10" dirty="0">
                <a:solidFill>
                  <a:srgbClr val="339933"/>
                </a:solidFill>
                <a:latin typeface="Arial"/>
                <a:cs typeface="Arial"/>
              </a:rPr>
              <a:t>Favourable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variances</a:t>
            </a:r>
            <a:r>
              <a:rPr sz="1800" spc="-20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are</a:t>
            </a:r>
            <a:r>
              <a:rPr sz="1800" spc="-20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487C"/>
                </a:solidFill>
                <a:latin typeface="Arial MT"/>
                <a:cs typeface="Arial MT"/>
              </a:rPr>
              <a:t>equivalent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to</a:t>
            </a:r>
            <a:r>
              <a:rPr sz="1800" spc="-40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1F487C"/>
                </a:solidFill>
                <a:latin typeface="Arial MT"/>
                <a:cs typeface="Arial MT"/>
              </a:rPr>
              <a:t>overapplied</a:t>
            </a:r>
            <a:r>
              <a:rPr sz="1800" spc="-1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487C"/>
                </a:solidFill>
                <a:latin typeface="Arial MT"/>
                <a:cs typeface="Arial MT"/>
              </a:rPr>
              <a:t>overhead.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815321" y="1895855"/>
            <a:ext cx="545465" cy="1252855"/>
          </a:xfrm>
          <a:custGeom>
            <a:avLst/>
            <a:gdLst/>
            <a:ahLst/>
            <a:cxnLst/>
            <a:rect l="l" t="t" r="r" b="b"/>
            <a:pathLst>
              <a:path w="545465" h="1252855">
                <a:moveTo>
                  <a:pt x="469137" y="1138174"/>
                </a:moveTo>
                <a:lnTo>
                  <a:pt x="431037" y="1138174"/>
                </a:lnTo>
                <a:lnTo>
                  <a:pt x="488187" y="1252474"/>
                </a:lnTo>
                <a:lnTo>
                  <a:pt x="535812" y="1157224"/>
                </a:lnTo>
                <a:lnTo>
                  <a:pt x="469137" y="1157224"/>
                </a:lnTo>
                <a:lnTo>
                  <a:pt x="469137" y="1138174"/>
                </a:lnTo>
                <a:close/>
              </a:path>
              <a:path w="545465" h="1252855">
                <a:moveTo>
                  <a:pt x="469137" y="19050"/>
                </a:moveTo>
                <a:lnTo>
                  <a:pt x="469137" y="1157224"/>
                </a:lnTo>
                <a:lnTo>
                  <a:pt x="507237" y="1157224"/>
                </a:lnTo>
                <a:lnTo>
                  <a:pt x="507237" y="38100"/>
                </a:lnTo>
                <a:lnTo>
                  <a:pt x="488187" y="38100"/>
                </a:lnTo>
                <a:lnTo>
                  <a:pt x="469137" y="19050"/>
                </a:lnTo>
                <a:close/>
              </a:path>
              <a:path w="545465" h="1252855">
                <a:moveTo>
                  <a:pt x="545337" y="1138174"/>
                </a:moveTo>
                <a:lnTo>
                  <a:pt x="507237" y="1138174"/>
                </a:lnTo>
                <a:lnTo>
                  <a:pt x="507237" y="1157224"/>
                </a:lnTo>
                <a:lnTo>
                  <a:pt x="535812" y="1157224"/>
                </a:lnTo>
                <a:lnTo>
                  <a:pt x="545337" y="1138174"/>
                </a:lnTo>
                <a:close/>
              </a:path>
              <a:path w="545465" h="1252855">
                <a:moveTo>
                  <a:pt x="507237" y="0"/>
                </a:moveTo>
                <a:lnTo>
                  <a:pt x="0" y="0"/>
                </a:lnTo>
                <a:lnTo>
                  <a:pt x="0" y="38100"/>
                </a:lnTo>
                <a:lnTo>
                  <a:pt x="469137" y="38100"/>
                </a:lnTo>
                <a:lnTo>
                  <a:pt x="469137" y="19050"/>
                </a:lnTo>
                <a:lnTo>
                  <a:pt x="507237" y="19050"/>
                </a:lnTo>
                <a:lnTo>
                  <a:pt x="507237" y="0"/>
                </a:lnTo>
                <a:close/>
              </a:path>
              <a:path w="545465" h="1252855">
                <a:moveTo>
                  <a:pt x="507237" y="19050"/>
                </a:moveTo>
                <a:lnTo>
                  <a:pt x="469137" y="19050"/>
                </a:lnTo>
                <a:lnTo>
                  <a:pt x="488187" y="38100"/>
                </a:lnTo>
                <a:lnTo>
                  <a:pt x="507237" y="38100"/>
                </a:lnTo>
                <a:lnTo>
                  <a:pt x="507237" y="19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384797" y="4181094"/>
            <a:ext cx="4688205" cy="1062355"/>
          </a:xfrm>
          <a:prstGeom prst="rect">
            <a:avLst/>
          </a:prstGeom>
          <a:solidFill>
            <a:srgbClr val="CCEBFF"/>
          </a:solidFill>
          <a:ln w="38100">
            <a:solidFill>
              <a:srgbClr val="C0504D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13030" marR="106680" algn="ctr">
              <a:lnSpc>
                <a:spcPct val="100000"/>
              </a:lnSpc>
              <a:spcBef>
                <a:spcPts val="300"/>
              </a:spcBef>
            </a:pPr>
            <a:r>
              <a:rPr sz="2100" b="1" dirty="0">
                <a:solidFill>
                  <a:srgbClr val="1F487C"/>
                </a:solidFill>
                <a:latin typeface="Arial"/>
                <a:cs typeface="Arial"/>
              </a:rPr>
              <a:t>The</a:t>
            </a:r>
            <a:r>
              <a:rPr sz="2100" b="1" spc="-30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F487C"/>
                </a:solidFill>
                <a:latin typeface="Arial"/>
                <a:cs typeface="Arial"/>
              </a:rPr>
              <a:t>sum</a:t>
            </a:r>
            <a:r>
              <a:rPr sz="2100" b="1" spc="-25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F487C"/>
                </a:solidFill>
                <a:latin typeface="Arial"/>
                <a:cs typeface="Arial"/>
              </a:rPr>
              <a:t>of</a:t>
            </a:r>
            <a:r>
              <a:rPr sz="2100" b="1" spc="-30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F487C"/>
                </a:solidFill>
                <a:latin typeface="Arial"/>
                <a:cs typeface="Arial"/>
              </a:rPr>
              <a:t>the</a:t>
            </a:r>
            <a:r>
              <a:rPr sz="2100" b="1" spc="-20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F487C"/>
                </a:solidFill>
                <a:latin typeface="Arial"/>
                <a:cs typeface="Arial"/>
              </a:rPr>
              <a:t>overhead</a:t>
            </a:r>
            <a:r>
              <a:rPr sz="2100" b="1" spc="-30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1F487C"/>
                </a:solidFill>
                <a:latin typeface="Arial"/>
                <a:cs typeface="Arial"/>
              </a:rPr>
              <a:t>variances </a:t>
            </a:r>
            <a:r>
              <a:rPr sz="2100" b="1" dirty="0">
                <a:solidFill>
                  <a:srgbClr val="1F487C"/>
                </a:solidFill>
                <a:latin typeface="Arial"/>
                <a:cs typeface="Arial"/>
              </a:rPr>
              <a:t>equals</a:t>
            </a:r>
            <a:r>
              <a:rPr sz="2100" b="1" spc="-30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F487C"/>
                </a:solidFill>
                <a:latin typeface="Arial"/>
                <a:cs typeface="Arial"/>
              </a:rPr>
              <a:t>the</a:t>
            </a:r>
            <a:r>
              <a:rPr sz="2100" b="1" spc="-30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F487C"/>
                </a:solidFill>
                <a:latin typeface="Arial"/>
                <a:cs typeface="Arial"/>
              </a:rPr>
              <a:t>under-</a:t>
            </a:r>
            <a:r>
              <a:rPr sz="2100" b="1" spc="-30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F487C"/>
                </a:solidFill>
                <a:latin typeface="Arial"/>
                <a:cs typeface="Arial"/>
              </a:rPr>
              <a:t>or</a:t>
            </a:r>
            <a:r>
              <a:rPr sz="2100" b="1" spc="-30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1F487C"/>
                </a:solidFill>
                <a:latin typeface="Arial"/>
                <a:cs typeface="Arial"/>
              </a:rPr>
              <a:t>overapplied </a:t>
            </a:r>
            <a:r>
              <a:rPr sz="2100" b="1" dirty="0">
                <a:solidFill>
                  <a:srgbClr val="1F487C"/>
                </a:solidFill>
                <a:latin typeface="Arial"/>
                <a:cs typeface="Arial"/>
              </a:rPr>
              <a:t>overhead</a:t>
            </a:r>
            <a:r>
              <a:rPr sz="2100" b="1" spc="-25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F487C"/>
                </a:solidFill>
                <a:latin typeface="Arial"/>
                <a:cs typeface="Arial"/>
              </a:rPr>
              <a:t>cost</a:t>
            </a:r>
            <a:r>
              <a:rPr sz="2100" b="1" spc="-25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F487C"/>
                </a:solidFill>
                <a:latin typeface="Arial"/>
                <a:cs typeface="Arial"/>
              </a:rPr>
              <a:t>for</a:t>
            </a:r>
            <a:r>
              <a:rPr sz="2100" b="1" spc="-15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1F487C"/>
                </a:solidFill>
                <a:latin typeface="Arial"/>
                <a:cs typeface="Arial"/>
              </a:rPr>
              <a:t>a</a:t>
            </a:r>
            <a:r>
              <a:rPr sz="2100" b="1" spc="-25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1F487C"/>
                </a:solidFill>
                <a:latin typeface="Arial"/>
                <a:cs typeface="Arial"/>
              </a:rPr>
              <a:t>period.</a:t>
            </a:r>
            <a:endParaRPr sz="21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34455" y="3964685"/>
            <a:ext cx="451484" cy="805180"/>
          </a:xfrm>
          <a:custGeom>
            <a:avLst/>
            <a:gdLst/>
            <a:ahLst/>
            <a:cxnLst/>
            <a:rect l="l" t="t" r="r" b="b"/>
            <a:pathLst>
              <a:path w="451485" h="805179">
                <a:moveTo>
                  <a:pt x="336931" y="690626"/>
                </a:moveTo>
                <a:lnTo>
                  <a:pt x="336931" y="804926"/>
                </a:lnTo>
                <a:lnTo>
                  <a:pt x="413131" y="766826"/>
                </a:lnTo>
                <a:lnTo>
                  <a:pt x="355981" y="766826"/>
                </a:lnTo>
                <a:lnTo>
                  <a:pt x="355981" y="728726"/>
                </a:lnTo>
                <a:lnTo>
                  <a:pt x="413131" y="728726"/>
                </a:lnTo>
                <a:lnTo>
                  <a:pt x="336931" y="690626"/>
                </a:lnTo>
                <a:close/>
              </a:path>
              <a:path w="451485" h="805179">
                <a:moveTo>
                  <a:pt x="38100" y="0"/>
                </a:moveTo>
                <a:lnTo>
                  <a:pt x="0" y="0"/>
                </a:lnTo>
                <a:lnTo>
                  <a:pt x="0" y="766826"/>
                </a:lnTo>
                <a:lnTo>
                  <a:pt x="336931" y="766826"/>
                </a:lnTo>
                <a:lnTo>
                  <a:pt x="336931" y="747776"/>
                </a:lnTo>
                <a:lnTo>
                  <a:pt x="38100" y="747776"/>
                </a:lnTo>
                <a:lnTo>
                  <a:pt x="19050" y="728726"/>
                </a:lnTo>
                <a:lnTo>
                  <a:pt x="38100" y="728726"/>
                </a:lnTo>
                <a:lnTo>
                  <a:pt x="38100" y="0"/>
                </a:lnTo>
                <a:close/>
              </a:path>
              <a:path w="451485" h="805179">
                <a:moveTo>
                  <a:pt x="413131" y="728726"/>
                </a:moveTo>
                <a:lnTo>
                  <a:pt x="355981" y="728726"/>
                </a:lnTo>
                <a:lnTo>
                  <a:pt x="355981" y="766826"/>
                </a:lnTo>
                <a:lnTo>
                  <a:pt x="413131" y="766826"/>
                </a:lnTo>
                <a:lnTo>
                  <a:pt x="451231" y="747776"/>
                </a:lnTo>
                <a:lnTo>
                  <a:pt x="413131" y="728726"/>
                </a:lnTo>
                <a:close/>
              </a:path>
              <a:path w="451485" h="805179">
                <a:moveTo>
                  <a:pt x="38100" y="728726"/>
                </a:moveTo>
                <a:lnTo>
                  <a:pt x="19050" y="728726"/>
                </a:lnTo>
                <a:lnTo>
                  <a:pt x="38100" y="747776"/>
                </a:lnTo>
                <a:lnTo>
                  <a:pt x="38100" y="728726"/>
                </a:lnTo>
                <a:close/>
              </a:path>
              <a:path w="451485" h="805179">
                <a:moveTo>
                  <a:pt x="336931" y="728726"/>
                </a:moveTo>
                <a:lnTo>
                  <a:pt x="38100" y="728726"/>
                </a:lnTo>
                <a:lnTo>
                  <a:pt x="38100" y="747776"/>
                </a:lnTo>
                <a:lnTo>
                  <a:pt x="336931" y="747776"/>
                </a:lnTo>
                <a:lnTo>
                  <a:pt x="336931" y="7287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072621" y="3964685"/>
            <a:ext cx="528955" cy="805180"/>
          </a:xfrm>
          <a:custGeom>
            <a:avLst/>
            <a:gdLst/>
            <a:ahLst/>
            <a:cxnLst/>
            <a:rect l="l" t="t" r="r" b="b"/>
            <a:pathLst>
              <a:path w="528954" h="805179">
                <a:moveTo>
                  <a:pt x="114300" y="690626"/>
                </a:moveTo>
                <a:lnTo>
                  <a:pt x="0" y="747776"/>
                </a:lnTo>
                <a:lnTo>
                  <a:pt x="114300" y="804926"/>
                </a:lnTo>
                <a:lnTo>
                  <a:pt x="114300" y="766826"/>
                </a:lnTo>
                <a:lnTo>
                  <a:pt x="95250" y="766826"/>
                </a:lnTo>
                <a:lnTo>
                  <a:pt x="95250" y="728726"/>
                </a:lnTo>
                <a:lnTo>
                  <a:pt x="114300" y="728726"/>
                </a:lnTo>
                <a:lnTo>
                  <a:pt x="114300" y="690626"/>
                </a:lnTo>
                <a:close/>
              </a:path>
              <a:path w="528954" h="805179">
                <a:moveTo>
                  <a:pt x="114300" y="728726"/>
                </a:moveTo>
                <a:lnTo>
                  <a:pt x="95250" y="728726"/>
                </a:lnTo>
                <a:lnTo>
                  <a:pt x="95250" y="766826"/>
                </a:lnTo>
                <a:lnTo>
                  <a:pt x="114300" y="766826"/>
                </a:lnTo>
                <a:lnTo>
                  <a:pt x="114300" y="728726"/>
                </a:lnTo>
                <a:close/>
              </a:path>
              <a:path w="528954" h="805179">
                <a:moveTo>
                  <a:pt x="490600" y="728726"/>
                </a:moveTo>
                <a:lnTo>
                  <a:pt x="114300" y="728726"/>
                </a:lnTo>
                <a:lnTo>
                  <a:pt x="114300" y="766826"/>
                </a:lnTo>
                <a:lnTo>
                  <a:pt x="528701" y="766826"/>
                </a:lnTo>
                <a:lnTo>
                  <a:pt x="528701" y="747776"/>
                </a:lnTo>
                <a:lnTo>
                  <a:pt x="490600" y="747776"/>
                </a:lnTo>
                <a:lnTo>
                  <a:pt x="490600" y="728726"/>
                </a:lnTo>
                <a:close/>
              </a:path>
              <a:path w="528954" h="805179">
                <a:moveTo>
                  <a:pt x="528701" y="0"/>
                </a:moveTo>
                <a:lnTo>
                  <a:pt x="490600" y="0"/>
                </a:lnTo>
                <a:lnTo>
                  <a:pt x="490600" y="747776"/>
                </a:lnTo>
                <a:lnTo>
                  <a:pt x="509650" y="728726"/>
                </a:lnTo>
                <a:lnTo>
                  <a:pt x="528701" y="728726"/>
                </a:lnTo>
                <a:lnTo>
                  <a:pt x="528701" y="0"/>
                </a:lnTo>
                <a:close/>
              </a:path>
              <a:path w="528954" h="805179">
                <a:moveTo>
                  <a:pt x="528701" y="728726"/>
                </a:moveTo>
                <a:lnTo>
                  <a:pt x="509650" y="728726"/>
                </a:lnTo>
                <a:lnTo>
                  <a:pt x="490600" y="747776"/>
                </a:lnTo>
                <a:lnTo>
                  <a:pt x="528701" y="747776"/>
                </a:lnTo>
                <a:lnTo>
                  <a:pt x="528701" y="7287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661393" y="5607507"/>
            <a:ext cx="1752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Arial MT"/>
                <a:cs typeface="Arial MT"/>
              </a:rPr>
              <a:t>28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973A87A-737B-4967-5F16-3AF31AEF6A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Why Use a Standard Cost System?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1384" y="870585"/>
            <a:ext cx="10666730" cy="511683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Pros:</a:t>
            </a:r>
            <a:endParaRPr sz="2200" dirty="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1130"/>
              </a:spcBef>
              <a:buSzPct val="79545"/>
              <a:buChar char="•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Helpful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identify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variances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implement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management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exception.</a:t>
            </a:r>
            <a:endParaRPr sz="2200" dirty="0">
              <a:latin typeface="Arial MT"/>
              <a:cs typeface="Arial MT"/>
            </a:endParaRPr>
          </a:p>
          <a:p>
            <a:pPr marL="918844" marR="5080" lvl="1" indent="-457200">
              <a:lnSpc>
                <a:spcPct val="100000"/>
              </a:lnSpc>
              <a:spcBef>
                <a:spcPts val="1090"/>
              </a:spcBef>
              <a:buSzPct val="80000"/>
              <a:buChar char="•"/>
              <a:tabLst>
                <a:tab pos="918844" algn="l"/>
              </a:tabLst>
            </a:pPr>
            <a:r>
              <a:rPr sz="2000" dirty="0">
                <a:latin typeface="Arial MT"/>
                <a:cs typeface="Arial MT"/>
              </a:rPr>
              <a:t>Management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Exception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focuses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identifying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handling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cases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deviate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from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norm</a:t>
            </a:r>
            <a:endParaRPr sz="2000" dirty="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469265" algn="l"/>
              </a:tabLst>
            </a:pP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help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promote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efficiency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setting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clear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standards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employees.</a:t>
            </a:r>
            <a:endParaRPr sz="2400" dirty="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120"/>
              </a:spcBef>
              <a:buSzPct val="79545"/>
              <a:buChar char="•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Can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easily</a:t>
            </a:r>
            <a:r>
              <a:rPr sz="2200" spc="-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integrate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responsibility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accounting.</a:t>
            </a:r>
            <a:endParaRPr sz="2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2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Cons:</a:t>
            </a:r>
            <a:endParaRPr sz="2200" dirty="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1130"/>
              </a:spcBef>
              <a:buSzPct val="79545"/>
              <a:buChar char="•"/>
              <a:tabLst>
                <a:tab pos="469265" algn="l"/>
              </a:tabLst>
            </a:pPr>
            <a:r>
              <a:rPr sz="2200" spc="-20" dirty="0">
                <a:latin typeface="Arial MT"/>
                <a:cs typeface="Arial MT"/>
              </a:rPr>
              <a:t>Variances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take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time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compute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analyze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–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risk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information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being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outdated.</a:t>
            </a:r>
            <a:endParaRPr sz="2200" dirty="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130"/>
              </a:spcBef>
              <a:buSzPct val="79545"/>
              <a:buChar char="•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If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not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used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properly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(assign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blame)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–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risk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“gameplaying”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cover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up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variances.</a:t>
            </a:r>
            <a:endParaRPr sz="2200" dirty="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125"/>
              </a:spcBef>
              <a:buSzPct val="79545"/>
              <a:buChar char="•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Favorable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variances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could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represent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problem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(lower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quality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materials…)</a:t>
            </a:r>
            <a:endParaRPr sz="2200" dirty="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130"/>
              </a:spcBef>
              <a:buSzPct val="79545"/>
              <a:buChar char="•"/>
              <a:tabLst>
                <a:tab pos="469265" algn="l"/>
              </a:tabLst>
            </a:pPr>
            <a:r>
              <a:rPr sz="2200" dirty="0">
                <a:latin typeface="Arial MT"/>
                <a:cs typeface="Arial MT"/>
              </a:rPr>
              <a:t>Focus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on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numbers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instead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may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forget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other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important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objectives.</a:t>
            </a:r>
            <a:endParaRPr sz="2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F989-30C7-9B2C-9B7C-A362216B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DDB6ED7E-48FF-4DDA-BE32-1075D94F5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351" y="116629"/>
            <a:ext cx="9601067" cy="506016"/>
          </a:xfrm>
        </p:spPr>
        <p:txBody>
          <a:bodyPr/>
          <a:lstStyle/>
          <a:p>
            <a:r>
              <a:rPr lang="en-CA" dirty="0"/>
              <a:t>Any Questions?</a:t>
            </a:r>
            <a:endParaRPr lang="en-US" sz="1800" dirty="0"/>
          </a:p>
          <a:p>
            <a:endParaRPr lang="en-CA" dirty="0"/>
          </a:p>
        </p:txBody>
      </p:sp>
      <p:sp>
        <p:nvSpPr>
          <p:cNvPr id="2" name="object 16">
            <a:extLst>
              <a:ext uri="{FF2B5EF4-FFF2-40B4-BE49-F238E27FC236}">
                <a16:creationId xmlns:a16="http://schemas.microsoft.com/office/drawing/2014/main" id="{70E3F86C-C2BA-7728-C49B-7B059BF0EA1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794917252"/>
      </p:ext>
    </p:extLst>
  </p:cSld>
  <p:clrMapOvr>
    <a:masterClrMapping/>
  </p:clrMapOvr>
</p:sld>
</file>

<file path=ppt/theme/theme1.xml><?xml version="1.0" encoding="utf-8"?>
<a:theme xmlns:a="http://schemas.openxmlformats.org/drawingml/2006/main" name="Rotman Pi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otman Cy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Rotman Dark Te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Rotman Blu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Rotman Oran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Rotman Gre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Rotman Gol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C29625CE8F2445A33C4944AD902EE6" ma:contentTypeVersion="18" ma:contentTypeDescription="Create a new document." ma:contentTypeScope="" ma:versionID="2ba906667caed82590a3b6d7b3da7513">
  <xsd:schema xmlns:xsd="http://www.w3.org/2001/XMLSchema" xmlns:xs="http://www.w3.org/2001/XMLSchema" xmlns:p="http://schemas.microsoft.com/office/2006/metadata/properties" xmlns:ns3="c18c8954-ab2f-4275-a5d7-b9aa33856ba2" xmlns:ns4="7e677d30-5ff7-4313-a396-6d249a69ab27" targetNamespace="http://schemas.microsoft.com/office/2006/metadata/properties" ma:root="true" ma:fieldsID="85ab7bee49a667cd25923cf2338d3e94" ns3:_="" ns4:_="">
    <xsd:import namespace="c18c8954-ab2f-4275-a5d7-b9aa33856ba2"/>
    <xsd:import namespace="7e677d30-5ff7-4313-a396-6d249a69ab2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8c8954-ab2f-4275-a5d7-b9aa33856b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677d30-5ff7-4313-a396-6d249a69ab2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18c8954-ab2f-4275-a5d7-b9aa33856ba2" xsi:nil="true"/>
  </documentManagement>
</p:properties>
</file>

<file path=customXml/itemProps1.xml><?xml version="1.0" encoding="utf-8"?>
<ds:datastoreItem xmlns:ds="http://schemas.openxmlformats.org/officeDocument/2006/customXml" ds:itemID="{57CF0919-26FB-4AF4-98AE-101D7BAB38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AC9AE6-CD88-486C-8B5C-3155BF730A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8c8954-ab2f-4275-a5d7-b9aa33856ba2"/>
    <ds:schemaRef ds:uri="7e677d30-5ff7-4313-a396-6d249a69ab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103E23-3D7C-4E39-9DD5-75683B020A9E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7e677d30-5ff7-4313-a396-6d249a69ab27"/>
    <ds:schemaRef ds:uri="http://schemas.microsoft.com/office/infopath/2007/PartnerControls"/>
    <ds:schemaRef ds:uri="http://schemas.openxmlformats.org/package/2006/metadata/core-properties"/>
    <ds:schemaRef ds:uri="c18c8954-ab2f-4275-a5d7-b9aa33856ba2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11143</TotalTime>
  <Words>1124</Words>
  <Application>Microsoft Office PowerPoint</Application>
  <PresentationFormat>Widescreen</PresentationFormat>
  <Paragraphs>219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Times New Roman</vt:lpstr>
      <vt:lpstr>Calibri Light</vt:lpstr>
      <vt:lpstr>Arial MT</vt:lpstr>
      <vt:lpstr>Arial</vt:lpstr>
      <vt:lpstr>Calibri</vt:lpstr>
      <vt:lpstr>Rotman Pink</vt:lpstr>
      <vt:lpstr>Rotman Cyan</vt:lpstr>
      <vt:lpstr>Rotman Dark Teal</vt:lpstr>
      <vt:lpstr>Rotman Blue</vt:lpstr>
      <vt:lpstr>Rotman Orange</vt:lpstr>
      <vt:lpstr>Rotman Grey</vt:lpstr>
      <vt:lpstr>Rotman Gold</vt:lpstr>
      <vt:lpstr>    RSM222 Management Accounting 1  Class 9: In Class Exercise – Variance Analysis </vt:lpstr>
      <vt:lpstr>IN CLASS EXAMPLE</vt:lpstr>
      <vt:lpstr>PowerPoint Presentation</vt:lpstr>
      <vt:lpstr>Flex Budget: Actual Quantity * Standard Price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Manufacturing Overhead Variances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Graham Huber</dc:creator>
  <cp:lastModifiedBy>Guest</cp:lastModifiedBy>
  <cp:revision>197</cp:revision>
  <cp:lastPrinted>2025-09-15T17:53:16Z</cp:lastPrinted>
  <dcterms:created xsi:type="dcterms:W3CDTF">2013-07-26T14:57:40Z</dcterms:created>
  <dcterms:modified xsi:type="dcterms:W3CDTF">2025-11-04T15:37:15Z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0x01010089C29625CE8F2445A33C4944AD902EE6</vt:lpwstr>
  </property>
</Properties>
</file>