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ls" ContentType="application/vnd.ms-exce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2" r:id="rId4"/>
    <p:sldMasterId id="2147483759" r:id="rId5"/>
    <p:sldMasterId id="2147483769" r:id="rId6"/>
    <p:sldMasterId id="2147483779" r:id="rId7"/>
    <p:sldMasterId id="2147483789" r:id="rId8"/>
    <p:sldMasterId id="2147483799" r:id="rId9"/>
    <p:sldMasterId id="2147483827" r:id="rId10"/>
  </p:sldMasterIdLst>
  <p:notesMasterIdLst>
    <p:notesMasterId r:id="rId20"/>
  </p:notesMasterIdLst>
  <p:sldIdLst>
    <p:sldId id="256" r:id="rId11"/>
    <p:sldId id="292" r:id="rId12"/>
    <p:sldId id="293" r:id="rId13"/>
    <p:sldId id="294" r:id="rId14"/>
    <p:sldId id="295" r:id="rId15"/>
    <p:sldId id="296" r:id="rId16"/>
    <p:sldId id="297" r:id="rId17"/>
    <p:sldId id="718" r:id="rId18"/>
    <p:sldId id="706" r:id="rId19"/>
  </p:sldIdLst>
  <p:sldSz cx="12192000" cy="6858000"/>
  <p:notesSz cx="7010400" cy="9296400"/>
  <p:embeddedFontLst>
    <p:embeddedFont>
      <p:font typeface="Times" panose="02020603050405020304" pitchFamily="18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9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037C"/>
    <a:srgbClr val="CF55A1"/>
    <a:srgbClr val="EACC1B"/>
    <a:srgbClr val="929292"/>
    <a:srgbClr val="FCAF17"/>
    <a:srgbClr val="CE9D00"/>
    <a:srgbClr val="00C2E2"/>
    <a:srgbClr val="7C98AE"/>
    <a:srgbClr val="FF8C3F"/>
    <a:srgbClr val="398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94" autoAdjust="0"/>
    <p:restoredTop sz="50000" autoAdjust="0"/>
  </p:normalViewPr>
  <p:slideViewPr>
    <p:cSldViewPr>
      <p:cViewPr varScale="1">
        <p:scale>
          <a:sx n="63" d="100"/>
          <a:sy n="63" d="100"/>
        </p:scale>
        <p:origin x="1072" y="56"/>
      </p:cViewPr>
      <p:guideLst>
        <p:guide orient="horz" pos="2160"/>
        <p:guide pos="3840"/>
        <p:guide pos="39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2664" y="-9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font" Target="fonts/font4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/>
          <a:lstStyle>
            <a:lvl1pPr algn="r">
              <a:defRPr sz="1200"/>
            </a:lvl1pPr>
          </a:lstStyle>
          <a:p>
            <a:fld id="{0A013A6D-A27B-464A-8085-12C2023C33AE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2" tIns="46586" rIns="93172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1"/>
            <a:ext cx="5608320" cy="4183380"/>
          </a:xfrm>
          <a:prstGeom prst="rect">
            <a:avLst/>
          </a:prstGeom>
        </p:spPr>
        <p:txBody>
          <a:bodyPr vert="horz" lIns="93172" tIns="46586" rIns="93172" bIns="4658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2" tIns="46586" rIns="93172" bIns="46586" rtlCol="0" anchor="b"/>
          <a:lstStyle>
            <a:lvl1pPr algn="r">
              <a:defRPr sz="1200"/>
            </a:lvl1pPr>
          </a:lstStyle>
          <a:p>
            <a:fld id="{99B22804-678A-4588-8318-46D4BE492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19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>
            <a:extLst>
              <a:ext uri="{FF2B5EF4-FFF2-40B4-BE49-F238E27FC236}">
                <a16:creationId xmlns:a16="http://schemas.microsoft.com/office/drawing/2014/main" id="{F6C31322-F6AC-38E6-E505-2E222B9F5C2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000">
                <a:latin typeface="Times" panose="02020603050405020304" pitchFamily="1" charset="0"/>
              </a:rPr>
              <a:t>4-</a:t>
            </a:r>
            <a:fld id="{D48D05AF-797F-A04C-B7E5-44421F4CB44F}" type="slidenum">
              <a:rPr lang="en-US" altLang="en-US" sz="1000" smtClean="0">
                <a:latin typeface="Times" panose="02020603050405020304" pitchFamily="1" charset="0"/>
              </a:rPr>
              <a:pPr/>
              <a:t>8</a:t>
            </a:fld>
            <a:endParaRPr lang="en-US" altLang="en-US" sz="1000">
              <a:latin typeface="Times" panose="02020603050405020304" pitchFamily="1" charset="0"/>
            </a:endParaRPr>
          </a:p>
        </p:txBody>
      </p:sp>
      <p:sp>
        <p:nvSpPr>
          <p:cNvPr id="60419" name="Rectangle 7">
            <a:extLst>
              <a:ext uri="{FF2B5EF4-FFF2-40B4-BE49-F238E27FC236}">
                <a16:creationId xmlns:a16="http://schemas.microsoft.com/office/drawing/2014/main" id="{D87D6D2F-9807-8844-7643-826326D3B8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70FB817-C0B7-7443-8B9C-C95C93BA8FFE}" type="slidenum">
              <a:rPr lang="en-US" altLang="en-US" sz="1200" smtClean="0">
                <a:latin typeface="Times" panose="02020603050405020304" pitchFamily="1" charset="0"/>
              </a:rPr>
              <a:pPr/>
              <a:t>8</a:t>
            </a:fld>
            <a:endParaRPr lang="en-US" altLang="en-US" sz="1200">
              <a:latin typeface="Times" panose="02020603050405020304" pitchFamily="1" charset="0"/>
            </a:endParaRP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FEEFD2A6-8229-FB9F-8205-93980D5442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CE051110-8CD3-B0E0-8242-AE0881B35A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Computing the costs accounted for: The first step is to record the previously computed cost of ending working process inventory ($19,475). The second step is to record the previously computed cost of units transferred out ($715,200). The third step is to sum these two costs ($734,675). Notice the two totals agree indicating that all costs have been accounted for.</a:t>
            </a:r>
          </a:p>
        </p:txBody>
      </p:sp>
    </p:spTree>
    <p:extLst>
      <p:ext uri="{BB962C8B-B14F-4D97-AF65-F5344CB8AC3E}">
        <p14:creationId xmlns:p14="http://schemas.microsoft.com/office/powerpoint/2010/main" val="3828239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lank - Log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A7E160-31FD-C540-B0FF-DC1FB7686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60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0ED6BF8-7C6F-6F4F-967B-BD627575E3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20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8315FBE-0FCD-7A43-A51F-8D7A70A8E2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730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09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3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Basic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9783AF-9CA9-F643-9710-CDABBD628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98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C0562C7-A6C2-594B-86B1-EC3B8C2D7C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72AAFC7-B302-4CCF-9558-8AB367440633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18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- With Formal Log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DD24ED-7FEE-BC40-8BEB-EFDEB1B51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36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nk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46EC379-6D58-A14A-BEBA-44C77DE61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D0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59" y="4583089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81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113D517-41DE-5D40-A368-5FB76062B4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D037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23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242-C8DB-4802-BA0C-926516A62445}" type="datetimeFigureOut">
              <a:rPr lang="en-CA" smtClean="0"/>
              <a:t>2025-09-23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792" y="4542655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7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2859" y="210769"/>
            <a:ext cx="11346281" cy="468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82504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6985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4152086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952010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9194461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830215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D93878-B235-46F8-9B0D-4981A02E34AD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061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EC20C1-EED5-9F44-9014-775D277A0C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5174B0-7AB5-F542-A5F8-596151682DE7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99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D29DE60-3DCA-4247-9B9A-9CF7F29EAB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0D783E-D406-104A-8E62-287FB56CA2E9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02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Bar -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99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760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390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Blank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1320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28819C8-5172-4B4D-8B47-09E995D22C4F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8771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61E413C-54E0-0E47-9173-86A258A0A7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3361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an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FC9C2BC-0E48-6041-8B55-69563B3D23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0C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6363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Cyan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79D93F3-E9DF-6A47-A3B6-27C4DC28D3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0C2E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0C2E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D61C1D-0A55-2249-AE5E-EBFB47DADBC4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6423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684829-7E9C-F64F-9C1B-54FA176E0A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060" y="506439"/>
            <a:ext cx="1440161" cy="2284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0DFE46C-76B7-0F41-A5F3-963324091D7F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600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D32BE11-4D8F-1740-BE19-BE288FB716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8248FB-0E2E-BA44-BA49-725257B11DF0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7457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4610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6421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0977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1213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op Bar - 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72AAFC7-B302-4CCF-9558-8AB367440633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1544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B606A2-C5BE-8347-AC2D-E16F02D330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6530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F74C05C-EDD5-DE4E-A665-68D9CD302E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0AA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463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Title Basic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EB1F70B-7F65-7D47-95E6-F3E523AD0D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0AAD8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0AAD8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9B4413-1374-5B4E-B988-72DF93ECD468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20C128-7ABB-1B44-A68F-ECCC4C7A0E18}"/>
              </a:ext>
            </a:extLst>
          </p:cNvPr>
          <p:cNvSpPr/>
          <p:nvPr userDrawn="1"/>
        </p:nvSpPr>
        <p:spPr>
          <a:xfrm>
            <a:off x="10200456" y="6417921"/>
            <a:ext cx="1872208" cy="4400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074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5863" y="476672"/>
            <a:ext cx="1510777" cy="24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7ADDDE-045B-E44F-BDEA-08AE7E6AC4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069" y="318420"/>
            <a:ext cx="1616364" cy="41768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A9C1ECB-7705-6B42-B534-5DF04A5F771B}"/>
              </a:ext>
            </a:extLst>
          </p:cNvPr>
          <p:cNvSpPr/>
          <p:nvPr userDrawn="1"/>
        </p:nvSpPr>
        <p:spPr>
          <a:xfrm>
            <a:off x="10345863" y="347241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4776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D90012-C036-0F41-B75F-09A3674CE1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9EC9B9-43AC-CB49-8487-347669B75B16}"/>
              </a:ext>
            </a:extLst>
          </p:cNvPr>
          <p:cNvSpPr/>
          <p:nvPr userDrawn="1"/>
        </p:nvSpPr>
        <p:spPr>
          <a:xfrm>
            <a:off x="10293069" y="6381328"/>
            <a:ext cx="1616364" cy="3600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6682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ar - Logo Bottom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5572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733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225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2059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28819C8-5172-4B4D-8B47-09E995D22C4F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35360" y="5961784"/>
            <a:ext cx="11713301" cy="563563"/>
          </a:xfrm>
        </p:spPr>
        <p:txBody>
          <a:bodyPr anchor="b"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0750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50FE744-3BC4-0C41-A71D-DB17FDE4A6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530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EF07A5D-A511-024A-BFBF-792F92A4D9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689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E40A3BE-0884-9A40-9729-B4511D3904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3989C9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3989C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A79E1E-4059-6D4C-B2DA-D243E675219E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66198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Blank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28924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C098A-9E4A-0E46-9529-FEABB0D27F62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8CCDB9-4EA1-EB48-A095-88664431E2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141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95188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2682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2211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66131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72AAFC7-B302-4CCF-9558-8AB367440633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2919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0D5F9C7-9FF4-F941-8C81-F3197D2D0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4244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D3160C0-A6C3-6145-BC13-2FF2038ECF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FCA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3552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9528109-03A2-E64F-967C-36BC1EFB1F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FCAF1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FCAF1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E75FC-B753-5945-B1F8-09D61C52AB2C}"/>
              </a:ext>
            </a:extLst>
          </p:cNvPr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3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F8600E-CCBB-3648-941C-B98583C319F9}"/>
              </a:ext>
            </a:extLst>
          </p:cNvPr>
          <p:cNvSpPr/>
          <p:nvPr userDrawn="1"/>
        </p:nvSpPr>
        <p:spPr>
          <a:xfrm>
            <a:off x="10200456" y="6417921"/>
            <a:ext cx="1728192" cy="323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18899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with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D93878-B235-46F8-9B0D-4981A02E34AD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09170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35456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A9C6CD-C211-CD45-AF14-B91B0C3675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5C0DB1-217D-D84F-BCFF-D85D9250277D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365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AFE199-E756-F240-9DD5-700C15C11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1424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01585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62ED89-E857-F342-8101-D01552358E88}"/>
              </a:ext>
            </a:extLst>
          </p:cNvPr>
          <p:cNvSpPr/>
          <p:nvPr userDrawn="1"/>
        </p:nvSpPr>
        <p:spPr>
          <a:xfrm>
            <a:off x="10200456" y="6381328"/>
            <a:ext cx="1656184" cy="4766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9053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48160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72AAFC7-B302-4CCF-9558-8AB367440633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55956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D85D5B3-F476-1948-B9C5-A6FAFD8D81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10576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A19CBFF-5DA8-C341-A194-572FB5991E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467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ty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rgbClr val="92929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2" name="Rectangle 21"/>
          <p:cNvSpPr/>
          <p:nvPr userDrawn="1"/>
        </p:nvSpPr>
        <p:spPr>
          <a:xfrm>
            <a:off x="8688288" y="5733256"/>
            <a:ext cx="2880320" cy="684665"/>
          </a:xfrm>
          <a:prstGeom prst="rect">
            <a:avLst/>
          </a:prstGeom>
          <a:blipFill dpi="0" rotWithShape="1">
            <a:blip r:embed="rId2">
              <a:alphaModFix amt="9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B46D33-AEE0-4B44-96C5-9DF44DA9F4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FBFAEFA-7989-2D4E-B407-C70594E59033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2546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Blank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b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0808B1-F63A-459A-967B-8DFF0485F571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9EBD09-9E6C-EA45-8A15-D292326849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54153"/>
            <a:ext cx="1440161" cy="22849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B6B18B-AB28-AA4D-83BD-446B5D203650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0111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Top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F302469-71F7-4EB7-9ADA-C10FEDD8CAC6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C5FD76-5D1E-DD46-92C4-84879FCD4A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413014"/>
            <a:ext cx="1440161" cy="2284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AD2CD78-9605-124A-BD79-E9E50314E2B9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6719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2799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0" y="0"/>
            <a:ext cx="12192000" cy="32129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3717032"/>
            <a:ext cx="9601067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4279106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42764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Half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7BBE12-5279-134C-8C5C-B521F5578401}"/>
              </a:ext>
            </a:extLst>
          </p:cNvPr>
          <p:cNvSpPr/>
          <p:nvPr userDrawn="1"/>
        </p:nvSpPr>
        <p:spPr>
          <a:xfrm>
            <a:off x="10272464" y="6309320"/>
            <a:ext cx="1584175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1124744"/>
            <a:ext cx="5256583" cy="563564"/>
          </a:xfrm>
        </p:spPr>
        <p:txBody>
          <a:bodyPr anchor="ctr">
            <a:noAutofit/>
          </a:bodyPr>
          <a:lstStyle>
            <a:lvl1pPr>
              <a:defRPr sz="5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1844824"/>
            <a:ext cx="5256583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37898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No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>
            <a:normAutofit/>
          </a:bodyPr>
          <a:lstStyle>
            <a:lvl1pPr>
              <a:defRPr sz="240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57862B-7FA3-4EE4-8473-CF6C67EBCB39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8201"/>
            <a:ext cx="9601067" cy="533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654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op Bar - Logo Bottom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06016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72AAFC7-B302-4CCF-9558-8AB367440633}" type="datetime1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-27384"/>
            <a:ext cx="9601067" cy="506016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90465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5961487"/>
            <a:ext cx="9601067" cy="563563"/>
          </a:xfrm>
        </p:spPr>
        <p:txBody>
          <a:bodyPr>
            <a:normAutofit/>
          </a:bodyPr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20158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A26479-5203-0C49-B7D7-8080A14B66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9676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with HW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EAC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none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DDFF89-8F57-AE40-A965-8A5344176B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6876" y="4581128"/>
            <a:ext cx="2938408" cy="21788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1CA3E9-B6E4-8A4B-8871-5A4E67F333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4037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ld Title Blank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1916832"/>
            <a:ext cx="10363200" cy="2592288"/>
          </a:xfrm>
        </p:spPr>
        <p:txBody>
          <a:bodyPr anchor="ctr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0FB82FD-5AD9-4A54-BFB2-DA41CA3BE211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51384" y="3506986"/>
            <a:ext cx="10369152" cy="1002134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rgbClr val="EACC1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71D495-C219-A746-8610-2F0C983835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409" y="5651500"/>
            <a:ext cx="2842199" cy="7572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EAC545-525B-E24B-883C-56D60E4E60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348241C-3B0A-7749-B7A2-6AD8F3FB35F6}"/>
              </a:ext>
            </a:extLst>
          </p:cNvPr>
          <p:cNvSpPr/>
          <p:nvPr userDrawn="1"/>
        </p:nvSpPr>
        <p:spPr>
          <a:xfrm>
            <a:off x="10293069" y="6453336"/>
            <a:ext cx="1616364" cy="28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44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theme" Target="../theme/theme7.xml"/><Relationship Id="rId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070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694" r:id="rId2"/>
    <p:sldLayoutId id="2147483757" r:id="rId3"/>
    <p:sldLayoutId id="2147483815" r:id="rId4"/>
    <p:sldLayoutId id="2147483816" r:id="rId5"/>
    <p:sldLayoutId id="2147483695" r:id="rId6"/>
    <p:sldLayoutId id="2147483697" r:id="rId7"/>
    <p:sldLayoutId id="2147483700" r:id="rId8"/>
    <p:sldLayoutId id="2147483809" r:id="rId9"/>
    <p:sldLayoutId id="2147483758" r:id="rId10"/>
    <p:sldLayoutId id="2147483839" r:id="rId11"/>
    <p:sldLayoutId id="2147483841" r:id="rId12"/>
    <p:sldLayoutId id="2147483843" r:id="rId13"/>
    <p:sldLayoutId id="2147483844" r:id="rId14"/>
    <p:sldLayoutId id="2147483845" r:id="rId15"/>
    <p:sldLayoutId id="2147483846" r:id="rId16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D03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5E61E5-4F51-5244-AF22-7E7830F6013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461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817" r:id="rId5"/>
    <p:sldLayoutId id="2147483818" r:id="rId6"/>
    <p:sldLayoutId id="2147483764" r:id="rId7"/>
    <p:sldLayoutId id="2147483765" r:id="rId8"/>
    <p:sldLayoutId id="2147483767" r:id="rId9"/>
    <p:sldLayoutId id="2147483810" r:id="rId10"/>
    <p:sldLayoutId id="2147483768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0C2E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506057-B2D2-8D43-A4F7-12D8B3B0A82F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826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819" r:id="rId4"/>
    <p:sldLayoutId id="2147483820" r:id="rId5"/>
    <p:sldLayoutId id="2147483774" r:id="rId6"/>
    <p:sldLayoutId id="2147483776" r:id="rId7"/>
    <p:sldLayoutId id="2147483777" r:id="rId8"/>
    <p:sldLayoutId id="2147483811" r:id="rId9"/>
    <p:sldLayoutId id="2147483778" r:id="rId1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0AAD8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19A9C5-52BF-F84D-A94B-A728BCB51A2B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03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821" r:id="rId4"/>
    <p:sldLayoutId id="2147483822" r:id="rId5"/>
    <p:sldLayoutId id="2147483784" r:id="rId6"/>
    <p:sldLayoutId id="2147483785" r:id="rId7"/>
    <p:sldLayoutId id="2147483787" r:id="rId8"/>
    <p:sldLayoutId id="2147483812" r:id="rId9"/>
    <p:sldLayoutId id="2147483788" r:id="rId1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3989C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DC6D27-6BC2-DC43-9B42-6982FEEBBA2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823" r:id="rId4"/>
    <p:sldLayoutId id="2147483824" r:id="rId5"/>
    <p:sldLayoutId id="2147483794" r:id="rId6"/>
    <p:sldLayoutId id="2147483796" r:id="rId7"/>
    <p:sldLayoutId id="2147483797" r:id="rId8"/>
    <p:sldLayoutId id="2147483813" r:id="rId9"/>
    <p:sldLayoutId id="2147483798" r:id="rId1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FCAF1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1E2860-83AC-7A4B-943A-076630A98A8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9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25" r:id="rId5"/>
    <p:sldLayoutId id="2147483826" r:id="rId6"/>
    <p:sldLayoutId id="2147483804" r:id="rId7"/>
    <p:sldLayoutId id="2147483806" r:id="rId8"/>
    <p:sldLayoutId id="2147483807" r:id="rId9"/>
    <p:sldLayoutId id="2147483814" r:id="rId10"/>
    <p:sldLayoutId id="2147483808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92929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1" y="274641"/>
            <a:ext cx="9601067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0" y="1484784"/>
            <a:ext cx="11516853" cy="4641380"/>
          </a:xfrm>
          <a:prstGeom prst="rect">
            <a:avLst/>
          </a:prstGeom>
        </p:spPr>
        <p:txBody>
          <a:bodyPr vert="horz" lIns="91440" tIns="45720" rIns="91440" bIns="45720" numCol="1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403" y="6525348"/>
            <a:ext cx="912101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D509AA-7421-49E8-A5AD-4A9AED92AF4F}" type="datetime1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7561" y="6525348"/>
            <a:ext cx="8220847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BA3B90-0677-3D47-A75A-7CA89423C637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170" y="6512874"/>
            <a:ext cx="1440161" cy="228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72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5" r:id="rId7"/>
    <p:sldLayoutId id="2147483836" r:id="rId8"/>
    <p:sldLayoutId id="2147483837" r:id="rId9"/>
    <p:sldLayoutId id="2147483838" r:id="rId10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rgbClr val="EACC1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7800" indent="-1778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5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7063" indent="-1698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74738" indent="-1603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24000" indent="-1524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973263" indent="-1444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4209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870200" indent="-127000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tabLst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319463" indent="-119063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3792538" indent="-134938" algn="l" defTabSz="914400" rtl="0" eaLnBrk="1" latinLnBrk="0" hangingPunct="1">
        <a:spcBef>
          <a:spcPct val="20000"/>
        </a:spcBef>
        <a:spcAft>
          <a:spcPts val="600"/>
        </a:spcAft>
        <a:buSzPct val="80000"/>
        <a:buFont typeface="Arial" pitchFamily="34" charset="0"/>
        <a:buChar char="•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-2003_Worksheet.xls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15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368" y="3573016"/>
            <a:ext cx="10363200" cy="2010147"/>
          </a:xfrm>
        </p:spPr>
        <p:txBody>
          <a:bodyPr>
            <a:normAutofit fontScale="90000"/>
          </a:bodyPr>
          <a:lstStyle/>
          <a:p>
            <a:br>
              <a:rPr lang="en-CA" dirty="0"/>
            </a:br>
            <a:br>
              <a:rPr lang="en-CA" dirty="0"/>
            </a:br>
            <a:br>
              <a:rPr lang="en-CA" dirty="0"/>
            </a:br>
            <a:br>
              <a:rPr lang="en-CA" dirty="0"/>
            </a:br>
            <a:r>
              <a:rPr lang="en-CA" dirty="0"/>
              <a:t>RSM222</a:t>
            </a:r>
            <a:br>
              <a:rPr lang="en-CA" dirty="0"/>
            </a:br>
            <a:r>
              <a:rPr lang="en-CA" sz="3900" dirty="0"/>
              <a:t>Management Accounting 1</a:t>
            </a:r>
            <a:br>
              <a:rPr lang="en-CA" sz="3900" dirty="0"/>
            </a:br>
            <a:br>
              <a:rPr lang="en-CA" sz="3900" dirty="0"/>
            </a:br>
            <a:r>
              <a:rPr lang="en-CA" sz="3100" dirty="0"/>
              <a:t>Class 4: In </a:t>
            </a:r>
            <a:r>
              <a:rPr lang="en-CA" sz="3100"/>
              <a:t>Class Exercise</a:t>
            </a:r>
            <a:br>
              <a:rPr lang="en-CA" sz="3900" dirty="0"/>
            </a:br>
            <a:endParaRPr lang="en-CA" sz="3900" dirty="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261764" y="6093296"/>
            <a:ext cx="10363200" cy="504056"/>
          </a:xfrm>
        </p:spPr>
        <p:txBody>
          <a:bodyPr>
            <a:normAutofit/>
          </a:bodyPr>
          <a:lstStyle/>
          <a:p>
            <a:r>
              <a:rPr lang="en-CA" dirty="0"/>
              <a:t>Elisa Zuliani</a:t>
            </a:r>
          </a:p>
        </p:txBody>
      </p:sp>
    </p:spTree>
    <p:extLst>
      <p:ext uri="{BB962C8B-B14F-4D97-AF65-F5344CB8AC3E}">
        <p14:creationId xmlns:p14="http://schemas.microsoft.com/office/powerpoint/2010/main" val="3869622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IN</a:t>
            </a:r>
            <a:r>
              <a:rPr sz="3600" spc="-15" dirty="0"/>
              <a:t> </a:t>
            </a:r>
            <a:r>
              <a:rPr sz="3600" dirty="0"/>
              <a:t>CLASS</a:t>
            </a:r>
            <a:r>
              <a:rPr sz="3600" spc="-10" dirty="0"/>
              <a:t> EXAMPLE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558190" y="2654299"/>
            <a:ext cx="28492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Arial"/>
                <a:cs typeface="Arial"/>
              </a:rPr>
              <a:t>Orchard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Granola</a:t>
            </a:r>
            <a:endParaRPr sz="28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2240" y="1498091"/>
            <a:ext cx="5148071" cy="38618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0123" y="1510665"/>
            <a:ext cx="109334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Orchard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Granola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Inc.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(OGI)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granola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bars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packaged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individually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sold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various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grocery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stores.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OGI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departments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consist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the </a:t>
            </a:r>
            <a:r>
              <a:rPr sz="2400" spc="-10" dirty="0">
                <a:latin typeface="Arial MT"/>
                <a:cs typeface="Arial MT"/>
              </a:rPr>
              <a:t>mixing/baking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department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packaging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department.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517ED4EC-1DA5-98DE-2E78-2D85925FC5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Orchard Granola Inc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203513" y="3157982"/>
            <a:ext cx="5913755" cy="1078865"/>
            <a:chOff x="2203513" y="3157982"/>
            <a:chExt cx="5913755" cy="1078865"/>
          </a:xfrm>
        </p:grpSpPr>
        <p:sp>
          <p:nvSpPr>
            <p:cNvPr id="5" name="object 5"/>
            <p:cNvSpPr/>
            <p:nvPr/>
          </p:nvSpPr>
          <p:spPr>
            <a:xfrm>
              <a:off x="2208276" y="3633216"/>
              <a:ext cx="5904230" cy="216535"/>
            </a:xfrm>
            <a:custGeom>
              <a:avLst/>
              <a:gdLst/>
              <a:ahLst/>
              <a:cxnLst/>
              <a:rect l="l" t="t" r="r" b="b"/>
              <a:pathLst>
                <a:path w="5904230" h="216535">
                  <a:moveTo>
                    <a:pt x="5795772" y="0"/>
                  </a:moveTo>
                  <a:lnTo>
                    <a:pt x="5795772" y="54101"/>
                  </a:lnTo>
                  <a:lnTo>
                    <a:pt x="0" y="54101"/>
                  </a:lnTo>
                  <a:lnTo>
                    <a:pt x="0" y="162305"/>
                  </a:lnTo>
                  <a:lnTo>
                    <a:pt x="5795772" y="162305"/>
                  </a:lnTo>
                  <a:lnTo>
                    <a:pt x="5795772" y="216407"/>
                  </a:lnTo>
                  <a:lnTo>
                    <a:pt x="5903976" y="108203"/>
                  </a:lnTo>
                  <a:lnTo>
                    <a:pt x="5795772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08276" y="3633216"/>
              <a:ext cx="5904230" cy="216535"/>
            </a:xfrm>
            <a:custGeom>
              <a:avLst/>
              <a:gdLst/>
              <a:ahLst/>
              <a:cxnLst/>
              <a:rect l="l" t="t" r="r" b="b"/>
              <a:pathLst>
                <a:path w="5904230" h="216535">
                  <a:moveTo>
                    <a:pt x="0" y="54101"/>
                  </a:moveTo>
                  <a:lnTo>
                    <a:pt x="5795772" y="54101"/>
                  </a:lnTo>
                  <a:lnTo>
                    <a:pt x="5795772" y="0"/>
                  </a:lnTo>
                  <a:lnTo>
                    <a:pt x="5903976" y="108203"/>
                  </a:lnTo>
                  <a:lnTo>
                    <a:pt x="5795772" y="216407"/>
                  </a:lnTo>
                  <a:lnTo>
                    <a:pt x="5795772" y="162305"/>
                  </a:lnTo>
                  <a:lnTo>
                    <a:pt x="0" y="162305"/>
                  </a:lnTo>
                  <a:lnTo>
                    <a:pt x="0" y="54101"/>
                  </a:lnTo>
                  <a:close/>
                </a:path>
              </a:pathLst>
            </a:custGeom>
            <a:ln w="9525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3146" y="3170682"/>
              <a:ext cx="1800225" cy="1053465"/>
            </a:xfrm>
            <a:custGeom>
              <a:avLst/>
              <a:gdLst/>
              <a:ahLst/>
              <a:cxnLst/>
              <a:rect l="l" t="t" r="r" b="b"/>
              <a:pathLst>
                <a:path w="1800225" h="1053464">
                  <a:moveTo>
                    <a:pt x="1624330" y="0"/>
                  </a:moveTo>
                  <a:lnTo>
                    <a:pt x="175514" y="0"/>
                  </a:lnTo>
                  <a:lnTo>
                    <a:pt x="128866" y="6271"/>
                  </a:lnTo>
                  <a:lnTo>
                    <a:pt x="86943" y="23970"/>
                  </a:lnTo>
                  <a:lnTo>
                    <a:pt x="51419" y="51419"/>
                  </a:lnTo>
                  <a:lnTo>
                    <a:pt x="23970" y="86943"/>
                  </a:lnTo>
                  <a:lnTo>
                    <a:pt x="6271" y="128866"/>
                  </a:lnTo>
                  <a:lnTo>
                    <a:pt x="0" y="175513"/>
                  </a:lnTo>
                  <a:lnTo>
                    <a:pt x="0" y="877569"/>
                  </a:lnTo>
                  <a:lnTo>
                    <a:pt x="6271" y="924217"/>
                  </a:lnTo>
                  <a:lnTo>
                    <a:pt x="23970" y="966140"/>
                  </a:lnTo>
                  <a:lnTo>
                    <a:pt x="51419" y="1001664"/>
                  </a:lnTo>
                  <a:lnTo>
                    <a:pt x="86943" y="1029113"/>
                  </a:lnTo>
                  <a:lnTo>
                    <a:pt x="128866" y="1046812"/>
                  </a:lnTo>
                  <a:lnTo>
                    <a:pt x="175514" y="1053083"/>
                  </a:lnTo>
                  <a:lnTo>
                    <a:pt x="1624330" y="1053083"/>
                  </a:lnTo>
                  <a:lnTo>
                    <a:pt x="1670977" y="1046812"/>
                  </a:lnTo>
                  <a:lnTo>
                    <a:pt x="1712900" y="1029113"/>
                  </a:lnTo>
                  <a:lnTo>
                    <a:pt x="1748424" y="1001664"/>
                  </a:lnTo>
                  <a:lnTo>
                    <a:pt x="1775873" y="966140"/>
                  </a:lnTo>
                  <a:lnTo>
                    <a:pt x="1793572" y="924217"/>
                  </a:lnTo>
                  <a:lnTo>
                    <a:pt x="1799844" y="877569"/>
                  </a:lnTo>
                  <a:lnTo>
                    <a:pt x="1799844" y="175513"/>
                  </a:lnTo>
                  <a:lnTo>
                    <a:pt x="1793572" y="128866"/>
                  </a:lnTo>
                  <a:lnTo>
                    <a:pt x="1775873" y="86943"/>
                  </a:lnTo>
                  <a:lnTo>
                    <a:pt x="1748424" y="51419"/>
                  </a:lnTo>
                  <a:lnTo>
                    <a:pt x="1712900" y="23970"/>
                  </a:lnTo>
                  <a:lnTo>
                    <a:pt x="1670977" y="6271"/>
                  </a:lnTo>
                  <a:lnTo>
                    <a:pt x="16243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3146" y="3170682"/>
              <a:ext cx="1800225" cy="1053465"/>
            </a:xfrm>
            <a:custGeom>
              <a:avLst/>
              <a:gdLst/>
              <a:ahLst/>
              <a:cxnLst/>
              <a:rect l="l" t="t" r="r" b="b"/>
              <a:pathLst>
                <a:path w="1800225" h="1053464">
                  <a:moveTo>
                    <a:pt x="0" y="175513"/>
                  </a:moveTo>
                  <a:lnTo>
                    <a:pt x="6271" y="128866"/>
                  </a:lnTo>
                  <a:lnTo>
                    <a:pt x="23970" y="86943"/>
                  </a:lnTo>
                  <a:lnTo>
                    <a:pt x="51419" y="51419"/>
                  </a:lnTo>
                  <a:lnTo>
                    <a:pt x="86943" y="23970"/>
                  </a:lnTo>
                  <a:lnTo>
                    <a:pt x="128866" y="6271"/>
                  </a:lnTo>
                  <a:lnTo>
                    <a:pt x="175514" y="0"/>
                  </a:lnTo>
                  <a:lnTo>
                    <a:pt x="1624330" y="0"/>
                  </a:lnTo>
                  <a:lnTo>
                    <a:pt x="1670977" y="6271"/>
                  </a:lnTo>
                  <a:lnTo>
                    <a:pt x="1712900" y="23970"/>
                  </a:lnTo>
                  <a:lnTo>
                    <a:pt x="1748424" y="51419"/>
                  </a:lnTo>
                  <a:lnTo>
                    <a:pt x="1775873" y="86943"/>
                  </a:lnTo>
                  <a:lnTo>
                    <a:pt x="1793572" y="128866"/>
                  </a:lnTo>
                  <a:lnTo>
                    <a:pt x="1799844" y="175513"/>
                  </a:lnTo>
                  <a:lnTo>
                    <a:pt x="1799844" y="877569"/>
                  </a:lnTo>
                  <a:lnTo>
                    <a:pt x="1793572" y="924217"/>
                  </a:lnTo>
                  <a:lnTo>
                    <a:pt x="1775873" y="966140"/>
                  </a:lnTo>
                  <a:lnTo>
                    <a:pt x="1748424" y="1001664"/>
                  </a:lnTo>
                  <a:lnTo>
                    <a:pt x="1712900" y="1029113"/>
                  </a:lnTo>
                  <a:lnTo>
                    <a:pt x="1670977" y="1046812"/>
                  </a:lnTo>
                  <a:lnTo>
                    <a:pt x="1624330" y="1053083"/>
                  </a:lnTo>
                  <a:lnTo>
                    <a:pt x="175514" y="1053083"/>
                  </a:lnTo>
                  <a:lnTo>
                    <a:pt x="128866" y="1046812"/>
                  </a:lnTo>
                  <a:lnTo>
                    <a:pt x="86943" y="1029113"/>
                  </a:lnTo>
                  <a:lnTo>
                    <a:pt x="51419" y="1001664"/>
                  </a:lnTo>
                  <a:lnTo>
                    <a:pt x="23970" y="966140"/>
                  </a:lnTo>
                  <a:lnTo>
                    <a:pt x="6271" y="924217"/>
                  </a:lnTo>
                  <a:lnTo>
                    <a:pt x="0" y="877569"/>
                  </a:lnTo>
                  <a:lnTo>
                    <a:pt x="0" y="175513"/>
                  </a:lnTo>
                  <a:close/>
                </a:path>
              </a:pathLst>
            </a:custGeom>
            <a:ln w="2540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289172" y="3394329"/>
            <a:ext cx="13658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2131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Dept</a:t>
            </a:r>
            <a:r>
              <a:rPr sz="18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Mixing/Baking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91682" y="3176270"/>
            <a:ext cx="1249680" cy="1078865"/>
            <a:chOff x="6091682" y="3176270"/>
            <a:chExt cx="1249680" cy="1078865"/>
          </a:xfrm>
        </p:grpSpPr>
        <p:sp>
          <p:nvSpPr>
            <p:cNvPr id="11" name="object 11"/>
            <p:cNvSpPr/>
            <p:nvPr/>
          </p:nvSpPr>
          <p:spPr>
            <a:xfrm>
              <a:off x="6104382" y="3188970"/>
              <a:ext cx="1224280" cy="1053465"/>
            </a:xfrm>
            <a:custGeom>
              <a:avLst/>
              <a:gdLst/>
              <a:ahLst/>
              <a:cxnLst/>
              <a:rect l="l" t="t" r="r" b="b"/>
              <a:pathLst>
                <a:path w="1224279" h="1053464">
                  <a:moveTo>
                    <a:pt x="1048258" y="0"/>
                  </a:moveTo>
                  <a:lnTo>
                    <a:pt x="175513" y="0"/>
                  </a:lnTo>
                  <a:lnTo>
                    <a:pt x="128866" y="6271"/>
                  </a:lnTo>
                  <a:lnTo>
                    <a:pt x="86943" y="23970"/>
                  </a:lnTo>
                  <a:lnTo>
                    <a:pt x="51419" y="51419"/>
                  </a:lnTo>
                  <a:lnTo>
                    <a:pt x="23970" y="86943"/>
                  </a:lnTo>
                  <a:lnTo>
                    <a:pt x="6271" y="128866"/>
                  </a:lnTo>
                  <a:lnTo>
                    <a:pt x="0" y="175513"/>
                  </a:lnTo>
                  <a:lnTo>
                    <a:pt x="0" y="877569"/>
                  </a:lnTo>
                  <a:lnTo>
                    <a:pt x="6271" y="924217"/>
                  </a:lnTo>
                  <a:lnTo>
                    <a:pt x="23970" y="966140"/>
                  </a:lnTo>
                  <a:lnTo>
                    <a:pt x="51419" y="1001664"/>
                  </a:lnTo>
                  <a:lnTo>
                    <a:pt x="86943" y="1029113"/>
                  </a:lnTo>
                  <a:lnTo>
                    <a:pt x="128866" y="1046812"/>
                  </a:lnTo>
                  <a:lnTo>
                    <a:pt x="175513" y="1053083"/>
                  </a:lnTo>
                  <a:lnTo>
                    <a:pt x="1048258" y="1053083"/>
                  </a:lnTo>
                  <a:lnTo>
                    <a:pt x="1094905" y="1046812"/>
                  </a:lnTo>
                  <a:lnTo>
                    <a:pt x="1136828" y="1029113"/>
                  </a:lnTo>
                  <a:lnTo>
                    <a:pt x="1172352" y="1001664"/>
                  </a:lnTo>
                  <a:lnTo>
                    <a:pt x="1199801" y="966140"/>
                  </a:lnTo>
                  <a:lnTo>
                    <a:pt x="1217500" y="924217"/>
                  </a:lnTo>
                  <a:lnTo>
                    <a:pt x="1223771" y="877569"/>
                  </a:lnTo>
                  <a:lnTo>
                    <a:pt x="1223771" y="175513"/>
                  </a:lnTo>
                  <a:lnTo>
                    <a:pt x="1217500" y="128866"/>
                  </a:lnTo>
                  <a:lnTo>
                    <a:pt x="1199801" y="86943"/>
                  </a:lnTo>
                  <a:lnTo>
                    <a:pt x="1172352" y="51419"/>
                  </a:lnTo>
                  <a:lnTo>
                    <a:pt x="1136828" y="23970"/>
                  </a:lnTo>
                  <a:lnTo>
                    <a:pt x="1094905" y="6271"/>
                  </a:lnTo>
                  <a:lnTo>
                    <a:pt x="10482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04382" y="3188970"/>
              <a:ext cx="1224280" cy="1053465"/>
            </a:xfrm>
            <a:custGeom>
              <a:avLst/>
              <a:gdLst/>
              <a:ahLst/>
              <a:cxnLst/>
              <a:rect l="l" t="t" r="r" b="b"/>
              <a:pathLst>
                <a:path w="1224279" h="1053464">
                  <a:moveTo>
                    <a:pt x="0" y="175513"/>
                  </a:moveTo>
                  <a:lnTo>
                    <a:pt x="6271" y="128866"/>
                  </a:lnTo>
                  <a:lnTo>
                    <a:pt x="23970" y="86943"/>
                  </a:lnTo>
                  <a:lnTo>
                    <a:pt x="51419" y="51419"/>
                  </a:lnTo>
                  <a:lnTo>
                    <a:pt x="86943" y="23970"/>
                  </a:lnTo>
                  <a:lnTo>
                    <a:pt x="128866" y="6271"/>
                  </a:lnTo>
                  <a:lnTo>
                    <a:pt x="175513" y="0"/>
                  </a:lnTo>
                  <a:lnTo>
                    <a:pt x="1048258" y="0"/>
                  </a:lnTo>
                  <a:lnTo>
                    <a:pt x="1094905" y="6271"/>
                  </a:lnTo>
                  <a:lnTo>
                    <a:pt x="1136828" y="23970"/>
                  </a:lnTo>
                  <a:lnTo>
                    <a:pt x="1172352" y="51419"/>
                  </a:lnTo>
                  <a:lnTo>
                    <a:pt x="1199801" y="86943"/>
                  </a:lnTo>
                  <a:lnTo>
                    <a:pt x="1217500" y="128866"/>
                  </a:lnTo>
                  <a:lnTo>
                    <a:pt x="1223771" y="175513"/>
                  </a:lnTo>
                  <a:lnTo>
                    <a:pt x="1223771" y="877569"/>
                  </a:lnTo>
                  <a:lnTo>
                    <a:pt x="1217500" y="924217"/>
                  </a:lnTo>
                  <a:lnTo>
                    <a:pt x="1199801" y="966140"/>
                  </a:lnTo>
                  <a:lnTo>
                    <a:pt x="1172352" y="1001664"/>
                  </a:lnTo>
                  <a:lnTo>
                    <a:pt x="1136828" y="1029113"/>
                  </a:lnTo>
                  <a:lnTo>
                    <a:pt x="1094905" y="1046812"/>
                  </a:lnTo>
                  <a:lnTo>
                    <a:pt x="1048258" y="1053083"/>
                  </a:lnTo>
                  <a:lnTo>
                    <a:pt x="175513" y="1053083"/>
                  </a:lnTo>
                  <a:lnTo>
                    <a:pt x="128866" y="1046812"/>
                  </a:lnTo>
                  <a:lnTo>
                    <a:pt x="86943" y="1029113"/>
                  </a:lnTo>
                  <a:lnTo>
                    <a:pt x="51419" y="1001664"/>
                  </a:lnTo>
                  <a:lnTo>
                    <a:pt x="23970" y="966140"/>
                  </a:lnTo>
                  <a:lnTo>
                    <a:pt x="6271" y="924217"/>
                  </a:lnTo>
                  <a:lnTo>
                    <a:pt x="0" y="877569"/>
                  </a:lnTo>
                  <a:lnTo>
                    <a:pt x="0" y="175513"/>
                  </a:lnTo>
                  <a:close/>
                </a:path>
              </a:pathLst>
            </a:custGeom>
            <a:ln w="2540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245478" y="3412617"/>
            <a:ext cx="940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2395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Dept</a:t>
            </a:r>
            <a:r>
              <a:rPr sz="18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Packaging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13419" y="3116579"/>
            <a:ext cx="1319783" cy="13197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EF72157-D997-78CF-B164-E544C2E9BA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Orchard Granola Inc.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29006" y="1550416"/>
          <a:ext cx="11586842" cy="2832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9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1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1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14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4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Mixing/Baking</a:t>
                      </a:r>
                      <a:r>
                        <a:rPr sz="1800" b="1" spc="-8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Dept.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Units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30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Complete Materials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4318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Costs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of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Materials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303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Complete Conversion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92710" marR="1689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of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Conversion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WIP</a:t>
                      </a:r>
                      <a:r>
                        <a:rPr sz="20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–Jan</a:t>
                      </a:r>
                      <a:r>
                        <a:rPr sz="2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1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1200</a:t>
                      </a:r>
                      <a:r>
                        <a:rPr sz="20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0" dirty="0">
                          <a:latin typeface="Arial MT"/>
                          <a:cs typeface="Arial MT"/>
                        </a:rPr>
                        <a:t>Bars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15%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0" dirty="0">
                          <a:latin typeface="Arial MT"/>
                          <a:cs typeface="Arial MT"/>
                        </a:rPr>
                        <a:t>$150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20%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0" dirty="0">
                          <a:latin typeface="Arial MT"/>
                          <a:cs typeface="Arial MT"/>
                        </a:rPr>
                        <a:t>$250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4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Units</a:t>
                      </a:r>
                      <a:r>
                        <a:rPr sz="2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Started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2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Production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22,000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20" dirty="0">
                          <a:latin typeface="Arial MT"/>
                          <a:cs typeface="Arial MT"/>
                        </a:rPr>
                        <a:t>Bars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$19,150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$13,700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90805" marR="46609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Units</a:t>
                      </a:r>
                      <a:r>
                        <a:rPr sz="2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transferred</a:t>
                      </a:r>
                      <a:r>
                        <a:rPr sz="2000" spc="-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2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10" dirty="0">
                          <a:latin typeface="Arial MT"/>
                          <a:cs typeface="Arial MT"/>
                        </a:rPr>
                        <a:t>Packaging Dept.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10" dirty="0">
                          <a:latin typeface="Arial MT"/>
                          <a:cs typeface="Arial MT"/>
                        </a:rPr>
                        <a:t>22,400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WIP</a:t>
                      </a:r>
                      <a:r>
                        <a:rPr sz="20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– March</a:t>
                      </a:r>
                      <a:r>
                        <a:rPr sz="20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spc="-25" dirty="0">
                          <a:latin typeface="Arial MT"/>
                          <a:cs typeface="Arial MT"/>
                        </a:rPr>
                        <a:t>30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800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35%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spc="-25" dirty="0">
                          <a:latin typeface="Arial MT"/>
                          <a:cs typeface="Arial MT"/>
                        </a:rPr>
                        <a:t>45%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98372" y="4507839"/>
            <a:ext cx="10804525" cy="1656714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180"/>
              </a:spcBef>
              <a:buSzPct val="80000"/>
              <a:buAutoNum type="arabicPeriod"/>
              <a:tabLst>
                <a:tab pos="527685" algn="l"/>
              </a:tabLst>
            </a:pPr>
            <a:r>
              <a:rPr sz="2000" dirty="0">
                <a:latin typeface="Arial MT"/>
                <a:cs typeface="Arial MT"/>
              </a:rPr>
              <a:t>Compute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equivalent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Mixing/Baking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Department.</a:t>
            </a:r>
            <a:endParaRPr sz="2000" dirty="0">
              <a:latin typeface="Arial MT"/>
              <a:cs typeface="Arial MT"/>
            </a:endParaRPr>
          </a:p>
          <a:p>
            <a:pPr marL="527685" indent="-514984">
              <a:lnSpc>
                <a:spcPct val="100000"/>
              </a:lnSpc>
              <a:spcBef>
                <a:spcPts val="1080"/>
              </a:spcBef>
              <a:buSzPct val="80000"/>
              <a:buAutoNum type="arabicPeriod"/>
              <a:tabLst>
                <a:tab pos="527685" algn="l"/>
              </a:tabLst>
            </a:pPr>
            <a:r>
              <a:rPr sz="2000" dirty="0">
                <a:latin typeface="Arial MT"/>
                <a:cs typeface="Arial MT"/>
              </a:rPr>
              <a:t>What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Equivalent</a:t>
            </a:r>
            <a:r>
              <a:rPr sz="2000" spc="-10" dirty="0">
                <a:latin typeface="Arial MT"/>
                <a:cs typeface="Arial MT"/>
              </a:rPr>
              <a:t> Unit?</a:t>
            </a:r>
            <a:endParaRPr sz="2000" dirty="0">
              <a:latin typeface="Arial MT"/>
              <a:cs typeface="Arial MT"/>
            </a:endParaRPr>
          </a:p>
          <a:p>
            <a:pPr marL="527685" indent="-514984">
              <a:lnSpc>
                <a:spcPct val="100000"/>
              </a:lnSpc>
              <a:spcBef>
                <a:spcPts val="1075"/>
              </a:spcBef>
              <a:buSzPct val="80000"/>
              <a:buAutoNum type="arabicPeriod"/>
              <a:tabLst>
                <a:tab pos="527685" algn="l"/>
              </a:tabLst>
            </a:pPr>
            <a:r>
              <a:rPr sz="2000" dirty="0">
                <a:latin typeface="Arial MT"/>
                <a:cs typeface="Arial MT"/>
              </a:rPr>
              <a:t>What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cost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should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assigned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units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transferred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Packaging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Department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</a:t>
            </a:r>
            <a:endParaRPr sz="2000" dirty="0">
              <a:latin typeface="Arial MT"/>
              <a:cs typeface="Arial MT"/>
            </a:endParaRPr>
          </a:p>
          <a:p>
            <a:pPr marL="52768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units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remain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WIP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Mixing/Baking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Dept?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701B26A-3917-4308-65B8-8F39C3C6AA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790" y="188640"/>
            <a:ext cx="9601067" cy="506016"/>
          </a:xfrm>
        </p:spPr>
        <p:txBody>
          <a:bodyPr/>
          <a:lstStyle/>
          <a:p>
            <a:r>
              <a:rPr lang="en-CA" dirty="0"/>
              <a:t>Orchard Granola Inc</a:t>
            </a:r>
          </a:p>
          <a:p>
            <a:endParaRPr lang="en-CA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8918D18-6046-5D98-AF84-FD64DBE0888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sz="2400" dirty="0">
                <a:solidFill>
                  <a:schemeClr val="tx1"/>
                </a:solidFill>
                <a:latin typeface="Arial MT"/>
              </a:rPr>
              <a:t>1. </a:t>
            </a:r>
            <a:r>
              <a:rPr lang="en-CA" sz="2400" u="sng" dirty="0">
                <a:solidFill>
                  <a:schemeClr val="tx1"/>
                </a:solidFill>
                <a:latin typeface="Arial MT"/>
              </a:rPr>
              <a:t>Compute the equivalent units for the Mixing/Baking Department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217" y="1505657"/>
            <a:ext cx="11167110" cy="142176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270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Equivalent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partially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completed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percentage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completion</a:t>
            </a:r>
            <a:endParaRPr sz="2400" dirty="0">
              <a:latin typeface="Arial MT"/>
              <a:cs typeface="Arial MT"/>
            </a:endParaRPr>
          </a:p>
          <a:p>
            <a:pPr marL="469900" indent="-457200">
              <a:lnSpc>
                <a:spcPct val="100000"/>
              </a:lnSpc>
              <a:spcBef>
                <a:spcPts val="1175"/>
              </a:spcBef>
              <a:buSzPct val="79166"/>
              <a:buChar char="•"/>
              <a:tabLst>
                <a:tab pos="469900" algn="l"/>
              </a:tabLst>
            </a:pPr>
            <a:r>
              <a:rPr sz="2400" dirty="0">
                <a:latin typeface="Arial MT"/>
                <a:cs typeface="Arial MT"/>
              </a:rPr>
              <a:t>Equivalent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transferred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next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Equivalent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units</a:t>
            </a:r>
            <a:endParaRPr sz="24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ending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department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finished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goods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work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inventory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42489" y="3094990"/>
            <a:ext cx="297243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Material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22,400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800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25" dirty="0">
                <a:latin typeface="Arial MT"/>
                <a:cs typeface="Arial MT"/>
              </a:rPr>
              <a:t> 35%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22,400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280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= </a:t>
            </a:r>
            <a:r>
              <a:rPr sz="2400" spc="-10" dirty="0">
                <a:latin typeface="Arial MT"/>
                <a:cs typeface="Arial MT"/>
              </a:rPr>
              <a:t>22,680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1543" y="3094990"/>
            <a:ext cx="297243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Conversion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22,400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800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25" dirty="0">
                <a:latin typeface="Arial MT"/>
                <a:cs typeface="Arial MT"/>
              </a:rPr>
              <a:t> 45%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22,400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360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= </a:t>
            </a:r>
            <a:r>
              <a:rPr sz="2400" spc="-10" dirty="0">
                <a:latin typeface="Arial MT"/>
                <a:cs typeface="Arial MT"/>
              </a:rPr>
              <a:t>22,760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82B9C5A5-0B6F-D848-8DBC-2618A15D49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Orchard Granola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931" y="1705328"/>
            <a:ext cx="2539770" cy="10540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16203" y="1819147"/>
            <a:ext cx="19100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1016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Eq. </a:t>
            </a:r>
            <a:r>
              <a:rPr sz="2400" dirty="0">
                <a:latin typeface="Arial MT"/>
                <a:cs typeface="Arial MT"/>
              </a:rPr>
              <a:t>Unit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Dept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X.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23488" y="1984628"/>
            <a:ext cx="191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=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85228" y="1705328"/>
            <a:ext cx="3571557" cy="105401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752466" y="1806955"/>
            <a:ext cx="20529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 marR="5080" indent="-4318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Cost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Beg.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WIP </a:t>
            </a:r>
            <a:r>
              <a:rPr sz="2400" spc="-10" dirty="0">
                <a:latin typeface="Calibri"/>
                <a:cs typeface="Calibri"/>
              </a:rPr>
              <a:t>inventory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00028" y="1662623"/>
            <a:ext cx="3571557" cy="117434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503284" y="1821941"/>
            <a:ext cx="27825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9805" marR="5080" indent="-98044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Cost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during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period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48651" y="1942591"/>
            <a:ext cx="191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+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33400" y="1466088"/>
            <a:ext cx="11344910" cy="2894330"/>
            <a:chOff x="533400" y="1466088"/>
            <a:chExt cx="11344910" cy="2894330"/>
          </a:xfrm>
        </p:grpSpPr>
        <p:sp>
          <p:nvSpPr>
            <p:cNvPr id="12" name="object 12"/>
            <p:cNvSpPr/>
            <p:nvPr/>
          </p:nvSpPr>
          <p:spPr>
            <a:xfrm>
              <a:off x="552450" y="1485138"/>
              <a:ext cx="11306810" cy="2856230"/>
            </a:xfrm>
            <a:custGeom>
              <a:avLst/>
              <a:gdLst/>
              <a:ahLst/>
              <a:cxnLst/>
              <a:rect l="l" t="t" r="r" b="b"/>
              <a:pathLst>
                <a:path w="11306810" h="2856229">
                  <a:moveTo>
                    <a:pt x="0" y="2855976"/>
                  </a:moveTo>
                  <a:lnTo>
                    <a:pt x="11306556" y="2855976"/>
                  </a:lnTo>
                  <a:lnTo>
                    <a:pt x="11306556" y="0"/>
                  </a:lnTo>
                  <a:lnTo>
                    <a:pt x="0" y="0"/>
                  </a:lnTo>
                  <a:lnTo>
                    <a:pt x="0" y="2855976"/>
                  </a:lnTo>
                  <a:close/>
                </a:path>
              </a:pathLst>
            </a:custGeom>
            <a:ln w="38100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56582" y="2900934"/>
              <a:ext cx="5833110" cy="0"/>
            </a:xfrm>
            <a:custGeom>
              <a:avLst/>
              <a:gdLst/>
              <a:ahLst/>
              <a:cxnLst/>
              <a:rect l="l" t="t" r="r" b="b"/>
              <a:pathLst>
                <a:path w="5833109">
                  <a:moveTo>
                    <a:pt x="0" y="0"/>
                  </a:moveTo>
                  <a:lnTo>
                    <a:pt x="5832601" y="0"/>
                  </a:lnTo>
                </a:path>
              </a:pathLst>
            </a:custGeom>
            <a:ln w="28575">
              <a:solidFill>
                <a:srgbClr val="0070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70060" y="3092101"/>
              <a:ext cx="3571557" cy="1054351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</p:pic>
      </p:grpSp>
      <p:sp>
        <p:nvSpPr>
          <p:cNvPr id="15" name="object 15"/>
          <p:cNvSpPr txBox="1"/>
          <p:nvPr/>
        </p:nvSpPr>
        <p:spPr>
          <a:xfrm>
            <a:off x="6690614" y="3194430"/>
            <a:ext cx="23450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4505" marR="5080" indent="-48514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Equivalent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Production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0123" y="4430014"/>
            <a:ext cx="355092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Material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($150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+$19,150)/22,680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10" dirty="0">
                <a:latin typeface="Arial MT"/>
                <a:cs typeface="Arial MT"/>
              </a:rPr>
              <a:t> $19,300/22,680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$.8510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83073" y="4481576"/>
            <a:ext cx="372046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Conversion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($250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+$13,7000)/22,760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=</a:t>
            </a:r>
            <a:r>
              <a:rPr sz="2400" spc="-10" dirty="0">
                <a:latin typeface="Arial MT"/>
                <a:cs typeface="Arial MT"/>
              </a:rPr>
              <a:t> $13,950/22,760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= </a:t>
            </a:r>
            <a:r>
              <a:rPr sz="2400" spc="-10" dirty="0">
                <a:latin typeface="Arial MT"/>
                <a:cs typeface="Arial MT"/>
              </a:rPr>
              <a:t>$.6129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16085" y="4477892"/>
            <a:ext cx="23291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Total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= </a:t>
            </a:r>
            <a:r>
              <a:rPr sz="2400" spc="-10" dirty="0">
                <a:latin typeface="Arial MT"/>
                <a:cs typeface="Arial MT"/>
              </a:rPr>
              <a:t>$.8510+$.6129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= </a:t>
            </a:r>
            <a:r>
              <a:rPr sz="2400" spc="-10" dirty="0">
                <a:latin typeface="Arial MT"/>
                <a:cs typeface="Arial MT"/>
              </a:rPr>
              <a:t>$1.4639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CFB0C9-7FDA-1840-D3FA-C636BC5908C5}"/>
              </a:ext>
            </a:extLst>
          </p:cNvPr>
          <p:cNvSpPr txBox="1"/>
          <p:nvPr/>
        </p:nvSpPr>
        <p:spPr>
          <a:xfrm>
            <a:off x="552450" y="751000"/>
            <a:ext cx="5642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2. What is the Cost per Equivalent Unit?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B81B9CFD-04F0-B8BD-DBB9-18DB49289F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Orchard Granola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BFA44B7-6B7C-6616-D97A-E90FBCC9031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5361" y="620688"/>
            <a:ext cx="11617291" cy="563563"/>
          </a:xfrm>
        </p:spPr>
        <p:txBody>
          <a:bodyPr/>
          <a:lstStyle/>
          <a:p>
            <a:pPr marL="0" indent="0">
              <a:buNone/>
            </a:pPr>
            <a:r>
              <a:rPr lang="en-CA" sz="2400" u="sng" dirty="0">
                <a:solidFill>
                  <a:schemeClr val="tx1"/>
                </a:solidFill>
                <a:latin typeface="Arial MT"/>
              </a:rPr>
              <a:t>3. What cost should be assigned?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2510" y="1654555"/>
            <a:ext cx="10638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265" algn="l"/>
              </a:tabLst>
            </a:pP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Transferred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#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Transferred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equivalent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unit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8166" y="2169363"/>
            <a:ext cx="28562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SzPct val="79166"/>
              <a:buChar char="•"/>
              <a:tabLst>
                <a:tab pos="469265" algn="l"/>
              </a:tabLst>
            </a:pPr>
            <a:r>
              <a:rPr sz="2400" dirty="0">
                <a:latin typeface="Arial MT"/>
                <a:cs typeface="Arial MT"/>
              </a:rPr>
              <a:t>Ending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Inventory: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0621" y="2169363"/>
            <a:ext cx="69659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Equivalent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WIP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Ending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Inventory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*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per</a:t>
            </a:r>
            <a:endParaRPr sz="2400">
              <a:latin typeface="Arial MT"/>
              <a:cs typeface="Arial MT"/>
            </a:endParaRPr>
          </a:p>
          <a:p>
            <a:pPr marL="118681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equivalent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unit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6226" y="3141345"/>
            <a:ext cx="8877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Material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6226" y="3696080"/>
            <a:ext cx="2908300" cy="842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25" dirty="0">
                <a:latin typeface="Arial MT"/>
                <a:cs typeface="Arial MT"/>
              </a:rPr>
              <a:t>1.</a:t>
            </a:r>
            <a:r>
              <a:rPr sz="1800" dirty="0">
                <a:latin typeface="Arial MT"/>
                <a:cs typeface="Arial MT"/>
              </a:rPr>
              <a:t>	Cost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Units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Transferred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135"/>
              </a:lnSpc>
            </a:pP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22,400 *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$.8510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= </a:t>
            </a:r>
            <a:r>
              <a:rPr sz="1800" spc="-10" dirty="0">
                <a:latin typeface="Arial MT"/>
                <a:cs typeface="Arial MT"/>
              </a:rPr>
              <a:t>$19,062.40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6226" y="4793742"/>
            <a:ext cx="2081530" cy="1116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25" dirty="0">
                <a:latin typeface="Arial MT"/>
                <a:cs typeface="Arial MT"/>
              </a:rPr>
              <a:t>2.</a:t>
            </a:r>
            <a:r>
              <a:rPr sz="1800" dirty="0">
                <a:latin typeface="Arial MT"/>
                <a:cs typeface="Arial MT"/>
              </a:rPr>
              <a:t>	Ending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Inventory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135"/>
              </a:lnSpc>
            </a:pP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800*35% *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$.8510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=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280 * </a:t>
            </a:r>
            <a:r>
              <a:rPr sz="1800" spc="-10" dirty="0">
                <a:latin typeface="Arial MT"/>
                <a:cs typeface="Arial MT"/>
              </a:rPr>
              <a:t>$.8510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= </a:t>
            </a:r>
            <a:r>
              <a:rPr sz="1800" spc="-10" dirty="0">
                <a:latin typeface="Arial MT"/>
                <a:cs typeface="Arial MT"/>
              </a:rPr>
              <a:t>$238.28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26382" y="3174872"/>
            <a:ext cx="1277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Conversion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26382" y="3729990"/>
            <a:ext cx="2908300" cy="842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25" dirty="0">
                <a:latin typeface="Arial MT"/>
                <a:cs typeface="Arial MT"/>
              </a:rPr>
              <a:t>1.</a:t>
            </a:r>
            <a:r>
              <a:rPr sz="1800" dirty="0">
                <a:latin typeface="Arial MT"/>
                <a:cs typeface="Arial MT"/>
              </a:rPr>
              <a:t>	Cost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Units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Transferred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135"/>
              </a:lnSpc>
            </a:pP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22,400 *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$.6129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= </a:t>
            </a:r>
            <a:r>
              <a:rPr sz="1800" spc="-10" dirty="0">
                <a:latin typeface="Arial MT"/>
                <a:cs typeface="Arial MT"/>
              </a:rPr>
              <a:t>$13,728.96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26382" y="4827270"/>
            <a:ext cx="2081530" cy="1116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25" dirty="0">
                <a:latin typeface="Arial MT"/>
                <a:cs typeface="Arial MT"/>
              </a:rPr>
              <a:t>2.</a:t>
            </a:r>
            <a:r>
              <a:rPr sz="1800" dirty="0">
                <a:latin typeface="Arial MT"/>
                <a:cs typeface="Arial MT"/>
              </a:rPr>
              <a:t>	Ending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Inventory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135"/>
              </a:lnSpc>
            </a:pPr>
            <a:r>
              <a:rPr sz="1800" dirty="0">
                <a:latin typeface="Arial MT"/>
                <a:cs typeface="Arial MT"/>
              </a:rPr>
              <a:t>=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800*45%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*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$.6129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=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360 * </a:t>
            </a:r>
            <a:r>
              <a:rPr sz="1800" spc="-10" dirty="0">
                <a:latin typeface="Arial MT"/>
                <a:cs typeface="Arial MT"/>
              </a:rPr>
              <a:t>$.6129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= </a:t>
            </a:r>
            <a:r>
              <a:rPr sz="1800" spc="-10" dirty="0">
                <a:latin typeface="Arial MT"/>
                <a:cs typeface="Arial MT"/>
              </a:rPr>
              <a:t>$220.64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34682" y="4350638"/>
            <a:ext cx="1094486" cy="188085"/>
          </a:xfrm>
          <a:custGeom>
            <a:avLst/>
            <a:gdLst/>
            <a:ahLst/>
            <a:cxnLst/>
            <a:rect l="l" t="t" r="r" b="b"/>
            <a:pathLst>
              <a:path w="576579" h="171450">
                <a:moveTo>
                  <a:pt x="404621" y="0"/>
                </a:moveTo>
                <a:lnTo>
                  <a:pt x="404621" y="171450"/>
                </a:lnTo>
                <a:lnTo>
                  <a:pt x="518921" y="114300"/>
                </a:lnTo>
                <a:lnTo>
                  <a:pt x="433196" y="114300"/>
                </a:lnTo>
                <a:lnTo>
                  <a:pt x="433196" y="57150"/>
                </a:lnTo>
                <a:lnTo>
                  <a:pt x="518921" y="57150"/>
                </a:lnTo>
                <a:lnTo>
                  <a:pt x="404621" y="0"/>
                </a:lnTo>
                <a:close/>
              </a:path>
              <a:path w="576579" h="171450">
                <a:moveTo>
                  <a:pt x="404621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404621" y="114300"/>
                </a:lnTo>
                <a:lnTo>
                  <a:pt x="404621" y="57150"/>
                </a:lnTo>
                <a:close/>
              </a:path>
              <a:path w="576579" h="171450">
                <a:moveTo>
                  <a:pt x="518921" y="57150"/>
                </a:moveTo>
                <a:lnTo>
                  <a:pt x="433196" y="57150"/>
                </a:lnTo>
                <a:lnTo>
                  <a:pt x="433196" y="114300"/>
                </a:lnTo>
                <a:lnTo>
                  <a:pt x="518921" y="114300"/>
                </a:lnTo>
                <a:lnTo>
                  <a:pt x="576071" y="85725"/>
                </a:lnTo>
                <a:lnTo>
                  <a:pt x="518921" y="57150"/>
                </a:lnTo>
                <a:close/>
              </a:path>
            </a:pathLst>
          </a:custGeom>
          <a:solidFill>
            <a:srgbClr val="929292"/>
          </a:solidFill>
          <a:ln>
            <a:solidFill>
              <a:srgbClr val="0070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840216" y="3127628"/>
            <a:ext cx="5556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sng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Total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840216" y="3682365"/>
            <a:ext cx="2908300" cy="842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25" dirty="0">
                <a:latin typeface="Arial MT"/>
                <a:cs typeface="Arial MT"/>
              </a:rPr>
              <a:t>1.</a:t>
            </a:r>
            <a:r>
              <a:rPr sz="1800" dirty="0">
                <a:latin typeface="Arial MT"/>
                <a:cs typeface="Arial MT"/>
              </a:rPr>
              <a:t>	Cost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Units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Transferred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135"/>
              </a:lnSpc>
            </a:pPr>
            <a:r>
              <a:rPr sz="1800" dirty="0">
                <a:latin typeface="Arial MT"/>
                <a:cs typeface="Arial MT"/>
              </a:rPr>
              <a:t>=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19,062.40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13,728.96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= </a:t>
            </a:r>
            <a:r>
              <a:rPr sz="1800" spc="-10" dirty="0">
                <a:latin typeface="Arial MT"/>
                <a:cs typeface="Arial MT"/>
              </a:rPr>
              <a:t>$32,791.36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40216" y="4780026"/>
            <a:ext cx="2081530" cy="842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800" spc="-25" dirty="0">
                <a:latin typeface="Arial MT"/>
                <a:cs typeface="Arial MT"/>
              </a:rPr>
              <a:t>2.</a:t>
            </a:r>
            <a:r>
              <a:rPr sz="1800" dirty="0">
                <a:latin typeface="Arial MT"/>
                <a:cs typeface="Arial MT"/>
              </a:rPr>
              <a:t>	Ending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Inventory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2135"/>
              </a:lnSpc>
            </a:pPr>
            <a:r>
              <a:rPr sz="1800" dirty="0">
                <a:latin typeface="Arial MT"/>
                <a:cs typeface="Arial MT"/>
              </a:rPr>
              <a:t>= </a:t>
            </a:r>
            <a:r>
              <a:rPr sz="1800" spc="-10" dirty="0">
                <a:latin typeface="Arial MT"/>
                <a:cs typeface="Arial MT"/>
              </a:rPr>
              <a:t>238.28+220.64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= </a:t>
            </a:r>
            <a:r>
              <a:rPr sz="1800" spc="-10" dirty="0">
                <a:latin typeface="Arial MT"/>
                <a:cs typeface="Arial MT"/>
              </a:rPr>
              <a:t>$458.92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4FC46E1-9EFE-E6CE-61DF-C1F07041DB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Weighted-Average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BD3C1-11EA-936C-85E1-8220DA076FE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5361" y="620688"/>
            <a:ext cx="11617292" cy="360040"/>
          </a:xfrm>
        </p:spPr>
        <p:txBody>
          <a:bodyPr/>
          <a:lstStyle/>
          <a:p>
            <a:pPr marL="0" indent="0">
              <a:buNone/>
            </a:pPr>
            <a:r>
              <a:rPr lang="en-CA" sz="2400" u="sng" dirty="0"/>
              <a:t>Step 5: Reconcile the Costs</a:t>
            </a:r>
          </a:p>
        </p:txBody>
      </p:sp>
      <p:graphicFrame>
        <p:nvGraphicFramePr>
          <p:cNvPr id="59395" name="Object 1028">
            <a:extLst>
              <a:ext uri="{FF2B5EF4-FFF2-40B4-BE49-F238E27FC236}">
                <a16:creationId xmlns:a16="http://schemas.microsoft.com/office/drawing/2014/main" id="{FE103D91-7A82-6DCF-1116-34DDDD9462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4952725"/>
              </p:ext>
            </p:extLst>
          </p:nvPr>
        </p:nvGraphicFramePr>
        <p:xfrm>
          <a:off x="1086126" y="1628800"/>
          <a:ext cx="8882062" cy="443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464101" imgH="2012899" progId="Excel.Sheet.8">
                  <p:embed/>
                </p:oleObj>
              </mc:Choice>
              <mc:Fallback>
                <p:oleObj name="Worksheet" r:id="rId3" imgW="4464101" imgH="2012899" progId="Excel.Sheet.8">
                  <p:embed/>
                  <p:pic>
                    <p:nvPicPr>
                      <p:cNvPr id="59395" name="Object 1028">
                        <a:extLst>
                          <a:ext uri="{FF2B5EF4-FFF2-40B4-BE49-F238E27FC236}">
                            <a16:creationId xmlns:a16="http://schemas.microsoft.com/office/drawing/2014/main" id="{FE103D91-7A82-6DCF-1116-34DDDD9462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6126" y="1628800"/>
                        <a:ext cx="8882062" cy="4433888"/>
                      </a:xfrm>
                      <a:prstGeom prst="rect">
                        <a:avLst/>
                      </a:prstGeom>
                      <a:noFill/>
                      <a:ln w="76200">
                        <a:solidFill>
                          <a:srgbClr val="0070C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object 4">
            <a:extLst>
              <a:ext uri="{FF2B5EF4-FFF2-40B4-BE49-F238E27FC236}">
                <a16:creationId xmlns:a16="http://schemas.microsoft.com/office/drawing/2014/main" id="{4F8986FB-6CB1-FEB1-7B80-A833315E08F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72464" y="645769"/>
            <a:ext cx="1403960" cy="131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932600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F989-30C7-9B2C-9B7C-A362216B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DDB6ED7E-48FF-4DDA-BE32-1075D94F5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351" y="116629"/>
            <a:ext cx="9601067" cy="506016"/>
          </a:xfrm>
        </p:spPr>
        <p:txBody>
          <a:bodyPr/>
          <a:lstStyle/>
          <a:p>
            <a:r>
              <a:rPr lang="en-CA" dirty="0"/>
              <a:t>Any Questions?</a:t>
            </a:r>
            <a:endParaRPr lang="en-US" sz="1800" dirty="0"/>
          </a:p>
          <a:p>
            <a:endParaRPr lang="en-CA" dirty="0"/>
          </a:p>
        </p:txBody>
      </p:sp>
      <p:sp>
        <p:nvSpPr>
          <p:cNvPr id="2" name="object 16">
            <a:extLst>
              <a:ext uri="{FF2B5EF4-FFF2-40B4-BE49-F238E27FC236}">
                <a16:creationId xmlns:a16="http://schemas.microsoft.com/office/drawing/2014/main" id="{70E3F86C-C2BA-7728-C49B-7B059BF0EA1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239351" y="6525348"/>
            <a:ext cx="480053" cy="216023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794917252"/>
      </p:ext>
    </p:extLst>
  </p:cSld>
  <p:clrMapOvr>
    <a:masterClrMapping/>
  </p:clrMapOvr>
</p:sld>
</file>

<file path=ppt/theme/theme1.xml><?xml version="1.0" encoding="utf-8"?>
<a:theme xmlns:a="http://schemas.openxmlformats.org/drawingml/2006/main" name="Rotman Pi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otman Cy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Rotman Dark Te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Rotman Blu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Rotman Oran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Rotman Gre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Rotman Gol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C29625CE8F2445A33C4944AD902EE6" ma:contentTypeVersion="18" ma:contentTypeDescription="Create a new document." ma:contentTypeScope="" ma:versionID="2ba906667caed82590a3b6d7b3da7513">
  <xsd:schema xmlns:xsd="http://www.w3.org/2001/XMLSchema" xmlns:xs="http://www.w3.org/2001/XMLSchema" xmlns:p="http://schemas.microsoft.com/office/2006/metadata/properties" xmlns:ns3="c18c8954-ab2f-4275-a5d7-b9aa33856ba2" xmlns:ns4="7e677d30-5ff7-4313-a396-6d249a69ab27" targetNamespace="http://schemas.microsoft.com/office/2006/metadata/properties" ma:root="true" ma:fieldsID="85ab7bee49a667cd25923cf2338d3e94" ns3:_="" ns4:_="">
    <xsd:import namespace="c18c8954-ab2f-4275-a5d7-b9aa33856ba2"/>
    <xsd:import namespace="7e677d30-5ff7-4313-a396-6d249a69ab2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8c8954-ab2f-4275-a5d7-b9aa33856b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677d30-5ff7-4313-a396-6d249a69ab2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18c8954-ab2f-4275-a5d7-b9aa33856ba2" xsi:nil="true"/>
  </documentManagement>
</p:properties>
</file>

<file path=customXml/itemProps1.xml><?xml version="1.0" encoding="utf-8"?>
<ds:datastoreItem xmlns:ds="http://schemas.openxmlformats.org/officeDocument/2006/customXml" ds:itemID="{57CF0919-26FB-4AF4-98AE-101D7BAB38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AC9AE6-CD88-486C-8B5C-3155BF730A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8c8954-ab2f-4275-a5d7-b9aa33856ba2"/>
    <ds:schemaRef ds:uri="7e677d30-5ff7-4313-a396-6d249a69ab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103E23-3D7C-4E39-9DD5-75683B020A9E}">
  <ds:schemaRefs>
    <ds:schemaRef ds:uri="http://schemas.openxmlformats.org/package/2006/metadata/core-properties"/>
    <ds:schemaRef ds:uri="http://purl.org/dc/terms/"/>
    <ds:schemaRef ds:uri="http://purl.org/dc/elements/1.1/"/>
    <ds:schemaRef ds:uri="7e677d30-5ff7-4313-a396-6d249a69ab27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c18c8954-ab2f-4275-a5d7-b9aa33856ba2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10990</TotalTime>
  <Words>555</Words>
  <Application>Microsoft Office PowerPoint</Application>
  <PresentationFormat>Widescreen</PresentationFormat>
  <Paragraphs>109</Paragraphs>
  <Slides>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Arial</vt:lpstr>
      <vt:lpstr>Calibri</vt:lpstr>
      <vt:lpstr>Times New Roman</vt:lpstr>
      <vt:lpstr>Times</vt:lpstr>
      <vt:lpstr>Arial MT</vt:lpstr>
      <vt:lpstr>Rotman Pink</vt:lpstr>
      <vt:lpstr>Rotman Cyan</vt:lpstr>
      <vt:lpstr>Rotman Dark Teal</vt:lpstr>
      <vt:lpstr>Rotman Blue</vt:lpstr>
      <vt:lpstr>Rotman Orange</vt:lpstr>
      <vt:lpstr>Rotman Grey</vt:lpstr>
      <vt:lpstr>Rotman Gold</vt:lpstr>
      <vt:lpstr>Microsoft Excel 97-2003 Worksheet</vt:lpstr>
      <vt:lpstr>    RSM222 Management Accounting 1  Class 4: In Class Exercise </vt:lpstr>
      <vt:lpstr>IN CLASS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Graham Huber</dc:creator>
  <cp:lastModifiedBy>Elisa Zuliani</cp:lastModifiedBy>
  <cp:revision>190</cp:revision>
  <cp:lastPrinted>2025-09-16T02:44:15Z</cp:lastPrinted>
  <dcterms:created xsi:type="dcterms:W3CDTF">2013-07-26T14:57:40Z</dcterms:created>
  <dcterms:modified xsi:type="dcterms:W3CDTF">2025-09-23T16:36:19Z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0x01010089C29625CE8F2445A33C4944AD902EE6</vt:lpwstr>
  </property>
</Properties>
</file>