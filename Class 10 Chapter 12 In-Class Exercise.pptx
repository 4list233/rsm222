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22"/>
  </p:notesMasterIdLst>
  <p:sldIdLst>
    <p:sldId id="256" r:id="rId11"/>
    <p:sldId id="270" r:id="rId12"/>
    <p:sldId id="273" r:id="rId13"/>
    <p:sldId id="790" r:id="rId14"/>
    <p:sldId id="791" r:id="rId15"/>
    <p:sldId id="276" r:id="rId16"/>
    <p:sldId id="277" r:id="rId17"/>
    <p:sldId id="792" r:id="rId18"/>
    <p:sldId id="284" r:id="rId19"/>
    <p:sldId id="285" r:id="rId20"/>
    <p:sldId id="706" r:id="rId21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A336F-651A-4859-9707-0194946F8BEE}" v="7" dt="2025-10-31T05:00:26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89" autoAdjust="0"/>
    <p:restoredTop sz="50000" autoAdjust="0"/>
  </p:normalViewPr>
  <p:slideViewPr>
    <p:cSldViewPr>
      <p:cViewPr>
        <p:scale>
          <a:sx n="103" d="100"/>
          <a:sy n="103" d="100"/>
        </p:scale>
        <p:origin x="68" y="104"/>
      </p:cViewPr>
      <p:guideLst>
        <p:guide orient="horz" pos="2160"/>
        <p:guide pos="3976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71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C81263-C894-4873-89C2-971E5590E23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980B6D-915E-41AE-AD5B-A36BF2CAC5C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1C3432-9C42-4A48-825B-C3094C036AE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C88A52-FA99-4BEC-9A78-5E07FCAB495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C1E9A2-12C1-4979-AFFA-5E8BA8DB4F7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D2C611-B2AF-49AE-AFE1-B211480221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51478A-F9E3-4EE4-9087-211C1938799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D07D92-6294-4F14-86FE-D10AC9A801A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534C-45DE-41A8-AA2B-DD797E8BAE16}" type="datetime1">
              <a:rPr lang="en-US" smtClean="0"/>
              <a:t>11/11/2025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F8B65-1483-4B3F-A448-0521E8C9ED3A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88975-7FA8-4990-A221-A8D4AA93DF1B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263B5-A16B-4CBF-89AF-1583C81BD7FF}" type="datetime1">
              <a:rPr lang="en-US" smtClean="0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EDAA2-DF3E-4D48-856F-FB5399E9F66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0EEC23F-7C14-469F-A1B9-38D397306ED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9B159E-9C66-4E28-A9E0-71CCCBDB921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E1691D9-E12D-42C0-8BA1-F5A1373BE1C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868AFA-FE36-4FFE-A031-ED80A79D509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4BDE068-A8D9-459D-AC95-5BD6982A903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FAEB19-06AB-4F2D-BE96-61EE880A403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D7E247-1F04-458A-9755-259C385159A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B2F29FF-CD2E-4E47-819B-780FE6BE24A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7D5D68-E52E-4203-9A92-55A760F85E0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9118D4-9F30-447E-848C-3E56CBEBE4F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3D877D-EBF1-49DB-A072-4E9B70D223C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6E6461-DFDE-413E-BCDC-E5351B67479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7B4548-819E-4C00-8C36-57BF13901DB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ECA07C-CB2E-4A6F-987C-8933693716E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CB5EE4-02A8-4F4F-AF71-F2F97FA0C0D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CF6243-C493-4C50-BECA-51D2680F58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AC2C6-CC36-47EF-BE8D-83E3AE7A39C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EAA225-43EB-49CC-9625-09C5D0CC180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5B02B6-E7B4-42F3-90B2-2801B747EAE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983B62-8B8E-4396-AAC0-029254DDE05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60A48C-828F-4C74-85B6-794E5A2C5D6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8204AA-A46B-482B-9D21-B43E5912882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382845-11ED-4EB8-9640-DD33DC65F96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EF182A-FB98-480A-9C7C-7811435576C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7DCC81-9C0B-407A-AC87-A022B5FF8E1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7091C9-50D1-4B3B-AE95-6538AA595F8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E69555-D04C-4701-AB19-0B211266A9B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489B49-3815-4A08-9320-389A0F7D6AF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C4451B-16AF-4D16-A530-93320849650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0C6CFD-519D-41A3-99F2-FAE9DD01141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651C4A-EDF0-4FE1-A52A-76F29052889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5AB31F-EF1E-4C98-A04F-0A3648BBA97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E26218-A5B9-4E80-878F-DBCFACBF30C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F3BB86-6445-456B-B00D-98A3E75CB0B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72B862-DC74-442F-820A-A2A58A496AB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7933AB-54BF-478C-8E1B-42B08795FE4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97FC774-152B-4C82-917D-645053E2AC7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07093A-6BD4-4E03-BB46-27F22930560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957994-B2A1-4E2A-9557-58020F828B0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14AB20-C775-4524-84AC-D2ED5DAF412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407160-66BB-49B8-B3DD-0005465EAFD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F0C750-8BCA-48D8-AC8D-73EB38A4B13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29CC7E-DC52-4939-AC1F-796D56CE109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208BB1-B402-4387-8CFF-84B532F8A4E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313E0F-CEB1-4D88-BC27-54F7A2EA785C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29EB-1CAF-42D5-A3ED-0FB8398F04E9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4240F8-07ED-4467-B016-17843176ECF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11DAD7-7E79-4C01-AD23-8F7F083D0A6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EE84C1-B19C-4F79-8A67-00A4DCDDD9C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C91FA7-57C1-4941-9861-38B69BDC223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13BF13-5C1A-43F5-8E5F-E63ED09CFA1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3BEAF0-9531-439F-A5E2-5A73EE5D0C2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E1617C-1B21-4073-96B0-CD63E59AB7E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E4B64D-87D1-4754-A671-7503FD45360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AE750-AED6-4FC9-B676-5D500A12F61A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1CAB05-2034-4AA0-A8B5-541E5845A64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CABBC-1DA2-49DD-BC1B-AC2E3B9E91C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10: In Class Exercise – Relevant Costing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8190" y="2638805"/>
            <a:ext cx="231650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CA" sz="2800" b="1" dirty="0">
                <a:solidFill>
                  <a:srgbClr val="FFFFFF"/>
                </a:solidFill>
                <a:latin typeface="Arial"/>
                <a:cs typeface="Arial"/>
              </a:rPr>
              <a:t>Belair Bistro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7D57D63-8284-FE28-723E-E6895B132A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0886" y="1988840"/>
            <a:ext cx="4216097" cy="2441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162132-9A62-6D21-BF0A-37EFF32AA0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Apply: Adding or Dropping a Product 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928" y="1128067"/>
            <a:ext cx="620966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Belair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Bistro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Toronto</a:t>
            </a:r>
            <a:endParaRPr sz="2400" dirty="0">
              <a:latin typeface="Arial MT"/>
              <a:cs typeface="Arial MT"/>
            </a:endParaRPr>
          </a:p>
          <a:p>
            <a:pPr marL="756285" marR="935990" lvl="1" indent="-28702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sit-</a:t>
            </a:r>
            <a:r>
              <a:rPr sz="2400" dirty="0">
                <a:latin typeface="Arial MT"/>
                <a:cs typeface="Arial MT"/>
              </a:rPr>
              <a:t>down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cafe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counter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take-out.</a:t>
            </a:r>
            <a:endParaRPr sz="2400" dirty="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years,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Belair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Bistro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has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platform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customers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on-</a:t>
            </a:r>
            <a:r>
              <a:rPr sz="2400" spc="-20" dirty="0">
                <a:latin typeface="Arial MT"/>
                <a:cs typeface="Arial MT"/>
              </a:rPr>
              <a:t>line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food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delivered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45 </a:t>
            </a:r>
            <a:r>
              <a:rPr sz="2400" spc="-10" dirty="0">
                <a:latin typeface="Arial MT"/>
                <a:cs typeface="Arial MT"/>
              </a:rPr>
              <a:t>minutes.</a:t>
            </a:r>
            <a:endParaRPr sz="2400" dirty="0">
              <a:latin typeface="Arial MT"/>
              <a:cs typeface="Arial MT"/>
            </a:endParaRPr>
          </a:p>
          <a:p>
            <a:pPr marL="756285" marR="19050" lvl="1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Belair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Bistro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considering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dropping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this </a:t>
            </a:r>
            <a:r>
              <a:rPr sz="2400" dirty="0">
                <a:latin typeface="Arial MT"/>
                <a:cs typeface="Arial MT"/>
              </a:rPr>
              <a:t>segment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profitable.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361" y="2354147"/>
            <a:ext cx="4945380" cy="29856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5361" y="1282196"/>
            <a:ext cx="494538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Fictitious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let’s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assume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not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2797" y="5529834"/>
            <a:ext cx="620014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segment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dropped?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19" y="947673"/>
            <a:ext cx="316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Dineen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D027F03-E2D9-FC9D-CE45-89A7271F0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Situation #1 - Adding or dropping a Product 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4"/>
          </p:nvPr>
        </p:nvSpPr>
        <p:spPr>
          <a:xfrm>
            <a:off x="8256240" y="1124180"/>
            <a:ext cx="3696409" cy="4335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Note</a:t>
            </a:r>
            <a:r>
              <a:rPr sz="1800" spc="-25" dirty="0"/>
              <a:t> </a:t>
            </a:r>
            <a:r>
              <a:rPr sz="1800" dirty="0"/>
              <a:t>1:</a:t>
            </a:r>
            <a:r>
              <a:rPr sz="1800" spc="-20" dirty="0"/>
              <a:t> </a:t>
            </a:r>
            <a:r>
              <a:rPr sz="1800" dirty="0"/>
              <a:t>Salaries</a:t>
            </a:r>
            <a:r>
              <a:rPr sz="1800" spc="-10" dirty="0"/>
              <a:t> </a:t>
            </a:r>
            <a:r>
              <a:rPr sz="1800" spc="-25" dirty="0"/>
              <a:t>and </a:t>
            </a:r>
            <a:r>
              <a:rPr sz="1800" dirty="0"/>
              <a:t>Advertising</a:t>
            </a:r>
            <a:r>
              <a:rPr sz="1800" spc="-35" dirty="0"/>
              <a:t> </a:t>
            </a:r>
            <a:r>
              <a:rPr sz="1800" dirty="0"/>
              <a:t>are</a:t>
            </a:r>
            <a:r>
              <a:rPr sz="1800" spc="-35" dirty="0"/>
              <a:t> </a:t>
            </a:r>
            <a:r>
              <a:rPr sz="1800" dirty="0"/>
              <a:t>traceable</a:t>
            </a:r>
            <a:r>
              <a:rPr sz="1800" spc="-35" dirty="0"/>
              <a:t> </a:t>
            </a:r>
            <a:r>
              <a:rPr sz="1800" spc="-10" dirty="0"/>
              <a:t>costs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spc="-10" dirty="0"/>
          </a:p>
          <a:p>
            <a:pPr marL="12700" marR="121920">
              <a:lnSpc>
                <a:spcPct val="100000"/>
              </a:lnSpc>
            </a:pPr>
            <a:r>
              <a:rPr sz="1800" dirty="0"/>
              <a:t>Note</a:t>
            </a:r>
            <a:r>
              <a:rPr sz="1800" spc="-20" dirty="0"/>
              <a:t> </a:t>
            </a:r>
            <a:r>
              <a:rPr sz="1800" dirty="0"/>
              <a:t>2:</a:t>
            </a:r>
            <a:r>
              <a:rPr sz="1800" spc="-15" dirty="0"/>
              <a:t> </a:t>
            </a:r>
            <a:r>
              <a:rPr sz="1800" dirty="0"/>
              <a:t>Common</a:t>
            </a:r>
            <a:r>
              <a:rPr sz="1800" spc="-15" dirty="0"/>
              <a:t> </a:t>
            </a:r>
            <a:r>
              <a:rPr sz="1800" dirty="0"/>
              <a:t>fixed</a:t>
            </a:r>
            <a:r>
              <a:rPr sz="1800" spc="-10" dirty="0"/>
              <a:t> costs </a:t>
            </a:r>
            <a:r>
              <a:rPr sz="1800" dirty="0"/>
              <a:t>are</a:t>
            </a:r>
            <a:r>
              <a:rPr sz="1800" spc="-35" dirty="0"/>
              <a:t> </a:t>
            </a:r>
            <a:r>
              <a:rPr sz="1800" dirty="0"/>
              <a:t>allocated</a:t>
            </a:r>
            <a:r>
              <a:rPr sz="1800" spc="-20" dirty="0"/>
              <a:t> </a:t>
            </a:r>
            <a:r>
              <a:rPr sz="1800" dirty="0"/>
              <a:t>based</a:t>
            </a:r>
            <a:r>
              <a:rPr sz="1800" spc="-25" dirty="0"/>
              <a:t> </a:t>
            </a:r>
            <a:r>
              <a:rPr sz="1800" dirty="0"/>
              <a:t>on</a:t>
            </a:r>
            <a:r>
              <a:rPr sz="1800" spc="-30" dirty="0"/>
              <a:t> </a:t>
            </a:r>
            <a:r>
              <a:rPr sz="1800" spc="-25" dirty="0"/>
              <a:t>the </a:t>
            </a:r>
            <a:r>
              <a:rPr sz="1800" dirty="0"/>
              <a:t>square</a:t>
            </a:r>
            <a:r>
              <a:rPr sz="1800" spc="-20" dirty="0"/>
              <a:t> </a:t>
            </a:r>
            <a:r>
              <a:rPr sz="1800" dirty="0"/>
              <a:t>footage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spc="-10" dirty="0"/>
              <a:t>building </a:t>
            </a:r>
            <a:r>
              <a:rPr sz="1800" dirty="0"/>
              <a:t>occupied</a:t>
            </a:r>
            <a:r>
              <a:rPr sz="1800" spc="-10" dirty="0"/>
              <a:t> </a:t>
            </a:r>
            <a:r>
              <a:rPr sz="1800" dirty="0"/>
              <a:t>by</a:t>
            </a:r>
            <a:r>
              <a:rPr sz="1800" spc="-25" dirty="0"/>
              <a:t> </a:t>
            </a:r>
            <a:r>
              <a:rPr sz="1800" dirty="0"/>
              <a:t>each</a:t>
            </a:r>
            <a:r>
              <a:rPr sz="1800" spc="-20" dirty="0"/>
              <a:t> </a:t>
            </a:r>
            <a:r>
              <a:rPr sz="1800" spc="-10" dirty="0"/>
              <a:t>segment.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 spc="-10" dirty="0"/>
          </a:p>
          <a:p>
            <a:pPr marL="12700" marR="5715">
              <a:lnSpc>
                <a:spcPct val="99600"/>
              </a:lnSpc>
            </a:pPr>
            <a:r>
              <a:rPr sz="1800" dirty="0"/>
              <a:t>Note</a:t>
            </a:r>
            <a:r>
              <a:rPr sz="1800" spc="-30" dirty="0"/>
              <a:t> </a:t>
            </a:r>
            <a:r>
              <a:rPr sz="1800" dirty="0"/>
              <a:t>3:</a:t>
            </a:r>
            <a:r>
              <a:rPr sz="1800" spc="-30" dirty="0"/>
              <a:t> </a:t>
            </a:r>
            <a:r>
              <a:rPr sz="1800" dirty="0"/>
              <a:t>Manager</a:t>
            </a:r>
            <a:r>
              <a:rPr sz="1800" spc="-25" dirty="0"/>
              <a:t> </a:t>
            </a:r>
            <a:r>
              <a:rPr sz="1800" dirty="0"/>
              <a:t>indicated</a:t>
            </a:r>
            <a:r>
              <a:rPr sz="1800" spc="-10" dirty="0"/>
              <a:t> </a:t>
            </a:r>
            <a:r>
              <a:rPr sz="1800" spc="-20" dirty="0"/>
              <a:t>that </a:t>
            </a:r>
            <a:r>
              <a:rPr sz="1800" dirty="0"/>
              <a:t>they</a:t>
            </a:r>
            <a:r>
              <a:rPr sz="1800" spc="-20" dirty="0"/>
              <a:t> </a:t>
            </a:r>
            <a:r>
              <a:rPr sz="1800" dirty="0"/>
              <a:t>estimate</a:t>
            </a:r>
            <a:r>
              <a:rPr sz="1800" spc="-20" dirty="0"/>
              <a:t> </a:t>
            </a:r>
            <a:r>
              <a:rPr sz="1800" dirty="0"/>
              <a:t>to</a:t>
            </a:r>
            <a:r>
              <a:rPr sz="1800" spc="-20" dirty="0"/>
              <a:t> </a:t>
            </a:r>
            <a:r>
              <a:rPr sz="1800" dirty="0"/>
              <a:t>spend</a:t>
            </a:r>
            <a:r>
              <a:rPr sz="1800" spc="-15" dirty="0"/>
              <a:t> </a:t>
            </a:r>
            <a:r>
              <a:rPr sz="1800" dirty="0"/>
              <a:t>60%</a:t>
            </a:r>
            <a:r>
              <a:rPr sz="1800" spc="-15" dirty="0"/>
              <a:t> </a:t>
            </a:r>
            <a:r>
              <a:rPr sz="1800" spc="-25" dirty="0"/>
              <a:t>of </a:t>
            </a:r>
            <a:r>
              <a:rPr sz="1800" dirty="0"/>
              <a:t>time</a:t>
            </a:r>
            <a:r>
              <a:rPr sz="1800" spc="-40" dirty="0"/>
              <a:t> </a:t>
            </a:r>
            <a:r>
              <a:rPr sz="1800" dirty="0"/>
              <a:t>working</a:t>
            </a:r>
            <a:r>
              <a:rPr sz="1800" spc="10" dirty="0"/>
              <a:t> </a:t>
            </a:r>
            <a:r>
              <a:rPr sz="1800" dirty="0"/>
              <a:t>at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35" dirty="0"/>
              <a:t> </a:t>
            </a:r>
            <a:r>
              <a:rPr sz="1800" spc="-10" dirty="0"/>
              <a:t>restaurant, </a:t>
            </a:r>
            <a:r>
              <a:rPr sz="1800" dirty="0"/>
              <a:t>15%</a:t>
            </a:r>
            <a:r>
              <a:rPr sz="1800" spc="-10" dirty="0"/>
              <a:t> </a:t>
            </a:r>
            <a:r>
              <a:rPr sz="1800" dirty="0"/>
              <a:t>for</a:t>
            </a:r>
            <a:r>
              <a:rPr sz="1800" spc="-15" dirty="0"/>
              <a:t> </a:t>
            </a:r>
            <a:r>
              <a:rPr sz="1800" dirty="0"/>
              <a:t>the</a:t>
            </a:r>
            <a:r>
              <a:rPr sz="1800" spc="-20" dirty="0"/>
              <a:t> </a:t>
            </a:r>
            <a:r>
              <a:rPr sz="1800" dirty="0"/>
              <a:t>front</a:t>
            </a:r>
            <a:r>
              <a:rPr sz="1800" spc="-5" dirty="0"/>
              <a:t> </a:t>
            </a:r>
            <a:r>
              <a:rPr sz="1800" dirty="0"/>
              <a:t>desk,</a:t>
            </a:r>
            <a:r>
              <a:rPr sz="1800" spc="-5" dirty="0"/>
              <a:t> </a:t>
            </a:r>
            <a:r>
              <a:rPr sz="1800" spc="-25" dirty="0"/>
              <a:t>and </a:t>
            </a:r>
            <a:r>
              <a:rPr sz="1800" dirty="0"/>
              <a:t>25%</a:t>
            </a:r>
            <a:r>
              <a:rPr sz="1800" spc="-15" dirty="0"/>
              <a:t> </a:t>
            </a:r>
            <a:r>
              <a:rPr sz="1800" dirty="0"/>
              <a:t>for</a:t>
            </a:r>
            <a:r>
              <a:rPr sz="1800" spc="-25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online </a:t>
            </a:r>
            <a:r>
              <a:rPr sz="1800" spc="-10" dirty="0"/>
              <a:t>delivery </a:t>
            </a:r>
            <a:r>
              <a:rPr sz="1800" dirty="0"/>
              <a:t>platform.</a:t>
            </a:r>
            <a:r>
              <a:rPr sz="1800" spc="-50" dirty="0"/>
              <a:t> </a:t>
            </a:r>
            <a:r>
              <a:rPr sz="1800" dirty="0"/>
              <a:t>The</a:t>
            </a:r>
            <a:r>
              <a:rPr sz="1800" spc="-35" dirty="0"/>
              <a:t> </a:t>
            </a:r>
            <a:r>
              <a:rPr sz="1800" dirty="0"/>
              <a:t>salary</a:t>
            </a:r>
            <a:r>
              <a:rPr sz="1800" spc="-10" dirty="0"/>
              <a:t> </a:t>
            </a:r>
            <a:r>
              <a:rPr sz="1800" spc="-25" dirty="0"/>
              <a:t>was </a:t>
            </a:r>
            <a:r>
              <a:rPr sz="1800" dirty="0"/>
              <a:t>allocated</a:t>
            </a:r>
            <a:r>
              <a:rPr sz="1800" spc="-5" dirty="0"/>
              <a:t> </a:t>
            </a:r>
            <a:r>
              <a:rPr sz="1800" dirty="0"/>
              <a:t>based</a:t>
            </a:r>
            <a:r>
              <a:rPr sz="1800" spc="-20" dirty="0"/>
              <a:t> </a:t>
            </a:r>
            <a:r>
              <a:rPr sz="1800" dirty="0"/>
              <a:t>on</a:t>
            </a:r>
            <a:r>
              <a:rPr sz="1800" spc="-35" dirty="0"/>
              <a:t> </a:t>
            </a:r>
            <a:r>
              <a:rPr sz="1800" dirty="0"/>
              <a:t>this</a:t>
            </a:r>
            <a:r>
              <a:rPr sz="1800" spc="-20" dirty="0"/>
              <a:t> </a:t>
            </a:r>
            <a:r>
              <a:rPr sz="1800" spc="-10" dirty="0"/>
              <a:t>basis.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9351" y="947375"/>
          <a:ext cx="7811134" cy="5073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Café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6385" marR="276225" indent="774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Online Delivery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Sales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1,675,250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1,125,000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341,250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209,000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6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Costs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1,060,500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689,000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204,700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166,800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08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614,750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436,000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136,550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42,200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37%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39%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40%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20%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Fixed</a:t>
                      </a:r>
                      <a:r>
                        <a:rPr sz="16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Expenses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Salaries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226,850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189,250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25,600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12,000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08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Advertising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7,500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-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Utilities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24,500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18,375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3,675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2,450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Depreciation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55,000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41,250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8,250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5,500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Insurance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12,000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9,000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1,800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1,200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Manager</a:t>
                      </a:r>
                      <a:r>
                        <a:rPr sz="16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Salary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70,000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42,000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17,500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Delivery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Platform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16,000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-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-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16,000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57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Profit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200,400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128,625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86,725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14,950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361" y="836712"/>
            <a:ext cx="6440805" cy="5334153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Char char="•"/>
              <a:tabLst>
                <a:tab pos="469900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sz="2400" b="1" u="sng" spc="-1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lvl="1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Lost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CM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$42,</a:t>
            </a:r>
            <a:r>
              <a:rPr lang="en-CA" sz="2400" spc="-1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00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Avoidable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Fixed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$30,500</a:t>
            </a:r>
            <a:endParaRPr lang="en-CA" sz="240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lvl="2">
              <a:spcBef>
                <a:spcPts val="1175"/>
              </a:spcBef>
              <a:buSzPct val="79166"/>
              <a:tabLst>
                <a:tab pos="919480" algn="l"/>
              </a:tabLst>
            </a:pPr>
            <a:r>
              <a:rPr lang="en-CA" sz="2400" spc="-10" dirty="0">
                <a:latin typeface="Arial" panose="020B0604020202020204" pitchFamily="34" charset="0"/>
                <a:cs typeface="Arial" panose="020B0604020202020204" pitchFamily="34" charset="0"/>
              </a:rPr>
              <a:t>(12,000 + 2,500 + 16,000)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marR="71247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Decrease</a:t>
            </a:r>
            <a:r>
              <a:rPr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r>
              <a:rPr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company’s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11,700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220"/>
              </a:spcBef>
              <a:buSzPct val="78846"/>
              <a:buFont typeface="Arial MT"/>
              <a:buChar char="•"/>
              <a:tabLst>
                <a:tab pos="469900" algn="l"/>
              </a:tabLst>
            </a:pP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Qualitative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marR="5080" lvl="1" indent="-457200">
              <a:lnSpc>
                <a:spcPct val="100000"/>
              </a:lnSpc>
              <a:spcBef>
                <a:spcPts val="1185"/>
              </a:spcBef>
              <a:buSzPct val="79166"/>
              <a:buChar char="•"/>
              <a:tabLst>
                <a:tab pos="919480" algn="l"/>
                <a:tab pos="332422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brought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clients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past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year.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	Is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sustainable trend?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sz="240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costs?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F01B516-2D60-DB7D-0E69-22F903EC3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Adding or Dropping a Product Line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25767" y="980728"/>
          <a:ext cx="4830872" cy="490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4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Online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Delivery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Sales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209,000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869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6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Costs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166,800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42,200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20%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Fixed</a:t>
                      </a:r>
                      <a:r>
                        <a:rPr sz="16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Expenses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Salaries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12,000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Advertising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2,500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869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Utilities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Depreciation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Insurance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869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Manager</a:t>
                      </a:r>
                      <a:r>
                        <a:rPr sz="16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Salary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Delivery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Platform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16,000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57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Lost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Profit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11,700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3DE6895-139D-3310-AD8E-4008ADD53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Situation #2  - Make or Buy 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122" y="908720"/>
            <a:ext cx="10993755" cy="41004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62547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competitor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offered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bake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croissants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Belair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Bistro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daily basis.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offer: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bake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croissants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$1.15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unit.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charge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$40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applied.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marR="5080" lvl="1" indent="-28702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ordered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communicated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advance.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marR="1325245" lvl="1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valid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year,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point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renegotiated.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6945" y="5577078"/>
            <a:ext cx="620014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accepted?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1"/>
          </p:nvPr>
        </p:nvSpPr>
        <p:spPr>
          <a:xfrm>
            <a:off x="407368" y="761550"/>
            <a:ext cx="10513168" cy="4846839"/>
          </a:xfrm>
          <a:prstGeom prst="rect">
            <a:avLst/>
          </a:prstGeom>
        </p:spPr>
        <p:txBody>
          <a:bodyPr vert="horz" wrap="square" lIns="0" tIns="227964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solidFill>
                  <a:schemeClr val="tx1"/>
                </a:solidFill>
              </a:rPr>
              <a:t>Current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Costs</a:t>
            </a:r>
          </a:p>
          <a:p>
            <a:pPr marL="1109345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109980" algn="l"/>
              </a:tabLst>
            </a:pPr>
            <a:r>
              <a:rPr sz="2400" b="0" u="none" dirty="0">
                <a:solidFill>
                  <a:schemeClr val="tx1"/>
                </a:solidFill>
              </a:rPr>
              <a:t>Direct</a:t>
            </a:r>
            <a:r>
              <a:rPr sz="2400" b="0" u="none" spc="-8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materials: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$0.95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per</a:t>
            </a:r>
            <a:r>
              <a:rPr sz="2400" b="0" u="none" spc="-65" dirty="0">
                <a:solidFill>
                  <a:schemeClr val="tx1"/>
                </a:solidFill>
              </a:rPr>
              <a:t> </a:t>
            </a:r>
            <a:r>
              <a:rPr sz="2400" b="0" u="none" spc="-10" dirty="0">
                <a:solidFill>
                  <a:schemeClr val="tx1"/>
                </a:solidFill>
              </a:rPr>
              <a:t>croissant</a:t>
            </a:r>
          </a:p>
          <a:p>
            <a:pPr marL="1109345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109980" algn="l"/>
              </a:tabLst>
            </a:pPr>
            <a:r>
              <a:rPr sz="2400" b="0" u="none" spc="-20" dirty="0">
                <a:solidFill>
                  <a:schemeClr val="tx1"/>
                </a:solidFill>
              </a:rPr>
              <a:t>Variable</a:t>
            </a:r>
            <a:r>
              <a:rPr sz="2400" b="0" u="none" spc="-8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Overhead: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$0.10</a:t>
            </a:r>
            <a:r>
              <a:rPr sz="2400" b="0" u="none" spc="-8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per</a:t>
            </a:r>
            <a:r>
              <a:rPr sz="2400" b="0" u="none" spc="-70" dirty="0">
                <a:solidFill>
                  <a:schemeClr val="tx1"/>
                </a:solidFill>
              </a:rPr>
              <a:t> </a:t>
            </a:r>
            <a:r>
              <a:rPr sz="2400" b="0" u="none" spc="-10" dirty="0">
                <a:solidFill>
                  <a:schemeClr val="tx1"/>
                </a:solidFill>
              </a:rPr>
              <a:t>croissant.</a:t>
            </a:r>
          </a:p>
          <a:p>
            <a:pPr marL="1109345" marR="205104" indent="-45783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109980" algn="l"/>
              </a:tabLst>
            </a:pPr>
            <a:r>
              <a:rPr sz="2400" b="0" u="none" dirty="0">
                <a:solidFill>
                  <a:schemeClr val="tx1"/>
                </a:solidFill>
              </a:rPr>
              <a:t>Baker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is</a:t>
            </a:r>
            <a:r>
              <a:rPr sz="2400" b="0" u="none" spc="-3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not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paid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on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an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hourly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basis,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so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cutting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the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croissant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line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would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not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spc="-10" dirty="0">
                <a:solidFill>
                  <a:schemeClr val="tx1"/>
                </a:solidFill>
              </a:rPr>
              <a:t>affect </a:t>
            </a:r>
            <a:r>
              <a:rPr sz="2400" b="0" u="none" dirty="0">
                <a:solidFill>
                  <a:schemeClr val="tx1"/>
                </a:solidFill>
              </a:rPr>
              <a:t>their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salary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spc="-10" dirty="0">
                <a:solidFill>
                  <a:schemeClr val="tx1"/>
                </a:solidFill>
              </a:rPr>
              <a:t>expense.</a:t>
            </a:r>
          </a:p>
          <a:p>
            <a:pPr marL="1109345" marR="5080" indent="-45783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109980" algn="l"/>
              </a:tabLst>
            </a:pPr>
            <a:r>
              <a:rPr sz="2400" b="0" u="none" dirty="0">
                <a:solidFill>
                  <a:schemeClr val="tx1"/>
                </a:solidFill>
              </a:rPr>
              <a:t>Baker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believes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they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could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make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25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pies</a:t>
            </a:r>
            <a:r>
              <a:rPr sz="2400" b="0" u="none" spc="-6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with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the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time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they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would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save.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spc="-25" dirty="0">
                <a:solidFill>
                  <a:schemeClr val="tx1"/>
                </a:solidFill>
              </a:rPr>
              <a:t>On </a:t>
            </a:r>
            <a:r>
              <a:rPr sz="2400" b="0" u="none" dirty="0">
                <a:solidFill>
                  <a:schemeClr val="tx1"/>
                </a:solidFill>
              </a:rPr>
              <a:t>average,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the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pies</a:t>
            </a:r>
            <a:r>
              <a:rPr sz="2400" b="0" u="none" spc="-7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would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provide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a</a:t>
            </a:r>
            <a:r>
              <a:rPr sz="2400" b="0" u="none" spc="-6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contribution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margin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of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$3.5</a:t>
            </a:r>
            <a:r>
              <a:rPr sz="2400" b="0" u="none" spc="-6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per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pie.</a:t>
            </a:r>
            <a:r>
              <a:rPr sz="2400" b="0" u="none" spc="-100" dirty="0">
                <a:solidFill>
                  <a:schemeClr val="tx1"/>
                </a:solidFill>
              </a:rPr>
              <a:t> </a:t>
            </a:r>
            <a:r>
              <a:rPr sz="2400" b="0" u="none" spc="-25" dirty="0">
                <a:solidFill>
                  <a:schemeClr val="tx1"/>
                </a:solidFill>
              </a:rPr>
              <a:t>The </a:t>
            </a:r>
            <a:r>
              <a:rPr sz="2400" b="0" u="none" dirty="0">
                <a:solidFill>
                  <a:schemeClr val="tx1"/>
                </a:solidFill>
              </a:rPr>
              <a:t>croissants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use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a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special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oven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that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could</a:t>
            </a:r>
            <a:r>
              <a:rPr sz="2400" b="0" u="none" spc="-6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be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sold.</a:t>
            </a:r>
            <a:r>
              <a:rPr sz="2400" b="0" u="none" spc="-9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The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oven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was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purchased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6</a:t>
            </a:r>
            <a:r>
              <a:rPr sz="2400" b="0" u="none" spc="-55" dirty="0">
                <a:solidFill>
                  <a:schemeClr val="tx1"/>
                </a:solidFill>
              </a:rPr>
              <a:t> </a:t>
            </a:r>
            <a:r>
              <a:rPr sz="2400" b="0" u="none" spc="-10" dirty="0">
                <a:solidFill>
                  <a:schemeClr val="tx1"/>
                </a:solidFill>
              </a:rPr>
              <a:t>years </a:t>
            </a:r>
            <a:r>
              <a:rPr sz="2400" b="0" u="none" dirty="0">
                <a:solidFill>
                  <a:schemeClr val="tx1"/>
                </a:solidFill>
              </a:rPr>
              <a:t>ago</a:t>
            </a:r>
            <a:r>
              <a:rPr sz="2400" b="0" u="none" spc="-4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for</a:t>
            </a:r>
            <a:r>
              <a:rPr sz="2400" b="0" u="none" spc="-3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$8,500.</a:t>
            </a:r>
            <a:r>
              <a:rPr sz="2400" b="0" u="none" spc="-50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It</a:t>
            </a:r>
            <a:r>
              <a:rPr sz="2400" b="0" u="none" spc="-2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is</a:t>
            </a:r>
            <a:r>
              <a:rPr sz="2400" b="0" u="none" spc="-45" dirty="0">
                <a:solidFill>
                  <a:schemeClr val="tx1"/>
                </a:solidFill>
              </a:rPr>
              <a:t> </a:t>
            </a:r>
            <a:r>
              <a:rPr sz="2400" b="0" u="none" dirty="0">
                <a:solidFill>
                  <a:schemeClr val="tx1"/>
                </a:solidFill>
              </a:rPr>
              <a:t>worth</a:t>
            </a:r>
            <a:r>
              <a:rPr sz="2400" b="0" u="none" spc="-35" dirty="0">
                <a:solidFill>
                  <a:schemeClr val="tx1"/>
                </a:solidFill>
              </a:rPr>
              <a:t> </a:t>
            </a:r>
            <a:r>
              <a:rPr sz="2400" b="0" u="none" dirty="0"/>
              <a:t>about</a:t>
            </a:r>
            <a:r>
              <a:rPr sz="2400" b="0" u="none" spc="-45" dirty="0"/>
              <a:t> </a:t>
            </a:r>
            <a:r>
              <a:rPr sz="2400" b="0" u="none" dirty="0">
                <a:latin typeface="Arial MT"/>
                <a:cs typeface="Arial MT"/>
              </a:rPr>
              <a:t>$2,500</a:t>
            </a:r>
            <a:r>
              <a:rPr sz="2400" b="0" u="none" spc="-25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if</a:t>
            </a:r>
            <a:r>
              <a:rPr sz="2400" b="0" u="none" spc="-45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sold.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39616" y="5608389"/>
            <a:ext cx="6200140" cy="469359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z="28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Dineen</a:t>
            </a:r>
            <a:r>
              <a:rPr sz="2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sz="2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buy?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39D69-20CF-A3EE-A2C4-E0DA89AB8373}"/>
              </a:ext>
            </a:extLst>
          </p:cNvPr>
          <p:cNvSpPr txBox="1"/>
          <p:nvPr/>
        </p:nvSpPr>
        <p:spPr>
          <a:xfrm>
            <a:off x="551384" y="53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Situation #2 -  Make or Buy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4242FE74-531F-60A3-797B-B41F48F39F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Apply: Make or Buy 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408" y="933640"/>
            <a:ext cx="10635254" cy="44704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Buy</a:t>
            </a:r>
            <a:r>
              <a:rPr sz="22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200" spc="-20" dirty="0">
                <a:latin typeface="Arial MT"/>
                <a:cs typeface="Arial MT"/>
              </a:rPr>
              <a:t>Cost</a:t>
            </a:r>
            <a:r>
              <a:rPr lang="en-CA" sz="2200" spc="-20" dirty="0">
                <a:latin typeface="Arial MT"/>
                <a:cs typeface="Arial MT"/>
              </a:rPr>
              <a:t> 		</a:t>
            </a:r>
            <a:r>
              <a:rPr lang="en-CA" sz="2200" dirty="0">
                <a:latin typeface="Arial MT"/>
                <a:cs typeface="Arial MT"/>
              </a:rPr>
              <a:t>=</a:t>
            </a:r>
            <a:r>
              <a:rPr lang="en-CA" sz="2200" spc="-5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$1.15</a:t>
            </a:r>
            <a:r>
              <a:rPr lang="en-CA" sz="2200" spc="-3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*</a:t>
            </a:r>
            <a:r>
              <a:rPr lang="en-CA" sz="2200" spc="-5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150</a:t>
            </a:r>
            <a:r>
              <a:rPr lang="en-CA" sz="2200" spc="-4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(cost</a:t>
            </a:r>
            <a:r>
              <a:rPr lang="en-CA" sz="2200" spc="-5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to</a:t>
            </a:r>
            <a:r>
              <a:rPr lang="en-CA" sz="2200" spc="-4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purchase</a:t>
            </a:r>
            <a:r>
              <a:rPr lang="en-CA" sz="2200" spc="-4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croissants)</a:t>
            </a:r>
            <a:r>
              <a:rPr lang="en-CA" sz="2200" spc="-4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+</a:t>
            </a:r>
            <a:r>
              <a:rPr lang="en-CA" sz="2200" spc="-5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$40</a:t>
            </a:r>
            <a:r>
              <a:rPr lang="en-CA" sz="2200" spc="-4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(delivery</a:t>
            </a:r>
            <a:r>
              <a:rPr lang="en-CA" sz="2200" spc="-35" dirty="0">
                <a:latin typeface="Arial MT"/>
                <a:cs typeface="Arial MT"/>
              </a:rPr>
              <a:t> </a:t>
            </a:r>
            <a:r>
              <a:rPr lang="en-CA" sz="2200" spc="-10" dirty="0">
                <a:latin typeface="Arial MT"/>
                <a:cs typeface="Arial MT"/>
              </a:rPr>
              <a:t>charge)</a:t>
            </a:r>
            <a:endParaRPr lang="en-CA"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CA" sz="2200" dirty="0">
                <a:latin typeface="Arial MT"/>
                <a:cs typeface="Arial MT"/>
              </a:rPr>
              <a:t>		=</a:t>
            </a:r>
            <a:r>
              <a:rPr lang="en-CA" sz="2200" spc="-20" dirty="0">
                <a:latin typeface="Arial MT"/>
                <a:cs typeface="Arial MT"/>
              </a:rPr>
              <a:t> </a:t>
            </a:r>
            <a:r>
              <a:rPr lang="en-CA" sz="2200" spc="-10" dirty="0">
                <a:latin typeface="Arial MT"/>
                <a:cs typeface="Arial MT"/>
              </a:rPr>
              <a:t>$212.50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CA" sz="2200" spc="-10" dirty="0">
                <a:latin typeface="Arial MT"/>
                <a:cs typeface="Arial MT"/>
              </a:rPr>
              <a:t>Benefit 	= </a:t>
            </a:r>
            <a:r>
              <a:rPr lang="en-CA" sz="2200" dirty="0">
                <a:latin typeface="Arial MT"/>
                <a:cs typeface="Arial MT"/>
              </a:rPr>
              <a:t>$3.50</a:t>
            </a:r>
            <a:r>
              <a:rPr lang="en-CA" sz="2200" spc="-3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*</a:t>
            </a:r>
            <a:r>
              <a:rPr lang="en-CA" sz="2200" spc="-5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25</a:t>
            </a:r>
            <a:r>
              <a:rPr lang="en-CA" sz="2200" spc="-4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(opportunity</a:t>
            </a:r>
            <a:r>
              <a:rPr lang="en-CA" sz="2200" spc="-25" dirty="0">
                <a:latin typeface="Arial MT"/>
                <a:cs typeface="Arial MT"/>
              </a:rPr>
              <a:t> </a:t>
            </a:r>
            <a:r>
              <a:rPr lang="en-CA" sz="2200" spc="-10" dirty="0">
                <a:latin typeface="Arial MT"/>
                <a:cs typeface="Arial MT"/>
              </a:rPr>
              <a:t>cost)</a:t>
            </a: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en-CA" sz="2200" dirty="0">
                <a:latin typeface="Arial MT"/>
                <a:cs typeface="Arial MT"/>
              </a:rPr>
              <a:t>		=</a:t>
            </a:r>
            <a:r>
              <a:rPr lang="en-CA" sz="2200" spc="-3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$87.50</a:t>
            </a:r>
            <a:r>
              <a:rPr lang="en-CA" sz="2200" spc="-15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+</a:t>
            </a:r>
            <a:r>
              <a:rPr lang="en-CA" sz="2200" spc="-20" dirty="0">
                <a:latin typeface="Arial MT"/>
                <a:cs typeface="Arial MT"/>
              </a:rPr>
              <a:t> </a:t>
            </a:r>
            <a:r>
              <a:rPr lang="en-CA"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2,500</a:t>
            </a:r>
            <a:r>
              <a:rPr lang="en-CA" sz="2200" u="sng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lang="en-CA" sz="22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(ONE-TIME)</a:t>
            </a:r>
            <a:endParaRPr lang="en-CA"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CA" sz="2200" spc="-20" dirty="0">
                <a:latin typeface="Arial MT"/>
                <a:cs typeface="Arial MT"/>
              </a:rPr>
              <a:t>Buy Cost 	= $125</a:t>
            </a:r>
          </a:p>
          <a:p>
            <a:pPr marL="12700">
              <a:spcBef>
                <a:spcPts val="1200"/>
              </a:spcBef>
            </a:pPr>
            <a:r>
              <a:rPr lang="en-CA"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</a:t>
            </a:r>
            <a:r>
              <a:rPr lang="en-CA" sz="22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CA"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Decision:</a:t>
            </a:r>
          </a:p>
          <a:p>
            <a:pPr marL="12700">
              <a:spcBef>
                <a:spcPts val="1200"/>
              </a:spcBef>
            </a:pPr>
            <a:r>
              <a:rPr lang="en-CA" sz="2200" spc="-20" dirty="0">
                <a:latin typeface="Arial MT"/>
                <a:cs typeface="Arial MT"/>
              </a:rPr>
              <a:t>Cost 		</a:t>
            </a:r>
            <a:r>
              <a:rPr lang="en-CA" sz="2200" dirty="0">
                <a:latin typeface="Arial MT"/>
                <a:cs typeface="Arial MT"/>
              </a:rPr>
              <a:t>=</a:t>
            </a:r>
            <a:r>
              <a:rPr lang="en-CA" sz="2200" spc="-4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1.05*</a:t>
            </a:r>
            <a:r>
              <a:rPr lang="en-CA" sz="2200" spc="-4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150</a:t>
            </a:r>
            <a:r>
              <a:rPr lang="en-CA" sz="2200" spc="-30" dirty="0">
                <a:latin typeface="Arial MT"/>
                <a:cs typeface="Arial MT"/>
              </a:rPr>
              <a:t> </a:t>
            </a:r>
            <a:r>
              <a:rPr lang="en-CA" sz="2200" dirty="0">
                <a:latin typeface="Arial MT"/>
                <a:cs typeface="Arial MT"/>
              </a:rPr>
              <a:t>($0.95+</a:t>
            </a:r>
            <a:r>
              <a:rPr lang="en-CA" sz="2200" spc="-30" dirty="0">
                <a:latin typeface="Arial MT"/>
                <a:cs typeface="Arial MT"/>
              </a:rPr>
              <a:t> </a:t>
            </a:r>
            <a:r>
              <a:rPr lang="en-CA" sz="2200" spc="-20" dirty="0">
                <a:latin typeface="Arial MT"/>
                <a:cs typeface="Arial MT"/>
              </a:rPr>
              <a:t>$.10)</a:t>
            </a:r>
          </a:p>
          <a:p>
            <a:pPr marL="12700">
              <a:spcBef>
                <a:spcPts val="1200"/>
              </a:spcBef>
            </a:pPr>
            <a:r>
              <a:rPr lang="en-CA" sz="2200" dirty="0">
                <a:latin typeface="Arial MT"/>
                <a:cs typeface="Arial MT"/>
              </a:rPr>
              <a:t>Make</a:t>
            </a:r>
            <a:r>
              <a:rPr lang="en-CA" sz="2200" spc="-60" dirty="0">
                <a:latin typeface="Arial MT"/>
                <a:cs typeface="Arial MT"/>
              </a:rPr>
              <a:t> </a:t>
            </a:r>
            <a:r>
              <a:rPr lang="en-CA" sz="2200" spc="-20" dirty="0">
                <a:latin typeface="Arial MT"/>
                <a:cs typeface="Arial MT"/>
              </a:rPr>
              <a:t>Cost 	</a:t>
            </a:r>
            <a:r>
              <a:rPr lang="en-CA" sz="2200" dirty="0">
                <a:latin typeface="Arial MT"/>
                <a:cs typeface="Arial MT"/>
              </a:rPr>
              <a:t>=</a:t>
            </a:r>
            <a:r>
              <a:rPr lang="en-CA" sz="2200" spc="-20" dirty="0">
                <a:latin typeface="Arial MT"/>
                <a:cs typeface="Arial MT"/>
              </a:rPr>
              <a:t> </a:t>
            </a:r>
            <a:r>
              <a:rPr lang="en-CA" sz="2200" spc="-10" dirty="0">
                <a:latin typeface="Arial MT"/>
                <a:cs typeface="Arial MT"/>
              </a:rPr>
              <a:t>$157.50</a:t>
            </a:r>
            <a:endParaRPr lang="en-CA" sz="2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4152" y="3379660"/>
            <a:ext cx="3953510" cy="230886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Cheaper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Buy.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7210" marR="530860" algn="ctr">
              <a:lnSpc>
                <a:spcPct val="100000"/>
              </a:lnSpc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discuss Revenue?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722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Qualitative?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D875768-33B3-5FF3-AABC-BBB327C03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Situation #3 - Utilization of a Constrained Resource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3846" y="478632"/>
            <a:ext cx="11112197" cy="227947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75"/>
              </a:spcBef>
              <a:buSzPct val="80000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Belair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Bistro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café’s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bottleneck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baker’s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SzPct val="80000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afternoon,</a:t>
            </a:r>
            <a:r>
              <a:rPr sz="2400" spc="-7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baker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spends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baking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macarons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quiches.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>
              <a:lnSpc>
                <a:spcPct val="100000"/>
              </a:lnSpc>
            </a:pP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Everyday,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café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sells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boxes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macarons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quiches.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SzPct val="80000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sz="2400" spc="-8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provided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94" y="4653136"/>
            <a:ext cx="1112202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4699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baker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spends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minutes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macarons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quiche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 minutes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time.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08693" y="2924944"/>
          <a:ext cx="5174613" cy="1436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Box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Macaroons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Quiche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Selling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Unit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$30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$18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6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Costs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$18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$3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036570" y="5606034"/>
            <a:ext cx="6120765" cy="83248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848485" marR="213995" indent="-1628139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prioritized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ensure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highest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profit?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3B3BFF7-27FF-FB5D-7C06-150D11F25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Situation #3 - Utilization of a Constrained Resource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233" y="1079087"/>
            <a:ext cx="1083310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sz="2400" spc="-7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400" spc="-1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constraining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>
              <a:lnSpc>
                <a:spcPct val="100000"/>
              </a:lnSpc>
            </a:pP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529036"/>
              </p:ext>
            </p:extLst>
          </p:nvPr>
        </p:nvGraphicFramePr>
        <p:xfrm>
          <a:off x="1975761" y="2294783"/>
          <a:ext cx="7980044" cy="1436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24485" marR="315595" indent="219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Box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Macaroons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Quiche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$3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Time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18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mins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lang="en-CA" sz="1600" spc="-15" dirty="0">
                          <a:latin typeface="Arial MT"/>
                          <a:cs typeface="Arial MT"/>
                        </a:rPr>
                        <a:t>8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mins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Margin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Constrained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Resource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$.67/unit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$.</a:t>
                      </a:r>
                      <a:r>
                        <a:rPr lang="en-CA" sz="1600" spc="-10">
                          <a:latin typeface="Arial MT"/>
                          <a:cs typeface="Arial MT"/>
                        </a:rPr>
                        <a:t>375`</a:t>
                      </a:r>
                      <a:r>
                        <a:rPr sz="1600" spc="-10">
                          <a:latin typeface="Arial MT"/>
                          <a:cs typeface="Arial MT"/>
                        </a:rPr>
                        <a:t>/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min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35544" y="4365104"/>
            <a:ext cx="6120765" cy="8305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isn’t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ample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demand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both</a:t>
            </a:r>
            <a:endParaRPr sz="24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products?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103E23-3D7C-4E39-9DD5-75683B020A9E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7e677d30-5ff7-4313-a396-6d249a69ab27"/>
    <ds:schemaRef ds:uri="http://schemas.microsoft.com/office/infopath/2007/PartnerControls"/>
    <ds:schemaRef ds:uri="http://schemas.openxmlformats.org/package/2006/metadata/core-properties"/>
    <ds:schemaRef ds:uri="c18c8954-ab2f-4275-a5d7-b9aa33856ba2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11168</TotalTime>
  <Words>877</Words>
  <Application>Microsoft Office PowerPoint</Application>
  <PresentationFormat>Widescreen</PresentationFormat>
  <Paragraphs>200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Calibri</vt:lpstr>
      <vt:lpstr>Arial</vt:lpstr>
      <vt:lpstr>Arial MT</vt:lpstr>
      <vt:lpstr>Times New Roman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    RSM222 Management Accounting 1  Class 10: In Class Exercise – Relevant Costing </vt:lpstr>
      <vt:lpstr>IN CLASS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196</cp:revision>
  <cp:lastPrinted>2025-09-15T17:53:16Z</cp:lastPrinted>
  <dcterms:created xsi:type="dcterms:W3CDTF">2013-07-26T14:57:40Z</dcterms:created>
  <dcterms:modified xsi:type="dcterms:W3CDTF">2025-11-11T15:55:11Z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