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  <p:sldMasterId id="2147483850" r:id="rId11"/>
  </p:sldMasterIdLst>
  <p:notesMasterIdLst>
    <p:notesMasterId r:id="rId50"/>
  </p:notesMasterIdLst>
  <p:sldIdLst>
    <p:sldId id="256" r:id="rId12"/>
    <p:sldId id="745" r:id="rId13"/>
    <p:sldId id="746" r:id="rId14"/>
    <p:sldId id="747" r:id="rId15"/>
    <p:sldId id="766" r:id="rId16"/>
    <p:sldId id="748" r:id="rId17"/>
    <p:sldId id="261" r:id="rId18"/>
    <p:sldId id="749" r:id="rId19"/>
    <p:sldId id="750" r:id="rId20"/>
    <p:sldId id="767" r:id="rId21"/>
    <p:sldId id="751" r:id="rId22"/>
    <p:sldId id="752" r:id="rId23"/>
    <p:sldId id="753" r:id="rId24"/>
    <p:sldId id="768" r:id="rId25"/>
    <p:sldId id="769" r:id="rId26"/>
    <p:sldId id="759" r:id="rId27"/>
    <p:sldId id="770" r:id="rId28"/>
    <p:sldId id="771" r:id="rId29"/>
    <p:sldId id="772" r:id="rId30"/>
    <p:sldId id="773" r:id="rId31"/>
    <p:sldId id="774" r:id="rId32"/>
    <p:sldId id="760" r:id="rId33"/>
    <p:sldId id="775" r:id="rId34"/>
    <p:sldId id="776" r:id="rId35"/>
    <p:sldId id="777" r:id="rId36"/>
    <p:sldId id="778" r:id="rId37"/>
    <p:sldId id="779" r:id="rId38"/>
    <p:sldId id="780" r:id="rId39"/>
    <p:sldId id="781" r:id="rId40"/>
    <p:sldId id="782" r:id="rId41"/>
    <p:sldId id="271" r:id="rId42"/>
    <p:sldId id="784" r:id="rId43"/>
    <p:sldId id="785" r:id="rId44"/>
    <p:sldId id="786" r:id="rId45"/>
    <p:sldId id="787" r:id="rId46"/>
    <p:sldId id="274" r:id="rId47"/>
    <p:sldId id="744" r:id="rId48"/>
    <p:sldId id="706" r:id="rId49"/>
  </p:sldIdLst>
  <p:sldSz cx="12192000" cy="6858000"/>
  <p:notesSz cx="6985000" cy="9283700"/>
  <p:embeddedFontLst>
    <p:embeddedFont>
      <p:font typeface="Cambria" panose="02040503050406030204" pitchFamily="18" charset="0"/>
      <p:regular r:id="rId51"/>
      <p:bold r:id="rId52"/>
      <p:italic r:id="rId53"/>
      <p:boldItalic r:id="rId54"/>
    </p:embeddedFont>
    <p:embeddedFont>
      <p:font typeface="Rockwell" panose="02060603020205020403" pitchFamily="18" charset="0"/>
      <p:regular r:id="rId55"/>
      <p:bold r:id="rId56"/>
      <p:italic r:id="rId57"/>
      <p:boldItalic r:id="rId58"/>
    </p:embeddedFont>
    <p:embeddedFont>
      <p:font typeface="Wingdings 2" panose="05020102010507070707" pitchFamily="18" charset="2"/>
      <p:regular r:id="rId59"/>
    </p:embeddedFont>
    <p:embeddedFont>
      <p:font typeface="Wingdings 3" panose="05040102010807070707" pitchFamily="18" charset="2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ECB4C-6140-4139-A7D3-57BE388B3EE9}" v="83" dt="2025-10-30T03:36:28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9" autoAdjust="0"/>
    <p:restoredTop sz="94288" autoAdjust="0"/>
  </p:normalViewPr>
  <p:slideViewPr>
    <p:cSldViewPr>
      <p:cViewPr varScale="1">
        <p:scale>
          <a:sx n="59" d="100"/>
          <a:sy n="59" d="100"/>
        </p:scale>
        <p:origin x="1168" y="52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font" Target="fonts/font6.fntdata"/><Relationship Id="rId64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font" Target="fonts/font9.fntdata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font" Target="fonts/font4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font" Target="fonts/font7.fntdata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8BAA25-14AF-4D89-BB00-BBAD3BAF666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0DE15E0-B7EA-408A-9D09-D127BF90175A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B3EE99-5197-48C9-B2C8-FD02F2E3972A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C8195B-8454-4EB9-BF4B-0E96E1347D5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563B4D0-F643-454D-A71C-B28E9DF708D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E0F95C-57DE-4C29-BF82-998D7B644E2A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874299-7CEC-46EA-88B5-D3204FB98E8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00888C-0C23-4D03-A77C-39989962F72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D84D-7B0A-48AF-ABAE-2264863FC4BE}" type="datetime1">
              <a:rPr lang="en-US" smtClean="0"/>
              <a:t>11/4/2025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2C67C-7701-4929-8057-6EED614EC32D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19372-2D43-422B-B08E-2C3A3E69BF21}" type="datetime1">
              <a:rPr lang="en-US" smtClean="0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7AA5A-B49C-41F0-8EA4-9266B0799D69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720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8897B8F-20B3-4372-AA8B-D0B6B5906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39C506-08A0-F8FB-F6C5-DF40708D8B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3195552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184C34-8E51-4948-91BE-200D9AFC566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527D7D2-9FA2-4816-A8E1-0E4E9D8304B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45F659-B9A8-48AB-AC29-BE365029602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F1BD6D0-434B-4253-B1C5-CBE2E0F819B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F0C09B-46D2-410E-82ED-EFBFE656240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DC66F9-93C6-4FBC-A7EF-94525F7E739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959E91-2689-42CA-B856-4ADF6D0C1ABC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EB85E84-E734-466B-9273-0D630BD3B24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3788CA-285B-474E-904E-80B4E48761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D0C7EF-9E83-4023-B6AD-DDA8D657DF6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9D044DA-1A03-48C4-8CD0-F03727E4398C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F95358B-7BC7-4B33-B0BE-E36B8E9C2AE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E75BEB2-721A-4EF6-AD73-EECC8DF44EA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59176F-5A1B-42C9-AE34-11E12313BB99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E4B38F-48F8-48C2-9C71-DE104820CCA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1D969A-A80C-4C8D-AA58-0317AF8D910F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C456C1D-2FA7-4EB8-993D-EE19E78E30A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3A1D00-49CA-41A2-9325-27DC1FB1059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7079ED-F180-477E-924F-F4237F771B3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690AA1-7262-496D-A951-1402FE1E915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95154CD-7073-439F-BA54-5C384467C2C9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B9896E3-1915-4290-82E4-236F5325AA08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BE99AC-2214-4B39-A7E4-9F4D6B73229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E241DD3-FC97-410B-846B-790EEE0F872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9CD28F8-3AD2-4922-A1E1-4AB26E541D9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15CEC8-349E-4606-ADBB-3260876D5A7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04C7C1-0712-44E4-BAD1-B88738E16A1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E20595-0DB6-42E8-B0CD-7333E522B18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202ABA-EBE6-434E-BA87-8FF58AB97FA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9C5B8D-D80B-418B-9C74-BA2975CD8528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3487C1-0587-477E-BD90-E4625F3B9C9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F2D4BC-E67F-4536-B07A-585597514807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F294CA-FE3C-4D72-BC7D-0CF52B7FD5D7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5DBCF6A-11EE-4D7C-87F1-DEB53E8E3D4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F7F75E-661C-4241-B175-55B57CE47C6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C471E0-9945-474F-A196-04BF89D9A05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34A9A0-F533-4B39-947A-95E02D99D54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7606BD-0678-4C34-AF6C-7F44BDD26B7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26D1C2-83E7-490D-A535-EA3ACC93460C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4FF600-67E0-4302-83AB-7F1A3089A94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05C923-CA5C-4E7A-9C1D-7EEA2498861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0FFAF84-3462-4456-8B58-58A01CAF799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67E758-08F7-4C80-BE65-C9A99C38AD3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C236183-E0FE-41FD-A28E-C913A435FA1F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16BA1E-17EF-4546-9B99-5994493984DB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9A9D6A-3C4E-4EF0-BAC8-D57E00A1C819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8CD20B-2C57-4303-BA4F-B6A3D1FD241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13B2E3D-4272-47AB-9BA5-B1D727E21460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111A21-9AEF-4966-962E-958E8FB2EA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F59833D-D8EB-45F8-B0CC-F6925F253E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84FB34E-9178-4EC2-99CF-E3E312871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21018" y="6515100"/>
            <a:ext cx="620183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B60D20F0-BF52-4113-B6F7-D9E3CC94383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8593D8E-288B-487B-B309-83AAD984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35368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80EE43B-107C-49A0-82AF-3A496D5B9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21018" y="6515100"/>
            <a:ext cx="620183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B37431BF-C2EE-4127-8B81-1CFF59825F2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B55D9BF-9E54-4129-A3B2-E70F7E10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50667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473978F5-F2D5-4251-B0FB-279CA53B5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21018" y="6515100"/>
            <a:ext cx="620183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8D32FECC-C98A-4825-8A57-9E0A5AB5050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1E34D24-5C52-4C2A-91AC-9CC8209B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978038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13178A2-F6DC-4EEA-ADC0-0B57644D0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FB492FCF-1311-47A3-B43A-0118359FC3B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A99880-621D-4016-9168-FDA719CD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337392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62DBF3B-5625-4155-8B3F-583B46505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3933" y="64770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16C1878D-8072-49F5-AF49-A0727AD43DC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F0B-D315-4E64-99D2-02B412F3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21166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51C89C-67C7-49C1-99A4-C455ECFF3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79F0C9D1-CDD2-4624-BA1D-6B785B25D80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03B4379-8522-4F96-88FB-682B3748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30876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EB2E136-75BB-416A-929B-875AE14D4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FB7BA89-6B6A-41C4-80A0-220D4DCF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033240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8897B8F-20B3-4372-AA8B-D0B6B5906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39C506-08A0-F8FB-F6C5-DF40708D8B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6697248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23261"/>
              </a:buClr>
              <a:buFont typeface="Arial" panose="020B0604020202020204" pitchFamily="34" charset="0"/>
              <a:buChar char="•"/>
              <a:defRPr sz="2800"/>
            </a:lvl1pPr>
            <a:lvl2pPr marL="754063" indent="-342900">
              <a:buClr>
                <a:srgbClr val="223261"/>
              </a:buClr>
              <a:buFont typeface="Arial" panose="020B0604020202020204" pitchFamily="34" charset="0"/>
              <a:buChar char="•"/>
              <a:defRPr sz="2400"/>
            </a:lvl2pPr>
            <a:lvl3pPr marL="822325" indent="-190500">
              <a:buClr>
                <a:srgbClr val="223261"/>
              </a:buClr>
              <a:buFont typeface="Arial" panose="020B0604020202020204" pitchFamily="34" charset="0"/>
              <a:buChar char="•"/>
              <a:defRPr sz="2000"/>
            </a:lvl3pPr>
            <a:lvl4pPr marL="1004888" indent="-182563">
              <a:buClr>
                <a:srgbClr val="223261"/>
              </a:buClr>
              <a:buFont typeface="Arial" panose="020B0604020202020204" pitchFamily="34" charset="0"/>
              <a:buChar char="•"/>
              <a:defRPr sz="1800"/>
            </a:lvl4pPr>
            <a:lvl5pPr marL="1187450" indent="-182563">
              <a:buClr>
                <a:srgbClr val="223261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13260"/>
              </a:buClr>
              <a:buFont typeface="Arial" panose="020B0604020202020204" pitchFamily="34" charset="0"/>
              <a:buChar char="•"/>
              <a:defRPr sz="2800"/>
            </a:lvl1pPr>
            <a:lvl2pPr marL="754063" indent="-342900">
              <a:buClr>
                <a:srgbClr val="213260"/>
              </a:buClr>
              <a:buFont typeface="Arial" panose="020B0604020202020204" pitchFamily="34" charset="0"/>
              <a:buChar char="•"/>
              <a:defRPr sz="2400"/>
            </a:lvl2pPr>
            <a:lvl3pPr marL="822325" indent="-190500">
              <a:buClr>
                <a:srgbClr val="213260"/>
              </a:buClr>
              <a:buFont typeface="Arial" panose="020B0604020202020204" pitchFamily="34" charset="0"/>
              <a:buChar char="•"/>
              <a:defRPr sz="2000"/>
            </a:lvl3pPr>
            <a:lvl4pPr marL="1004888" indent="-182563">
              <a:buClr>
                <a:srgbClr val="213260"/>
              </a:buClr>
              <a:buFont typeface="Arial" panose="020B0604020202020204" pitchFamily="34" charset="0"/>
              <a:buChar char="•"/>
              <a:defRPr sz="1800"/>
            </a:lvl4pPr>
            <a:lvl5pPr marL="1187450" indent="-182563">
              <a:buClr>
                <a:srgbClr val="213260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A687A00-3F15-4144-8D58-67C8055C9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761F3-6B87-DC72-4901-AA2875BA2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1455323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1pPr>
            <a:lvl2pPr marL="868363" indent="-4572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2pPr>
            <a:lvl3pPr marL="822325" indent="-1905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3pPr>
            <a:lvl4pPr marL="1004888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4pPr>
            <a:lvl5pPr marL="1187450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3B7D9-25D3-46F6-A077-650E02FCBB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5D1D4E-5ED3-4691-6052-0A329F157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3802841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1pPr>
            <a:lvl2pPr marL="868363" indent="-4572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2pPr>
            <a:lvl3pPr marL="822325" indent="-1905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3pPr>
            <a:lvl4pPr marL="1004888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4pPr>
            <a:lvl5pPr marL="1187450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204376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5325D"/>
              </a:buClr>
              <a:buFont typeface="Arial" panose="020B0604020202020204" pitchFamily="34" charset="0"/>
              <a:buChar char="•"/>
              <a:defRPr/>
            </a:lvl1pPr>
          </a:lstStyle>
          <a:p>
            <a:pPr lvl="0"/>
            <a:endParaRPr lang="en-CA" noProof="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2CD8835-85C9-4CE2-874A-1ABC7A5BB7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2EA21-87E1-C5EF-49B0-AECA0E72AE3B}"/>
              </a:ext>
            </a:extLst>
          </p:cNvPr>
          <p:cNvSpPr txBox="1"/>
          <p:nvPr userDrawn="1"/>
        </p:nvSpPr>
        <p:spPr>
          <a:xfrm>
            <a:off x="11529483" y="6491289"/>
            <a:ext cx="662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5457A48-0AC0-4B4E-B9EC-6A3F3AD0BA9C}" type="slidenum">
              <a:rPr lang="en-US" altLang="en-US" sz="1200" smtClean="0">
                <a:latin typeface="+mn-lt"/>
              </a:rPr>
              <a:pPr/>
              <a:t>‹#›</a:t>
            </a:fld>
            <a:endParaRPr lang="en-CA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111042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2902-B772-4981-A3B7-A4FF9BF273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8FC2B-B9A0-C2DD-BC07-E43FB8B1DF26}"/>
              </a:ext>
            </a:extLst>
          </p:cNvPr>
          <p:cNvSpPr txBox="1"/>
          <p:nvPr userDrawn="1"/>
        </p:nvSpPr>
        <p:spPr>
          <a:xfrm>
            <a:off x="11529483" y="6491289"/>
            <a:ext cx="662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5457A48-0AC0-4B4E-B9EC-6A3F3AD0BA9C}" type="slidenum">
              <a:rPr lang="en-US" altLang="en-US" sz="1200" smtClean="0">
                <a:latin typeface="+mn-lt"/>
              </a:rPr>
              <a:pPr/>
              <a:t>‹#›</a:t>
            </a:fld>
            <a:endParaRPr lang="en-CA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86102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C6B38-81E7-46C6-BD82-3AA3985EFCA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5" r:id="rId13"/>
    <p:sldLayoutId id="2147483847" r:id="rId14"/>
    <p:sldLayoutId id="2147483848" r:id="rId15"/>
    <p:sldLayoutId id="2147483849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2CC88D-474E-4F5F-B710-783F1D46144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9E81E82-8F13-41C5-A532-F73B83A512E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217217C-95E8-4193-89B5-C55078EFCFE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3E9E58-8DDF-4C62-96B3-9CB009BDE09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2D9735-0CB5-402C-9E80-F910996296E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DC48BE-E14F-4836-A01C-F0CB83DEADF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1A595-0E05-45F7-BECB-ECE6CB55A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7834" y="6491288"/>
            <a:ext cx="5281084" cy="366712"/>
          </a:xfrm>
          <a:prstGeom prst="rect">
            <a:avLst/>
          </a:prstGeom>
          <a:noFill/>
        </p:spPr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720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p:hf hdr="0" ftr="0" dt="0"/>
  <p:txStyles>
    <p:titleStyle>
      <a:lvl1pPr marL="53975" algn="r" rtl="0" eaLnBrk="0" fontAlgn="base" hangingPunct="0">
        <a:spcBef>
          <a:spcPct val="0"/>
        </a:spcBef>
        <a:spcAft>
          <a:spcPct val="0"/>
        </a:spcAft>
        <a:defRPr sz="4600" kern="1200">
          <a:solidFill>
            <a:srgbClr val="6D7442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2pPr>
      <a:lvl3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3pPr>
      <a:lvl4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4pPr>
      <a:lvl5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5pPr>
      <a:lvl6pPr marL="5111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6pPr>
      <a:lvl7pPr marL="9683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7pPr>
      <a:lvl8pPr marL="14255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8pPr>
      <a:lvl9pPr marL="18827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9pPr>
      <a:extLst/>
    </p:titleStyle>
    <p:bodyStyle>
      <a:lvl1pPr marL="292100" indent="-292100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ts val="400"/>
        </a:spcBef>
        <a:spcAft>
          <a:spcPct val="0"/>
        </a:spcAft>
        <a:buClr>
          <a:schemeClr val="accent2"/>
        </a:buClr>
        <a:buSzPct val="90000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51" y="3284984"/>
            <a:ext cx="11041225" cy="2376261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9:Planning and Control: Standard Cost &amp; Variance Analysis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408" y="1124744"/>
            <a:ext cx="10318750" cy="2995051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latin typeface="Arial MT"/>
                <a:cs typeface="Arial MT"/>
              </a:rPr>
              <a:t>Describe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costs.</a:t>
            </a:r>
          </a:p>
          <a:p>
            <a:pPr marL="527685" indent="-515620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latin typeface="Arial MT"/>
                <a:cs typeface="Arial MT"/>
              </a:rPr>
              <a:t>Compute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direct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price</a:t>
            </a:r>
            <a:r>
              <a:rPr sz="2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quantity</a:t>
            </a:r>
            <a:r>
              <a:rPr sz="24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variances.</a:t>
            </a:r>
            <a:endParaRPr sz="2400" dirty="0">
              <a:latin typeface="Arial MT"/>
              <a:cs typeface="Arial MT"/>
            </a:endParaRPr>
          </a:p>
          <a:p>
            <a:pPr marL="527685" indent="-515620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latin typeface="Arial MT"/>
                <a:cs typeface="Arial MT"/>
              </a:rPr>
              <a:t>Compute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direct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labor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rate</a:t>
            </a:r>
            <a:r>
              <a:rPr sz="2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efficiency</a:t>
            </a:r>
            <a:r>
              <a:rPr sz="2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variances.</a:t>
            </a:r>
            <a:endParaRPr sz="2400" dirty="0">
              <a:latin typeface="Arial MT"/>
              <a:cs typeface="Arial MT"/>
            </a:endParaRPr>
          </a:p>
          <a:p>
            <a:pPr marL="527685" marR="752475" indent="-515620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latin typeface="Arial MT"/>
                <a:cs typeface="Arial MT"/>
              </a:rPr>
              <a:t>Compute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manufacturing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spending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efficiency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variances.</a:t>
            </a:r>
            <a:endParaRPr sz="2400" dirty="0">
              <a:latin typeface="Arial MT"/>
              <a:cs typeface="Arial MT"/>
            </a:endParaRPr>
          </a:p>
          <a:p>
            <a:pPr marL="527685" indent="-515620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Compute</a:t>
            </a:r>
            <a:r>
              <a:rPr sz="24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interpret</a:t>
            </a:r>
            <a:r>
              <a:rPr sz="2400" spc="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fixed</a:t>
            </a:r>
            <a:r>
              <a:rPr sz="24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4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budget</a:t>
            </a:r>
            <a:r>
              <a:rPr sz="24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volume</a:t>
            </a:r>
            <a:r>
              <a:rPr sz="2400" spc="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variances.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219C972-9A69-38C6-C8F9-5EEC6D7CD9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</a:t>
            </a:r>
            <a:r>
              <a:rPr lang="en-US" spc="-35" dirty="0"/>
              <a:t> </a:t>
            </a:r>
            <a:r>
              <a:rPr lang="en-US" dirty="0"/>
              <a:t>Objectives</a:t>
            </a:r>
            <a:r>
              <a:rPr lang="en-US" spc="-60" dirty="0"/>
              <a:t> </a:t>
            </a:r>
            <a:r>
              <a:rPr lang="en-US" dirty="0"/>
              <a:t> </a:t>
            </a:r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43A3635F-59D8-53CF-713F-D638C07AD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Standard</a:t>
            </a:r>
            <a:r>
              <a:rPr lang="en-CA" spc="-80" dirty="0"/>
              <a:t> </a:t>
            </a:r>
            <a:r>
              <a:rPr lang="en-CA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823" y="1098295"/>
            <a:ext cx="101860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  <a:tab pos="469900" algn="l"/>
                <a:tab pos="9613900" algn="l"/>
              </a:tabLst>
            </a:pPr>
            <a:r>
              <a:rPr sz="2400" dirty="0">
                <a:latin typeface="Arial MT"/>
                <a:cs typeface="Arial MT"/>
              </a:rPr>
              <a:t>Stand</a:t>
            </a: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rds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 benchmark</a:t>
            </a:r>
            <a:r>
              <a:rPr sz="2400" dirty="0">
                <a:latin typeface="Arial MT"/>
                <a:cs typeface="Arial MT"/>
              </a:rPr>
              <a:t>s 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“</a:t>
            </a:r>
            <a:r>
              <a:rPr sz="2400" spc="-5" dirty="0">
                <a:latin typeface="Arial MT"/>
                <a:cs typeface="Arial MT"/>
              </a:rPr>
              <a:t>norms</a:t>
            </a:r>
            <a:r>
              <a:rPr sz="2400" dirty="0">
                <a:latin typeface="Arial MT"/>
                <a:cs typeface="Arial MT"/>
              </a:rPr>
              <a:t>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</a:t>
            </a: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suring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perfo</a:t>
            </a:r>
            <a:r>
              <a:rPr sz="2400" dirty="0">
                <a:latin typeface="Arial MT"/>
                <a:cs typeface="Arial MT"/>
              </a:rPr>
              <a:t>rmance.	</a:t>
            </a:r>
            <a:r>
              <a:rPr sz="2400" spc="-135" dirty="0">
                <a:latin typeface="Arial MT"/>
                <a:cs typeface="Arial MT"/>
              </a:rPr>
              <a:t>T</a:t>
            </a:r>
            <a:r>
              <a:rPr sz="2400" spc="-5" dirty="0">
                <a:latin typeface="Arial MT"/>
                <a:cs typeface="Arial MT"/>
              </a:rPr>
              <a:t>wo  </a:t>
            </a:r>
            <a:r>
              <a:rPr sz="2400" dirty="0">
                <a:latin typeface="Arial MT"/>
                <a:cs typeface="Arial MT"/>
              </a:rPr>
              <a:t>types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commonly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2543" y="2054190"/>
            <a:ext cx="4152900" cy="2895600"/>
          </a:xfrm>
          <a:custGeom>
            <a:avLst/>
            <a:gdLst/>
            <a:ahLst/>
            <a:cxnLst/>
            <a:rect l="l" t="t" r="r" b="b"/>
            <a:pathLst>
              <a:path w="4152900" h="2895600">
                <a:moveTo>
                  <a:pt x="0" y="1447800"/>
                </a:moveTo>
                <a:lnTo>
                  <a:pt x="746" y="1408600"/>
                </a:lnTo>
                <a:lnTo>
                  <a:pt x="2972" y="1369657"/>
                </a:lnTo>
                <a:lnTo>
                  <a:pt x="6660" y="1330984"/>
                </a:lnTo>
                <a:lnTo>
                  <a:pt x="11791" y="1292596"/>
                </a:lnTo>
                <a:lnTo>
                  <a:pt x="18345" y="1254503"/>
                </a:lnTo>
                <a:lnTo>
                  <a:pt x="26304" y="1216721"/>
                </a:lnTo>
                <a:lnTo>
                  <a:pt x="35649" y="1179261"/>
                </a:lnTo>
                <a:lnTo>
                  <a:pt x="46361" y="1142138"/>
                </a:lnTo>
                <a:lnTo>
                  <a:pt x="58421" y="1105364"/>
                </a:lnTo>
                <a:lnTo>
                  <a:pt x="71811" y="1068951"/>
                </a:lnTo>
                <a:lnTo>
                  <a:pt x="86512" y="1032915"/>
                </a:lnTo>
                <a:lnTo>
                  <a:pt x="102505" y="997267"/>
                </a:lnTo>
                <a:lnTo>
                  <a:pt x="119770" y="962020"/>
                </a:lnTo>
                <a:lnTo>
                  <a:pt x="138290" y="927189"/>
                </a:lnTo>
                <a:lnTo>
                  <a:pt x="158045" y="892785"/>
                </a:lnTo>
                <a:lnTo>
                  <a:pt x="179017" y="858823"/>
                </a:lnTo>
                <a:lnTo>
                  <a:pt x="201186" y="825315"/>
                </a:lnTo>
                <a:lnTo>
                  <a:pt x="224534" y="792274"/>
                </a:lnTo>
                <a:lnTo>
                  <a:pt x="249042" y="759713"/>
                </a:lnTo>
                <a:lnTo>
                  <a:pt x="274692" y="727647"/>
                </a:lnTo>
                <a:lnTo>
                  <a:pt x="301463" y="696087"/>
                </a:lnTo>
                <a:lnTo>
                  <a:pt x="329338" y="665047"/>
                </a:lnTo>
                <a:lnTo>
                  <a:pt x="358298" y="634540"/>
                </a:lnTo>
                <a:lnTo>
                  <a:pt x="388324" y="604579"/>
                </a:lnTo>
                <a:lnTo>
                  <a:pt x="419397" y="575177"/>
                </a:lnTo>
                <a:lnTo>
                  <a:pt x="451498" y="546348"/>
                </a:lnTo>
                <a:lnTo>
                  <a:pt x="484608" y="518104"/>
                </a:lnTo>
                <a:lnTo>
                  <a:pt x="518709" y="490459"/>
                </a:lnTo>
                <a:lnTo>
                  <a:pt x="553781" y="463426"/>
                </a:lnTo>
                <a:lnTo>
                  <a:pt x="589807" y="437018"/>
                </a:lnTo>
                <a:lnTo>
                  <a:pt x="626766" y="411248"/>
                </a:lnTo>
                <a:lnTo>
                  <a:pt x="664641" y="386129"/>
                </a:lnTo>
                <a:lnTo>
                  <a:pt x="703411" y="361675"/>
                </a:lnTo>
                <a:lnTo>
                  <a:pt x="743060" y="337898"/>
                </a:lnTo>
                <a:lnTo>
                  <a:pt x="783567" y="314811"/>
                </a:lnTo>
                <a:lnTo>
                  <a:pt x="824914" y="292429"/>
                </a:lnTo>
                <a:lnTo>
                  <a:pt x="867082" y="270763"/>
                </a:lnTo>
                <a:lnTo>
                  <a:pt x="910052" y="249828"/>
                </a:lnTo>
                <a:lnTo>
                  <a:pt x="953805" y="229635"/>
                </a:lnTo>
                <a:lnTo>
                  <a:pt x="998323" y="210199"/>
                </a:lnTo>
                <a:lnTo>
                  <a:pt x="1043587" y="191532"/>
                </a:lnTo>
                <a:lnTo>
                  <a:pt x="1089577" y="173648"/>
                </a:lnTo>
                <a:lnTo>
                  <a:pt x="1136276" y="156559"/>
                </a:lnTo>
                <a:lnTo>
                  <a:pt x="1183664" y="140279"/>
                </a:lnTo>
                <a:lnTo>
                  <a:pt x="1231722" y="124822"/>
                </a:lnTo>
                <a:lnTo>
                  <a:pt x="1280431" y="110199"/>
                </a:lnTo>
                <a:lnTo>
                  <a:pt x="1329773" y="96424"/>
                </a:lnTo>
                <a:lnTo>
                  <a:pt x="1379729" y="83511"/>
                </a:lnTo>
                <a:lnTo>
                  <a:pt x="1430281" y="71473"/>
                </a:lnTo>
                <a:lnTo>
                  <a:pt x="1481408" y="60322"/>
                </a:lnTo>
                <a:lnTo>
                  <a:pt x="1533092" y="50071"/>
                </a:lnTo>
                <a:lnTo>
                  <a:pt x="1585316" y="40735"/>
                </a:lnTo>
                <a:lnTo>
                  <a:pt x="1638058" y="32326"/>
                </a:lnTo>
                <a:lnTo>
                  <a:pt x="1691302" y="24857"/>
                </a:lnTo>
                <a:lnTo>
                  <a:pt x="1745028" y="18341"/>
                </a:lnTo>
                <a:lnTo>
                  <a:pt x="1799217" y="12791"/>
                </a:lnTo>
                <a:lnTo>
                  <a:pt x="1853850" y="8221"/>
                </a:lnTo>
                <a:lnTo>
                  <a:pt x="1908909" y="4644"/>
                </a:lnTo>
                <a:lnTo>
                  <a:pt x="1964374" y="2072"/>
                </a:lnTo>
                <a:lnTo>
                  <a:pt x="2020227" y="520"/>
                </a:lnTo>
                <a:lnTo>
                  <a:pt x="2076450" y="0"/>
                </a:lnTo>
                <a:lnTo>
                  <a:pt x="2132672" y="520"/>
                </a:lnTo>
                <a:lnTo>
                  <a:pt x="2188525" y="2072"/>
                </a:lnTo>
                <a:lnTo>
                  <a:pt x="2243990" y="4644"/>
                </a:lnTo>
                <a:lnTo>
                  <a:pt x="2299049" y="8221"/>
                </a:lnTo>
                <a:lnTo>
                  <a:pt x="2353682" y="12791"/>
                </a:lnTo>
                <a:lnTo>
                  <a:pt x="2407871" y="18341"/>
                </a:lnTo>
                <a:lnTo>
                  <a:pt x="2461597" y="24857"/>
                </a:lnTo>
                <a:lnTo>
                  <a:pt x="2514841" y="32326"/>
                </a:lnTo>
                <a:lnTo>
                  <a:pt x="2567583" y="40735"/>
                </a:lnTo>
                <a:lnTo>
                  <a:pt x="2619807" y="50071"/>
                </a:lnTo>
                <a:lnTo>
                  <a:pt x="2671491" y="60322"/>
                </a:lnTo>
                <a:lnTo>
                  <a:pt x="2722618" y="71473"/>
                </a:lnTo>
                <a:lnTo>
                  <a:pt x="2773170" y="83511"/>
                </a:lnTo>
                <a:lnTo>
                  <a:pt x="2823126" y="96424"/>
                </a:lnTo>
                <a:lnTo>
                  <a:pt x="2872468" y="110199"/>
                </a:lnTo>
                <a:lnTo>
                  <a:pt x="2921177" y="124822"/>
                </a:lnTo>
                <a:lnTo>
                  <a:pt x="2969235" y="140279"/>
                </a:lnTo>
                <a:lnTo>
                  <a:pt x="3016623" y="156559"/>
                </a:lnTo>
                <a:lnTo>
                  <a:pt x="3063322" y="173648"/>
                </a:lnTo>
                <a:lnTo>
                  <a:pt x="3109312" y="191532"/>
                </a:lnTo>
                <a:lnTo>
                  <a:pt x="3154576" y="210199"/>
                </a:lnTo>
                <a:lnTo>
                  <a:pt x="3199094" y="229635"/>
                </a:lnTo>
                <a:lnTo>
                  <a:pt x="3242847" y="249828"/>
                </a:lnTo>
                <a:lnTo>
                  <a:pt x="3285817" y="270763"/>
                </a:lnTo>
                <a:lnTo>
                  <a:pt x="3327985" y="292429"/>
                </a:lnTo>
                <a:lnTo>
                  <a:pt x="3369332" y="314811"/>
                </a:lnTo>
                <a:lnTo>
                  <a:pt x="3409839" y="337898"/>
                </a:lnTo>
                <a:lnTo>
                  <a:pt x="3449488" y="361675"/>
                </a:lnTo>
                <a:lnTo>
                  <a:pt x="3488258" y="386129"/>
                </a:lnTo>
                <a:lnTo>
                  <a:pt x="3526133" y="411248"/>
                </a:lnTo>
                <a:lnTo>
                  <a:pt x="3563092" y="437018"/>
                </a:lnTo>
                <a:lnTo>
                  <a:pt x="3599118" y="463426"/>
                </a:lnTo>
                <a:lnTo>
                  <a:pt x="3634190" y="490459"/>
                </a:lnTo>
                <a:lnTo>
                  <a:pt x="3668291" y="518104"/>
                </a:lnTo>
                <a:lnTo>
                  <a:pt x="3701401" y="546348"/>
                </a:lnTo>
                <a:lnTo>
                  <a:pt x="3733502" y="575177"/>
                </a:lnTo>
                <a:lnTo>
                  <a:pt x="3764575" y="604579"/>
                </a:lnTo>
                <a:lnTo>
                  <a:pt x="3794601" y="634540"/>
                </a:lnTo>
                <a:lnTo>
                  <a:pt x="3823561" y="665047"/>
                </a:lnTo>
                <a:lnTo>
                  <a:pt x="3851436" y="696087"/>
                </a:lnTo>
                <a:lnTo>
                  <a:pt x="3878207" y="727647"/>
                </a:lnTo>
                <a:lnTo>
                  <a:pt x="3903857" y="759713"/>
                </a:lnTo>
                <a:lnTo>
                  <a:pt x="3928365" y="792274"/>
                </a:lnTo>
                <a:lnTo>
                  <a:pt x="3951713" y="825315"/>
                </a:lnTo>
                <a:lnTo>
                  <a:pt x="3973882" y="858823"/>
                </a:lnTo>
                <a:lnTo>
                  <a:pt x="3994854" y="892785"/>
                </a:lnTo>
                <a:lnTo>
                  <a:pt x="4014609" y="927189"/>
                </a:lnTo>
                <a:lnTo>
                  <a:pt x="4033129" y="962020"/>
                </a:lnTo>
                <a:lnTo>
                  <a:pt x="4050394" y="997267"/>
                </a:lnTo>
                <a:lnTo>
                  <a:pt x="4066387" y="1032915"/>
                </a:lnTo>
                <a:lnTo>
                  <a:pt x="4081088" y="1068951"/>
                </a:lnTo>
                <a:lnTo>
                  <a:pt x="4094478" y="1105364"/>
                </a:lnTo>
                <a:lnTo>
                  <a:pt x="4106538" y="1142138"/>
                </a:lnTo>
                <a:lnTo>
                  <a:pt x="4117250" y="1179261"/>
                </a:lnTo>
                <a:lnTo>
                  <a:pt x="4126595" y="1216721"/>
                </a:lnTo>
                <a:lnTo>
                  <a:pt x="4134554" y="1254503"/>
                </a:lnTo>
                <a:lnTo>
                  <a:pt x="4141108" y="1292596"/>
                </a:lnTo>
                <a:lnTo>
                  <a:pt x="4146239" y="1330984"/>
                </a:lnTo>
                <a:lnTo>
                  <a:pt x="4149927" y="1369657"/>
                </a:lnTo>
                <a:lnTo>
                  <a:pt x="4152153" y="1408600"/>
                </a:lnTo>
                <a:lnTo>
                  <a:pt x="4152900" y="1447800"/>
                </a:lnTo>
                <a:lnTo>
                  <a:pt x="4152153" y="1486999"/>
                </a:lnTo>
                <a:lnTo>
                  <a:pt x="4149927" y="1525942"/>
                </a:lnTo>
                <a:lnTo>
                  <a:pt x="4146239" y="1564615"/>
                </a:lnTo>
                <a:lnTo>
                  <a:pt x="4141108" y="1603003"/>
                </a:lnTo>
                <a:lnTo>
                  <a:pt x="4134554" y="1641096"/>
                </a:lnTo>
                <a:lnTo>
                  <a:pt x="4126595" y="1678878"/>
                </a:lnTo>
                <a:lnTo>
                  <a:pt x="4117250" y="1716338"/>
                </a:lnTo>
                <a:lnTo>
                  <a:pt x="4106538" y="1753461"/>
                </a:lnTo>
                <a:lnTo>
                  <a:pt x="4094478" y="1790235"/>
                </a:lnTo>
                <a:lnTo>
                  <a:pt x="4081088" y="1826648"/>
                </a:lnTo>
                <a:lnTo>
                  <a:pt x="4066387" y="1862684"/>
                </a:lnTo>
                <a:lnTo>
                  <a:pt x="4050394" y="1898332"/>
                </a:lnTo>
                <a:lnTo>
                  <a:pt x="4033129" y="1933579"/>
                </a:lnTo>
                <a:lnTo>
                  <a:pt x="4014609" y="1968410"/>
                </a:lnTo>
                <a:lnTo>
                  <a:pt x="3994854" y="2002814"/>
                </a:lnTo>
                <a:lnTo>
                  <a:pt x="3973882" y="2036776"/>
                </a:lnTo>
                <a:lnTo>
                  <a:pt x="3951713" y="2070284"/>
                </a:lnTo>
                <a:lnTo>
                  <a:pt x="3928365" y="2103325"/>
                </a:lnTo>
                <a:lnTo>
                  <a:pt x="3903857" y="2135886"/>
                </a:lnTo>
                <a:lnTo>
                  <a:pt x="3878207" y="2167952"/>
                </a:lnTo>
                <a:lnTo>
                  <a:pt x="3851436" y="2199512"/>
                </a:lnTo>
                <a:lnTo>
                  <a:pt x="3823561" y="2230552"/>
                </a:lnTo>
                <a:lnTo>
                  <a:pt x="3794601" y="2261059"/>
                </a:lnTo>
                <a:lnTo>
                  <a:pt x="3764575" y="2291020"/>
                </a:lnTo>
                <a:lnTo>
                  <a:pt x="3733502" y="2320422"/>
                </a:lnTo>
                <a:lnTo>
                  <a:pt x="3701401" y="2349251"/>
                </a:lnTo>
                <a:lnTo>
                  <a:pt x="3668291" y="2377495"/>
                </a:lnTo>
                <a:lnTo>
                  <a:pt x="3634190" y="2405140"/>
                </a:lnTo>
                <a:lnTo>
                  <a:pt x="3599118" y="2432173"/>
                </a:lnTo>
                <a:lnTo>
                  <a:pt x="3563092" y="2458581"/>
                </a:lnTo>
                <a:lnTo>
                  <a:pt x="3526133" y="2484351"/>
                </a:lnTo>
                <a:lnTo>
                  <a:pt x="3488258" y="2509470"/>
                </a:lnTo>
                <a:lnTo>
                  <a:pt x="3449488" y="2533924"/>
                </a:lnTo>
                <a:lnTo>
                  <a:pt x="3409839" y="2557701"/>
                </a:lnTo>
                <a:lnTo>
                  <a:pt x="3369332" y="2580788"/>
                </a:lnTo>
                <a:lnTo>
                  <a:pt x="3327985" y="2603170"/>
                </a:lnTo>
                <a:lnTo>
                  <a:pt x="3285817" y="2624836"/>
                </a:lnTo>
                <a:lnTo>
                  <a:pt x="3242847" y="2645771"/>
                </a:lnTo>
                <a:lnTo>
                  <a:pt x="3199094" y="2665964"/>
                </a:lnTo>
                <a:lnTo>
                  <a:pt x="3154576" y="2685400"/>
                </a:lnTo>
                <a:lnTo>
                  <a:pt x="3109312" y="2704067"/>
                </a:lnTo>
                <a:lnTo>
                  <a:pt x="3063322" y="2721951"/>
                </a:lnTo>
                <a:lnTo>
                  <a:pt x="3016623" y="2739040"/>
                </a:lnTo>
                <a:lnTo>
                  <a:pt x="2969235" y="2755320"/>
                </a:lnTo>
                <a:lnTo>
                  <a:pt x="2921177" y="2770777"/>
                </a:lnTo>
                <a:lnTo>
                  <a:pt x="2872468" y="2785400"/>
                </a:lnTo>
                <a:lnTo>
                  <a:pt x="2823126" y="2799175"/>
                </a:lnTo>
                <a:lnTo>
                  <a:pt x="2773170" y="2812088"/>
                </a:lnTo>
                <a:lnTo>
                  <a:pt x="2722618" y="2824126"/>
                </a:lnTo>
                <a:lnTo>
                  <a:pt x="2671491" y="2835277"/>
                </a:lnTo>
                <a:lnTo>
                  <a:pt x="2619807" y="2845528"/>
                </a:lnTo>
                <a:lnTo>
                  <a:pt x="2567583" y="2854864"/>
                </a:lnTo>
                <a:lnTo>
                  <a:pt x="2514841" y="2863273"/>
                </a:lnTo>
                <a:lnTo>
                  <a:pt x="2461597" y="2870742"/>
                </a:lnTo>
                <a:lnTo>
                  <a:pt x="2407871" y="2877258"/>
                </a:lnTo>
                <a:lnTo>
                  <a:pt x="2353682" y="2882808"/>
                </a:lnTo>
                <a:lnTo>
                  <a:pt x="2299049" y="2887378"/>
                </a:lnTo>
                <a:lnTo>
                  <a:pt x="2243990" y="2890955"/>
                </a:lnTo>
                <a:lnTo>
                  <a:pt x="2188525" y="2893527"/>
                </a:lnTo>
                <a:lnTo>
                  <a:pt x="2132672" y="2895079"/>
                </a:lnTo>
                <a:lnTo>
                  <a:pt x="2076450" y="2895600"/>
                </a:lnTo>
                <a:lnTo>
                  <a:pt x="2020227" y="2895079"/>
                </a:lnTo>
                <a:lnTo>
                  <a:pt x="1964374" y="2893527"/>
                </a:lnTo>
                <a:lnTo>
                  <a:pt x="1908909" y="2890955"/>
                </a:lnTo>
                <a:lnTo>
                  <a:pt x="1853850" y="2887378"/>
                </a:lnTo>
                <a:lnTo>
                  <a:pt x="1799217" y="2882808"/>
                </a:lnTo>
                <a:lnTo>
                  <a:pt x="1745028" y="2877258"/>
                </a:lnTo>
                <a:lnTo>
                  <a:pt x="1691302" y="2870742"/>
                </a:lnTo>
                <a:lnTo>
                  <a:pt x="1638058" y="2863273"/>
                </a:lnTo>
                <a:lnTo>
                  <a:pt x="1585316" y="2854864"/>
                </a:lnTo>
                <a:lnTo>
                  <a:pt x="1533092" y="2845528"/>
                </a:lnTo>
                <a:lnTo>
                  <a:pt x="1481408" y="2835277"/>
                </a:lnTo>
                <a:lnTo>
                  <a:pt x="1430281" y="2824126"/>
                </a:lnTo>
                <a:lnTo>
                  <a:pt x="1379729" y="2812088"/>
                </a:lnTo>
                <a:lnTo>
                  <a:pt x="1329773" y="2799175"/>
                </a:lnTo>
                <a:lnTo>
                  <a:pt x="1280431" y="2785400"/>
                </a:lnTo>
                <a:lnTo>
                  <a:pt x="1231722" y="2770777"/>
                </a:lnTo>
                <a:lnTo>
                  <a:pt x="1183664" y="2755320"/>
                </a:lnTo>
                <a:lnTo>
                  <a:pt x="1136276" y="2739040"/>
                </a:lnTo>
                <a:lnTo>
                  <a:pt x="1089577" y="2721951"/>
                </a:lnTo>
                <a:lnTo>
                  <a:pt x="1043587" y="2704067"/>
                </a:lnTo>
                <a:lnTo>
                  <a:pt x="998323" y="2685400"/>
                </a:lnTo>
                <a:lnTo>
                  <a:pt x="953805" y="2665964"/>
                </a:lnTo>
                <a:lnTo>
                  <a:pt x="910052" y="2645771"/>
                </a:lnTo>
                <a:lnTo>
                  <a:pt x="867082" y="2624836"/>
                </a:lnTo>
                <a:lnTo>
                  <a:pt x="824914" y="2603170"/>
                </a:lnTo>
                <a:lnTo>
                  <a:pt x="783567" y="2580788"/>
                </a:lnTo>
                <a:lnTo>
                  <a:pt x="743060" y="2557701"/>
                </a:lnTo>
                <a:lnTo>
                  <a:pt x="703411" y="2533924"/>
                </a:lnTo>
                <a:lnTo>
                  <a:pt x="664641" y="2509470"/>
                </a:lnTo>
                <a:lnTo>
                  <a:pt x="626766" y="2484351"/>
                </a:lnTo>
                <a:lnTo>
                  <a:pt x="589807" y="2458581"/>
                </a:lnTo>
                <a:lnTo>
                  <a:pt x="553781" y="2432173"/>
                </a:lnTo>
                <a:lnTo>
                  <a:pt x="518709" y="2405140"/>
                </a:lnTo>
                <a:lnTo>
                  <a:pt x="484608" y="2377495"/>
                </a:lnTo>
                <a:lnTo>
                  <a:pt x="451498" y="2349251"/>
                </a:lnTo>
                <a:lnTo>
                  <a:pt x="419397" y="2320422"/>
                </a:lnTo>
                <a:lnTo>
                  <a:pt x="388324" y="2291020"/>
                </a:lnTo>
                <a:lnTo>
                  <a:pt x="358298" y="2261059"/>
                </a:lnTo>
                <a:lnTo>
                  <a:pt x="329338" y="2230552"/>
                </a:lnTo>
                <a:lnTo>
                  <a:pt x="301463" y="2199512"/>
                </a:lnTo>
                <a:lnTo>
                  <a:pt x="274692" y="2167952"/>
                </a:lnTo>
                <a:lnTo>
                  <a:pt x="249042" y="2135886"/>
                </a:lnTo>
                <a:lnTo>
                  <a:pt x="224534" y="2103325"/>
                </a:lnTo>
                <a:lnTo>
                  <a:pt x="201186" y="2070284"/>
                </a:lnTo>
                <a:lnTo>
                  <a:pt x="179017" y="2036776"/>
                </a:lnTo>
                <a:lnTo>
                  <a:pt x="158045" y="2002814"/>
                </a:lnTo>
                <a:lnTo>
                  <a:pt x="138290" y="1968410"/>
                </a:lnTo>
                <a:lnTo>
                  <a:pt x="119770" y="1933579"/>
                </a:lnTo>
                <a:lnTo>
                  <a:pt x="102505" y="1898332"/>
                </a:lnTo>
                <a:lnTo>
                  <a:pt x="86512" y="1862684"/>
                </a:lnTo>
                <a:lnTo>
                  <a:pt x="71811" y="1826648"/>
                </a:lnTo>
                <a:lnTo>
                  <a:pt x="58421" y="1790235"/>
                </a:lnTo>
                <a:lnTo>
                  <a:pt x="46361" y="1753461"/>
                </a:lnTo>
                <a:lnTo>
                  <a:pt x="35649" y="1716338"/>
                </a:lnTo>
                <a:lnTo>
                  <a:pt x="26304" y="1678878"/>
                </a:lnTo>
                <a:lnTo>
                  <a:pt x="18345" y="1641096"/>
                </a:lnTo>
                <a:lnTo>
                  <a:pt x="11791" y="1603003"/>
                </a:lnTo>
                <a:lnTo>
                  <a:pt x="6660" y="1564615"/>
                </a:lnTo>
                <a:lnTo>
                  <a:pt x="2972" y="1525942"/>
                </a:lnTo>
                <a:lnTo>
                  <a:pt x="746" y="1486999"/>
                </a:lnTo>
                <a:lnTo>
                  <a:pt x="0" y="1447800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31504" y="2574572"/>
            <a:ext cx="321056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 </a:t>
            </a:r>
            <a:r>
              <a:rPr sz="2400" b="1" spc="-5" dirty="0">
                <a:latin typeface="Arial"/>
                <a:cs typeface="Arial"/>
              </a:rPr>
              <a:t>standards 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specify how much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an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input should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 a </a:t>
            </a:r>
            <a:r>
              <a:rPr sz="2400" spc="-5" dirty="0">
                <a:latin typeface="Arial MT"/>
                <a:cs typeface="Arial MT"/>
              </a:rPr>
              <a:t>product </a:t>
            </a:r>
            <a:r>
              <a:rPr sz="2400" dirty="0">
                <a:latin typeface="Arial MT"/>
                <a:cs typeface="Arial MT"/>
              </a:rPr>
              <a:t>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provide a </a:t>
            </a:r>
            <a:r>
              <a:rPr sz="2400" dirty="0">
                <a:latin typeface="Arial MT"/>
                <a:cs typeface="Arial MT"/>
              </a:rPr>
              <a:t>service.</a:t>
            </a:r>
          </a:p>
        </p:txBody>
      </p:sp>
      <p:sp>
        <p:nvSpPr>
          <p:cNvPr id="6" name="object 6"/>
          <p:cNvSpPr/>
          <p:nvPr/>
        </p:nvSpPr>
        <p:spPr>
          <a:xfrm>
            <a:off x="6890193" y="1981200"/>
            <a:ext cx="4114800" cy="2895600"/>
          </a:xfrm>
          <a:custGeom>
            <a:avLst/>
            <a:gdLst/>
            <a:ahLst/>
            <a:cxnLst/>
            <a:rect l="l" t="t" r="r" b="b"/>
            <a:pathLst>
              <a:path w="4114800" h="2895600">
                <a:moveTo>
                  <a:pt x="0" y="1447800"/>
                </a:moveTo>
                <a:lnTo>
                  <a:pt x="764" y="1407948"/>
                </a:lnTo>
                <a:lnTo>
                  <a:pt x="3044" y="1368363"/>
                </a:lnTo>
                <a:lnTo>
                  <a:pt x="6820" y="1329058"/>
                </a:lnTo>
                <a:lnTo>
                  <a:pt x="12072" y="1290047"/>
                </a:lnTo>
                <a:lnTo>
                  <a:pt x="18781" y="1251343"/>
                </a:lnTo>
                <a:lnTo>
                  <a:pt x="26927" y="1212960"/>
                </a:lnTo>
                <a:lnTo>
                  <a:pt x="36491" y="1174913"/>
                </a:lnTo>
                <a:lnTo>
                  <a:pt x="47453" y="1137214"/>
                </a:lnTo>
                <a:lnTo>
                  <a:pt x="59793" y="1099878"/>
                </a:lnTo>
                <a:lnTo>
                  <a:pt x="73492" y="1062919"/>
                </a:lnTo>
                <a:lnTo>
                  <a:pt x="88530" y="1026350"/>
                </a:lnTo>
                <a:lnTo>
                  <a:pt x="104887" y="990185"/>
                </a:lnTo>
                <a:lnTo>
                  <a:pt x="122545" y="954438"/>
                </a:lnTo>
                <a:lnTo>
                  <a:pt x="141482" y="919123"/>
                </a:lnTo>
                <a:lnTo>
                  <a:pt x="161680" y="884253"/>
                </a:lnTo>
                <a:lnTo>
                  <a:pt x="183120" y="849842"/>
                </a:lnTo>
                <a:lnTo>
                  <a:pt x="205780" y="815905"/>
                </a:lnTo>
                <a:lnTo>
                  <a:pt x="229643" y="782455"/>
                </a:lnTo>
                <a:lnTo>
                  <a:pt x="254688" y="749505"/>
                </a:lnTo>
                <a:lnTo>
                  <a:pt x="280895" y="717070"/>
                </a:lnTo>
                <a:lnTo>
                  <a:pt x="308246" y="685163"/>
                </a:lnTo>
                <a:lnTo>
                  <a:pt x="336719" y="653798"/>
                </a:lnTo>
                <a:lnTo>
                  <a:pt x="366297" y="622989"/>
                </a:lnTo>
                <a:lnTo>
                  <a:pt x="396959" y="592750"/>
                </a:lnTo>
                <a:lnTo>
                  <a:pt x="428685" y="563095"/>
                </a:lnTo>
                <a:lnTo>
                  <a:pt x="461456" y="534036"/>
                </a:lnTo>
                <a:lnTo>
                  <a:pt x="495253" y="505589"/>
                </a:lnTo>
                <a:lnTo>
                  <a:pt x="530055" y="477767"/>
                </a:lnTo>
                <a:lnTo>
                  <a:pt x="565844" y="450583"/>
                </a:lnTo>
                <a:lnTo>
                  <a:pt x="602599" y="424052"/>
                </a:lnTo>
                <a:lnTo>
                  <a:pt x="640300" y="398188"/>
                </a:lnTo>
                <a:lnTo>
                  <a:pt x="678930" y="373003"/>
                </a:lnTo>
                <a:lnTo>
                  <a:pt x="718466" y="348513"/>
                </a:lnTo>
                <a:lnTo>
                  <a:pt x="758891" y="324730"/>
                </a:lnTo>
                <a:lnTo>
                  <a:pt x="800184" y="301669"/>
                </a:lnTo>
                <a:lnTo>
                  <a:pt x="842326" y="279343"/>
                </a:lnTo>
                <a:lnTo>
                  <a:pt x="885298" y="257766"/>
                </a:lnTo>
                <a:lnTo>
                  <a:pt x="929079" y="236952"/>
                </a:lnTo>
                <a:lnTo>
                  <a:pt x="973650" y="216915"/>
                </a:lnTo>
                <a:lnTo>
                  <a:pt x="1018991" y="197668"/>
                </a:lnTo>
                <a:lnTo>
                  <a:pt x="1065083" y="179226"/>
                </a:lnTo>
                <a:lnTo>
                  <a:pt x="1111906" y="161601"/>
                </a:lnTo>
                <a:lnTo>
                  <a:pt x="1159441" y="144809"/>
                </a:lnTo>
                <a:lnTo>
                  <a:pt x="1207668" y="128863"/>
                </a:lnTo>
                <a:lnTo>
                  <a:pt x="1256567" y="113776"/>
                </a:lnTo>
                <a:lnTo>
                  <a:pt x="1306119" y="99562"/>
                </a:lnTo>
                <a:lnTo>
                  <a:pt x="1356304" y="86235"/>
                </a:lnTo>
                <a:lnTo>
                  <a:pt x="1407103" y="73810"/>
                </a:lnTo>
                <a:lnTo>
                  <a:pt x="1458495" y="62299"/>
                </a:lnTo>
                <a:lnTo>
                  <a:pt x="1510462" y="51717"/>
                </a:lnTo>
                <a:lnTo>
                  <a:pt x="1562983" y="42077"/>
                </a:lnTo>
                <a:lnTo>
                  <a:pt x="1616039" y="33393"/>
                </a:lnTo>
                <a:lnTo>
                  <a:pt x="1669611" y="25679"/>
                </a:lnTo>
                <a:lnTo>
                  <a:pt x="1723679" y="18949"/>
                </a:lnTo>
                <a:lnTo>
                  <a:pt x="1778223" y="13216"/>
                </a:lnTo>
                <a:lnTo>
                  <a:pt x="1833223" y="8495"/>
                </a:lnTo>
                <a:lnTo>
                  <a:pt x="1888661" y="4799"/>
                </a:lnTo>
                <a:lnTo>
                  <a:pt x="1944516" y="2142"/>
                </a:lnTo>
                <a:lnTo>
                  <a:pt x="2000769" y="537"/>
                </a:lnTo>
                <a:lnTo>
                  <a:pt x="2057400" y="0"/>
                </a:lnTo>
                <a:lnTo>
                  <a:pt x="2114030" y="537"/>
                </a:lnTo>
                <a:lnTo>
                  <a:pt x="2170283" y="2142"/>
                </a:lnTo>
                <a:lnTo>
                  <a:pt x="2226138" y="4799"/>
                </a:lnTo>
                <a:lnTo>
                  <a:pt x="2281576" y="8495"/>
                </a:lnTo>
                <a:lnTo>
                  <a:pt x="2336576" y="13216"/>
                </a:lnTo>
                <a:lnTo>
                  <a:pt x="2391120" y="18949"/>
                </a:lnTo>
                <a:lnTo>
                  <a:pt x="2445188" y="25679"/>
                </a:lnTo>
                <a:lnTo>
                  <a:pt x="2498760" y="33393"/>
                </a:lnTo>
                <a:lnTo>
                  <a:pt x="2551816" y="42077"/>
                </a:lnTo>
                <a:lnTo>
                  <a:pt x="2604337" y="51717"/>
                </a:lnTo>
                <a:lnTo>
                  <a:pt x="2656304" y="62299"/>
                </a:lnTo>
                <a:lnTo>
                  <a:pt x="2707696" y="73810"/>
                </a:lnTo>
                <a:lnTo>
                  <a:pt x="2758495" y="86235"/>
                </a:lnTo>
                <a:lnTo>
                  <a:pt x="2808680" y="99562"/>
                </a:lnTo>
                <a:lnTo>
                  <a:pt x="2858232" y="113776"/>
                </a:lnTo>
                <a:lnTo>
                  <a:pt x="2907131" y="128863"/>
                </a:lnTo>
                <a:lnTo>
                  <a:pt x="2955358" y="144809"/>
                </a:lnTo>
                <a:lnTo>
                  <a:pt x="3002893" y="161601"/>
                </a:lnTo>
                <a:lnTo>
                  <a:pt x="3049716" y="179226"/>
                </a:lnTo>
                <a:lnTo>
                  <a:pt x="3095808" y="197668"/>
                </a:lnTo>
                <a:lnTo>
                  <a:pt x="3141149" y="216915"/>
                </a:lnTo>
                <a:lnTo>
                  <a:pt x="3185720" y="236952"/>
                </a:lnTo>
                <a:lnTo>
                  <a:pt x="3229501" y="257766"/>
                </a:lnTo>
                <a:lnTo>
                  <a:pt x="3272473" y="279343"/>
                </a:lnTo>
                <a:lnTo>
                  <a:pt x="3314615" y="301669"/>
                </a:lnTo>
                <a:lnTo>
                  <a:pt x="3355908" y="324730"/>
                </a:lnTo>
                <a:lnTo>
                  <a:pt x="3396333" y="348513"/>
                </a:lnTo>
                <a:lnTo>
                  <a:pt x="3435869" y="373003"/>
                </a:lnTo>
                <a:lnTo>
                  <a:pt x="3474499" y="398188"/>
                </a:lnTo>
                <a:lnTo>
                  <a:pt x="3512200" y="424053"/>
                </a:lnTo>
                <a:lnTo>
                  <a:pt x="3548955" y="450583"/>
                </a:lnTo>
                <a:lnTo>
                  <a:pt x="3584744" y="477767"/>
                </a:lnTo>
                <a:lnTo>
                  <a:pt x="3619546" y="505589"/>
                </a:lnTo>
                <a:lnTo>
                  <a:pt x="3653343" y="534036"/>
                </a:lnTo>
                <a:lnTo>
                  <a:pt x="3686114" y="563095"/>
                </a:lnTo>
                <a:lnTo>
                  <a:pt x="3717840" y="592750"/>
                </a:lnTo>
                <a:lnTo>
                  <a:pt x="3748502" y="622989"/>
                </a:lnTo>
                <a:lnTo>
                  <a:pt x="3778080" y="653798"/>
                </a:lnTo>
                <a:lnTo>
                  <a:pt x="3806553" y="685163"/>
                </a:lnTo>
                <a:lnTo>
                  <a:pt x="3833904" y="717070"/>
                </a:lnTo>
                <a:lnTo>
                  <a:pt x="3860111" y="749505"/>
                </a:lnTo>
                <a:lnTo>
                  <a:pt x="3885156" y="782455"/>
                </a:lnTo>
                <a:lnTo>
                  <a:pt x="3909019" y="815905"/>
                </a:lnTo>
                <a:lnTo>
                  <a:pt x="3931679" y="849842"/>
                </a:lnTo>
                <a:lnTo>
                  <a:pt x="3953119" y="884253"/>
                </a:lnTo>
                <a:lnTo>
                  <a:pt x="3973317" y="919123"/>
                </a:lnTo>
                <a:lnTo>
                  <a:pt x="3992254" y="954438"/>
                </a:lnTo>
                <a:lnTo>
                  <a:pt x="4009912" y="990185"/>
                </a:lnTo>
                <a:lnTo>
                  <a:pt x="4026269" y="1026350"/>
                </a:lnTo>
                <a:lnTo>
                  <a:pt x="4041307" y="1062919"/>
                </a:lnTo>
                <a:lnTo>
                  <a:pt x="4055006" y="1099878"/>
                </a:lnTo>
                <a:lnTo>
                  <a:pt x="4067346" y="1137214"/>
                </a:lnTo>
                <a:lnTo>
                  <a:pt x="4078308" y="1174913"/>
                </a:lnTo>
                <a:lnTo>
                  <a:pt x="4087872" y="1212960"/>
                </a:lnTo>
                <a:lnTo>
                  <a:pt x="4096018" y="1251343"/>
                </a:lnTo>
                <a:lnTo>
                  <a:pt x="4102727" y="1290047"/>
                </a:lnTo>
                <a:lnTo>
                  <a:pt x="4107979" y="1329058"/>
                </a:lnTo>
                <a:lnTo>
                  <a:pt x="4111755" y="1368363"/>
                </a:lnTo>
                <a:lnTo>
                  <a:pt x="4114035" y="1407948"/>
                </a:lnTo>
                <a:lnTo>
                  <a:pt x="4114800" y="1447800"/>
                </a:lnTo>
                <a:lnTo>
                  <a:pt x="4114035" y="1487651"/>
                </a:lnTo>
                <a:lnTo>
                  <a:pt x="4111755" y="1527236"/>
                </a:lnTo>
                <a:lnTo>
                  <a:pt x="4107979" y="1566541"/>
                </a:lnTo>
                <a:lnTo>
                  <a:pt x="4102727" y="1605552"/>
                </a:lnTo>
                <a:lnTo>
                  <a:pt x="4096018" y="1644256"/>
                </a:lnTo>
                <a:lnTo>
                  <a:pt x="4087872" y="1682639"/>
                </a:lnTo>
                <a:lnTo>
                  <a:pt x="4078308" y="1720686"/>
                </a:lnTo>
                <a:lnTo>
                  <a:pt x="4067346" y="1758385"/>
                </a:lnTo>
                <a:lnTo>
                  <a:pt x="4055006" y="1795721"/>
                </a:lnTo>
                <a:lnTo>
                  <a:pt x="4041307" y="1832680"/>
                </a:lnTo>
                <a:lnTo>
                  <a:pt x="4026269" y="1869249"/>
                </a:lnTo>
                <a:lnTo>
                  <a:pt x="4009912" y="1905414"/>
                </a:lnTo>
                <a:lnTo>
                  <a:pt x="3992254" y="1941161"/>
                </a:lnTo>
                <a:lnTo>
                  <a:pt x="3973317" y="1976476"/>
                </a:lnTo>
                <a:lnTo>
                  <a:pt x="3953119" y="2011346"/>
                </a:lnTo>
                <a:lnTo>
                  <a:pt x="3931679" y="2045757"/>
                </a:lnTo>
                <a:lnTo>
                  <a:pt x="3909019" y="2079694"/>
                </a:lnTo>
                <a:lnTo>
                  <a:pt x="3885156" y="2113144"/>
                </a:lnTo>
                <a:lnTo>
                  <a:pt x="3860111" y="2146094"/>
                </a:lnTo>
                <a:lnTo>
                  <a:pt x="3833904" y="2178529"/>
                </a:lnTo>
                <a:lnTo>
                  <a:pt x="3806553" y="2210436"/>
                </a:lnTo>
                <a:lnTo>
                  <a:pt x="3778080" y="2241801"/>
                </a:lnTo>
                <a:lnTo>
                  <a:pt x="3748502" y="2272610"/>
                </a:lnTo>
                <a:lnTo>
                  <a:pt x="3717840" y="2302849"/>
                </a:lnTo>
                <a:lnTo>
                  <a:pt x="3686114" y="2332504"/>
                </a:lnTo>
                <a:lnTo>
                  <a:pt x="3653343" y="2361563"/>
                </a:lnTo>
                <a:lnTo>
                  <a:pt x="3619546" y="2390010"/>
                </a:lnTo>
                <a:lnTo>
                  <a:pt x="3584744" y="2417832"/>
                </a:lnTo>
                <a:lnTo>
                  <a:pt x="3548955" y="2445016"/>
                </a:lnTo>
                <a:lnTo>
                  <a:pt x="3512200" y="2471547"/>
                </a:lnTo>
                <a:lnTo>
                  <a:pt x="3474499" y="2497411"/>
                </a:lnTo>
                <a:lnTo>
                  <a:pt x="3435869" y="2522596"/>
                </a:lnTo>
                <a:lnTo>
                  <a:pt x="3396333" y="2547086"/>
                </a:lnTo>
                <a:lnTo>
                  <a:pt x="3355908" y="2570869"/>
                </a:lnTo>
                <a:lnTo>
                  <a:pt x="3314615" y="2593930"/>
                </a:lnTo>
                <a:lnTo>
                  <a:pt x="3272473" y="2616256"/>
                </a:lnTo>
                <a:lnTo>
                  <a:pt x="3229501" y="2637833"/>
                </a:lnTo>
                <a:lnTo>
                  <a:pt x="3185720" y="2658647"/>
                </a:lnTo>
                <a:lnTo>
                  <a:pt x="3141149" y="2678684"/>
                </a:lnTo>
                <a:lnTo>
                  <a:pt x="3095808" y="2697931"/>
                </a:lnTo>
                <a:lnTo>
                  <a:pt x="3049716" y="2716373"/>
                </a:lnTo>
                <a:lnTo>
                  <a:pt x="3002893" y="2733998"/>
                </a:lnTo>
                <a:lnTo>
                  <a:pt x="2955358" y="2750790"/>
                </a:lnTo>
                <a:lnTo>
                  <a:pt x="2907131" y="2766736"/>
                </a:lnTo>
                <a:lnTo>
                  <a:pt x="2858232" y="2781823"/>
                </a:lnTo>
                <a:lnTo>
                  <a:pt x="2808680" y="2796037"/>
                </a:lnTo>
                <a:lnTo>
                  <a:pt x="2758495" y="2809364"/>
                </a:lnTo>
                <a:lnTo>
                  <a:pt x="2707696" y="2821789"/>
                </a:lnTo>
                <a:lnTo>
                  <a:pt x="2656304" y="2833300"/>
                </a:lnTo>
                <a:lnTo>
                  <a:pt x="2604337" y="2843882"/>
                </a:lnTo>
                <a:lnTo>
                  <a:pt x="2551816" y="2853522"/>
                </a:lnTo>
                <a:lnTo>
                  <a:pt x="2498760" y="2862206"/>
                </a:lnTo>
                <a:lnTo>
                  <a:pt x="2445188" y="2869920"/>
                </a:lnTo>
                <a:lnTo>
                  <a:pt x="2391120" y="2876650"/>
                </a:lnTo>
                <a:lnTo>
                  <a:pt x="2336576" y="2882383"/>
                </a:lnTo>
                <a:lnTo>
                  <a:pt x="2281576" y="2887104"/>
                </a:lnTo>
                <a:lnTo>
                  <a:pt x="2226138" y="2890800"/>
                </a:lnTo>
                <a:lnTo>
                  <a:pt x="2170283" y="2893457"/>
                </a:lnTo>
                <a:lnTo>
                  <a:pt x="2114030" y="2895062"/>
                </a:lnTo>
                <a:lnTo>
                  <a:pt x="2057400" y="2895600"/>
                </a:lnTo>
                <a:lnTo>
                  <a:pt x="2000769" y="2895062"/>
                </a:lnTo>
                <a:lnTo>
                  <a:pt x="1944516" y="2893457"/>
                </a:lnTo>
                <a:lnTo>
                  <a:pt x="1888661" y="2890800"/>
                </a:lnTo>
                <a:lnTo>
                  <a:pt x="1833223" y="2887104"/>
                </a:lnTo>
                <a:lnTo>
                  <a:pt x="1778223" y="2882383"/>
                </a:lnTo>
                <a:lnTo>
                  <a:pt x="1723679" y="2876650"/>
                </a:lnTo>
                <a:lnTo>
                  <a:pt x="1669611" y="2869920"/>
                </a:lnTo>
                <a:lnTo>
                  <a:pt x="1616039" y="2862206"/>
                </a:lnTo>
                <a:lnTo>
                  <a:pt x="1562983" y="2853522"/>
                </a:lnTo>
                <a:lnTo>
                  <a:pt x="1510462" y="2843882"/>
                </a:lnTo>
                <a:lnTo>
                  <a:pt x="1458495" y="2833300"/>
                </a:lnTo>
                <a:lnTo>
                  <a:pt x="1407103" y="2821789"/>
                </a:lnTo>
                <a:lnTo>
                  <a:pt x="1356304" y="2809364"/>
                </a:lnTo>
                <a:lnTo>
                  <a:pt x="1306119" y="2796037"/>
                </a:lnTo>
                <a:lnTo>
                  <a:pt x="1256567" y="2781823"/>
                </a:lnTo>
                <a:lnTo>
                  <a:pt x="1207668" y="2766736"/>
                </a:lnTo>
                <a:lnTo>
                  <a:pt x="1159441" y="2750790"/>
                </a:lnTo>
                <a:lnTo>
                  <a:pt x="1111906" y="2733998"/>
                </a:lnTo>
                <a:lnTo>
                  <a:pt x="1065083" y="2716373"/>
                </a:lnTo>
                <a:lnTo>
                  <a:pt x="1018991" y="2697931"/>
                </a:lnTo>
                <a:lnTo>
                  <a:pt x="973650" y="2678684"/>
                </a:lnTo>
                <a:lnTo>
                  <a:pt x="929079" y="2658647"/>
                </a:lnTo>
                <a:lnTo>
                  <a:pt x="885298" y="2637833"/>
                </a:lnTo>
                <a:lnTo>
                  <a:pt x="842326" y="2616256"/>
                </a:lnTo>
                <a:lnTo>
                  <a:pt x="800184" y="2593930"/>
                </a:lnTo>
                <a:lnTo>
                  <a:pt x="758891" y="2570869"/>
                </a:lnTo>
                <a:lnTo>
                  <a:pt x="718466" y="2547086"/>
                </a:lnTo>
                <a:lnTo>
                  <a:pt x="678930" y="2522596"/>
                </a:lnTo>
                <a:lnTo>
                  <a:pt x="640300" y="2497411"/>
                </a:lnTo>
                <a:lnTo>
                  <a:pt x="602599" y="2471547"/>
                </a:lnTo>
                <a:lnTo>
                  <a:pt x="565844" y="2445016"/>
                </a:lnTo>
                <a:lnTo>
                  <a:pt x="530055" y="2417832"/>
                </a:lnTo>
                <a:lnTo>
                  <a:pt x="495253" y="2390010"/>
                </a:lnTo>
                <a:lnTo>
                  <a:pt x="461456" y="2361563"/>
                </a:lnTo>
                <a:lnTo>
                  <a:pt x="428685" y="2332504"/>
                </a:lnTo>
                <a:lnTo>
                  <a:pt x="396959" y="2302849"/>
                </a:lnTo>
                <a:lnTo>
                  <a:pt x="366297" y="2272610"/>
                </a:lnTo>
                <a:lnTo>
                  <a:pt x="336719" y="2241801"/>
                </a:lnTo>
                <a:lnTo>
                  <a:pt x="308246" y="2210436"/>
                </a:lnTo>
                <a:lnTo>
                  <a:pt x="280895" y="2178529"/>
                </a:lnTo>
                <a:lnTo>
                  <a:pt x="254688" y="2146094"/>
                </a:lnTo>
                <a:lnTo>
                  <a:pt x="229643" y="2113144"/>
                </a:lnTo>
                <a:lnTo>
                  <a:pt x="205780" y="2079694"/>
                </a:lnTo>
                <a:lnTo>
                  <a:pt x="183120" y="2045757"/>
                </a:lnTo>
                <a:lnTo>
                  <a:pt x="161680" y="2011346"/>
                </a:lnTo>
                <a:lnTo>
                  <a:pt x="141482" y="1976476"/>
                </a:lnTo>
                <a:lnTo>
                  <a:pt x="122545" y="1941161"/>
                </a:lnTo>
                <a:lnTo>
                  <a:pt x="104887" y="1905414"/>
                </a:lnTo>
                <a:lnTo>
                  <a:pt x="88530" y="1869249"/>
                </a:lnTo>
                <a:lnTo>
                  <a:pt x="73492" y="1832680"/>
                </a:lnTo>
                <a:lnTo>
                  <a:pt x="59793" y="1795721"/>
                </a:lnTo>
                <a:lnTo>
                  <a:pt x="47453" y="1758385"/>
                </a:lnTo>
                <a:lnTo>
                  <a:pt x="36491" y="1720686"/>
                </a:lnTo>
                <a:lnTo>
                  <a:pt x="26927" y="1682639"/>
                </a:lnTo>
                <a:lnTo>
                  <a:pt x="18781" y="1644256"/>
                </a:lnTo>
                <a:lnTo>
                  <a:pt x="12072" y="1605552"/>
                </a:lnTo>
                <a:lnTo>
                  <a:pt x="6820" y="1566541"/>
                </a:lnTo>
                <a:lnTo>
                  <a:pt x="3044" y="1527236"/>
                </a:lnTo>
                <a:lnTo>
                  <a:pt x="764" y="1487651"/>
                </a:lnTo>
                <a:lnTo>
                  <a:pt x="0" y="1447800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08168" y="2573347"/>
            <a:ext cx="282384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8636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Cost </a:t>
            </a:r>
            <a:r>
              <a:rPr sz="2400" b="1" dirty="0">
                <a:latin typeface="Arial"/>
                <a:cs typeface="Arial"/>
              </a:rPr>
              <a:t>(price) 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standards </a:t>
            </a:r>
            <a:r>
              <a:rPr sz="2400" spc="-5" dirty="0">
                <a:latin typeface="Arial MT"/>
                <a:cs typeface="Arial MT"/>
              </a:rPr>
              <a:t>specify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how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much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paid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endParaRPr sz="2400" dirty="0">
              <a:latin typeface="Arial MT"/>
              <a:cs typeface="Arial MT"/>
            </a:endParaRPr>
          </a:p>
          <a:p>
            <a:pPr marR="78105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input.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066" y="5406390"/>
            <a:ext cx="5184775" cy="832485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776605" marR="408940" indent="-36449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latin typeface="Arial MT"/>
                <a:cs typeface="Arial MT"/>
              </a:rPr>
              <a:t>How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much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 input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3170" y="5406390"/>
            <a:ext cx="5184775" cy="832485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762125" marR="238125" indent="-1518285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latin typeface="Arial MT"/>
                <a:cs typeface="Arial MT"/>
              </a:rPr>
              <a:t>How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much should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paid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each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r>
              <a:rPr sz="2400" dirty="0">
                <a:latin typeface="Arial MT"/>
                <a:cs typeface="Arial MT"/>
              </a:rPr>
              <a:t> of</a:t>
            </a:r>
            <a:r>
              <a:rPr sz="2400" spc="-5" dirty="0">
                <a:latin typeface="Arial MT"/>
                <a:cs typeface="Arial MT"/>
              </a:rPr>
              <a:t> input.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C2C80A2-D685-627F-29D2-BBEA73FBE3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Standards</a:t>
            </a:r>
            <a:r>
              <a:rPr lang="en-CA" spc="-45" dirty="0"/>
              <a:t> </a:t>
            </a:r>
            <a:r>
              <a:rPr lang="en-CA" dirty="0"/>
              <a:t>vs.</a:t>
            </a:r>
            <a:r>
              <a:rPr lang="en-CA" spc="-40" dirty="0"/>
              <a:t> </a:t>
            </a:r>
            <a:r>
              <a:rPr lang="en-CA" dirty="0"/>
              <a:t>Budgets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164" y="1510665"/>
            <a:ext cx="10786745" cy="2818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budgets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predetermined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costs,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contribute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management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planning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control.</a:t>
            </a:r>
            <a:endParaRPr sz="2400" dirty="0">
              <a:latin typeface="Arial MT"/>
              <a:cs typeface="Arial MT"/>
            </a:endParaRPr>
          </a:p>
          <a:p>
            <a:pPr marL="918844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8844" algn="l"/>
                <a:tab pos="919480" algn="l"/>
              </a:tabLst>
            </a:pP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10" dirty="0">
                <a:latin typeface="Arial MT"/>
                <a:cs typeface="Arial MT"/>
              </a:rPr>
              <a:t>difference:</a:t>
            </a:r>
            <a:endParaRPr sz="2400" dirty="0">
              <a:latin typeface="Arial MT"/>
              <a:cs typeface="Arial MT"/>
            </a:endParaRPr>
          </a:p>
          <a:p>
            <a:pPr marL="1367790" lvl="2" indent="-45847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1367790" algn="l"/>
                <a:tab pos="136842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 </a:t>
            </a:r>
            <a:r>
              <a:rPr sz="2400" dirty="0">
                <a:latin typeface="Arial MT"/>
                <a:cs typeface="Arial MT"/>
              </a:rPr>
              <a:t>amount.</a:t>
            </a:r>
          </a:p>
          <a:p>
            <a:pPr marL="1367790" lvl="2" indent="-45847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1367790" algn="l"/>
                <a:tab pos="136842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per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unit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</a:p>
          <a:p>
            <a:pPr marL="1367790" lvl="2" indent="-45847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1367790" algn="l"/>
                <a:tab pos="136842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budget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total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9881" y="5417058"/>
            <a:ext cx="11061700" cy="46037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54038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viewed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budgeted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r>
              <a:rPr sz="2400" dirty="0">
                <a:latin typeface="Arial MT"/>
                <a:cs typeface="Arial MT"/>
              </a:rPr>
              <a:t> 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6D4D-4114-D1FE-1F26-46D28F5C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9DB6E55-0848-9997-5C94-0E2D4FECEE6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54074A7-8166-C7D4-9DC6-2AB769409E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Variance Analysis Cycle</a:t>
            </a:r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6B805C77-3D47-46FD-2873-803DE962B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196752"/>
            <a:ext cx="8064896" cy="495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3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5C7E15AC-BABD-7F64-C8E0-9177ABDF6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Setting</a:t>
            </a:r>
            <a:r>
              <a:rPr lang="en-CA" spc="-55" dirty="0"/>
              <a:t> </a:t>
            </a:r>
            <a:r>
              <a:rPr lang="en-CA" dirty="0"/>
              <a:t>Standard</a:t>
            </a:r>
            <a:r>
              <a:rPr lang="en-CA" spc="-40" dirty="0"/>
              <a:t> </a:t>
            </a:r>
            <a:r>
              <a:rPr lang="en-CA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039" y="983683"/>
            <a:ext cx="10448925" cy="163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379855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Setting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requires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input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persons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who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responsibility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quantities.</a:t>
            </a:r>
            <a:endParaRPr sz="2400" dirty="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Standards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change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whenever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managers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determine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existing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not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good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measure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performance.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3039" y="2929464"/>
            <a:ext cx="3096895" cy="768350"/>
          </a:xfrm>
          <a:custGeom>
            <a:avLst/>
            <a:gdLst/>
            <a:ahLst/>
            <a:cxnLst/>
            <a:rect l="l" t="t" r="r" b="b"/>
            <a:pathLst>
              <a:path w="3096895" h="768350">
                <a:moveTo>
                  <a:pt x="0" y="128016"/>
                </a:moveTo>
                <a:lnTo>
                  <a:pt x="10060" y="78170"/>
                </a:lnTo>
                <a:lnTo>
                  <a:pt x="37495" y="37480"/>
                </a:lnTo>
                <a:lnTo>
                  <a:pt x="78186" y="10054"/>
                </a:lnTo>
                <a:lnTo>
                  <a:pt x="128016" y="0"/>
                </a:lnTo>
                <a:lnTo>
                  <a:pt x="2968752" y="0"/>
                </a:lnTo>
                <a:lnTo>
                  <a:pt x="3018597" y="10054"/>
                </a:lnTo>
                <a:lnTo>
                  <a:pt x="3059287" y="37480"/>
                </a:lnTo>
                <a:lnTo>
                  <a:pt x="3086713" y="78170"/>
                </a:lnTo>
                <a:lnTo>
                  <a:pt x="3096768" y="128016"/>
                </a:lnTo>
                <a:lnTo>
                  <a:pt x="3096768" y="640080"/>
                </a:lnTo>
                <a:lnTo>
                  <a:pt x="3086713" y="689925"/>
                </a:lnTo>
                <a:lnTo>
                  <a:pt x="3059287" y="730615"/>
                </a:lnTo>
                <a:lnTo>
                  <a:pt x="3018597" y="758041"/>
                </a:lnTo>
                <a:lnTo>
                  <a:pt x="2968752" y="768096"/>
                </a:lnTo>
                <a:lnTo>
                  <a:pt x="128016" y="768096"/>
                </a:lnTo>
                <a:lnTo>
                  <a:pt x="78186" y="758041"/>
                </a:lnTo>
                <a:lnTo>
                  <a:pt x="37495" y="730615"/>
                </a:lnTo>
                <a:lnTo>
                  <a:pt x="10060" y="689925"/>
                </a:lnTo>
                <a:lnTo>
                  <a:pt x="0" y="640080"/>
                </a:lnTo>
                <a:lnTo>
                  <a:pt x="0" y="128016"/>
                </a:lnTo>
                <a:close/>
              </a:path>
            </a:pathLst>
          </a:custGeom>
          <a:ln w="3175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3228" y="3146254"/>
            <a:ext cx="25965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Arial MT"/>
                <a:cs typeface="Arial MT"/>
              </a:rPr>
              <a:t>IDEAL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STANDARDS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4266" y="4155185"/>
            <a:ext cx="3096895" cy="1455420"/>
          </a:xfrm>
          <a:custGeom>
            <a:avLst/>
            <a:gdLst/>
            <a:ahLst/>
            <a:cxnLst/>
            <a:rect l="l" t="t" r="r" b="b"/>
            <a:pathLst>
              <a:path w="3096895" h="1455420">
                <a:moveTo>
                  <a:pt x="0" y="242569"/>
                </a:moveTo>
                <a:lnTo>
                  <a:pt x="4927" y="193678"/>
                </a:lnTo>
                <a:lnTo>
                  <a:pt x="19061" y="148143"/>
                </a:lnTo>
                <a:lnTo>
                  <a:pt x="41425" y="106939"/>
                </a:lnTo>
                <a:lnTo>
                  <a:pt x="71045" y="71040"/>
                </a:lnTo>
                <a:lnTo>
                  <a:pt x="106944" y="41422"/>
                </a:lnTo>
                <a:lnTo>
                  <a:pt x="148148" y="19059"/>
                </a:lnTo>
                <a:lnTo>
                  <a:pt x="193682" y="4927"/>
                </a:lnTo>
                <a:lnTo>
                  <a:pt x="242570" y="0"/>
                </a:lnTo>
                <a:lnTo>
                  <a:pt x="2854198" y="0"/>
                </a:lnTo>
                <a:lnTo>
                  <a:pt x="2903089" y="4927"/>
                </a:lnTo>
                <a:lnTo>
                  <a:pt x="2948624" y="19059"/>
                </a:lnTo>
                <a:lnTo>
                  <a:pt x="2989828" y="41422"/>
                </a:lnTo>
                <a:lnTo>
                  <a:pt x="3025727" y="71040"/>
                </a:lnTo>
                <a:lnTo>
                  <a:pt x="3055345" y="106939"/>
                </a:lnTo>
                <a:lnTo>
                  <a:pt x="3077708" y="148143"/>
                </a:lnTo>
                <a:lnTo>
                  <a:pt x="3091840" y="193678"/>
                </a:lnTo>
                <a:lnTo>
                  <a:pt x="3096768" y="242569"/>
                </a:lnTo>
                <a:lnTo>
                  <a:pt x="3096768" y="1212850"/>
                </a:lnTo>
                <a:lnTo>
                  <a:pt x="3091840" y="1261741"/>
                </a:lnTo>
                <a:lnTo>
                  <a:pt x="3077708" y="1307276"/>
                </a:lnTo>
                <a:lnTo>
                  <a:pt x="3055345" y="1348480"/>
                </a:lnTo>
                <a:lnTo>
                  <a:pt x="3025727" y="1384379"/>
                </a:lnTo>
                <a:lnTo>
                  <a:pt x="2989828" y="1413997"/>
                </a:lnTo>
                <a:lnTo>
                  <a:pt x="2948624" y="1436360"/>
                </a:lnTo>
                <a:lnTo>
                  <a:pt x="2903089" y="1450492"/>
                </a:lnTo>
                <a:lnTo>
                  <a:pt x="2854198" y="1455420"/>
                </a:lnTo>
                <a:lnTo>
                  <a:pt x="242570" y="1455420"/>
                </a:lnTo>
                <a:lnTo>
                  <a:pt x="193682" y="1450492"/>
                </a:lnTo>
                <a:lnTo>
                  <a:pt x="148148" y="1436360"/>
                </a:lnTo>
                <a:lnTo>
                  <a:pt x="106944" y="1413997"/>
                </a:lnTo>
                <a:lnTo>
                  <a:pt x="71045" y="1384379"/>
                </a:lnTo>
                <a:lnTo>
                  <a:pt x="41425" y="1348480"/>
                </a:lnTo>
                <a:lnTo>
                  <a:pt x="19061" y="1307276"/>
                </a:lnTo>
                <a:lnTo>
                  <a:pt x="4927" y="1261741"/>
                </a:lnTo>
                <a:lnTo>
                  <a:pt x="0" y="1212850"/>
                </a:lnTo>
                <a:lnTo>
                  <a:pt x="0" y="242569"/>
                </a:lnTo>
                <a:close/>
              </a:path>
            </a:pathLst>
          </a:custGeom>
          <a:ln w="3175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0319" y="4527930"/>
            <a:ext cx="172338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12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Arial MT"/>
                <a:cs typeface="Arial MT"/>
              </a:rPr>
              <a:t>PRACTICAL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</a:t>
            </a:r>
            <a:r>
              <a:rPr sz="2200" spc="-175" dirty="0">
                <a:latin typeface="Arial MT"/>
                <a:cs typeface="Arial MT"/>
              </a:rPr>
              <a:t>T</a:t>
            </a:r>
            <a:r>
              <a:rPr sz="2200" spc="-5" dirty="0">
                <a:latin typeface="Arial MT"/>
                <a:cs typeface="Arial MT"/>
              </a:rPr>
              <a:t>ANDAR</a:t>
            </a:r>
            <a:r>
              <a:rPr sz="2200" spc="-15" dirty="0">
                <a:latin typeface="Arial MT"/>
                <a:cs typeface="Arial MT"/>
              </a:rPr>
              <a:t>D</a:t>
            </a:r>
            <a:r>
              <a:rPr sz="2200" spc="-5" dirty="0">
                <a:latin typeface="Arial MT"/>
                <a:cs typeface="Arial MT"/>
              </a:rPr>
              <a:t>S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7768" y="2929464"/>
            <a:ext cx="8036559" cy="768350"/>
          </a:xfrm>
          <a:prstGeom prst="rect">
            <a:avLst/>
          </a:prstGeom>
          <a:ln w="31750">
            <a:solidFill>
              <a:srgbClr val="0070C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2200" spc="-5" dirty="0">
                <a:latin typeface="Arial MT"/>
                <a:cs typeface="Arial MT"/>
              </a:rPr>
              <a:t>Allow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machine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breakdowns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other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work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interruptions</a:t>
            </a:r>
            <a:endParaRPr sz="2200" dirty="0">
              <a:latin typeface="Arial MT"/>
              <a:cs typeface="Arial MT"/>
            </a:endParaRPr>
          </a:p>
          <a:p>
            <a:pPr marL="433070" indent="-343535">
              <a:lnSpc>
                <a:spcPct val="100000"/>
              </a:lnSpc>
              <a:buChar char="•"/>
              <a:tabLst>
                <a:tab pos="433070" algn="l"/>
                <a:tab pos="433705" algn="l"/>
              </a:tabLst>
            </a:pPr>
            <a:r>
              <a:rPr sz="2200" spc="-5" dirty="0">
                <a:latin typeface="Arial MT"/>
                <a:cs typeface="Arial MT"/>
              </a:rPr>
              <a:t>require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peak efficiency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all the time.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5250" y="4164329"/>
            <a:ext cx="8037830" cy="1446530"/>
          </a:xfrm>
          <a:prstGeom prst="rect">
            <a:avLst/>
          </a:prstGeom>
          <a:ln w="3175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 marR="1600200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Arial MT"/>
                <a:cs typeface="Arial MT"/>
              </a:rPr>
              <a:t>Allow for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normal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machine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downtime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other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work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interruptions</a:t>
            </a:r>
            <a:endParaRPr sz="2200" dirty="0">
              <a:latin typeface="Arial MT"/>
              <a:cs typeface="Arial MT"/>
            </a:endParaRPr>
          </a:p>
          <a:p>
            <a:pPr marL="433705" marR="421640" indent="-342900">
              <a:lnSpc>
                <a:spcPct val="100000"/>
              </a:lnSpc>
              <a:buChar char="•"/>
              <a:tabLst>
                <a:tab pos="433705" algn="l"/>
                <a:tab pos="434340" algn="l"/>
              </a:tabLst>
            </a:pPr>
            <a:r>
              <a:rPr sz="2200" spc="-5" dirty="0">
                <a:latin typeface="Arial MT"/>
                <a:cs typeface="Arial MT"/>
              </a:rPr>
              <a:t>can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attained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through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reasonable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efforts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by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average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employee.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8522" y="5855970"/>
            <a:ext cx="7393305" cy="462280"/>
          </a:xfrm>
          <a:prstGeom prst="rect">
            <a:avLst/>
          </a:prstGeom>
          <a:ln w="38100">
            <a:solidFill>
              <a:srgbClr val="ED037C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When would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relevant?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1DB2DC5-79DA-2B1F-9C97-447E92DD8D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Setting</a:t>
            </a:r>
            <a:r>
              <a:rPr lang="en-CA" spc="-50" dirty="0"/>
              <a:t> </a:t>
            </a:r>
            <a:r>
              <a:rPr lang="en-CA" dirty="0"/>
              <a:t>Direct</a:t>
            </a:r>
            <a:r>
              <a:rPr lang="en-CA" spc="-35" dirty="0"/>
              <a:t> </a:t>
            </a:r>
            <a:r>
              <a:rPr lang="en-CA" dirty="0"/>
              <a:t>Material</a:t>
            </a:r>
            <a:r>
              <a:rPr lang="en-CA" spc="-50" dirty="0"/>
              <a:t> </a:t>
            </a:r>
            <a:r>
              <a:rPr lang="en-CA" dirty="0"/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2526" y="1974342"/>
            <a:ext cx="2664460" cy="8305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738" y="3408426"/>
            <a:ext cx="4532630" cy="194056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95300" marR="490855" algn="ctr">
              <a:lnSpc>
                <a:spcPct val="100000"/>
              </a:lnSpc>
              <a:spcBef>
                <a:spcPts val="305"/>
              </a:spcBef>
            </a:pPr>
            <a:r>
              <a:rPr sz="2400" spc="-5" dirty="0">
                <a:latin typeface="Arial MT"/>
                <a:cs typeface="Arial MT"/>
              </a:rPr>
              <a:t>Final,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delivered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materials,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discounts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including</a:t>
            </a:r>
            <a:endParaRPr sz="2400">
              <a:latin typeface="Arial MT"/>
              <a:cs typeface="Arial MT"/>
            </a:endParaRPr>
          </a:p>
          <a:p>
            <a:pPr marL="273050" marR="266700"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shipping,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receiving,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7173" y="1974342"/>
            <a:ext cx="2950845" cy="8305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Quantity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8117" y="3382517"/>
            <a:ext cx="4533900" cy="230759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97485" marR="194310" indent="1085215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amount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material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required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 unit,</a:t>
            </a:r>
            <a:endParaRPr sz="2400" dirty="0">
              <a:latin typeface="Arial MT"/>
              <a:cs typeface="Arial MT"/>
            </a:endParaRPr>
          </a:p>
          <a:p>
            <a:pPr marL="309245" marR="302895" indent="-635"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allowance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unavoidable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waste,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spoilage,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normal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inefficiencies.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60776" y="2804922"/>
            <a:ext cx="114300" cy="571500"/>
          </a:xfrm>
          <a:custGeom>
            <a:avLst/>
            <a:gdLst/>
            <a:ahLst/>
            <a:cxnLst/>
            <a:rect l="l" t="t" r="r" b="b"/>
            <a:pathLst>
              <a:path w="114300" h="571500">
                <a:moveTo>
                  <a:pt x="38100" y="457200"/>
                </a:moveTo>
                <a:lnTo>
                  <a:pt x="0" y="457200"/>
                </a:lnTo>
                <a:lnTo>
                  <a:pt x="57150" y="571500"/>
                </a:lnTo>
                <a:lnTo>
                  <a:pt x="104775" y="476250"/>
                </a:lnTo>
                <a:lnTo>
                  <a:pt x="38100" y="476250"/>
                </a:lnTo>
                <a:lnTo>
                  <a:pt x="38100" y="457200"/>
                </a:lnTo>
                <a:close/>
              </a:path>
              <a:path w="114300" h="571500">
                <a:moveTo>
                  <a:pt x="762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76200" y="476250"/>
                </a:lnTo>
                <a:lnTo>
                  <a:pt x="76200" y="0"/>
                </a:lnTo>
                <a:close/>
              </a:path>
              <a:path w="114300" h="571500">
                <a:moveTo>
                  <a:pt x="114300" y="457200"/>
                </a:moveTo>
                <a:lnTo>
                  <a:pt x="76200" y="457200"/>
                </a:lnTo>
                <a:lnTo>
                  <a:pt x="76200" y="476250"/>
                </a:lnTo>
                <a:lnTo>
                  <a:pt x="104775" y="476250"/>
                </a:lnTo>
                <a:lnTo>
                  <a:pt x="114300" y="45720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87156" y="2836926"/>
            <a:ext cx="114300" cy="571500"/>
          </a:xfrm>
          <a:custGeom>
            <a:avLst/>
            <a:gdLst/>
            <a:ahLst/>
            <a:cxnLst/>
            <a:rect l="l" t="t" r="r" b="b"/>
            <a:pathLst>
              <a:path w="114300" h="571500">
                <a:moveTo>
                  <a:pt x="38100" y="457200"/>
                </a:moveTo>
                <a:lnTo>
                  <a:pt x="0" y="457200"/>
                </a:lnTo>
                <a:lnTo>
                  <a:pt x="57150" y="571500"/>
                </a:lnTo>
                <a:lnTo>
                  <a:pt x="104775" y="476250"/>
                </a:lnTo>
                <a:lnTo>
                  <a:pt x="38100" y="476250"/>
                </a:lnTo>
                <a:lnTo>
                  <a:pt x="38100" y="457200"/>
                </a:lnTo>
                <a:close/>
              </a:path>
              <a:path w="114300" h="571500">
                <a:moveTo>
                  <a:pt x="762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76200" y="476250"/>
                </a:lnTo>
                <a:lnTo>
                  <a:pt x="76200" y="0"/>
                </a:lnTo>
                <a:close/>
              </a:path>
              <a:path w="114300" h="571500">
                <a:moveTo>
                  <a:pt x="114300" y="457200"/>
                </a:moveTo>
                <a:lnTo>
                  <a:pt x="76200" y="457200"/>
                </a:lnTo>
                <a:lnTo>
                  <a:pt x="76200" y="476250"/>
                </a:lnTo>
                <a:lnTo>
                  <a:pt x="104775" y="476250"/>
                </a:lnTo>
                <a:lnTo>
                  <a:pt x="114300" y="45720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42E3AFB-ED85-4997-6FD3-D276CEEE5E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Setting</a:t>
            </a:r>
            <a:r>
              <a:rPr lang="en-CA" spc="-45" dirty="0"/>
              <a:t> </a:t>
            </a:r>
            <a:r>
              <a:rPr lang="en-CA" dirty="0"/>
              <a:t>Direct</a:t>
            </a:r>
            <a:r>
              <a:rPr lang="en-CA" spc="-30" dirty="0"/>
              <a:t> </a:t>
            </a:r>
            <a:r>
              <a:rPr lang="en-CA" dirty="0"/>
              <a:t>Labour</a:t>
            </a:r>
            <a:r>
              <a:rPr lang="en-CA" spc="-20" dirty="0"/>
              <a:t> </a:t>
            </a:r>
            <a:r>
              <a:rPr lang="en-CA" dirty="0"/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2526" y="1974342"/>
            <a:ext cx="2664460" cy="8305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Hour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738" y="3408426"/>
            <a:ext cx="4532630" cy="267779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746760" marR="742315" indent="3810" algn="ctr">
              <a:lnSpc>
                <a:spcPct val="100000"/>
              </a:lnSpc>
              <a:spcBef>
                <a:spcPts val="305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labour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incurred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hour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labour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including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Employment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Insurance, </a:t>
            </a:r>
            <a:r>
              <a:rPr sz="2400" spc="-5" dirty="0">
                <a:latin typeface="Arial MT"/>
                <a:cs typeface="Arial MT"/>
              </a:rPr>
              <a:t>employee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benefits,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labour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7173" y="1974342"/>
            <a:ext cx="2950845" cy="8305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Hours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6217" y="3414521"/>
            <a:ext cx="4532630" cy="267779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367155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619125" marR="614680" indent="441959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motion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studies</a:t>
            </a:r>
            <a:r>
              <a:rPr sz="2400" dirty="0">
                <a:latin typeface="Arial MT"/>
                <a:cs typeface="Arial MT"/>
              </a:rPr>
              <a:t> for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labour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endParaRPr sz="2400">
              <a:latin typeface="Arial MT"/>
              <a:cs typeface="Arial MT"/>
            </a:endParaRPr>
          </a:p>
          <a:p>
            <a:pPr marL="3810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determine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amount</a:t>
            </a:r>
            <a:r>
              <a:rPr sz="2400" dirty="0">
                <a:latin typeface="Arial MT"/>
                <a:cs typeface="Arial MT"/>
              </a:rPr>
              <a:t> of</a:t>
            </a:r>
            <a:r>
              <a:rPr sz="2400" spc="-5" dirty="0">
                <a:latin typeface="Arial MT"/>
                <a:cs typeface="Arial MT"/>
              </a:rPr>
              <a:t> labour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time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complete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unit.</a:t>
            </a:r>
            <a:endParaRPr sz="2400">
              <a:latin typeface="Arial MT"/>
              <a:cs typeface="Arial MT"/>
            </a:endParaRPr>
          </a:p>
          <a:p>
            <a:pPr marL="321945" marR="316230"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Should include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allowance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normal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inefficiencies.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60776" y="2804922"/>
            <a:ext cx="114300" cy="571500"/>
          </a:xfrm>
          <a:custGeom>
            <a:avLst/>
            <a:gdLst/>
            <a:ahLst/>
            <a:cxnLst/>
            <a:rect l="l" t="t" r="r" b="b"/>
            <a:pathLst>
              <a:path w="114300" h="571500">
                <a:moveTo>
                  <a:pt x="38100" y="457200"/>
                </a:moveTo>
                <a:lnTo>
                  <a:pt x="0" y="457200"/>
                </a:lnTo>
                <a:lnTo>
                  <a:pt x="57150" y="571500"/>
                </a:lnTo>
                <a:lnTo>
                  <a:pt x="104775" y="476250"/>
                </a:lnTo>
                <a:lnTo>
                  <a:pt x="38100" y="476250"/>
                </a:lnTo>
                <a:lnTo>
                  <a:pt x="38100" y="457200"/>
                </a:lnTo>
                <a:close/>
              </a:path>
              <a:path w="114300" h="571500">
                <a:moveTo>
                  <a:pt x="762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76200" y="476250"/>
                </a:lnTo>
                <a:lnTo>
                  <a:pt x="76200" y="0"/>
                </a:lnTo>
                <a:close/>
              </a:path>
              <a:path w="114300" h="571500">
                <a:moveTo>
                  <a:pt x="114300" y="457200"/>
                </a:moveTo>
                <a:lnTo>
                  <a:pt x="76200" y="457200"/>
                </a:lnTo>
                <a:lnTo>
                  <a:pt x="76200" y="476250"/>
                </a:lnTo>
                <a:lnTo>
                  <a:pt x="104775" y="476250"/>
                </a:lnTo>
                <a:lnTo>
                  <a:pt x="114300" y="45720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87156" y="2836926"/>
            <a:ext cx="114300" cy="571500"/>
          </a:xfrm>
          <a:custGeom>
            <a:avLst/>
            <a:gdLst/>
            <a:ahLst/>
            <a:cxnLst/>
            <a:rect l="l" t="t" r="r" b="b"/>
            <a:pathLst>
              <a:path w="114300" h="571500">
                <a:moveTo>
                  <a:pt x="38100" y="457200"/>
                </a:moveTo>
                <a:lnTo>
                  <a:pt x="0" y="457200"/>
                </a:lnTo>
                <a:lnTo>
                  <a:pt x="57150" y="571500"/>
                </a:lnTo>
                <a:lnTo>
                  <a:pt x="104775" y="476250"/>
                </a:lnTo>
                <a:lnTo>
                  <a:pt x="38100" y="476250"/>
                </a:lnTo>
                <a:lnTo>
                  <a:pt x="38100" y="457200"/>
                </a:lnTo>
                <a:close/>
              </a:path>
              <a:path w="114300" h="571500">
                <a:moveTo>
                  <a:pt x="762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76200" y="476250"/>
                </a:lnTo>
                <a:lnTo>
                  <a:pt x="76200" y="0"/>
                </a:lnTo>
                <a:close/>
              </a:path>
              <a:path w="114300" h="571500">
                <a:moveTo>
                  <a:pt x="114300" y="457200"/>
                </a:moveTo>
                <a:lnTo>
                  <a:pt x="76200" y="457200"/>
                </a:lnTo>
                <a:lnTo>
                  <a:pt x="76200" y="476250"/>
                </a:lnTo>
                <a:lnTo>
                  <a:pt x="104775" y="476250"/>
                </a:lnTo>
                <a:lnTo>
                  <a:pt x="114300" y="45720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BA923D8-55BE-82AC-7EF2-2A015BEDA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Setting</a:t>
            </a:r>
            <a:r>
              <a:rPr lang="en-CA" spc="-40" dirty="0"/>
              <a:t> </a:t>
            </a:r>
            <a:r>
              <a:rPr lang="en-CA" spc="-20" dirty="0"/>
              <a:t>Variable</a:t>
            </a:r>
            <a:r>
              <a:rPr lang="en-CA" spc="-40" dirty="0"/>
              <a:t> </a:t>
            </a:r>
            <a:r>
              <a:rPr lang="en-CA" dirty="0"/>
              <a:t>Overhead</a:t>
            </a:r>
            <a:r>
              <a:rPr lang="en-CA" spc="-35" dirty="0"/>
              <a:t> </a:t>
            </a:r>
            <a:r>
              <a:rPr lang="en-CA" dirty="0"/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5950" y="1491233"/>
            <a:ext cx="2664460" cy="46037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90"/>
              </a:spcBef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Price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2113" y="2574798"/>
            <a:ext cx="4532630" cy="156972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98195" marR="789940" indent="-3175"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rate </a:t>
            </a:r>
            <a:r>
              <a:rPr sz="2400" spc="-10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dirty="0">
                <a:latin typeface="Arial MT"/>
                <a:cs typeface="Arial MT"/>
              </a:rPr>
              <a:t> portion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predetermined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</a:t>
            </a:r>
            <a:endParaRPr sz="2400">
              <a:latin typeface="Arial MT"/>
              <a:cs typeface="Arial MT"/>
            </a:endParaRPr>
          </a:p>
          <a:p>
            <a:pPr marL="80010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rate.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9033" y="1485138"/>
            <a:ext cx="319786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300"/>
              </a:spcBef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Quantity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8117" y="2556510"/>
            <a:ext cx="4533900" cy="156972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quantity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367030" marR="276860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allocation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 </a:t>
            </a:r>
            <a:r>
              <a:rPr sz="2400" spc="-6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calculate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predetermined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60776" y="1946910"/>
            <a:ext cx="114300" cy="571500"/>
          </a:xfrm>
          <a:custGeom>
            <a:avLst/>
            <a:gdLst/>
            <a:ahLst/>
            <a:cxnLst/>
            <a:rect l="l" t="t" r="r" b="b"/>
            <a:pathLst>
              <a:path w="114300" h="571500">
                <a:moveTo>
                  <a:pt x="38100" y="457200"/>
                </a:moveTo>
                <a:lnTo>
                  <a:pt x="0" y="457200"/>
                </a:lnTo>
                <a:lnTo>
                  <a:pt x="57150" y="571500"/>
                </a:lnTo>
                <a:lnTo>
                  <a:pt x="104775" y="476250"/>
                </a:lnTo>
                <a:lnTo>
                  <a:pt x="38100" y="476250"/>
                </a:lnTo>
                <a:lnTo>
                  <a:pt x="38100" y="457200"/>
                </a:lnTo>
                <a:close/>
              </a:path>
              <a:path w="114300" h="571500">
                <a:moveTo>
                  <a:pt x="762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76200" y="476250"/>
                </a:lnTo>
                <a:lnTo>
                  <a:pt x="76200" y="0"/>
                </a:lnTo>
                <a:close/>
              </a:path>
              <a:path w="114300" h="571500">
                <a:moveTo>
                  <a:pt x="114300" y="457200"/>
                </a:moveTo>
                <a:lnTo>
                  <a:pt x="76200" y="457200"/>
                </a:lnTo>
                <a:lnTo>
                  <a:pt x="76200" y="476250"/>
                </a:lnTo>
                <a:lnTo>
                  <a:pt x="104775" y="476250"/>
                </a:lnTo>
                <a:lnTo>
                  <a:pt x="114300" y="45720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87156" y="1946910"/>
            <a:ext cx="114300" cy="571500"/>
          </a:xfrm>
          <a:custGeom>
            <a:avLst/>
            <a:gdLst/>
            <a:ahLst/>
            <a:cxnLst/>
            <a:rect l="l" t="t" r="r" b="b"/>
            <a:pathLst>
              <a:path w="114300" h="571500">
                <a:moveTo>
                  <a:pt x="38100" y="457200"/>
                </a:moveTo>
                <a:lnTo>
                  <a:pt x="0" y="457200"/>
                </a:lnTo>
                <a:lnTo>
                  <a:pt x="57150" y="571500"/>
                </a:lnTo>
                <a:lnTo>
                  <a:pt x="104775" y="476250"/>
                </a:lnTo>
                <a:lnTo>
                  <a:pt x="38100" y="476250"/>
                </a:lnTo>
                <a:lnTo>
                  <a:pt x="38100" y="457200"/>
                </a:lnTo>
                <a:close/>
              </a:path>
              <a:path w="114300" h="571500">
                <a:moveTo>
                  <a:pt x="762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76200" y="476250"/>
                </a:lnTo>
                <a:lnTo>
                  <a:pt x="76200" y="0"/>
                </a:lnTo>
                <a:close/>
              </a:path>
              <a:path w="114300" h="571500">
                <a:moveTo>
                  <a:pt x="114300" y="457200"/>
                </a:moveTo>
                <a:lnTo>
                  <a:pt x="76200" y="457200"/>
                </a:lnTo>
                <a:lnTo>
                  <a:pt x="76200" y="476250"/>
                </a:lnTo>
                <a:lnTo>
                  <a:pt x="104775" y="476250"/>
                </a:lnTo>
                <a:lnTo>
                  <a:pt x="114300" y="45720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144" y="4402963"/>
            <a:ext cx="10612755" cy="184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79545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manufacturing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overhead,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companies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standard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predetermined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overhead</a:t>
            </a:r>
            <a:endParaRPr sz="2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rate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 setting the standard.</a:t>
            </a:r>
            <a:endParaRPr sz="22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Arial MT"/>
                <a:cs typeface="Arial MT"/>
              </a:rPr>
              <a:t>Overhead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rate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determined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by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dividing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budgeted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overhead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costs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expected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standard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activity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index,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such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standard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direct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labor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hours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standard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machine </a:t>
            </a:r>
            <a:r>
              <a:rPr sz="2200" dirty="0">
                <a:latin typeface="Arial MT"/>
                <a:cs typeface="Arial MT"/>
              </a:rPr>
              <a:t> hours.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845F-2041-5286-C2D3-4F3F20B7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B67CC8B8-23F6-5446-A7AE-E39B3EFB9E6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D9269B93-7D03-C545-4EFB-CB69F6EDA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Standard Cost - Production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798DB7B-CA64-A37C-CD04-04739E4671E7}"/>
              </a:ext>
            </a:extLst>
          </p:cNvPr>
          <p:cNvSpPr txBox="1"/>
          <p:nvPr/>
        </p:nvSpPr>
        <p:spPr>
          <a:xfrm>
            <a:off x="1055440" y="1268760"/>
            <a:ext cx="7882458" cy="406522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90"/>
              </a:spcBef>
            </a:pPr>
            <a:r>
              <a:rPr lang="en-CA"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 standard cost for one unit: 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2" name="Picture 11" descr="A table with numbers and prices&#10;&#10;AI-generated content may be incorrect.">
            <a:extLst>
              <a:ext uri="{FF2B5EF4-FFF2-40B4-BE49-F238E27FC236}">
                <a16:creationId xmlns:a16="http://schemas.microsoft.com/office/drawing/2014/main" id="{52902580-C551-4418-65C3-E347DED48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72" y="2060848"/>
            <a:ext cx="9110463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00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2B32CFA-63A1-0E82-1EA0-BDAF82F5D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pc="-165" dirty="0"/>
              <a:t>V</a:t>
            </a:r>
            <a:r>
              <a:rPr lang="en-CA" dirty="0"/>
              <a:t>ariance</a:t>
            </a:r>
            <a:r>
              <a:rPr lang="en-CA" spc="-145" dirty="0"/>
              <a:t> </a:t>
            </a:r>
            <a:r>
              <a:rPr lang="en-CA" dirty="0"/>
              <a:t>Anal</a:t>
            </a:r>
            <a:r>
              <a:rPr lang="en-CA" spc="-45" dirty="0"/>
              <a:t>y</a:t>
            </a:r>
            <a:r>
              <a:rPr lang="en-CA" dirty="0"/>
              <a:t>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404" y="1012704"/>
            <a:ext cx="354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25" dirty="0">
                <a:latin typeface="Arial MT"/>
                <a:cs typeface="Arial MT"/>
              </a:rPr>
              <a:t>Variance</a:t>
            </a:r>
            <a:r>
              <a:rPr sz="2400" spc="-5" dirty="0">
                <a:latin typeface="Arial MT"/>
                <a:cs typeface="Arial MT"/>
              </a:rPr>
              <a:t> 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defined</a:t>
            </a:r>
            <a:r>
              <a:rPr sz="2400" dirty="0">
                <a:latin typeface="Arial MT"/>
                <a:cs typeface="Arial MT"/>
              </a:rPr>
              <a:t> as: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1784" y="1580533"/>
            <a:ext cx="4104640" cy="50482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385"/>
              </a:spcBef>
            </a:pPr>
            <a:r>
              <a:rPr sz="2400" spc="-25" dirty="0">
                <a:latin typeface="Arial MT"/>
                <a:cs typeface="Arial MT"/>
              </a:rPr>
              <a:t>Variance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Budget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430" y="2395038"/>
            <a:ext cx="10899140" cy="266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" dirty="0">
                <a:latin typeface="Arial MT"/>
                <a:cs typeface="Arial MT"/>
              </a:rPr>
              <a:t> is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between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prices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quantities</a:t>
            </a:r>
            <a:endParaRPr sz="2400" dirty="0">
              <a:latin typeface="Arial MT"/>
              <a:cs typeface="Arial MT"/>
            </a:endParaRPr>
          </a:p>
          <a:p>
            <a:pPr marL="918844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8844" algn="l"/>
                <a:tab pos="919480" algn="l"/>
              </a:tabLst>
            </a:pP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 &lt;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Favorable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Variance.</a:t>
            </a:r>
            <a:endParaRPr sz="2400" dirty="0">
              <a:latin typeface="Arial MT"/>
              <a:cs typeface="Arial MT"/>
            </a:endParaRPr>
          </a:p>
          <a:p>
            <a:pPr marL="918844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8844" algn="l"/>
                <a:tab pos="919480" algn="l"/>
              </a:tabLst>
            </a:pP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Unfavorable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Variance.</a:t>
            </a:r>
            <a:endParaRPr sz="2400" dirty="0">
              <a:latin typeface="Arial MT"/>
              <a:cs typeface="Arial MT"/>
            </a:endParaRPr>
          </a:p>
          <a:p>
            <a:pPr marL="469900" marR="248285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variance can result </a:t>
            </a:r>
            <a:r>
              <a:rPr sz="2400" dirty="0">
                <a:latin typeface="Arial MT"/>
                <a:cs typeface="Arial MT"/>
              </a:rPr>
              <a:t>from </a:t>
            </a:r>
            <a:r>
              <a:rPr sz="2400" spc="-10" dirty="0">
                <a:latin typeface="Arial MT"/>
                <a:cs typeface="Arial MT"/>
              </a:rPr>
              <a:t>differences </a:t>
            </a:r>
            <a:r>
              <a:rPr sz="2400" spc="-5" dirty="0">
                <a:latin typeface="Arial MT"/>
                <a:cs typeface="Arial MT"/>
              </a:rPr>
              <a:t>related </a:t>
            </a:r>
            <a:r>
              <a:rPr sz="2400" dirty="0">
                <a:latin typeface="Arial MT"/>
                <a:cs typeface="Arial MT"/>
              </a:rPr>
              <a:t>to the cost </a:t>
            </a:r>
            <a:r>
              <a:rPr sz="2400" spc="-5" dirty="0">
                <a:latin typeface="Arial MT"/>
                <a:cs typeface="Arial MT"/>
              </a:rPr>
              <a:t>of materials, </a:t>
            </a:r>
            <a:r>
              <a:rPr sz="2400" spc="-25" dirty="0">
                <a:latin typeface="Arial MT"/>
                <a:cs typeface="Arial MT"/>
              </a:rPr>
              <a:t>labor,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overhead.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6732" y="5373623"/>
            <a:ext cx="8107680" cy="790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8539E239-0A9E-24AD-4912-390C40B47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Why</a:t>
            </a:r>
            <a:r>
              <a:rPr lang="en-CA" spc="-45" dirty="0"/>
              <a:t> </a:t>
            </a:r>
            <a:r>
              <a:rPr lang="en-CA" dirty="0"/>
              <a:t>do</a:t>
            </a:r>
            <a:r>
              <a:rPr lang="en-CA" spc="-15" dirty="0"/>
              <a:t> </a:t>
            </a:r>
            <a:r>
              <a:rPr lang="en-CA" spc="-5" dirty="0"/>
              <a:t>we</a:t>
            </a:r>
            <a:r>
              <a:rPr lang="en-CA" spc="-45" dirty="0"/>
              <a:t> </a:t>
            </a:r>
            <a:r>
              <a:rPr lang="en-CA" dirty="0"/>
              <a:t>Care?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37579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relate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last class?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027" y="3182111"/>
            <a:ext cx="2070100" cy="1784985"/>
          </a:xfrm>
          <a:prstGeom prst="rect">
            <a:avLst/>
          </a:prstGeom>
          <a:solidFill>
            <a:srgbClr val="929292"/>
          </a:solidFill>
        </p:spPr>
        <p:txBody>
          <a:bodyPr vert="horz" wrap="square" lIns="0" tIns="36195" rIns="0" bIns="0" rtlCol="0">
            <a:spAutoFit/>
          </a:bodyPr>
          <a:lstStyle/>
          <a:p>
            <a:pPr marL="200660" marR="194310" algn="ctr">
              <a:lnSpc>
                <a:spcPct val="100000"/>
              </a:lnSpc>
              <a:spcBef>
                <a:spcPts val="285"/>
              </a:spcBef>
            </a:pPr>
            <a:r>
              <a:rPr sz="2200" spc="130" dirty="0">
                <a:solidFill>
                  <a:srgbClr val="FFFFFF"/>
                </a:solidFill>
                <a:latin typeface="Cambria"/>
                <a:cs typeface="Cambria"/>
              </a:rPr>
              <a:t>Comparing </a:t>
            </a:r>
            <a:r>
              <a:rPr sz="22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Cambria"/>
                <a:cs typeface="Cambria"/>
              </a:rPr>
              <a:t>actual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2200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planned </a:t>
            </a:r>
            <a:r>
              <a:rPr sz="22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FFFFFF"/>
                </a:solidFill>
                <a:latin typeface="Cambria"/>
                <a:cs typeface="Cambria"/>
              </a:rPr>
              <a:t>per</a:t>
            </a:r>
            <a:r>
              <a:rPr sz="2200" spc="80" dirty="0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orm</a:t>
            </a:r>
            <a:r>
              <a:rPr sz="2200" spc="4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nce  </a:t>
            </a:r>
            <a:r>
              <a:rPr sz="2200" spc="130" dirty="0">
                <a:solidFill>
                  <a:srgbClr val="FFFFFF"/>
                </a:solidFill>
                <a:latin typeface="Cambria"/>
                <a:cs typeface="Cambria"/>
              </a:rPr>
              <a:t>(Con</a:t>
            </a:r>
            <a:r>
              <a:rPr sz="2200" spc="-35" dirty="0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sz="2200" spc="-135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ol</a:t>
            </a:r>
            <a:r>
              <a:rPr sz="2200" spc="35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2200" spc="10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g</a:t>
            </a:r>
            <a:r>
              <a:rPr sz="2200" spc="-20" dirty="0">
                <a:solidFill>
                  <a:srgbClr val="FFFFFF"/>
                </a:solidFill>
                <a:latin typeface="Cambria"/>
                <a:cs typeface="Cambria"/>
              </a:rPr>
              <a:t>)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1635" y="1845564"/>
            <a:ext cx="2656840" cy="1108075"/>
          </a:xfrm>
          <a:prstGeom prst="rect">
            <a:avLst/>
          </a:prstGeom>
          <a:solidFill>
            <a:srgbClr val="929292"/>
          </a:solidFill>
        </p:spPr>
        <p:txBody>
          <a:bodyPr vert="horz" wrap="square" lIns="0" tIns="35560" rIns="0" bIns="0" rtlCol="0">
            <a:spAutoFit/>
          </a:bodyPr>
          <a:lstStyle/>
          <a:p>
            <a:pPr marL="238760" marR="228600" algn="ctr">
              <a:lnSpc>
                <a:spcPct val="100000"/>
              </a:lnSpc>
              <a:spcBef>
                <a:spcPts val="280"/>
              </a:spcBef>
            </a:pPr>
            <a:r>
              <a:rPr sz="2200" spc="35" dirty="0">
                <a:solidFill>
                  <a:srgbClr val="FFFFFF"/>
                </a:solidFill>
                <a:latin typeface="Cambria"/>
                <a:cs typeface="Cambria"/>
              </a:rPr>
              <a:t>Formulating </a:t>
            </a:r>
            <a:r>
              <a:rPr sz="2200" spc="110" dirty="0">
                <a:solidFill>
                  <a:srgbClr val="FFFFFF"/>
                </a:solidFill>
                <a:latin typeface="Cambria"/>
                <a:cs typeface="Cambria"/>
              </a:rPr>
              <a:t>long </a:t>
            </a:r>
            <a:r>
              <a:rPr sz="2200" spc="-4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2200" spc="35" dirty="0">
                <a:solidFill>
                  <a:srgbClr val="FFFFFF"/>
                </a:solidFill>
                <a:latin typeface="Cambria"/>
                <a:cs typeface="Cambria"/>
              </a:rPr>
              <a:t>short-term </a:t>
            </a:r>
            <a:r>
              <a:rPr sz="22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Cambria"/>
                <a:cs typeface="Cambria"/>
              </a:rPr>
              <a:t>plans</a:t>
            </a:r>
            <a:r>
              <a:rPr sz="2200" spc="50" dirty="0">
                <a:solidFill>
                  <a:srgbClr val="FFFFFF"/>
                </a:solidFill>
                <a:latin typeface="Cambria"/>
                <a:cs typeface="Cambria"/>
              </a:rPr>
              <a:t> (Planning)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0932" y="3102864"/>
            <a:ext cx="2148840" cy="1784985"/>
          </a:xfrm>
          <a:prstGeom prst="rect">
            <a:avLst/>
          </a:prstGeom>
          <a:solidFill>
            <a:srgbClr val="929292"/>
          </a:solidFill>
        </p:spPr>
        <p:txBody>
          <a:bodyPr vert="horz" wrap="square" lIns="0" tIns="36195" rIns="0" bIns="0" rtlCol="0">
            <a:spAutoFit/>
          </a:bodyPr>
          <a:lstStyle/>
          <a:p>
            <a:pPr marL="174625" marR="164465" algn="ctr">
              <a:lnSpc>
                <a:spcPct val="100000"/>
              </a:lnSpc>
              <a:spcBef>
                <a:spcPts val="285"/>
              </a:spcBef>
            </a:pPr>
            <a:r>
              <a:rPr sz="2200" spc="10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sz="2200" spc="20" dirty="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sz="2200" spc="125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2200" spc="50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2200" spc="70" dirty="0">
                <a:solidFill>
                  <a:srgbClr val="FFFFFF"/>
                </a:solidFill>
                <a:latin typeface="Cambria"/>
                <a:cs typeface="Cambria"/>
              </a:rPr>
              <a:t>ement</a:t>
            </a:r>
            <a:r>
              <a:rPr sz="2200" spc="25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sz="2200" spc="105" dirty="0">
                <a:solidFill>
                  <a:srgbClr val="FFFFFF"/>
                </a:solidFill>
                <a:latin typeface="Cambria"/>
                <a:cs typeface="Cambria"/>
              </a:rPr>
              <a:t>ng  </a:t>
            </a:r>
            <a:r>
              <a:rPr sz="2200" spc="70" dirty="0">
                <a:solidFill>
                  <a:srgbClr val="FFFFFF"/>
                </a:solidFill>
                <a:latin typeface="Cambria"/>
                <a:cs typeface="Cambria"/>
              </a:rPr>
              <a:t>plans </a:t>
            </a:r>
            <a:r>
              <a:rPr sz="22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(Directing </a:t>
            </a:r>
            <a:r>
              <a:rPr sz="22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40" dirty="0">
                <a:solidFill>
                  <a:srgbClr val="FFFFFF"/>
                </a:solidFill>
                <a:latin typeface="Cambria"/>
                <a:cs typeface="Cambria"/>
              </a:rPr>
              <a:t>Motivating)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5748" y="5079491"/>
            <a:ext cx="2344420" cy="1108075"/>
          </a:xfrm>
          <a:prstGeom prst="rect">
            <a:avLst/>
          </a:prstGeom>
          <a:solidFill>
            <a:srgbClr val="929292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7820" marR="330835" indent="147320">
              <a:lnSpc>
                <a:spcPct val="100000"/>
              </a:lnSpc>
              <a:spcBef>
                <a:spcPts val="295"/>
              </a:spcBef>
            </a:pP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Measuring </a:t>
            </a:r>
            <a:r>
              <a:rPr sz="22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FFFFFF"/>
                </a:solidFill>
                <a:latin typeface="Cambria"/>
                <a:cs typeface="Cambria"/>
              </a:rPr>
              <a:t>per</a:t>
            </a:r>
            <a:r>
              <a:rPr sz="2200" spc="80" dirty="0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orm</a:t>
            </a:r>
            <a:r>
              <a:rPr sz="2200" spc="4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nce  </a:t>
            </a:r>
            <a:r>
              <a:rPr sz="2200" spc="130" dirty="0">
                <a:solidFill>
                  <a:srgbClr val="FFFFFF"/>
                </a:solidFill>
                <a:latin typeface="Cambria"/>
                <a:cs typeface="Cambria"/>
              </a:rPr>
              <a:t>(Con</a:t>
            </a:r>
            <a:r>
              <a:rPr sz="2200" spc="-35" dirty="0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sz="2200" spc="-135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2200" spc="60" dirty="0">
                <a:solidFill>
                  <a:srgbClr val="FFFFFF"/>
                </a:solidFill>
                <a:latin typeface="Cambria"/>
                <a:cs typeface="Cambria"/>
              </a:rPr>
              <a:t>ol</a:t>
            </a:r>
            <a:r>
              <a:rPr sz="2200" spc="35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2200" spc="10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g</a:t>
            </a:r>
            <a:r>
              <a:rPr sz="2200" spc="-20" dirty="0">
                <a:solidFill>
                  <a:srgbClr val="FFFFFF"/>
                </a:solidFill>
                <a:latin typeface="Cambria"/>
                <a:cs typeface="Cambria"/>
              </a:rPr>
              <a:t>)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3382" y="3674186"/>
            <a:ext cx="10972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393939"/>
                </a:solidFill>
                <a:latin typeface="Arial MT"/>
                <a:cs typeface="Arial MT"/>
              </a:rPr>
              <a:t>Decision</a:t>
            </a:r>
            <a:endParaRPr sz="22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393939"/>
                </a:solidFill>
                <a:latin typeface="Arial MT"/>
                <a:cs typeface="Arial MT"/>
              </a:rPr>
              <a:t>Making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75888" y="3103626"/>
            <a:ext cx="114300" cy="525780"/>
          </a:xfrm>
          <a:custGeom>
            <a:avLst/>
            <a:gdLst/>
            <a:ahLst/>
            <a:cxnLst/>
            <a:rect l="l" t="t" r="r" b="b"/>
            <a:pathLst>
              <a:path w="114300" h="525779">
                <a:moveTo>
                  <a:pt x="76200" y="95250"/>
                </a:moveTo>
                <a:lnTo>
                  <a:pt x="38100" y="95250"/>
                </a:lnTo>
                <a:lnTo>
                  <a:pt x="38100" y="525653"/>
                </a:lnTo>
                <a:lnTo>
                  <a:pt x="76200" y="525653"/>
                </a:lnTo>
                <a:lnTo>
                  <a:pt x="76200" y="95250"/>
                </a:lnTo>
                <a:close/>
              </a:path>
              <a:path w="114300" h="52577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2577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62022" y="3972178"/>
            <a:ext cx="525780" cy="114300"/>
          </a:xfrm>
          <a:custGeom>
            <a:avLst/>
            <a:gdLst/>
            <a:ahLst/>
            <a:cxnLst/>
            <a:rect l="l" t="t" r="r" b="b"/>
            <a:pathLst>
              <a:path w="525780" h="114300">
                <a:moveTo>
                  <a:pt x="113791" y="0"/>
                </a:moveTo>
                <a:lnTo>
                  <a:pt x="0" y="58166"/>
                </a:lnTo>
                <a:lnTo>
                  <a:pt x="114807" y="114300"/>
                </a:lnTo>
                <a:lnTo>
                  <a:pt x="114471" y="76454"/>
                </a:lnTo>
                <a:lnTo>
                  <a:pt x="95376" y="76454"/>
                </a:lnTo>
                <a:lnTo>
                  <a:pt x="95122" y="38354"/>
                </a:lnTo>
                <a:lnTo>
                  <a:pt x="114131" y="38180"/>
                </a:lnTo>
                <a:lnTo>
                  <a:pt x="113791" y="0"/>
                </a:lnTo>
                <a:close/>
              </a:path>
              <a:path w="525780" h="114300">
                <a:moveTo>
                  <a:pt x="114131" y="38180"/>
                </a:moveTo>
                <a:lnTo>
                  <a:pt x="95122" y="38354"/>
                </a:lnTo>
                <a:lnTo>
                  <a:pt x="95376" y="76454"/>
                </a:lnTo>
                <a:lnTo>
                  <a:pt x="114470" y="76279"/>
                </a:lnTo>
                <a:lnTo>
                  <a:pt x="114131" y="38180"/>
                </a:lnTo>
                <a:close/>
              </a:path>
              <a:path w="525780" h="114300">
                <a:moveTo>
                  <a:pt x="114470" y="76279"/>
                </a:moveTo>
                <a:lnTo>
                  <a:pt x="95376" y="76454"/>
                </a:lnTo>
                <a:lnTo>
                  <a:pt x="114471" y="76454"/>
                </a:lnTo>
                <a:lnTo>
                  <a:pt x="114470" y="76279"/>
                </a:lnTo>
                <a:close/>
              </a:path>
              <a:path w="525780" h="114300">
                <a:moveTo>
                  <a:pt x="525398" y="34417"/>
                </a:moveTo>
                <a:lnTo>
                  <a:pt x="114131" y="38180"/>
                </a:lnTo>
                <a:lnTo>
                  <a:pt x="114470" y="76279"/>
                </a:lnTo>
                <a:lnTo>
                  <a:pt x="525779" y="72517"/>
                </a:lnTo>
                <a:lnTo>
                  <a:pt x="525398" y="34417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74364" y="4441697"/>
            <a:ext cx="114300" cy="525780"/>
          </a:xfrm>
          <a:custGeom>
            <a:avLst/>
            <a:gdLst/>
            <a:ahLst/>
            <a:cxnLst/>
            <a:rect l="l" t="t" r="r" b="b"/>
            <a:pathLst>
              <a:path w="114300" h="525779">
                <a:moveTo>
                  <a:pt x="38100" y="411352"/>
                </a:moveTo>
                <a:lnTo>
                  <a:pt x="0" y="411352"/>
                </a:lnTo>
                <a:lnTo>
                  <a:pt x="57150" y="525652"/>
                </a:lnTo>
                <a:lnTo>
                  <a:pt x="104775" y="430402"/>
                </a:lnTo>
                <a:lnTo>
                  <a:pt x="38100" y="430402"/>
                </a:lnTo>
                <a:lnTo>
                  <a:pt x="38100" y="411352"/>
                </a:lnTo>
                <a:close/>
              </a:path>
              <a:path w="114300" h="525779">
                <a:moveTo>
                  <a:pt x="76200" y="0"/>
                </a:moveTo>
                <a:lnTo>
                  <a:pt x="38100" y="0"/>
                </a:lnTo>
                <a:lnTo>
                  <a:pt x="38100" y="430402"/>
                </a:lnTo>
                <a:lnTo>
                  <a:pt x="76200" y="430402"/>
                </a:lnTo>
                <a:lnTo>
                  <a:pt x="76200" y="0"/>
                </a:lnTo>
                <a:close/>
              </a:path>
              <a:path w="114300" h="525779">
                <a:moveTo>
                  <a:pt x="114300" y="411352"/>
                </a:moveTo>
                <a:lnTo>
                  <a:pt x="76200" y="411352"/>
                </a:lnTo>
                <a:lnTo>
                  <a:pt x="76200" y="430402"/>
                </a:lnTo>
                <a:lnTo>
                  <a:pt x="104775" y="430402"/>
                </a:lnTo>
                <a:lnTo>
                  <a:pt x="114300" y="411352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9086" y="3972178"/>
            <a:ext cx="525145" cy="114300"/>
          </a:xfrm>
          <a:custGeom>
            <a:avLst/>
            <a:gdLst/>
            <a:ahLst/>
            <a:cxnLst/>
            <a:rect l="l" t="t" r="r" b="b"/>
            <a:pathLst>
              <a:path w="525145" h="114300">
                <a:moveTo>
                  <a:pt x="410972" y="0"/>
                </a:moveTo>
                <a:lnTo>
                  <a:pt x="410632" y="38179"/>
                </a:lnTo>
                <a:lnTo>
                  <a:pt x="429640" y="38354"/>
                </a:lnTo>
                <a:lnTo>
                  <a:pt x="429387" y="76454"/>
                </a:lnTo>
                <a:lnTo>
                  <a:pt x="410292" y="76454"/>
                </a:lnTo>
                <a:lnTo>
                  <a:pt x="409955" y="114300"/>
                </a:lnTo>
                <a:lnTo>
                  <a:pt x="487360" y="76454"/>
                </a:lnTo>
                <a:lnTo>
                  <a:pt x="429387" y="76454"/>
                </a:lnTo>
                <a:lnTo>
                  <a:pt x="487718" y="76278"/>
                </a:lnTo>
                <a:lnTo>
                  <a:pt x="524763" y="58166"/>
                </a:lnTo>
                <a:lnTo>
                  <a:pt x="410972" y="0"/>
                </a:lnTo>
                <a:close/>
              </a:path>
              <a:path w="525145" h="114300">
                <a:moveTo>
                  <a:pt x="410632" y="38179"/>
                </a:moveTo>
                <a:lnTo>
                  <a:pt x="410293" y="76278"/>
                </a:lnTo>
                <a:lnTo>
                  <a:pt x="429387" y="76454"/>
                </a:lnTo>
                <a:lnTo>
                  <a:pt x="429640" y="38354"/>
                </a:lnTo>
                <a:lnTo>
                  <a:pt x="410632" y="38179"/>
                </a:lnTo>
                <a:close/>
              </a:path>
              <a:path w="525145" h="114300">
                <a:moveTo>
                  <a:pt x="253" y="34417"/>
                </a:moveTo>
                <a:lnTo>
                  <a:pt x="0" y="72517"/>
                </a:lnTo>
                <a:lnTo>
                  <a:pt x="410293" y="76278"/>
                </a:lnTo>
                <a:lnTo>
                  <a:pt x="410632" y="38179"/>
                </a:lnTo>
                <a:lnTo>
                  <a:pt x="253" y="34417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47229" y="2014854"/>
            <a:ext cx="4321810" cy="3378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5430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20" dirty="0">
                <a:latin typeface="Arial MT"/>
                <a:cs typeface="Arial MT"/>
              </a:rPr>
              <a:t>Variances</a:t>
            </a:r>
            <a:r>
              <a:rPr sz="2200" spc="-5" dirty="0">
                <a:latin typeface="Arial MT"/>
                <a:cs typeface="Arial MT"/>
              </a:rPr>
              <a:t> provide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warning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signs of situations requiring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corrective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action by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managers.</a:t>
            </a:r>
            <a:endParaRPr sz="2200" dirty="0">
              <a:latin typeface="Arial MT"/>
              <a:cs typeface="Arial MT"/>
            </a:endParaRPr>
          </a:p>
          <a:p>
            <a:pPr marL="355600" marR="9144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This process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focusing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variances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known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“management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by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exception.”</a:t>
            </a:r>
            <a:endParaRPr sz="2200" dirty="0">
              <a:latin typeface="Arial"/>
              <a:cs typeface="Arial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812165" algn="l"/>
                <a:tab pos="812800" algn="l"/>
              </a:tabLst>
            </a:pPr>
            <a:r>
              <a:rPr sz="2200" spc="-5" dirty="0">
                <a:latin typeface="Arial MT"/>
                <a:cs typeface="Arial MT"/>
              </a:rPr>
              <a:t>Issues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brought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attention 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management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results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represent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substantial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differences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from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budget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CE95637-B034-03E1-E0B6-5F1090B4F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</a:t>
            </a:r>
            <a:r>
              <a:rPr lang="en-US" spc="-30" dirty="0"/>
              <a:t> </a:t>
            </a:r>
            <a:r>
              <a:rPr lang="en-US" dirty="0"/>
              <a:t>do</a:t>
            </a:r>
            <a:r>
              <a:rPr lang="en-US" spc="-5" dirty="0"/>
              <a:t> we</a:t>
            </a:r>
            <a:r>
              <a:rPr lang="en-US" spc="-30" dirty="0"/>
              <a:t> </a:t>
            </a:r>
            <a:r>
              <a:rPr lang="en-US" spc="-5" dirty="0"/>
              <a:t>Care?</a:t>
            </a:r>
            <a:r>
              <a:rPr lang="en-US" spc="-25" dirty="0"/>
              <a:t> </a:t>
            </a:r>
            <a:r>
              <a:rPr lang="en-US" dirty="0"/>
              <a:t>(cont’d)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4008882" y="2076450"/>
            <a:ext cx="7127875" cy="119951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43230" marR="438150" indent="-635" algn="ctr">
              <a:lnSpc>
                <a:spcPct val="100000"/>
              </a:lnSpc>
              <a:spcBef>
                <a:spcPts val="295"/>
              </a:spcBef>
            </a:pPr>
            <a:r>
              <a:rPr sz="2400" spc="-25" dirty="0">
                <a:latin typeface="Arial MT"/>
                <a:cs typeface="Arial MT"/>
              </a:rPr>
              <a:t>Variances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10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reviewed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regularly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management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corrective actions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taken</a:t>
            </a:r>
            <a:r>
              <a:rPr sz="2400" dirty="0">
                <a:latin typeface="Arial MT"/>
                <a:cs typeface="Arial MT"/>
              </a:rPr>
              <a:t> 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unfavorable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variances.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090" y="2076450"/>
            <a:ext cx="2661285" cy="119951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r>
              <a:rPr sz="2400" spc="-5" dirty="0">
                <a:latin typeface="Arial MT"/>
                <a:cs typeface="Arial MT"/>
              </a:rPr>
              <a:t>Monitoring </a:t>
            </a:r>
            <a:r>
              <a:rPr sz="2400" dirty="0">
                <a:latin typeface="Arial MT"/>
                <a:cs typeface="Arial MT"/>
              </a:rPr>
              <a:t>+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Continuous </a:t>
            </a:r>
            <a:r>
              <a:rPr sz="2400" dirty="0">
                <a:latin typeface="Arial MT"/>
                <a:cs typeface="Arial MT"/>
              </a:rPr>
              <a:t> I</a:t>
            </a:r>
            <a:r>
              <a:rPr sz="2400" spc="5" dirty="0">
                <a:latin typeface="Arial MT"/>
                <a:cs typeface="Arial MT"/>
              </a:rPr>
              <a:t>m</a:t>
            </a:r>
            <a:r>
              <a:rPr sz="2400" spc="-5" dirty="0">
                <a:latin typeface="Arial MT"/>
                <a:cs typeface="Arial MT"/>
              </a:rPr>
              <a:t>prove</a:t>
            </a:r>
            <a:r>
              <a:rPr sz="2400" dirty="0">
                <a:latin typeface="Arial MT"/>
                <a:cs typeface="Arial MT"/>
              </a:rPr>
              <a:t>m</a:t>
            </a:r>
            <a:r>
              <a:rPr sz="2400" spc="-5" dirty="0">
                <a:latin typeface="Arial MT"/>
                <a:cs typeface="Arial MT"/>
              </a:rPr>
              <a:t>ent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8882" y="3876294"/>
            <a:ext cx="7127875" cy="156972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54355" marR="547370" indent="-1905"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evaluate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performance</a:t>
            </a:r>
            <a:r>
              <a:rPr sz="2400" dirty="0">
                <a:latin typeface="Arial MT"/>
                <a:cs typeface="Arial MT"/>
              </a:rPr>
              <a:t> of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employees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worker</a:t>
            </a:r>
            <a:r>
              <a:rPr sz="2400" u="heavy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has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control/responsibility</a:t>
            </a:r>
            <a:r>
              <a:rPr sz="2400" u="heavy" spc="6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over</a:t>
            </a:r>
            <a:r>
              <a:rPr sz="2400" u="heavy" spc="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variance</a:t>
            </a:r>
            <a:r>
              <a:rPr sz="2400" u="heavy" spc="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being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analyzed.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090" y="4271009"/>
            <a:ext cx="2661285" cy="83058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sz="2400" spc="-5" dirty="0">
                <a:latin typeface="Arial MT"/>
                <a:cs typeface="Arial MT"/>
              </a:rPr>
              <a:t>P</a:t>
            </a:r>
            <a:r>
              <a:rPr sz="2400" spc="-1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5" dirty="0">
                <a:latin typeface="Arial MT"/>
                <a:cs typeface="Arial MT"/>
              </a:rPr>
              <a:t>f</a:t>
            </a:r>
            <a:r>
              <a:rPr sz="2400" spc="-5" dirty="0">
                <a:latin typeface="Arial MT"/>
                <a:cs typeface="Arial MT"/>
              </a:rPr>
              <a:t>ormance  Evaluation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FAB1B-D3FB-578F-479D-26AA4433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6FBD9664-6C82-AE9A-BEB0-64D9563E46B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477E27-B888-BC66-E182-FF1D06D21F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Variance Analysis</a:t>
            </a:r>
            <a:endParaRPr lang="en-CA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4B42CB-6963-153C-E876-FC0A0B2BCEFB}"/>
              </a:ext>
            </a:extLst>
          </p:cNvPr>
          <p:cNvSpPr txBox="1"/>
          <p:nvPr/>
        </p:nvSpPr>
        <p:spPr>
          <a:xfrm>
            <a:off x="1271464" y="2179507"/>
            <a:ext cx="3143662" cy="814967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Price Variance</a:t>
            </a:r>
          </a:p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089F99F-3D91-9133-D212-C30871E886B6}"/>
              </a:ext>
            </a:extLst>
          </p:cNvPr>
          <p:cNvSpPr txBox="1"/>
          <p:nvPr/>
        </p:nvSpPr>
        <p:spPr>
          <a:xfrm>
            <a:off x="720090" y="4271009"/>
            <a:ext cx="4511814" cy="77649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Difference between actual price and standard price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538650CB-3555-EBFB-13FD-CCBA1FC39DBF}"/>
              </a:ext>
            </a:extLst>
          </p:cNvPr>
          <p:cNvSpPr txBox="1"/>
          <p:nvPr/>
        </p:nvSpPr>
        <p:spPr>
          <a:xfrm>
            <a:off x="7104112" y="2104009"/>
            <a:ext cx="3744416" cy="814967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Quantity Variance</a:t>
            </a:r>
          </a:p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AC79161-BA55-F022-4EB3-A8BEC368CAC5}"/>
              </a:ext>
            </a:extLst>
          </p:cNvPr>
          <p:cNvSpPr txBox="1"/>
          <p:nvPr/>
        </p:nvSpPr>
        <p:spPr>
          <a:xfrm>
            <a:off x="6888088" y="4149080"/>
            <a:ext cx="4511814" cy="114582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Difference between actual quantity and standard quantity</a:t>
            </a:r>
            <a:endParaRPr sz="2400" dirty="0">
              <a:latin typeface="Arial MT"/>
              <a:cs typeface="Arial M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D0DEE0-E2DC-84FC-868E-5C4946D084EC}"/>
              </a:ext>
            </a:extLst>
          </p:cNvPr>
          <p:cNvCxnSpPr>
            <a:cxnSpLocks/>
          </p:cNvCxnSpPr>
          <p:nvPr/>
        </p:nvCxnSpPr>
        <p:spPr>
          <a:xfrm>
            <a:off x="2783632" y="3068960"/>
            <a:ext cx="0" cy="1008112"/>
          </a:xfrm>
          <a:prstGeom prst="straightConnector1">
            <a:avLst/>
          </a:prstGeom>
          <a:ln w="38100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F948C0-1839-7A54-E7E6-129388553710}"/>
              </a:ext>
            </a:extLst>
          </p:cNvPr>
          <p:cNvCxnSpPr>
            <a:cxnSpLocks/>
          </p:cNvCxnSpPr>
          <p:nvPr/>
        </p:nvCxnSpPr>
        <p:spPr>
          <a:xfrm>
            <a:off x="8976320" y="3017506"/>
            <a:ext cx="0" cy="1008112"/>
          </a:xfrm>
          <a:prstGeom prst="straightConnector1">
            <a:avLst/>
          </a:prstGeom>
          <a:ln w="38100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104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8B0F-5174-698D-123A-3F0C9894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DF7C1082-2EF9-5C8B-A284-6C38AAC15C8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4C9F23D-B24A-1452-9268-71C9AD558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Variance Analysis</a:t>
            </a:r>
            <a:endParaRPr lang="en-CA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3FCF37A-7538-9BA6-2996-B39C150139D0}"/>
              </a:ext>
            </a:extLst>
          </p:cNvPr>
          <p:cNvSpPr txBox="1"/>
          <p:nvPr/>
        </p:nvSpPr>
        <p:spPr>
          <a:xfrm>
            <a:off x="1271464" y="2179507"/>
            <a:ext cx="3143662" cy="814967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Price Variance</a:t>
            </a:r>
          </a:p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4CF21B5-A0CB-E8DD-4901-51398F1E5182}"/>
              </a:ext>
            </a:extLst>
          </p:cNvPr>
          <p:cNvSpPr txBox="1"/>
          <p:nvPr/>
        </p:nvSpPr>
        <p:spPr>
          <a:xfrm>
            <a:off x="720090" y="4271009"/>
            <a:ext cx="4511814" cy="122277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Material price variance</a:t>
            </a:r>
          </a:p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Labour rate variance</a:t>
            </a:r>
          </a:p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VOH spending variance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064CD607-90BF-70F1-2695-F54C10F9FCF4}"/>
              </a:ext>
            </a:extLst>
          </p:cNvPr>
          <p:cNvSpPr txBox="1"/>
          <p:nvPr/>
        </p:nvSpPr>
        <p:spPr>
          <a:xfrm>
            <a:off x="7104112" y="2104009"/>
            <a:ext cx="3744416" cy="814967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Quantity Variance</a:t>
            </a:r>
          </a:p>
          <a:p>
            <a:pPr marL="439420" marR="431800" indent="45720" algn="just">
              <a:lnSpc>
                <a:spcPct val="100000"/>
              </a:lnSpc>
              <a:spcBef>
                <a:spcPts val="295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D2936C7-D819-B0F8-CF46-BE2AD77733EE}"/>
              </a:ext>
            </a:extLst>
          </p:cNvPr>
          <p:cNvSpPr txBox="1"/>
          <p:nvPr/>
        </p:nvSpPr>
        <p:spPr>
          <a:xfrm>
            <a:off x="6888088" y="4149080"/>
            <a:ext cx="4511814" cy="122277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Material quantity variance</a:t>
            </a:r>
          </a:p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Labour efficiency variance</a:t>
            </a:r>
          </a:p>
          <a:p>
            <a:pPr marL="619760" marR="450850" indent="-163195">
              <a:lnSpc>
                <a:spcPct val="100000"/>
              </a:lnSpc>
              <a:spcBef>
                <a:spcPts val="295"/>
              </a:spcBef>
            </a:pPr>
            <a:r>
              <a:rPr lang="en-CA" sz="2400" spc="-5" dirty="0">
                <a:latin typeface="Arial MT"/>
                <a:cs typeface="Arial MT"/>
              </a:rPr>
              <a:t>VOH efficiency variance</a:t>
            </a:r>
            <a:endParaRPr lang="en-CA" sz="2400" dirty="0">
              <a:latin typeface="Arial MT"/>
              <a:cs typeface="Arial M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E8B40A-E182-A1DA-C073-6527136BDEA2}"/>
              </a:ext>
            </a:extLst>
          </p:cNvPr>
          <p:cNvCxnSpPr>
            <a:cxnSpLocks/>
          </p:cNvCxnSpPr>
          <p:nvPr/>
        </p:nvCxnSpPr>
        <p:spPr>
          <a:xfrm>
            <a:off x="2783632" y="3068960"/>
            <a:ext cx="0" cy="1008112"/>
          </a:xfrm>
          <a:prstGeom prst="straightConnector1">
            <a:avLst/>
          </a:prstGeom>
          <a:ln w="38100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6B4AEC-3804-6861-2FF2-7E570366A222}"/>
              </a:ext>
            </a:extLst>
          </p:cNvPr>
          <p:cNvCxnSpPr>
            <a:cxnSpLocks/>
          </p:cNvCxnSpPr>
          <p:nvPr/>
        </p:nvCxnSpPr>
        <p:spPr>
          <a:xfrm>
            <a:off x="8976320" y="3017506"/>
            <a:ext cx="0" cy="1008112"/>
          </a:xfrm>
          <a:prstGeom prst="straightConnector1">
            <a:avLst/>
          </a:prstGeom>
          <a:ln w="38100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793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28FDF8D6-EF0C-A50E-C317-62540B0A9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Model</a:t>
            </a:r>
            <a:r>
              <a:rPr lang="nn-NO" spc="-30" dirty="0"/>
              <a:t> </a:t>
            </a:r>
            <a:r>
              <a:rPr lang="nn-NO" dirty="0"/>
              <a:t>for</a:t>
            </a:r>
            <a:r>
              <a:rPr lang="nn-NO" spc="-25" dirty="0"/>
              <a:t> </a:t>
            </a:r>
            <a:r>
              <a:rPr lang="nn-NO" dirty="0"/>
              <a:t>Flexible</a:t>
            </a:r>
            <a:r>
              <a:rPr lang="nn-NO" spc="-40" dirty="0"/>
              <a:t> </a:t>
            </a:r>
            <a:r>
              <a:rPr lang="nn-NO" spc="-20" dirty="0"/>
              <a:t>Variance</a:t>
            </a:r>
            <a:r>
              <a:rPr lang="nn-NO" spc="-160" dirty="0"/>
              <a:t> </a:t>
            </a:r>
            <a:r>
              <a:rPr lang="nn-NO" spc="-5" dirty="0"/>
              <a:t>Analysis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1578610" y="3336163"/>
            <a:ext cx="210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736" y="1508252"/>
            <a:ext cx="227838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4451" y="1508252"/>
            <a:ext cx="227901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4603" y="1508252"/>
            <a:ext cx="266636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4245" y="2458402"/>
            <a:ext cx="8179434" cy="852805"/>
            <a:chOff x="444245" y="2458402"/>
            <a:chExt cx="8179434" cy="852805"/>
          </a:xfrm>
        </p:grpSpPr>
        <p:sp>
          <p:nvSpPr>
            <p:cNvPr id="8" name="object 8"/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314890" y="3768090"/>
            <a:ext cx="2264410" cy="850900"/>
            <a:chOff x="3314890" y="3768090"/>
            <a:chExt cx="2264410" cy="850900"/>
          </a:xfrm>
        </p:grpSpPr>
        <p:sp>
          <p:nvSpPr>
            <p:cNvPr id="16" name="object 16"/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07568" y="4571492"/>
            <a:ext cx="46085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Total Flexible Budget 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1570" y="3336163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74785" y="3291078"/>
            <a:ext cx="3002280" cy="156972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1285" marR="112395" indent="-1905"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variance could be </a:t>
            </a:r>
            <a:r>
              <a:rPr sz="2400" dirty="0">
                <a:latin typeface="Arial MT"/>
                <a:cs typeface="Arial MT"/>
              </a:rPr>
              <a:t> to </a:t>
            </a:r>
            <a:r>
              <a:rPr sz="2400" spc="-5" dirty="0">
                <a:latin typeface="Arial MT"/>
                <a:cs typeface="Arial MT"/>
              </a:rPr>
              <a:t>a change in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quantity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change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price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1198" y="5122926"/>
            <a:ext cx="8376284" cy="1384300"/>
          </a:xfrm>
          <a:custGeom>
            <a:avLst/>
            <a:gdLst/>
            <a:ahLst/>
            <a:cxnLst/>
            <a:rect l="l" t="t" r="r" b="b"/>
            <a:pathLst>
              <a:path w="8376284" h="1384300">
                <a:moveTo>
                  <a:pt x="0" y="1383792"/>
                </a:moveTo>
                <a:lnTo>
                  <a:pt x="8375904" y="1383792"/>
                </a:lnTo>
                <a:lnTo>
                  <a:pt x="8375904" y="0"/>
                </a:lnTo>
                <a:lnTo>
                  <a:pt x="0" y="0"/>
                </a:lnTo>
                <a:lnTo>
                  <a:pt x="0" y="1383792"/>
                </a:lnTo>
                <a:close/>
              </a:path>
            </a:pathLst>
          </a:custGeom>
          <a:ln w="254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71753" y="4965547"/>
            <a:ext cx="3193415" cy="14890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540"/>
              </a:spcBef>
            </a:pPr>
            <a:r>
              <a:rPr sz="2400" b="1" dirty="0">
                <a:latin typeface="Arial"/>
                <a:cs typeface="Arial"/>
              </a:rPr>
              <a:t>(AQ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×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AP)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(AQ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×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SP)</a:t>
            </a:r>
            <a:endParaRPr sz="2400">
              <a:latin typeface="Arial"/>
              <a:cs typeface="Arial"/>
            </a:endParaRPr>
          </a:p>
          <a:p>
            <a:pPr marR="13970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latin typeface="Arial"/>
                <a:cs typeface="Arial"/>
              </a:rPr>
              <a:t>AQ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 </a:t>
            </a:r>
            <a:r>
              <a:rPr sz="2400" b="1" spc="-6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AP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Actual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3621" y="4965547"/>
            <a:ext cx="3441700" cy="14890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2400" b="1" dirty="0">
                <a:latin typeface="Arial"/>
                <a:cs typeface="Arial"/>
              </a:rPr>
              <a:t>(AQ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×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SP)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(SQ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×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SP)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latin typeface="Arial"/>
                <a:cs typeface="Arial"/>
              </a:rPr>
              <a:t>SP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" dirty="0">
                <a:latin typeface="Arial"/>
                <a:cs typeface="Arial"/>
              </a:rPr>
              <a:t> Standard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SQ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Callout: Down Arrow 31">
            <a:extLst>
              <a:ext uri="{FF2B5EF4-FFF2-40B4-BE49-F238E27FC236}">
                <a16:creationId xmlns:a16="http://schemas.microsoft.com/office/drawing/2014/main" id="{6388F9CB-B0F0-CC3C-C96F-954E252CD74C}"/>
              </a:ext>
            </a:extLst>
          </p:cNvPr>
          <p:cNvSpPr/>
          <p:nvPr/>
        </p:nvSpPr>
        <p:spPr>
          <a:xfrm>
            <a:off x="3718936" y="593852"/>
            <a:ext cx="1455684" cy="914400"/>
          </a:xfrm>
          <a:prstGeom prst="down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Flexible Budget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453713-91AF-A356-3FE4-C3C289B21F52}"/>
              </a:ext>
            </a:extLst>
          </p:cNvPr>
          <p:cNvCxnSpPr/>
          <p:nvPr/>
        </p:nvCxnSpPr>
        <p:spPr>
          <a:xfrm>
            <a:off x="2783632" y="1700808"/>
            <a:ext cx="398811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A25634-C3AE-C554-4A3A-AFB39F123DB0}"/>
              </a:ext>
            </a:extLst>
          </p:cNvPr>
          <p:cNvCxnSpPr>
            <a:cxnSpLocks/>
          </p:cNvCxnSpPr>
          <p:nvPr/>
        </p:nvCxnSpPr>
        <p:spPr>
          <a:xfrm flipH="1">
            <a:off x="5624839" y="2348880"/>
            <a:ext cx="51116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llout: Down Arrow 36">
            <a:extLst>
              <a:ext uri="{FF2B5EF4-FFF2-40B4-BE49-F238E27FC236}">
                <a16:creationId xmlns:a16="http://schemas.microsoft.com/office/drawing/2014/main" id="{40909CDE-5E9D-D935-4572-493E8DF92032}"/>
              </a:ext>
            </a:extLst>
          </p:cNvPr>
          <p:cNvSpPr/>
          <p:nvPr/>
        </p:nvSpPr>
        <p:spPr>
          <a:xfrm>
            <a:off x="6689719" y="593852"/>
            <a:ext cx="1455684" cy="914400"/>
          </a:xfrm>
          <a:prstGeom prst="down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Master Budget</a:t>
            </a:r>
          </a:p>
        </p:txBody>
      </p:sp>
      <p:sp>
        <p:nvSpPr>
          <p:cNvPr id="38" name="Callout: Down Arrow 37">
            <a:extLst>
              <a:ext uri="{FF2B5EF4-FFF2-40B4-BE49-F238E27FC236}">
                <a16:creationId xmlns:a16="http://schemas.microsoft.com/office/drawing/2014/main" id="{22A276B7-3360-1518-B515-BAF2C4EFA552}"/>
              </a:ext>
            </a:extLst>
          </p:cNvPr>
          <p:cNvSpPr/>
          <p:nvPr/>
        </p:nvSpPr>
        <p:spPr>
          <a:xfrm>
            <a:off x="850768" y="593852"/>
            <a:ext cx="1455684" cy="914400"/>
          </a:xfrm>
          <a:prstGeom prst="down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Actual</a:t>
            </a:r>
          </a:p>
          <a:p>
            <a:pPr algn="ctr"/>
            <a:r>
              <a:rPr lang="en-CA" b="1" dirty="0">
                <a:solidFill>
                  <a:schemeClr val="tx1"/>
                </a:solidFill>
              </a:rP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91C90-90C7-9750-8B5B-85681367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EC1D68A1-5D6E-5CB8-BACA-E189834B9EB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FE53BCA7-9860-28E9-F7EB-9DF0AA170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Model</a:t>
            </a:r>
            <a:r>
              <a:rPr lang="nn-NO" spc="-30" dirty="0"/>
              <a:t> </a:t>
            </a:r>
            <a:r>
              <a:rPr lang="nn-NO" dirty="0"/>
              <a:t>for</a:t>
            </a:r>
            <a:r>
              <a:rPr lang="nn-NO" spc="-25" dirty="0"/>
              <a:t> </a:t>
            </a:r>
            <a:r>
              <a:rPr lang="nn-NO" dirty="0"/>
              <a:t>Flexible</a:t>
            </a:r>
            <a:r>
              <a:rPr lang="nn-NO" spc="-40" dirty="0"/>
              <a:t> </a:t>
            </a:r>
            <a:r>
              <a:rPr lang="nn-NO" spc="-20" dirty="0"/>
              <a:t>Variance</a:t>
            </a:r>
            <a:r>
              <a:rPr lang="nn-NO" spc="-160" dirty="0"/>
              <a:t> </a:t>
            </a:r>
            <a:r>
              <a:rPr lang="nn-NO" spc="-5" dirty="0"/>
              <a:t>Analysis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6A149C-46A6-DEFF-11F1-D0CAD7EB1A01}"/>
              </a:ext>
            </a:extLst>
          </p:cNvPr>
          <p:cNvSpPr txBox="1"/>
          <p:nvPr/>
        </p:nvSpPr>
        <p:spPr>
          <a:xfrm>
            <a:off x="1614678" y="3800612"/>
            <a:ext cx="210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CCF3922-5747-D2A2-7EE5-4DEA8902F19F}"/>
              </a:ext>
            </a:extLst>
          </p:cNvPr>
          <p:cNvSpPr txBox="1"/>
          <p:nvPr/>
        </p:nvSpPr>
        <p:spPr>
          <a:xfrm>
            <a:off x="505252" y="1802802"/>
            <a:ext cx="227838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Actual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Quantity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69051F6-30EC-EFDF-A4A4-757E455DFCB1}"/>
              </a:ext>
            </a:extLst>
          </p:cNvPr>
          <p:cNvSpPr txBox="1"/>
          <p:nvPr/>
        </p:nvSpPr>
        <p:spPr>
          <a:xfrm>
            <a:off x="3328162" y="1818032"/>
            <a:ext cx="227901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Actual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Quantity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EFB828D-C330-2EA2-DA2E-74278A32F13A}"/>
              </a:ext>
            </a:extLst>
          </p:cNvPr>
          <p:cNvSpPr txBox="1"/>
          <p:nvPr/>
        </p:nvSpPr>
        <p:spPr>
          <a:xfrm>
            <a:off x="6262817" y="1836605"/>
            <a:ext cx="266636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1918E2A-6F96-A6E1-437E-46DA0C55082E}"/>
              </a:ext>
            </a:extLst>
          </p:cNvPr>
          <p:cNvGrpSpPr/>
          <p:nvPr/>
        </p:nvGrpSpPr>
        <p:grpSpPr>
          <a:xfrm>
            <a:off x="455019" y="2935072"/>
            <a:ext cx="8179434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73F9ECD-357A-E9DB-4E52-B0E2E478D0E1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9AF3771-1D16-0297-B02B-0355FE1AE22D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4BEA0A9-BB28-3B02-C881-50B99D9D520E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6E1F8FA-8629-39AC-90B1-5538660DB6D0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B8ADC11-FBF0-ACB1-C614-C29C7689F033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7BEA89B-68DD-AE24-989C-254DCAD40418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A54C158-DE20-8593-0600-FDE5D17F61A3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3846F030-0476-35D2-FC05-AF88DB4A2B6F}"/>
              </a:ext>
            </a:extLst>
          </p:cNvPr>
          <p:cNvGrpSpPr/>
          <p:nvPr/>
        </p:nvGrpSpPr>
        <p:grpSpPr>
          <a:xfrm>
            <a:off x="3357689" y="4400480"/>
            <a:ext cx="2264410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07A36F8-E0DF-1D0E-F5A1-412EDBBD0473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CB02AB2-CE7A-5618-01B6-3C90B93B2A1E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4727B11-D022-A28A-C377-DB3B0ACE61C8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DB19B2D7-CCAA-A079-444A-15FA502DBCDB}"/>
              </a:ext>
            </a:extLst>
          </p:cNvPr>
          <p:cNvSpPr txBox="1"/>
          <p:nvPr/>
        </p:nvSpPr>
        <p:spPr>
          <a:xfrm>
            <a:off x="2158905" y="5296846"/>
            <a:ext cx="46085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Total Flexible Budget 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6A4E5B1-EB33-6003-80C1-F8C87717479D}"/>
              </a:ext>
            </a:extLst>
          </p:cNvPr>
          <p:cNvSpPr txBox="1"/>
          <p:nvPr/>
        </p:nvSpPr>
        <p:spPr>
          <a:xfrm>
            <a:off x="4942077" y="3782058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386FE4-31D2-6EA1-36C1-5BA68ECE447E}"/>
              </a:ext>
            </a:extLst>
          </p:cNvPr>
          <p:cNvCxnSpPr>
            <a:cxnSpLocks/>
          </p:cNvCxnSpPr>
          <p:nvPr/>
        </p:nvCxnSpPr>
        <p:spPr>
          <a:xfrm>
            <a:off x="1775520" y="1358762"/>
            <a:ext cx="0" cy="47784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E9F1E2BE-F299-2AE2-5F94-986A08886F04}"/>
              </a:ext>
            </a:extLst>
          </p:cNvPr>
          <p:cNvSpPr txBox="1"/>
          <p:nvPr/>
        </p:nvSpPr>
        <p:spPr>
          <a:xfrm>
            <a:off x="418185" y="582267"/>
            <a:ext cx="11158879" cy="776495"/>
          </a:xfrm>
          <a:prstGeom prst="rect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spcBef>
                <a:spcPts val="295"/>
              </a:spcBef>
            </a:pPr>
            <a:r>
              <a:rPr lang="en-CA" altLang="en-US" sz="2400" b="1" dirty="0">
                <a:solidFill>
                  <a:srgbClr val="FF0000"/>
                </a:solidFill>
                <a:latin typeface="Arial"/>
                <a:cs typeface="Arial"/>
              </a:rPr>
              <a:t>Actual quantity </a:t>
            </a:r>
            <a:r>
              <a:rPr lang="en-CA" altLang="en-US" sz="2400" b="1" dirty="0">
                <a:solidFill>
                  <a:schemeClr val="tx1"/>
                </a:solidFill>
              </a:rPr>
              <a:t>is the amount of direct material, direct labour, and variable manufacturing overhead actually acquired</a:t>
            </a:r>
            <a:r>
              <a:rPr lang="en-CA" sz="2400" spc="-5" dirty="0">
                <a:latin typeface="Arial MT"/>
                <a:cs typeface="Arial MT"/>
              </a:rPr>
              <a:t> price</a:t>
            </a:r>
            <a:endParaRPr sz="2400" dirty="0">
              <a:latin typeface="Arial MT"/>
              <a:cs typeface="Arial M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1B1E0D-479D-FA7F-E96D-1E24A5CEC452}"/>
              </a:ext>
            </a:extLst>
          </p:cNvPr>
          <p:cNvCxnSpPr>
            <a:cxnSpLocks/>
          </p:cNvCxnSpPr>
          <p:nvPr/>
        </p:nvCxnSpPr>
        <p:spPr>
          <a:xfrm>
            <a:off x="4655840" y="1395306"/>
            <a:ext cx="0" cy="47784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64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9BB1-6600-FB8D-5B88-4FD4A42C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F10FEAD8-A400-AB35-8AC2-35F12418B79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3FB3E9A6-CFAB-FDE3-309C-B7E4F9F82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Model</a:t>
            </a:r>
            <a:r>
              <a:rPr lang="nn-NO" spc="-30" dirty="0"/>
              <a:t> </a:t>
            </a:r>
            <a:r>
              <a:rPr lang="nn-NO" dirty="0"/>
              <a:t>for</a:t>
            </a:r>
            <a:r>
              <a:rPr lang="nn-NO" spc="-25" dirty="0"/>
              <a:t> </a:t>
            </a:r>
            <a:r>
              <a:rPr lang="nn-NO" dirty="0"/>
              <a:t>Flexible</a:t>
            </a:r>
            <a:r>
              <a:rPr lang="nn-NO" spc="-40" dirty="0"/>
              <a:t> </a:t>
            </a:r>
            <a:r>
              <a:rPr lang="nn-NO" spc="-20" dirty="0"/>
              <a:t>Variance</a:t>
            </a:r>
            <a:r>
              <a:rPr lang="nn-NO" spc="-160" dirty="0"/>
              <a:t> </a:t>
            </a:r>
            <a:r>
              <a:rPr lang="nn-NO" spc="-5" dirty="0"/>
              <a:t>Analysis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C7C8660-05BA-4D90-06C2-A06DF9E73444}"/>
              </a:ext>
            </a:extLst>
          </p:cNvPr>
          <p:cNvSpPr txBox="1"/>
          <p:nvPr/>
        </p:nvSpPr>
        <p:spPr>
          <a:xfrm>
            <a:off x="1614678" y="3800612"/>
            <a:ext cx="210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4C5DE5-5B59-219C-D916-24DBD02BF746}"/>
              </a:ext>
            </a:extLst>
          </p:cNvPr>
          <p:cNvSpPr txBox="1"/>
          <p:nvPr/>
        </p:nvSpPr>
        <p:spPr>
          <a:xfrm>
            <a:off x="505252" y="1802802"/>
            <a:ext cx="227838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CDAC41C-69FD-0E61-74DF-A7C2C29171D8}"/>
              </a:ext>
            </a:extLst>
          </p:cNvPr>
          <p:cNvSpPr txBox="1"/>
          <p:nvPr/>
        </p:nvSpPr>
        <p:spPr>
          <a:xfrm>
            <a:off x="3328162" y="1818032"/>
            <a:ext cx="227901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AE66652-3B75-F640-191C-7CE8553E8410}"/>
              </a:ext>
            </a:extLst>
          </p:cNvPr>
          <p:cNvSpPr txBox="1"/>
          <p:nvPr/>
        </p:nvSpPr>
        <p:spPr>
          <a:xfrm>
            <a:off x="6262817" y="1836605"/>
            <a:ext cx="266636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Standard</a:t>
            </a:r>
            <a:r>
              <a:rPr sz="24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Quantity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A032238F-341D-EA6F-BE90-4ECAA87AA30E}"/>
              </a:ext>
            </a:extLst>
          </p:cNvPr>
          <p:cNvGrpSpPr/>
          <p:nvPr/>
        </p:nvGrpSpPr>
        <p:grpSpPr>
          <a:xfrm>
            <a:off x="455019" y="2935072"/>
            <a:ext cx="8179434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2B17828-9424-5E26-51E3-92EC9EF707FB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DC973C1-1083-6C84-9197-3E253348F7EC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C0739F0-7260-AF2D-3A53-520060913411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70CDD70-8E81-FEA1-F97C-19DD344A9846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A99E737-96F8-D783-FA99-4EDED7529565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9115293-E6C8-3860-0415-CB3E2C4F36D7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8412A43-E65B-8F6E-3229-F2BB3137FCAD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5678F176-F83F-28C7-311A-715551864108}"/>
              </a:ext>
            </a:extLst>
          </p:cNvPr>
          <p:cNvGrpSpPr/>
          <p:nvPr/>
        </p:nvGrpSpPr>
        <p:grpSpPr>
          <a:xfrm>
            <a:off x="3357689" y="4400480"/>
            <a:ext cx="2264410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F5A664B-5CE0-9CBE-114E-C8415071CF91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14803BD-CFF6-74D2-F517-4D58A0E8AB9F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B2477C0-9BE7-063A-2411-0720341F1F2A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C7B7C42D-364D-F68E-9DC6-1730CCA26B23}"/>
              </a:ext>
            </a:extLst>
          </p:cNvPr>
          <p:cNvSpPr txBox="1"/>
          <p:nvPr/>
        </p:nvSpPr>
        <p:spPr>
          <a:xfrm>
            <a:off x="2158905" y="5296846"/>
            <a:ext cx="46085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Total Flexible Budget 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9180-72EE-45DF-20AD-0A905F3245B2}"/>
              </a:ext>
            </a:extLst>
          </p:cNvPr>
          <p:cNvSpPr txBox="1"/>
          <p:nvPr/>
        </p:nvSpPr>
        <p:spPr>
          <a:xfrm>
            <a:off x="4942077" y="3782058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F0A080CF-E31F-6264-DFFB-20082F1B6173}"/>
              </a:ext>
            </a:extLst>
          </p:cNvPr>
          <p:cNvSpPr txBox="1"/>
          <p:nvPr/>
        </p:nvSpPr>
        <p:spPr>
          <a:xfrm>
            <a:off x="418185" y="582267"/>
            <a:ext cx="11158879" cy="776495"/>
          </a:xfrm>
          <a:prstGeom prst="rect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spcBef>
                <a:spcPts val="295"/>
              </a:spcBef>
            </a:pPr>
            <a:r>
              <a:rPr lang="en-CA" altLang="en-US" sz="2400" b="1" spc="-5" dirty="0">
                <a:solidFill>
                  <a:srgbClr val="FF0000"/>
                </a:solidFill>
                <a:latin typeface="Arial"/>
                <a:cs typeface="Arial"/>
              </a:rPr>
              <a:t>Standard quantity </a:t>
            </a:r>
            <a:r>
              <a:rPr lang="en-CA" altLang="en-US" sz="2400" b="1" dirty="0">
                <a:solidFill>
                  <a:schemeClr val="tx1"/>
                </a:solidFill>
              </a:rPr>
              <a:t>is the amount of direct material, direct labour, and variable manufacturing overhead actually acquired</a:t>
            </a:r>
            <a:r>
              <a:rPr lang="en-CA" sz="2400" spc="-5" dirty="0">
                <a:latin typeface="Arial MT"/>
                <a:cs typeface="Arial MT"/>
              </a:rPr>
              <a:t> price</a:t>
            </a:r>
            <a:endParaRPr sz="2400" dirty="0">
              <a:latin typeface="Arial MT"/>
              <a:cs typeface="Arial M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7ECDB2-0F40-5B0B-E35E-C978D4A10852}"/>
              </a:ext>
            </a:extLst>
          </p:cNvPr>
          <p:cNvCxnSpPr>
            <a:cxnSpLocks/>
          </p:cNvCxnSpPr>
          <p:nvPr/>
        </p:nvCxnSpPr>
        <p:spPr>
          <a:xfrm>
            <a:off x="7558076" y="1358762"/>
            <a:ext cx="0" cy="47784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993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89C1-3A75-EEAB-6B4A-4E62ADC9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094ECB27-FBAC-91D5-8101-EEF927DDB52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F75AC1A7-048C-B1E4-3ED0-B2395CADA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Model</a:t>
            </a:r>
            <a:r>
              <a:rPr lang="nn-NO" spc="-30" dirty="0"/>
              <a:t> </a:t>
            </a:r>
            <a:r>
              <a:rPr lang="nn-NO" dirty="0"/>
              <a:t>for</a:t>
            </a:r>
            <a:r>
              <a:rPr lang="nn-NO" spc="-25" dirty="0"/>
              <a:t> </a:t>
            </a:r>
            <a:r>
              <a:rPr lang="nn-NO" dirty="0"/>
              <a:t>Flexible</a:t>
            </a:r>
            <a:r>
              <a:rPr lang="nn-NO" spc="-40" dirty="0"/>
              <a:t> </a:t>
            </a:r>
            <a:r>
              <a:rPr lang="nn-NO" spc="-20" dirty="0"/>
              <a:t>Variance</a:t>
            </a:r>
            <a:r>
              <a:rPr lang="nn-NO" spc="-160" dirty="0"/>
              <a:t> </a:t>
            </a:r>
            <a:r>
              <a:rPr lang="nn-NO" spc="-5" dirty="0"/>
              <a:t>Analysis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BCCB796-FE41-CBAE-90A9-3EB5EED90322}"/>
              </a:ext>
            </a:extLst>
          </p:cNvPr>
          <p:cNvSpPr txBox="1"/>
          <p:nvPr/>
        </p:nvSpPr>
        <p:spPr>
          <a:xfrm>
            <a:off x="1614678" y="3800612"/>
            <a:ext cx="210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192FF4F-A929-75DD-2C38-35556C5AFCAE}"/>
              </a:ext>
            </a:extLst>
          </p:cNvPr>
          <p:cNvSpPr txBox="1"/>
          <p:nvPr/>
        </p:nvSpPr>
        <p:spPr>
          <a:xfrm>
            <a:off x="505252" y="1802802"/>
            <a:ext cx="2278380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Actual Price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7B9B960-FF30-1411-C122-B8520D5AE8F8}"/>
              </a:ext>
            </a:extLst>
          </p:cNvPr>
          <p:cNvSpPr txBox="1"/>
          <p:nvPr/>
        </p:nvSpPr>
        <p:spPr>
          <a:xfrm>
            <a:off x="3328162" y="1818032"/>
            <a:ext cx="227901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B97A2A8-F742-E364-78E7-594D2D896787}"/>
              </a:ext>
            </a:extLst>
          </p:cNvPr>
          <p:cNvSpPr txBox="1"/>
          <p:nvPr/>
        </p:nvSpPr>
        <p:spPr>
          <a:xfrm>
            <a:off x="6262817" y="1836605"/>
            <a:ext cx="266636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D041A37-4FD2-EBB9-E81D-CCA2BAE0AD07}"/>
              </a:ext>
            </a:extLst>
          </p:cNvPr>
          <p:cNvGrpSpPr/>
          <p:nvPr/>
        </p:nvGrpSpPr>
        <p:grpSpPr>
          <a:xfrm>
            <a:off x="455019" y="2935072"/>
            <a:ext cx="8179434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AB14D69-C490-9EB2-45B8-5D2FBF94FC3F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16BAF78-8F0F-29A9-3739-E3438A81E177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CFD3167-58AA-4EB7-91FF-F6470002B550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7AE5580-5727-5FB6-D694-8D453D0A5BE7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569F482-1B0A-C863-B3B6-E83E68E74F85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767EE9F-3E03-A5FA-B0EB-E582B02001D3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247719F-34DB-EDED-1D34-576CB01E790B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DBC2D806-CD70-56C3-B96E-6BFE8183AD96}"/>
              </a:ext>
            </a:extLst>
          </p:cNvPr>
          <p:cNvGrpSpPr/>
          <p:nvPr/>
        </p:nvGrpSpPr>
        <p:grpSpPr>
          <a:xfrm>
            <a:off x="3357689" y="4400480"/>
            <a:ext cx="2264410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25F5D5C-2191-E572-CD1E-47C6A59669EA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53CA692-D99D-BBB3-EB6F-02892F18CB18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8671441-406A-5A3A-F986-1E285B301693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D574FDAC-9F23-44CB-AA98-DCFC1A7BD5CB}"/>
              </a:ext>
            </a:extLst>
          </p:cNvPr>
          <p:cNvSpPr txBox="1"/>
          <p:nvPr/>
        </p:nvSpPr>
        <p:spPr>
          <a:xfrm>
            <a:off x="2158905" y="5296846"/>
            <a:ext cx="46085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Total Flexible Budget 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72F7E3E-7211-F1F1-2E8F-A954A4B41F2A}"/>
              </a:ext>
            </a:extLst>
          </p:cNvPr>
          <p:cNvSpPr txBox="1"/>
          <p:nvPr/>
        </p:nvSpPr>
        <p:spPr>
          <a:xfrm>
            <a:off x="4942077" y="3782058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BACE5BF1-C7BA-272A-A8C0-4DE84426EDAD}"/>
              </a:ext>
            </a:extLst>
          </p:cNvPr>
          <p:cNvSpPr txBox="1"/>
          <p:nvPr/>
        </p:nvSpPr>
        <p:spPr>
          <a:xfrm>
            <a:off x="362607" y="762516"/>
            <a:ext cx="11158879" cy="407163"/>
          </a:xfrm>
          <a:prstGeom prst="rect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spcBef>
                <a:spcPts val="295"/>
              </a:spcBef>
            </a:pPr>
            <a:r>
              <a:rPr lang="en-CA" altLang="en-US" sz="2400" b="1" spc="-5" dirty="0">
                <a:solidFill>
                  <a:srgbClr val="FF0000"/>
                </a:solidFill>
                <a:latin typeface="Arial"/>
                <a:cs typeface="Arial"/>
              </a:rPr>
              <a:t>Actual price </a:t>
            </a:r>
            <a:r>
              <a:rPr lang="en-CA" altLang="en-US" sz="2400" b="1" dirty="0">
                <a:solidFill>
                  <a:schemeClr val="tx1"/>
                </a:solidFill>
              </a:rPr>
              <a:t>is the amount actually paid for amount of the input acquired</a:t>
            </a:r>
            <a:endParaRPr sz="24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1178FF-6B1A-2064-0CFF-CA39EC905451}"/>
              </a:ext>
            </a:extLst>
          </p:cNvPr>
          <p:cNvCxnSpPr>
            <a:cxnSpLocks/>
          </p:cNvCxnSpPr>
          <p:nvPr/>
        </p:nvCxnSpPr>
        <p:spPr>
          <a:xfrm>
            <a:off x="1547728" y="1169679"/>
            <a:ext cx="0" cy="125120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679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509F-9BCB-0B1E-B172-85E5E563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9019C8B8-0F47-09E5-0690-18C76AF875D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B6B03270-FA05-AA63-0D78-8FB45764A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Model</a:t>
            </a:r>
            <a:r>
              <a:rPr lang="nn-NO" spc="-30" dirty="0"/>
              <a:t> </a:t>
            </a:r>
            <a:r>
              <a:rPr lang="nn-NO" dirty="0"/>
              <a:t>for</a:t>
            </a:r>
            <a:r>
              <a:rPr lang="nn-NO" spc="-25" dirty="0"/>
              <a:t> </a:t>
            </a:r>
            <a:r>
              <a:rPr lang="nn-NO" dirty="0"/>
              <a:t>Flexible</a:t>
            </a:r>
            <a:r>
              <a:rPr lang="nn-NO" spc="-40" dirty="0"/>
              <a:t> </a:t>
            </a:r>
            <a:r>
              <a:rPr lang="nn-NO" spc="-20" dirty="0"/>
              <a:t>Variance</a:t>
            </a:r>
            <a:r>
              <a:rPr lang="nn-NO" spc="-160" dirty="0"/>
              <a:t> </a:t>
            </a:r>
            <a:r>
              <a:rPr lang="nn-NO" spc="-5" dirty="0"/>
              <a:t>Analysis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27BEC48-5C36-C470-0FBA-036B84959675}"/>
              </a:ext>
            </a:extLst>
          </p:cNvPr>
          <p:cNvSpPr txBox="1"/>
          <p:nvPr/>
        </p:nvSpPr>
        <p:spPr>
          <a:xfrm>
            <a:off x="1614678" y="3800612"/>
            <a:ext cx="210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0808B1-3884-1957-DD5D-990C6EC472B7}"/>
              </a:ext>
            </a:extLst>
          </p:cNvPr>
          <p:cNvSpPr txBox="1"/>
          <p:nvPr/>
        </p:nvSpPr>
        <p:spPr>
          <a:xfrm>
            <a:off x="505252" y="1802802"/>
            <a:ext cx="2278380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Actual Price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5677350-6B1D-05BD-2878-4FCB8404FF0D}"/>
              </a:ext>
            </a:extLst>
          </p:cNvPr>
          <p:cNvSpPr txBox="1"/>
          <p:nvPr/>
        </p:nvSpPr>
        <p:spPr>
          <a:xfrm>
            <a:off x="3328162" y="1818032"/>
            <a:ext cx="2412997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Standard Price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79E6AF-7548-F426-7C77-A2ADD4C961A3}"/>
              </a:ext>
            </a:extLst>
          </p:cNvPr>
          <p:cNvSpPr txBox="1"/>
          <p:nvPr/>
        </p:nvSpPr>
        <p:spPr>
          <a:xfrm>
            <a:off x="6262817" y="1836605"/>
            <a:ext cx="2666365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Standard Price</a:t>
            </a: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D7C0ECC5-3253-ABAC-4B52-07DB348D797F}"/>
              </a:ext>
            </a:extLst>
          </p:cNvPr>
          <p:cNvGrpSpPr/>
          <p:nvPr/>
        </p:nvGrpSpPr>
        <p:grpSpPr>
          <a:xfrm>
            <a:off x="455019" y="2935072"/>
            <a:ext cx="8179434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0EFBCC2-70FB-21D9-C0EC-A227181DA8C4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510B727-6E5B-A64A-E96F-FBF01E9A3BA5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5B78B3F-F326-D241-116E-5AB962E2C155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70ACBA5-D893-F7AB-A74D-ECD22EEBC8E4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33E06D9-454C-76DF-EBAE-0255462C2E78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ECB386D-C4E0-FC99-7FF0-889EF401D45A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B3A541E-5511-C91E-C891-1487E4501FFD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641E6A99-8D46-355A-B142-88FE3BF5B9C0}"/>
              </a:ext>
            </a:extLst>
          </p:cNvPr>
          <p:cNvGrpSpPr/>
          <p:nvPr/>
        </p:nvGrpSpPr>
        <p:grpSpPr>
          <a:xfrm>
            <a:off x="3357689" y="4400480"/>
            <a:ext cx="2264410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D31EF9E-5E84-8910-0EF2-C3A812D47F58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C94424E-24D5-0759-4BD4-FB38242363E5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D63B30A-C073-7F3F-D8A7-095ACDCB9E12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AED8D589-E9A9-EB5C-1D13-411DE40CAD5A}"/>
              </a:ext>
            </a:extLst>
          </p:cNvPr>
          <p:cNvSpPr txBox="1"/>
          <p:nvPr/>
        </p:nvSpPr>
        <p:spPr>
          <a:xfrm>
            <a:off x="2158905" y="5296846"/>
            <a:ext cx="46085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Total Flexible Budget 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2484D87-91A8-9364-C4FE-F01F89B029BD}"/>
              </a:ext>
            </a:extLst>
          </p:cNvPr>
          <p:cNvSpPr txBox="1"/>
          <p:nvPr/>
        </p:nvSpPr>
        <p:spPr>
          <a:xfrm>
            <a:off x="4942077" y="3782058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AD0EEC40-BC5C-810B-40A6-828A8809418F}"/>
              </a:ext>
            </a:extLst>
          </p:cNvPr>
          <p:cNvSpPr txBox="1"/>
          <p:nvPr/>
        </p:nvSpPr>
        <p:spPr>
          <a:xfrm>
            <a:off x="47329" y="762516"/>
            <a:ext cx="11881320" cy="407163"/>
          </a:xfrm>
          <a:prstGeom prst="rect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7465" rIns="0" bIns="0" rtlCol="0">
            <a:spAutoFit/>
          </a:bodyPr>
          <a:lstStyle/>
          <a:p>
            <a:pPr marL="619760" marR="450850" indent="-163195">
              <a:spcBef>
                <a:spcPts val="295"/>
              </a:spcBef>
            </a:pPr>
            <a:r>
              <a:rPr lang="en-CA" altLang="en-US" sz="2400" b="1" spc="-5" dirty="0">
                <a:solidFill>
                  <a:srgbClr val="FF0000"/>
                </a:solidFill>
                <a:latin typeface="Arial"/>
                <a:cs typeface="Arial"/>
              </a:rPr>
              <a:t>Standard price </a:t>
            </a:r>
            <a:r>
              <a:rPr lang="en-CA" altLang="en-US" sz="2400" b="1" dirty="0">
                <a:solidFill>
                  <a:schemeClr val="tx1"/>
                </a:solidFill>
              </a:rPr>
              <a:t>is the amount that should have been paid for the amount of input used </a:t>
            </a:r>
            <a:endParaRPr sz="2400" dirty="0">
              <a:latin typeface="Arial MT"/>
              <a:cs typeface="Arial M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86C1C5-B45E-952C-8C15-1D6848FA64F7}"/>
              </a:ext>
            </a:extLst>
          </p:cNvPr>
          <p:cNvCxnSpPr>
            <a:cxnSpLocks/>
          </p:cNvCxnSpPr>
          <p:nvPr/>
        </p:nvCxnSpPr>
        <p:spPr>
          <a:xfrm>
            <a:off x="7428335" y="1358762"/>
            <a:ext cx="0" cy="106212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327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F9831-7D9A-9096-E10E-C719E9E9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BA855311-78F0-F78E-2B32-382D74640BD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3916DB2-FABD-29B0-DAD3-6775B6698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Model</a:t>
            </a:r>
            <a:r>
              <a:rPr lang="nn-NO" spc="-30" dirty="0"/>
              <a:t> </a:t>
            </a:r>
            <a:r>
              <a:rPr lang="nn-NO" dirty="0"/>
              <a:t>for</a:t>
            </a:r>
            <a:r>
              <a:rPr lang="nn-NO" spc="-25" dirty="0"/>
              <a:t> </a:t>
            </a:r>
            <a:r>
              <a:rPr lang="nn-NO" dirty="0"/>
              <a:t>Flexible</a:t>
            </a:r>
            <a:r>
              <a:rPr lang="nn-NO" spc="-40" dirty="0"/>
              <a:t> </a:t>
            </a:r>
            <a:r>
              <a:rPr lang="nn-NO" spc="-20" dirty="0"/>
              <a:t>Variance</a:t>
            </a:r>
            <a:r>
              <a:rPr lang="nn-NO" spc="-160" dirty="0"/>
              <a:t> </a:t>
            </a:r>
            <a:r>
              <a:rPr lang="nn-NO" spc="-5" dirty="0"/>
              <a:t>Analysis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A2AF567-1A96-94A0-F252-51C740A80B6F}"/>
              </a:ext>
            </a:extLst>
          </p:cNvPr>
          <p:cNvSpPr txBox="1"/>
          <p:nvPr/>
        </p:nvSpPr>
        <p:spPr>
          <a:xfrm>
            <a:off x="1578610" y="3336163"/>
            <a:ext cx="210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9102DC-0A5F-B5EC-B0D9-94BE86CC91A9}"/>
              </a:ext>
            </a:extLst>
          </p:cNvPr>
          <p:cNvSpPr txBox="1"/>
          <p:nvPr/>
        </p:nvSpPr>
        <p:spPr>
          <a:xfrm>
            <a:off x="427736" y="1508252"/>
            <a:ext cx="227838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400" b="1" dirty="0">
                <a:latin typeface="Arial"/>
                <a:cs typeface="Arial"/>
              </a:rPr>
              <a:t>uantity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5821ABA-00CD-241E-6F7C-57F1D7D592D1}"/>
              </a:ext>
            </a:extLst>
          </p:cNvPr>
          <p:cNvSpPr txBox="1"/>
          <p:nvPr/>
        </p:nvSpPr>
        <p:spPr>
          <a:xfrm>
            <a:off x="3254451" y="1508252"/>
            <a:ext cx="227901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400" b="1" dirty="0">
                <a:latin typeface="Arial"/>
                <a:cs typeface="Arial"/>
              </a:rPr>
              <a:t>uantity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5ED63E6-0DDC-1F41-ADB9-0B896EB8CF92}"/>
              </a:ext>
            </a:extLst>
          </p:cNvPr>
          <p:cNvSpPr txBox="1"/>
          <p:nvPr/>
        </p:nvSpPr>
        <p:spPr>
          <a:xfrm>
            <a:off x="6094603" y="1508252"/>
            <a:ext cx="266636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400" b="1" dirty="0">
                <a:latin typeface="Arial"/>
                <a:cs typeface="Arial"/>
              </a:rPr>
              <a:t>uantity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7FDC002-4DCC-3115-DCBD-3FCA5BEE6DE1}"/>
              </a:ext>
            </a:extLst>
          </p:cNvPr>
          <p:cNvGrpSpPr/>
          <p:nvPr/>
        </p:nvGrpSpPr>
        <p:grpSpPr>
          <a:xfrm>
            <a:off x="444245" y="2458402"/>
            <a:ext cx="8179434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880690D-04E4-57AE-CD13-69BC24C01AC1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0DE733E-0D56-194E-F9D7-2B3AF5C9D691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98C1F9F-D73D-C502-18DF-2CF6E3958113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530CD60-940B-7962-237A-FD97ED08AC4F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323C318-77AB-6DC4-31EA-8D1A0248BB86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339EC53-DD54-A289-3838-D4057771E7B4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4E3213A-18B3-C0BA-84DD-66AEF754E3C7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B71E2EC9-42A7-4F23-D573-ECB1C655DA70}"/>
              </a:ext>
            </a:extLst>
          </p:cNvPr>
          <p:cNvGrpSpPr/>
          <p:nvPr/>
        </p:nvGrpSpPr>
        <p:grpSpPr>
          <a:xfrm>
            <a:off x="3314890" y="3768090"/>
            <a:ext cx="2264410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F981BF7-121E-84DB-E501-7400DB06EACD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56983B4-7E39-2A24-AE3E-0ED8C383F095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2B7A85F-17DD-0027-BD0B-F6A01C757182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CB08ACBC-DB9F-1951-43D1-9724457DBFEE}"/>
              </a:ext>
            </a:extLst>
          </p:cNvPr>
          <p:cNvSpPr txBox="1"/>
          <p:nvPr/>
        </p:nvSpPr>
        <p:spPr>
          <a:xfrm>
            <a:off x="2207568" y="4571492"/>
            <a:ext cx="46085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Total Flexible Budget 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AE3D7AA-E591-73B3-8397-7AC3623CE576}"/>
              </a:ext>
            </a:extLst>
          </p:cNvPr>
          <p:cNvSpPr txBox="1"/>
          <p:nvPr/>
        </p:nvSpPr>
        <p:spPr>
          <a:xfrm>
            <a:off x="4941570" y="3336163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50EDDC8-24B3-4BA0-8D7C-B241C6DCF45D}"/>
              </a:ext>
            </a:extLst>
          </p:cNvPr>
          <p:cNvSpPr/>
          <p:nvPr/>
        </p:nvSpPr>
        <p:spPr>
          <a:xfrm>
            <a:off x="441198" y="5122926"/>
            <a:ext cx="8376284" cy="1384300"/>
          </a:xfrm>
          <a:custGeom>
            <a:avLst/>
            <a:gdLst/>
            <a:ahLst/>
            <a:cxnLst/>
            <a:rect l="l" t="t" r="r" b="b"/>
            <a:pathLst>
              <a:path w="8376284" h="1384300">
                <a:moveTo>
                  <a:pt x="0" y="1383792"/>
                </a:moveTo>
                <a:lnTo>
                  <a:pt x="8375904" y="1383792"/>
                </a:lnTo>
                <a:lnTo>
                  <a:pt x="8375904" y="0"/>
                </a:lnTo>
                <a:lnTo>
                  <a:pt x="0" y="0"/>
                </a:lnTo>
                <a:lnTo>
                  <a:pt x="0" y="1383792"/>
                </a:lnTo>
                <a:close/>
              </a:path>
            </a:pathLst>
          </a:custGeom>
          <a:ln w="254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682F1DD-91CE-B515-6456-3AA6FEA84220}"/>
              </a:ext>
            </a:extLst>
          </p:cNvPr>
          <p:cNvSpPr txBox="1"/>
          <p:nvPr/>
        </p:nvSpPr>
        <p:spPr>
          <a:xfrm>
            <a:off x="755302" y="4953648"/>
            <a:ext cx="3193415" cy="14890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54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(AQ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AP)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(AQ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SP)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R="13970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dirty="0">
                <a:latin typeface="Arial"/>
                <a:cs typeface="Arial"/>
              </a:rPr>
              <a:t>Q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 </a:t>
            </a:r>
            <a:r>
              <a:rPr sz="2400" b="1" spc="-65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dirty="0">
                <a:latin typeface="Arial"/>
                <a:cs typeface="Arial"/>
              </a:rPr>
              <a:t>P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Actual </a:t>
            </a:r>
            <a:r>
              <a:rPr sz="2400" b="1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BC5C077-43A8-69B7-0AB8-3D726254703D}"/>
              </a:ext>
            </a:extLst>
          </p:cNvPr>
          <p:cNvSpPr txBox="1"/>
          <p:nvPr/>
        </p:nvSpPr>
        <p:spPr>
          <a:xfrm>
            <a:off x="5103621" y="4965547"/>
            <a:ext cx="3441700" cy="14890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(AQ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SP)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(SQ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SP)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dirty="0">
                <a:latin typeface="Arial"/>
                <a:cs typeface="Arial"/>
              </a:rPr>
              <a:t>P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" dirty="0">
                <a:latin typeface="Arial"/>
                <a:cs typeface="Arial"/>
              </a:rPr>
              <a:t> Standard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Price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dirty="0">
                <a:latin typeface="Arial"/>
                <a:cs typeface="Arial"/>
              </a:rPr>
              <a:t>Q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Standard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Quantity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2" name="Callout: Down Arrow 31">
            <a:extLst>
              <a:ext uri="{FF2B5EF4-FFF2-40B4-BE49-F238E27FC236}">
                <a16:creationId xmlns:a16="http://schemas.microsoft.com/office/drawing/2014/main" id="{66EEA27A-828D-B625-06AC-AED82F9C33DB}"/>
              </a:ext>
            </a:extLst>
          </p:cNvPr>
          <p:cNvSpPr/>
          <p:nvPr/>
        </p:nvSpPr>
        <p:spPr>
          <a:xfrm>
            <a:off x="3718936" y="593852"/>
            <a:ext cx="1455684" cy="914400"/>
          </a:xfrm>
          <a:prstGeom prst="down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Flexible Budget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D919AE-E2C5-D275-306C-C52A46BE5640}"/>
              </a:ext>
            </a:extLst>
          </p:cNvPr>
          <p:cNvCxnSpPr/>
          <p:nvPr/>
        </p:nvCxnSpPr>
        <p:spPr>
          <a:xfrm>
            <a:off x="2783632" y="1700808"/>
            <a:ext cx="398811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522CBC-B19D-8E41-7409-1EEBA1D33458}"/>
              </a:ext>
            </a:extLst>
          </p:cNvPr>
          <p:cNvCxnSpPr>
            <a:cxnSpLocks/>
          </p:cNvCxnSpPr>
          <p:nvPr/>
        </p:nvCxnSpPr>
        <p:spPr>
          <a:xfrm flipH="1">
            <a:off x="5624839" y="2348880"/>
            <a:ext cx="51116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llout: Down Arrow 36">
            <a:extLst>
              <a:ext uri="{FF2B5EF4-FFF2-40B4-BE49-F238E27FC236}">
                <a16:creationId xmlns:a16="http://schemas.microsoft.com/office/drawing/2014/main" id="{DAD1207F-0E04-1785-617E-5FA4154F396C}"/>
              </a:ext>
            </a:extLst>
          </p:cNvPr>
          <p:cNvSpPr/>
          <p:nvPr/>
        </p:nvSpPr>
        <p:spPr>
          <a:xfrm>
            <a:off x="6689719" y="593852"/>
            <a:ext cx="1455684" cy="914400"/>
          </a:xfrm>
          <a:prstGeom prst="down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Master Budget</a:t>
            </a:r>
          </a:p>
        </p:txBody>
      </p:sp>
      <p:sp>
        <p:nvSpPr>
          <p:cNvPr id="38" name="Callout: Down Arrow 37">
            <a:extLst>
              <a:ext uri="{FF2B5EF4-FFF2-40B4-BE49-F238E27FC236}">
                <a16:creationId xmlns:a16="http://schemas.microsoft.com/office/drawing/2014/main" id="{86E7BC50-2AA2-43F1-4074-157AEDD1EE5E}"/>
              </a:ext>
            </a:extLst>
          </p:cNvPr>
          <p:cNvSpPr/>
          <p:nvPr/>
        </p:nvSpPr>
        <p:spPr>
          <a:xfrm>
            <a:off x="850768" y="593852"/>
            <a:ext cx="1455684" cy="914400"/>
          </a:xfrm>
          <a:prstGeom prst="down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Actual</a:t>
            </a:r>
          </a:p>
          <a:p>
            <a:pPr algn="ctr"/>
            <a:r>
              <a:rPr lang="en-CA" b="1" dirty="0">
                <a:solidFill>
                  <a:schemeClr val="tx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400254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1488" y="6513574"/>
            <a:ext cx="1440179" cy="2270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4754563" cy="15509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FFFFFF"/>
                </a:solidFill>
              </a:rPr>
              <a:t>Flexible</a:t>
            </a:r>
            <a:r>
              <a:rPr sz="5000" spc="-90" dirty="0">
                <a:solidFill>
                  <a:srgbClr val="FFFFFF"/>
                </a:solidFill>
              </a:rPr>
              <a:t> </a:t>
            </a:r>
            <a:r>
              <a:rPr sz="5000" dirty="0">
                <a:solidFill>
                  <a:srgbClr val="FFFFFF"/>
                </a:solidFill>
              </a:rPr>
              <a:t>Budget </a:t>
            </a:r>
            <a:r>
              <a:rPr sz="5000" spc="-1380" dirty="0">
                <a:solidFill>
                  <a:srgbClr val="FFFFFF"/>
                </a:solidFill>
              </a:rPr>
              <a:t> </a:t>
            </a:r>
            <a:r>
              <a:rPr sz="5000" spc="-30" dirty="0">
                <a:solidFill>
                  <a:srgbClr val="FFFFFF"/>
                </a:solidFill>
              </a:rPr>
              <a:t>Variances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163169" y="6550253"/>
            <a:ext cx="1536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Arial MT"/>
                <a:cs typeface="Arial MT"/>
              </a:rPr>
              <a:t>15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8845" y="1870405"/>
            <a:ext cx="19043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AQ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*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(AP-SP)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7393" y="4967427"/>
            <a:ext cx="19183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SP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*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(AQ-SQ)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83373" y="837438"/>
            <a:ext cx="3616960" cy="721360"/>
          </a:xfrm>
          <a:custGeom>
            <a:avLst/>
            <a:gdLst/>
            <a:ahLst/>
            <a:cxnLst/>
            <a:rect l="l" t="t" r="r" b="b"/>
            <a:pathLst>
              <a:path w="3616959" h="721360">
                <a:moveTo>
                  <a:pt x="0" y="120141"/>
                </a:moveTo>
                <a:lnTo>
                  <a:pt x="9449" y="73402"/>
                </a:lnTo>
                <a:lnTo>
                  <a:pt x="35210" y="35210"/>
                </a:lnTo>
                <a:lnTo>
                  <a:pt x="73402" y="9449"/>
                </a:lnTo>
                <a:lnTo>
                  <a:pt x="120142" y="0"/>
                </a:lnTo>
                <a:lnTo>
                  <a:pt x="3496309" y="0"/>
                </a:lnTo>
                <a:lnTo>
                  <a:pt x="3543049" y="9449"/>
                </a:lnTo>
                <a:lnTo>
                  <a:pt x="3581241" y="35210"/>
                </a:lnTo>
                <a:lnTo>
                  <a:pt x="3607002" y="73402"/>
                </a:lnTo>
                <a:lnTo>
                  <a:pt x="3616452" y="120141"/>
                </a:lnTo>
                <a:lnTo>
                  <a:pt x="3616452" y="600710"/>
                </a:lnTo>
                <a:lnTo>
                  <a:pt x="3607002" y="647449"/>
                </a:lnTo>
                <a:lnTo>
                  <a:pt x="3581241" y="685641"/>
                </a:lnTo>
                <a:lnTo>
                  <a:pt x="3543049" y="711402"/>
                </a:lnTo>
                <a:lnTo>
                  <a:pt x="3496309" y="720851"/>
                </a:lnTo>
                <a:lnTo>
                  <a:pt x="120142" y="720851"/>
                </a:lnTo>
                <a:lnTo>
                  <a:pt x="73402" y="711402"/>
                </a:lnTo>
                <a:lnTo>
                  <a:pt x="35210" y="685641"/>
                </a:lnTo>
                <a:lnTo>
                  <a:pt x="9449" y="647449"/>
                </a:lnTo>
                <a:lnTo>
                  <a:pt x="0" y="600710"/>
                </a:lnTo>
                <a:lnTo>
                  <a:pt x="0" y="120141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37372" y="993470"/>
            <a:ext cx="2109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Price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83373" y="3934205"/>
            <a:ext cx="3616960" cy="719455"/>
          </a:xfrm>
          <a:custGeom>
            <a:avLst/>
            <a:gdLst/>
            <a:ahLst/>
            <a:cxnLst/>
            <a:rect l="l" t="t" r="r" b="b"/>
            <a:pathLst>
              <a:path w="3616959" h="719454">
                <a:moveTo>
                  <a:pt x="0" y="119888"/>
                </a:moveTo>
                <a:lnTo>
                  <a:pt x="9427" y="73241"/>
                </a:lnTo>
                <a:lnTo>
                  <a:pt x="35131" y="35131"/>
                </a:lnTo>
                <a:lnTo>
                  <a:pt x="73241" y="9427"/>
                </a:lnTo>
                <a:lnTo>
                  <a:pt x="119887" y="0"/>
                </a:lnTo>
                <a:lnTo>
                  <a:pt x="3496564" y="0"/>
                </a:lnTo>
                <a:lnTo>
                  <a:pt x="3543210" y="9427"/>
                </a:lnTo>
                <a:lnTo>
                  <a:pt x="3581320" y="35131"/>
                </a:lnTo>
                <a:lnTo>
                  <a:pt x="3607024" y="73241"/>
                </a:lnTo>
                <a:lnTo>
                  <a:pt x="3616452" y="119888"/>
                </a:lnTo>
                <a:lnTo>
                  <a:pt x="3616452" y="599440"/>
                </a:lnTo>
                <a:lnTo>
                  <a:pt x="3607024" y="646086"/>
                </a:lnTo>
                <a:lnTo>
                  <a:pt x="3581320" y="684196"/>
                </a:lnTo>
                <a:lnTo>
                  <a:pt x="3543210" y="709900"/>
                </a:lnTo>
                <a:lnTo>
                  <a:pt x="3496564" y="719328"/>
                </a:lnTo>
                <a:lnTo>
                  <a:pt x="119887" y="719328"/>
                </a:lnTo>
                <a:lnTo>
                  <a:pt x="73241" y="709900"/>
                </a:lnTo>
                <a:lnTo>
                  <a:pt x="35131" y="684196"/>
                </a:lnTo>
                <a:lnTo>
                  <a:pt x="9427" y="646086"/>
                </a:lnTo>
                <a:lnTo>
                  <a:pt x="0" y="599440"/>
                </a:lnTo>
                <a:lnTo>
                  <a:pt x="0" y="119888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92008" y="4091178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426" y="2879216"/>
            <a:ext cx="30245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Actual</a:t>
            </a:r>
            <a:endParaRPr sz="2400">
              <a:latin typeface="Arial MT"/>
              <a:cs typeface="Arial MT"/>
            </a:endParaRPr>
          </a:p>
          <a:p>
            <a:pPr marL="12700" marR="128651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Q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Quantity </a:t>
            </a:r>
            <a:r>
              <a:rPr sz="2400" spc="-6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Price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 =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Standard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(Budgeted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Standard)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180E-D685-9C37-B6A8-62B759F6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BC0B8227-C0CC-5F1F-A6CA-86B4ABA779F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A1BE3CC3-95C8-93F6-8536-6016C3EBA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Material Variance - Example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7D56AF-8D1C-D766-201C-17EE8775E37E}"/>
              </a:ext>
            </a:extLst>
          </p:cNvPr>
          <p:cNvSpPr txBox="1"/>
          <p:nvPr/>
        </p:nvSpPr>
        <p:spPr>
          <a:xfrm>
            <a:off x="2068210" y="4794041"/>
            <a:ext cx="259842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$21 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E5F9E84-450C-1F25-C08E-DB52F14989A6}"/>
              </a:ext>
            </a:extLst>
          </p:cNvPr>
          <p:cNvSpPr txBox="1"/>
          <p:nvPr/>
        </p:nvSpPr>
        <p:spPr>
          <a:xfrm>
            <a:off x="427736" y="1508252"/>
            <a:ext cx="2278380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400" b="1" dirty="0">
                <a:latin typeface="Arial"/>
                <a:cs typeface="Arial"/>
              </a:rPr>
              <a:t>uantity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210 kgs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$4.90/kg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$1,029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75E58F1-4BCC-9EC3-25D6-9593B4672165}"/>
              </a:ext>
            </a:extLst>
          </p:cNvPr>
          <p:cNvSpPr txBox="1"/>
          <p:nvPr/>
        </p:nvSpPr>
        <p:spPr>
          <a:xfrm>
            <a:off x="4051527" y="1501266"/>
            <a:ext cx="2279015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400" b="1" dirty="0">
                <a:latin typeface="Arial"/>
                <a:cs typeface="Arial"/>
              </a:rPr>
              <a:t>uantity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210 kgs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 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$5.00 / kg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$1,050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CF2D8C4-5957-2FED-0EE7-751AF8FC88FA}"/>
              </a:ext>
            </a:extLst>
          </p:cNvPr>
          <p:cNvSpPr txBox="1"/>
          <p:nvPr/>
        </p:nvSpPr>
        <p:spPr>
          <a:xfrm>
            <a:off x="7481410" y="1566771"/>
            <a:ext cx="2666365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400" b="1" dirty="0">
                <a:latin typeface="Arial"/>
                <a:cs typeface="Arial"/>
              </a:rPr>
              <a:t>uantity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200 kgs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$5.00 / kg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$1,000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8BD238F-CA93-609E-3D71-032336701B2C}"/>
              </a:ext>
            </a:extLst>
          </p:cNvPr>
          <p:cNvGrpSpPr/>
          <p:nvPr/>
        </p:nvGrpSpPr>
        <p:grpSpPr>
          <a:xfrm>
            <a:off x="719404" y="3926377"/>
            <a:ext cx="9626575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0644E65-52E8-1DD8-121F-A21E8574BA16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69D4DEF-CA82-C190-41F5-D2962F1CCD27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CF9B7EF-B822-B031-EBBA-8A119A7FF9EA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7DD7378-B5EA-33FA-2967-99E26A2A15EE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60A3418-0DF7-1AFB-1227-5E7CFF63F255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FA5F982-940F-BDE8-2567-F4B9694A05DB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D81D76E-D28B-2773-1165-84E25E517E01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D2A65181-1EA7-6249-C961-A847872F9A69}"/>
              </a:ext>
            </a:extLst>
          </p:cNvPr>
          <p:cNvGrpSpPr/>
          <p:nvPr/>
        </p:nvGrpSpPr>
        <p:grpSpPr>
          <a:xfrm>
            <a:off x="3575720" y="5566370"/>
            <a:ext cx="4608512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67ED2D2-BD0A-05F4-99A9-94DF9B58EB73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7E9B73B2-E59C-E395-9213-457F964B7523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322B5E9-0FAC-43C4-0357-79BD5358DB15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2D23B392-3E6E-B36F-D96F-75F42DDE83AA}"/>
              </a:ext>
            </a:extLst>
          </p:cNvPr>
          <p:cNvSpPr txBox="1"/>
          <p:nvPr/>
        </p:nvSpPr>
        <p:spPr>
          <a:xfrm>
            <a:off x="4112312" y="6334040"/>
            <a:ext cx="34252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  $29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706F6B9-78BF-007E-060C-9D8AB659FDE4}"/>
              </a:ext>
            </a:extLst>
          </p:cNvPr>
          <p:cNvSpPr txBox="1"/>
          <p:nvPr/>
        </p:nvSpPr>
        <p:spPr>
          <a:xfrm>
            <a:off x="6672064" y="4678340"/>
            <a:ext cx="259842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$50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33D9A-8C3F-375B-03EB-D4851AD1319B}"/>
              </a:ext>
            </a:extLst>
          </p:cNvPr>
          <p:cNvSpPr txBox="1"/>
          <p:nvPr/>
        </p:nvSpPr>
        <p:spPr>
          <a:xfrm>
            <a:off x="96280" y="493650"/>
            <a:ext cx="11999439" cy="104644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Glacier Peak Outfitters has the following direct material standard for the fibrefill in its mountain parkas.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0.1 kg. of fibrefill per parka(p) at $5.00 per kg.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Last month 210 kgs of fibrefill were purchased and used to make 2,000 parkas.  The material cost a total of $1,029</a:t>
            </a:r>
            <a:r>
              <a:rPr lang="en-CA" altLang="en-US" dirty="0"/>
              <a:t>.</a:t>
            </a:r>
          </a:p>
        </p:txBody>
      </p:sp>
      <p:pic>
        <p:nvPicPr>
          <p:cNvPr id="27" name="Picture 26" descr="A blue background with white numbers&#10;&#10;AI-generated content may be incorrect.">
            <a:extLst>
              <a:ext uri="{FF2B5EF4-FFF2-40B4-BE49-F238E27FC236}">
                <a16:creationId xmlns:a16="http://schemas.microsoft.com/office/drawing/2014/main" id="{6A9FD388-DD09-F350-B1C9-6742EE082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29" y="2463743"/>
            <a:ext cx="2135459" cy="695824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A3EAC7-79B2-84BB-F729-E40EA4F0562F}"/>
              </a:ext>
            </a:extLst>
          </p:cNvPr>
          <p:cNvCxnSpPr/>
          <p:nvPr/>
        </p:nvCxnSpPr>
        <p:spPr>
          <a:xfrm flipH="1">
            <a:off x="2106126" y="3129717"/>
            <a:ext cx="931446" cy="236574"/>
          </a:xfrm>
          <a:prstGeom prst="straightConnector1">
            <a:avLst/>
          </a:prstGeom>
          <a:ln w="41275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84DCBD0-76A7-AB9C-F5A3-25E5867DF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132" y="4053945"/>
            <a:ext cx="2570874" cy="81521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0ACBF9-9CE9-1CB8-31BD-D757764E865C}"/>
              </a:ext>
            </a:extLst>
          </p:cNvPr>
          <p:cNvCxnSpPr>
            <a:cxnSpLocks/>
          </p:cNvCxnSpPr>
          <p:nvPr/>
        </p:nvCxnSpPr>
        <p:spPr>
          <a:xfrm flipH="1" flipV="1">
            <a:off x="9340651" y="2720933"/>
            <a:ext cx="1890275" cy="1333012"/>
          </a:xfrm>
          <a:prstGeom prst="straightConnector1">
            <a:avLst/>
          </a:prstGeom>
          <a:ln w="41275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932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AF2E0-31F3-422E-FBB0-280D8B00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9DC81-62DD-1BCB-E5D1-D7B0CE20D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Material Variance – Using the Equations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32F58-E325-050F-479F-A11E577B5F43}"/>
              </a:ext>
            </a:extLst>
          </p:cNvPr>
          <p:cNvSpPr txBox="1"/>
          <p:nvPr/>
        </p:nvSpPr>
        <p:spPr>
          <a:xfrm>
            <a:off x="1919536" y="1052737"/>
            <a:ext cx="72263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Materials price variance: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MPV = AQ (AP – SP)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210 kgs ($4.90/kg – $5.00/kg)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210 kgs (-$0.10/kg)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$21 F</a:t>
            </a:r>
          </a:p>
          <a:p>
            <a:pPr marL="411163" lvl="1" indent="0">
              <a:buFontTx/>
              <a:buNone/>
            </a:pPr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Materials quantity variance: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MQV = SP (AQ – SQ)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$5.00/kg (210 kgs – (0.1 kg/p </a:t>
            </a: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 2,000p))</a:t>
            </a:r>
            <a:endParaRPr lang="en-CA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$5.00/kg (210 kgs – 200 kgs</a:t>
            </a: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CA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$5.00/kg (10 kgs) 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= $50 U</a:t>
            </a:r>
          </a:p>
        </p:txBody>
      </p:sp>
    </p:spTree>
    <p:extLst>
      <p:ext uri="{BB962C8B-B14F-4D97-AF65-F5344CB8AC3E}">
        <p14:creationId xmlns:p14="http://schemas.microsoft.com/office/powerpoint/2010/main" val="1353650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A4C2-4CE6-DA9E-AD79-ABC19672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A97D1BF3-6ACD-1D3C-2012-63D5C86308E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F6C3CDA8-6D44-F170-980D-81EAADADCE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Labour Variance - Example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C8F1DE-3EA8-0AA1-3AD9-E9D4F85E8FC4}"/>
              </a:ext>
            </a:extLst>
          </p:cNvPr>
          <p:cNvSpPr txBox="1"/>
          <p:nvPr/>
        </p:nvSpPr>
        <p:spPr>
          <a:xfrm>
            <a:off x="2068209" y="4794041"/>
            <a:ext cx="3059713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Rate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$1,250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217A941-2545-3611-92AC-DD98DC6F7675}"/>
              </a:ext>
            </a:extLst>
          </p:cNvPr>
          <p:cNvSpPr txBox="1"/>
          <p:nvPr/>
        </p:nvSpPr>
        <p:spPr>
          <a:xfrm>
            <a:off x="427736" y="1508252"/>
            <a:ext cx="2278380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Arial"/>
                <a:cs typeface="Arial"/>
              </a:rPr>
              <a:t>Hours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1,250 hours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$21/hour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$26,250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6D9BB37-0112-E163-7E0C-9EA4DA0AA9F4}"/>
              </a:ext>
            </a:extLst>
          </p:cNvPr>
          <p:cNvSpPr txBox="1"/>
          <p:nvPr/>
        </p:nvSpPr>
        <p:spPr>
          <a:xfrm>
            <a:off x="4051527" y="1501266"/>
            <a:ext cx="2279015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lang="en-CA" sz="2400" b="1" spc="-6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lang="en-CA" sz="2400" b="1" dirty="0">
                <a:solidFill>
                  <a:srgbClr val="FF0000"/>
                </a:solidFill>
                <a:latin typeface="Arial"/>
                <a:cs typeface="Arial"/>
              </a:rPr>
              <a:t>ours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1,250 hours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$20/ hour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$25,000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7AC19F-58BF-5823-AFFE-03C00610F45D}"/>
              </a:ext>
            </a:extLst>
          </p:cNvPr>
          <p:cNvSpPr txBox="1"/>
          <p:nvPr/>
        </p:nvSpPr>
        <p:spPr>
          <a:xfrm>
            <a:off x="7481410" y="1566771"/>
            <a:ext cx="2666365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Arial"/>
                <a:cs typeface="Arial"/>
              </a:rPr>
              <a:t>Hours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1,200 hours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$20 / hour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$24,000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D4540C54-D0A8-AB8F-2F05-6E425E1115A6}"/>
              </a:ext>
            </a:extLst>
          </p:cNvPr>
          <p:cNvGrpSpPr/>
          <p:nvPr/>
        </p:nvGrpSpPr>
        <p:grpSpPr>
          <a:xfrm>
            <a:off x="719404" y="3926377"/>
            <a:ext cx="9626575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081C022-CD81-13E9-3D4C-189C22C64A41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A1933E7-3A93-D9B2-379B-AF12B3AB1A4A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93E45AE-FD71-8099-B2C5-B0ED2D91393B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968F70D-DE1C-991C-FF00-0BF48A34900E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C174C19-6E12-EDC9-4F9E-ADB8E0B65425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2987E82-7A5E-2F4A-214C-2518528ED712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FD8CCE4-C1CA-0C07-F1BA-E6979B64C275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B81FB4EF-8798-DF1D-8429-1A889C46FAE5}"/>
              </a:ext>
            </a:extLst>
          </p:cNvPr>
          <p:cNvGrpSpPr/>
          <p:nvPr/>
        </p:nvGrpSpPr>
        <p:grpSpPr>
          <a:xfrm>
            <a:off x="3575720" y="5566370"/>
            <a:ext cx="4608512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C16D0D5-7AAE-A2CC-2CA2-EA0DD5A5A523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539056E-8A81-10F8-3837-484E42478657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B19DE9F-53B6-7817-9C22-A0AF627D8A3F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7EC41449-7D0A-E8FB-83F2-169C681AB825}"/>
              </a:ext>
            </a:extLst>
          </p:cNvPr>
          <p:cNvSpPr txBox="1"/>
          <p:nvPr/>
        </p:nvSpPr>
        <p:spPr>
          <a:xfrm>
            <a:off x="4112312" y="6334040"/>
            <a:ext cx="34252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  $2,250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533D2B1-2C5E-7217-7E95-676E4DF6D1C1}"/>
              </a:ext>
            </a:extLst>
          </p:cNvPr>
          <p:cNvSpPr txBox="1"/>
          <p:nvPr/>
        </p:nvSpPr>
        <p:spPr>
          <a:xfrm>
            <a:off x="6672063" y="4678340"/>
            <a:ext cx="3059713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Efficiency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$1,000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3CC8D-FFFE-4178-CC65-ABAE2D5D93CF}"/>
              </a:ext>
            </a:extLst>
          </p:cNvPr>
          <p:cNvSpPr txBox="1"/>
          <p:nvPr/>
        </p:nvSpPr>
        <p:spPr>
          <a:xfrm>
            <a:off x="119336" y="552742"/>
            <a:ext cx="11334540" cy="92333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Glacier Peak Outfitters has the following direct labour standard for its mountain parka.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0.6 standard hours per parka at $20.00 per hour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Last month, employees actually worked 1,250 hours at a total labour cost of $26,250 to make 2,000 parkas. 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BD9DEF-9DD2-5287-754F-F7429DCDC0C1}"/>
              </a:ext>
            </a:extLst>
          </p:cNvPr>
          <p:cNvCxnSpPr>
            <a:cxnSpLocks/>
          </p:cNvCxnSpPr>
          <p:nvPr/>
        </p:nvCxnSpPr>
        <p:spPr>
          <a:xfrm flipV="1">
            <a:off x="216756" y="3263665"/>
            <a:ext cx="622660" cy="742448"/>
          </a:xfrm>
          <a:prstGeom prst="straightConnector1">
            <a:avLst/>
          </a:prstGeom>
          <a:ln w="41275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29B61-3D6A-BD1C-3FF3-558BF39B2BD0}"/>
              </a:ext>
            </a:extLst>
          </p:cNvPr>
          <p:cNvCxnSpPr>
            <a:cxnSpLocks/>
          </p:cNvCxnSpPr>
          <p:nvPr/>
        </p:nvCxnSpPr>
        <p:spPr>
          <a:xfrm flipH="1" flipV="1">
            <a:off x="9598911" y="2789058"/>
            <a:ext cx="1890275" cy="1333012"/>
          </a:xfrm>
          <a:prstGeom prst="straightConnector1">
            <a:avLst/>
          </a:prstGeom>
          <a:ln w="41275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1">
            <a:extLst>
              <a:ext uri="{FF2B5EF4-FFF2-40B4-BE49-F238E27FC236}">
                <a16:creationId xmlns:a16="http://schemas.microsoft.com/office/drawing/2014/main" id="{A072A44E-E930-0B34-AF91-E32B0CC6C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143" y="4122070"/>
            <a:ext cx="2378066" cy="923330"/>
          </a:xfrm>
          <a:prstGeom prst="rect">
            <a:avLst/>
          </a:prstGeom>
          <a:solidFill>
            <a:srgbClr val="1C316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CA" altLang="en-US" dirty="0">
                <a:solidFill>
                  <a:schemeClr val="bg1"/>
                </a:solidFill>
                <a:cs typeface="Arial" panose="020B0604020202020204" pitchFamily="34" charset="0"/>
              </a:rPr>
              <a:t>0.6 hours per parks x 2,000 parkas </a:t>
            </a:r>
            <a:r>
              <a:rPr lang="en-CA" altLang="en-US" dirty="0">
                <a:solidFill>
                  <a:schemeClr val="bg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= 1,200 hours</a:t>
            </a:r>
            <a:endParaRPr lang="en-CA" altLang="en-US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8A3A2EAD-0290-9F47-A191-ED03EC0FC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1" y="4071562"/>
            <a:ext cx="1889586" cy="1016001"/>
          </a:xfrm>
          <a:prstGeom prst="rect">
            <a:avLst/>
          </a:prstGeom>
          <a:solidFill>
            <a:srgbClr val="1C316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CA" altLang="en-US" sz="2400" dirty="0">
                <a:solidFill>
                  <a:schemeClr val="bg1"/>
                </a:solidFill>
                <a:latin typeface="Rockwell" panose="02060603020205020403" pitchFamily="18" charset="0"/>
              </a:rPr>
              <a:t>$</a:t>
            </a:r>
            <a:r>
              <a:rPr lang="en-CA" altLang="en-US" dirty="0">
                <a:solidFill>
                  <a:schemeClr val="bg1"/>
                </a:solidFill>
                <a:cs typeface="Arial" panose="020B0604020202020204" pitchFamily="34" charset="0"/>
              </a:rPr>
              <a:t>26,250 </a:t>
            </a:r>
            <a:r>
              <a:rPr lang="en-CA" altLang="en-US" dirty="0">
                <a:solidFill>
                  <a:schemeClr val="bg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 1,250 hours = $21.00 per hour</a:t>
            </a:r>
            <a:endParaRPr lang="en-CA" altLang="en-US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334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067D-1F08-C3E2-7406-0929729F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68C396-C026-24AC-620D-B9FD31C6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50103-1904-B8EB-C149-6C19312812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Labour Variance – Using the Equations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4B063-E5EB-0AE3-64DA-5A3F22F82F50}"/>
              </a:ext>
            </a:extLst>
          </p:cNvPr>
          <p:cNvSpPr txBox="1"/>
          <p:nvPr/>
        </p:nvSpPr>
        <p:spPr>
          <a:xfrm>
            <a:off x="1919536" y="1052737"/>
            <a:ext cx="72263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Labour rate variance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LRV = AH (AR – SR)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= 1,250 hours ($21.00/hour – $20.00/hour)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= 1,250 hours ($1.00/hour)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= $1,250 unfavourable</a:t>
            </a:r>
          </a:p>
          <a:p>
            <a:pPr marL="411163" lvl="1" indent="0">
              <a:buFontTx/>
              <a:buNone/>
            </a:pPr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Labour efficiency variance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 = SR (AH – SH)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= $20.00/hr (1,250 hours – 1,200 hours)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= $20.00/hr (50 hours) 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= $1,000 unfavourable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22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6E39-1152-2792-2BCD-3FB1725C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C8277353-B68A-F834-90D5-E95C679CE75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1AECD580-3529-9E73-0F64-CA79BD6F3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Variable Overhead Variance - Example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80EA42-142A-E61D-CC81-3760ACC5A721}"/>
              </a:ext>
            </a:extLst>
          </p:cNvPr>
          <p:cNvSpPr txBox="1"/>
          <p:nvPr/>
        </p:nvSpPr>
        <p:spPr>
          <a:xfrm>
            <a:off x="2031668" y="4997420"/>
            <a:ext cx="3059713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Spending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$500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F80FE5-96B6-743D-6D4D-F83344EE2FC9}"/>
              </a:ext>
            </a:extLst>
          </p:cNvPr>
          <p:cNvSpPr txBox="1"/>
          <p:nvPr/>
        </p:nvSpPr>
        <p:spPr>
          <a:xfrm>
            <a:off x="470619" y="1921298"/>
            <a:ext cx="2278380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Arial"/>
                <a:cs typeface="Arial"/>
              </a:rPr>
              <a:t>Hours</a:t>
            </a:r>
            <a:endParaRPr sz="2400" dirty="0">
              <a:latin typeface="Arial"/>
              <a:cs typeface="Arial"/>
            </a:endParaRPr>
          </a:p>
          <a:p>
            <a:pPr marR="362585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1,250 hours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$8.40/hour</a:t>
            </a:r>
          </a:p>
          <a:p>
            <a:pPr marR="14732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$10,500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C0A8F15-761B-902E-F6BF-0FE1BCE17668}"/>
              </a:ext>
            </a:extLst>
          </p:cNvPr>
          <p:cNvSpPr txBox="1"/>
          <p:nvPr/>
        </p:nvSpPr>
        <p:spPr>
          <a:xfrm>
            <a:off x="4339626" y="1931387"/>
            <a:ext cx="2279015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ctual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lang="en-CA" sz="2400" b="1" spc="-6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lang="en-CA" sz="2400" b="1" dirty="0">
                <a:solidFill>
                  <a:srgbClr val="FF0000"/>
                </a:solidFill>
                <a:latin typeface="Arial"/>
                <a:cs typeface="Arial"/>
              </a:rPr>
              <a:t>ours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1,250 hours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$8/ hour</a:t>
            </a:r>
          </a:p>
          <a:p>
            <a:pPr marR="36830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$10,000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96121D-98D3-C218-F013-56ECD334017C}"/>
              </a:ext>
            </a:extLst>
          </p:cNvPr>
          <p:cNvSpPr txBox="1"/>
          <p:nvPr/>
        </p:nvSpPr>
        <p:spPr>
          <a:xfrm>
            <a:off x="7527869" y="1984630"/>
            <a:ext cx="2666365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Arial"/>
                <a:cs typeface="Arial"/>
              </a:rPr>
              <a:t>Hours</a:t>
            </a:r>
            <a:endParaRPr sz="2400" dirty="0">
              <a:latin typeface="Arial"/>
              <a:cs typeface="Arial"/>
            </a:endParaRPr>
          </a:p>
          <a:p>
            <a:pPr marL="60960" algn="ctr">
              <a:lnSpc>
                <a:spcPts val="2305"/>
              </a:lnSpc>
            </a:pPr>
            <a:r>
              <a:rPr sz="2400" b="1" dirty="0">
                <a:latin typeface="Arial"/>
                <a:cs typeface="Arial"/>
              </a:rPr>
              <a:t>×</a:t>
            </a:r>
            <a:endParaRPr sz="2400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tandard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rice</a:t>
            </a:r>
            <a:endParaRPr lang="en-CA" sz="2400" b="1" dirty="0">
              <a:latin typeface="Arial"/>
              <a:cs typeface="Arial"/>
            </a:endParaRP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1,200 hours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$8 / hour</a:t>
            </a:r>
          </a:p>
          <a:p>
            <a:pPr marR="120014" algn="ctr">
              <a:lnSpc>
                <a:spcPts val="2590"/>
              </a:lnSpc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= $9,600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2BE0A08-B724-D8DD-1C7A-D85EA49BFD90}"/>
              </a:ext>
            </a:extLst>
          </p:cNvPr>
          <p:cNvGrpSpPr/>
          <p:nvPr/>
        </p:nvGrpSpPr>
        <p:grpSpPr>
          <a:xfrm>
            <a:off x="736713" y="4269753"/>
            <a:ext cx="9626575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3DB0253-6F02-06ED-67B3-19C1EC659E74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429A18A-236E-61CA-BF7E-9CE94E32E929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0E850E78-8C57-9E29-58EE-9E2E775A2E30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A7FD74F-7B31-4090-75F1-D384BC819174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3DF4529-A2D1-A514-1DF0-E856F0863DBA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BB98FB3-4444-FFAB-603A-D6464652C581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3500A95-C45A-F0F6-6288-C846AE37D3F6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72B8929B-6D00-1EF1-94FB-06735730FA2E}"/>
              </a:ext>
            </a:extLst>
          </p:cNvPr>
          <p:cNvGrpSpPr/>
          <p:nvPr/>
        </p:nvGrpSpPr>
        <p:grpSpPr>
          <a:xfrm>
            <a:off x="3573301" y="5703781"/>
            <a:ext cx="4608512" cy="850900"/>
            <a:chOff x="3314890" y="3768090"/>
            <a:chExt cx="2264410" cy="8509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63099A9-FDB3-1329-CAFA-11778F1CE7E6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1EB50D5-3E41-5EF0-38F5-72C7E05B2C53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EA2374A-6D69-D92B-36D7-3638BF41B16D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F8E54264-8EA0-3047-164D-D574B2D2540C}"/>
              </a:ext>
            </a:extLst>
          </p:cNvPr>
          <p:cNvSpPr txBox="1"/>
          <p:nvPr/>
        </p:nvSpPr>
        <p:spPr>
          <a:xfrm>
            <a:off x="4153935" y="6449521"/>
            <a:ext cx="34252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solidFill>
                  <a:srgbClr val="0070C0"/>
                </a:solidFill>
                <a:latin typeface="Arial"/>
                <a:cs typeface="Arial"/>
              </a:rPr>
              <a:t>  $900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0E720C5-D5D6-87E7-C78E-84AD5C0F1D1D}"/>
              </a:ext>
            </a:extLst>
          </p:cNvPr>
          <p:cNvSpPr txBox="1"/>
          <p:nvPr/>
        </p:nvSpPr>
        <p:spPr>
          <a:xfrm>
            <a:off x="6663735" y="4980782"/>
            <a:ext cx="3059713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dirty="0">
                <a:latin typeface="Arial"/>
                <a:cs typeface="Arial"/>
              </a:rPr>
              <a:t>Efficiency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$400 unfavourable</a:t>
            </a:r>
            <a:endParaRPr sz="2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B2B70F-CC20-B437-23B1-52598CEC5B89}"/>
              </a:ext>
            </a:extLst>
          </p:cNvPr>
          <p:cNvCxnSpPr>
            <a:cxnSpLocks/>
          </p:cNvCxnSpPr>
          <p:nvPr/>
        </p:nvCxnSpPr>
        <p:spPr>
          <a:xfrm flipH="1" flipV="1">
            <a:off x="2313842" y="3769765"/>
            <a:ext cx="590615" cy="550930"/>
          </a:xfrm>
          <a:prstGeom prst="straightConnector1">
            <a:avLst/>
          </a:prstGeom>
          <a:ln w="41275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3036F4-C883-55B6-BFD2-826178A162EC}"/>
              </a:ext>
            </a:extLst>
          </p:cNvPr>
          <p:cNvCxnSpPr>
            <a:cxnSpLocks/>
          </p:cNvCxnSpPr>
          <p:nvPr/>
        </p:nvCxnSpPr>
        <p:spPr>
          <a:xfrm flipH="1" flipV="1">
            <a:off x="9725129" y="2995523"/>
            <a:ext cx="1583022" cy="986841"/>
          </a:xfrm>
          <a:prstGeom prst="straightConnector1">
            <a:avLst/>
          </a:prstGeom>
          <a:ln w="41275">
            <a:solidFill>
              <a:srgbClr val="ED03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1">
            <a:extLst>
              <a:ext uri="{FF2B5EF4-FFF2-40B4-BE49-F238E27FC236}">
                <a16:creationId xmlns:a16="http://schemas.microsoft.com/office/drawing/2014/main" id="{7CFDA5EF-4884-B3EB-EDDB-FFB8F5A4D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143" y="4122070"/>
            <a:ext cx="2378066" cy="923330"/>
          </a:xfrm>
          <a:prstGeom prst="rect">
            <a:avLst/>
          </a:prstGeom>
          <a:solidFill>
            <a:srgbClr val="1C316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CA" altLang="en-US" dirty="0">
                <a:solidFill>
                  <a:schemeClr val="bg1"/>
                </a:solidFill>
                <a:cs typeface="Arial" panose="020B0604020202020204" pitchFamily="34" charset="0"/>
              </a:rPr>
              <a:t>0.6 hours per parks x 2,000 parkas </a:t>
            </a:r>
            <a:r>
              <a:rPr lang="en-CA" altLang="en-US" dirty="0">
                <a:solidFill>
                  <a:schemeClr val="bg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= 1,200 hours</a:t>
            </a:r>
            <a:endParaRPr lang="en-CA" altLang="en-US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FD9CB1-1032-4F67-EC79-F56640A1AE00}"/>
              </a:ext>
            </a:extLst>
          </p:cNvPr>
          <p:cNvSpPr txBox="1"/>
          <p:nvPr/>
        </p:nvSpPr>
        <p:spPr>
          <a:xfrm>
            <a:off x="77658" y="493780"/>
            <a:ext cx="11995005" cy="1477328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Glacier Peak Outfitters has the following direct variable manufacturing overhead labour standard for its mountain parka.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0.6 standard hours per parka at $8.00 per hour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Last month, employees actually worked1,250 hours to make 2,000 parkas.  Actual variable manufacturing overhead for </a:t>
            </a:r>
            <a:r>
              <a:rPr lang="en-CA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 month was $10,500</a:t>
            </a: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D988488D-D500-7CAD-92CD-0E2008DF1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4321572"/>
            <a:ext cx="2839918" cy="584775"/>
          </a:xfrm>
          <a:prstGeom prst="rect">
            <a:avLst/>
          </a:prstGeom>
          <a:solidFill>
            <a:srgbClr val="1C316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$10,500 </a:t>
            </a:r>
            <a:r>
              <a:rPr lang="en-CA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 1,250 hours = $8.40 per hour</a:t>
            </a:r>
            <a:endParaRPr lang="en-CA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85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0E2E2-E047-16AB-5614-EFD927D6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29289-7168-A292-8862-E1F20FA7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8488A-5481-7D9A-2133-CF9A90C6F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Variable Manufacturing Overhead Variance – Using the Equations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7AF9D-B032-0B17-4C63-18CE2493DC22}"/>
              </a:ext>
            </a:extLst>
          </p:cNvPr>
          <p:cNvSpPr txBox="1"/>
          <p:nvPr/>
        </p:nvSpPr>
        <p:spPr>
          <a:xfrm>
            <a:off x="1919536" y="1052737"/>
            <a:ext cx="87849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Variable manufacturing overhead spending variance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VMSV  = AH (AR – SR)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= 1,250 hours ($8.40/hour – $8.00/hour)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= 1,250 hours ($0.40/hour)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= $500 unfavourable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Variable manufacturing overhead efficiency variance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VMEV = SR (AH – SH)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= $8.00 per hour (1,250 hours – 1,200 hours)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= $8.00 per hour (50 hours) </a:t>
            </a:r>
          </a:p>
          <a:p>
            <a:pPr lvl="1">
              <a:buFont typeface="Wingdings 3" panose="05040102010807070707" pitchFamily="18" charset="2"/>
              <a:buNone/>
              <a:tabLst>
                <a:tab pos="2057400" algn="ctr"/>
                <a:tab pos="5029200" algn="ctr"/>
              </a:tabLst>
            </a:pPr>
            <a:r>
              <a:rPr lang="en-CA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= $400 unfavourable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99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097B4-C7AD-AE08-3AF7-AF51EEA8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BC421-1F9B-AD9B-A25F-BC6FD151C0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Standard Costs and Variances in the Service Industry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0D68D-97A1-F68C-F98E-C2B7053757BB}"/>
              </a:ext>
            </a:extLst>
          </p:cNvPr>
          <p:cNvSpPr txBox="1"/>
          <p:nvPr/>
        </p:nvSpPr>
        <p:spPr>
          <a:xfrm>
            <a:off x="911424" y="1412776"/>
            <a:ext cx="10081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Standard costing can help service business to better understand and manage their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main difference is the terminology used  and the lack of cost of goods sold</a:t>
            </a:r>
          </a:p>
        </p:txBody>
      </p:sp>
    </p:spTree>
    <p:extLst>
      <p:ext uri="{BB962C8B-B14F-4D97-AF65-F5344CB8AC3E}">
        <p14:creationId xmlns:p14="http://schemas.microsoft.com/office/powerpoint/2010/main" val="831729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A2E2-D80D-8D1E-A38A-F3D91E907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8D0B61-60F3-68AC-501A-4FD24224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2EC2E-DF8D-C697-DAD7-D1E10F6CE7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Fixed Overhead Variance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54275-0548-D03D-8341-8B0BCE2B3C04}"/>
              </a:ext>
            </a:extLst>
          </p:cNvPr>
          <p:cNvSpPr txBox="1"/>
          <p:nvPr/>
        </p:nvSpPr>
        <p:spPr>
          <a:xfrm>
            <a:off x="911424" y="1412776"/>
            <a:ext cx="100811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1C3163"/>
              </a:buClr>
              <a:buFont typeface="Arial" panose="020B0604020202020204" pitchFamily="34" charset="0"/>
              <a:buChar char="•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understand fixed overhead variances, it is necessary to first understand how overhead is applied to WIP in a standard costing system.</a:t>
            </a:r>
          </a:p>
          <a:p>
            <a:pPr>
              <a:buClr>
                <a:srgbClr val="1C3163"/>
              </a:buClr>
              <a:buFont typeface="Arial" panose="020B0604020202020204" pitchFamily="34" charset="0"/>
              <a:buChar char="•"/>
            </a:pPr>
            <a:endParaRPr lang="en-CA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1C3163"/>
              </a:buClr>
              <a:buFont typeface="Arial" panose="020B0604020202020204" pitchFamily="34" charset="0"/>
              <a:buChar char="•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en-CA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cost system, overhead is applied to work in process based on the actual number of hours worked in the period.</a:t>
            </a:r>
          </a:p>
          <a:p>
            <a:pPr>
              <a:buClr>
                <a:srgbClr val="1C3163"/>
              </a:buClr>
              <a:buFont typeface="Arial" panose="020B0604020202020204" pitchFamily="34" charset="0"/>
              <a:buChar char="•"/>
            </a:pPr>
            <a:endParaRPr lang="en-CA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1C3163"/>
              </a:buClr>
              <a:buFont typeface="Arial" panose="020B0604020202020204" pitchFamily="34" charset="0"/>
              <a:buChar char="•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en-CA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en-CA" altLang="en-US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 system, overhead is applied to work in process based on the standard hours allowed for the actual output of the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436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4E1B177E-813E-ED31-2883-33859D344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Overhead</a:t>
            </a:r>
            <a:r>
              <a:rPr lang="en-US" spc="-150" dirty="0"/>
              <a:t> </a:t>
            </a:r>
            <a:r>
              <a:rPr lang="en-US" dirty="0"/>
              <a:t>Application</a:t>
            </a:r>
            <a:r>
              <a:rPr lang="en-US" spc="-35" dirty="0"/>
              <a:t> </a:t>
            </a:r>
            <a:r>
              <a:rPr lang="en-US" dirty="0"/>
              <a:t>in</a:t>
            </a:r>
            <a:r>
              <a:rPr lang="en-US" spc="-15" dirty="0"/>
              <a:t> </a:t>
            </a:r>
            <a:r>
              <a:rPr lang="en-US" dirty="0"/>
              <a:t>a Standard</a:t>
            </a:r>
            <a:r>
              <a:rPr lang="en-US" spc="-30" dirty="0"/>
              <a:t> </a:t>
            </a:r>
            <a:r>
              <a:rPr lang="en-US" dirty="0"/>
              <a:t>Costing</a:t>
            </a:r>
            <a:r>
              <a:rPr lang="en-US" spc="-20" dirty="0"/>
              <a:t> </a:t>
            </a:r>
            <a:r>
              <a:rPr lang="en-US" spc="-5" dirty="0"/>
              <a:t>System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10893425" cy="220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Notice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difference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 from 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8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previously</a:t>
            </a:r>
            <a:r>
              <a:rPr sz="18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seen.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 dirty="0">
              <a:latin typeface="Arial"/>
              <a:cs typeface="Arial"/>
            </a:endParaRPr>
          </a:p>
          <a:p>
            <a:pPr marL="713740" marR="259715" indent="-457200">
              <a:lnSpc>
                <a:spcPct val="100000"/>
              </a:lnSpc>
              <a:buSzPct val="79166"/>
              <a:buChar char="•"/>
              <a:tabLst>
                <a:tab pos="713740" algn="l"/>
                <a:tab pos="71437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normal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system,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applied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work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process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actual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hours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worked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period.</a:t>
            </a:r>
            <a:endParaRPr sz="2400" dirty="0">
              <a:latin typeface="Arial MT"/>
              <a:cs typeface="Arial MT"/>
            </a:endParaRPr>
          </a:p>
          <a:p>
            <a:pPr marL="713740" marR="5080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713740" algn="l"/>
                <a:tab pos="71437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standard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applied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work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standard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hours allowed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period.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3437" y="3444156"/>
          <a:ext cx="4738370" cy="28580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971">
                <a:tc gridSpan="2">
                  <a:txBody>
                    <a:bodyPr/>
                    <a:lstStyle/>
                    <a:p>
                      <a:pPr marL="1235075">
                        <a:lnSpc>
                          <a:spcPts val="2655"/>
                        </a:lnSpc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Normal</a:t>
                      </a:r>
                      <a:r>
                        <a:rPr sz="24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Costing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12522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MOH</a:t>
                      </a:r>
                      <a:r>
                        <a:rPr sz="2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5" dirty="0">
                          <a:latin typeface="Arial"/>
                          <a:cs typeface="Arial"/>
                        </a:rPr>
                        <a:t>(T-Account)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0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Actual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OH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7829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Applied</a:t>
                      </a:r>
                      <a:r>
                        <a:rPr sz="2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OH 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(Actual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Hours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2400" spc="-6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POHR)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83437" y="5845009"/>
            <a:ext cx="4739005" cy="0"/>
          </a:xfrm>
          <a:custGeom>
            <a:avLst/>
            <a:gdLst/>
            <a:ahLst/>
            <a:cxnLst/>
            <a:rect l="l" t="t" r="r" b="b"/>
            <a:pathLst>
              <a:path w="4739005">
                <a:moveTo>
                  <a:pt x="0" y="0"/>
                </a:moveTo>
                <a:lnTo>
                  <a:pt x="473842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96000" y="3444156"/>
          <a:ext cx="5580380" cy="28580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971">
                <a:tc gridSpan="2">
                  <a:txBody>
                    <a:bodyPr/>
                    <a:lstStyle/>
                    <a:p>
                      <a:pPr marL="2540" algn="ctr">
                        <a:lnSpc>
                          <a:spcPts val="2655"/>
                        </a:lnSpc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Standard</a:t>
                      </a:r>
                      <a:r>
                        <a:rPr sz="2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" dirty="0">
                          <a:latin typeface="Arial"/>
                          <a:cs typeface="Arial"/>
                        </a:rPr>
                        <a:t>Costing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MOH</a:t>
                      </a:r>
                      <a:r>
                        <a:rPr sz="2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5" dirty="0">
                          <a:latin typeface="Arial"/>
                          <a:cs typeface="Arial"/>
                        </a:rPr>
                        <a:t>(T-Account)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08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Actual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OH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 marR="890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Applied</a:t>
                      </a:r>
                      <a:r>
                        <a:rPr sz="24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OH 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(Standard Hours * </a:t>
                      </a:r>
                      <a:r>
                        <a:rPr sz="2400" spc="-6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POHR)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096000" y="5845009"/>
            <a:ext cx="5580380" cy="0"/>
          </a:xfrm>
          <a:custGeom>
            <a:avLst/>
            <a:gdLst/>
            <a:ahLst/>
            <a:cxnLst/>
            <a:rect l="l" t="t" r="r" b="b"/>
            <a:pathLst>
              <a:path w="5580380">
                <a:moveTo>
                  <a:pt x="0" y="0"/>
                </a:moveTo>
                <a:lnTo>
                  <a:pt x="558038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8B73C-D26F-D23E-1CFA-0875385C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82DA135C-EC98-F501-BC8C-51B48963C8A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BAD0A2F0-AD2B-4054-10CF-D6494F9B3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Fixed Overhead Variance  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F37FDAB-90D7-A9B8-3E1A-008389488C6E}"/>
              </a:ext>
            </a:extLst>
          </p:cNvPr>
          <p:cNvSpPr txBox="1"/>
          <p:nvPr/>
        </p:nvSpPr>
        <p:spPr>
          <a:xfrm>
            <a:off x="911424" y="3535903"/>
            <a:ext cx="4357081" cy="137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CA" sz="2400" b="1" spc="-5" dirty="0">
                <a:solidFill>
                  <a:srgbClr val="0070C0"/>
                </a:solidFill>
                <a:latin typeface="Arial"/>
                <a:cs typeface="Arial"/>
              </a:rPr>
              <a:t>Budget </a:t>
            </a:r>
            <a:r>
              <a:rPr sz="2400" b="1" spc="-20" dirty="0">
                <a:solidFill>
                  <a:srgbClr val="0070C0"/>
                </a:solidFill>
                <a:latin typeface="Arial"/>
                <a:cs typeface="Arial"/>
              </a:rPr>
              <a:t>variance</a:t>
            </a:r>
            <a:endParaRPr lang="en-CA" sz="2400" b="1" spc="-2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CA" sz="1600" b="1" spc="-20" dirty="0">
                <a:latin typeface="Arial"/>
                <a:cs typeface="Arial"/>
              </a:rPr>
              <a:t>- Measure of the difference between the actual Fixed overhead incurred during the period and the budgeted fixed overhead costs as stated in the flexible budget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0010F4B-2041-6AD1-28BB-84717B2919F2}"/>
              </a:ext>
            </a:extLst>
          </p:cNvPr>
          <p:cNvSpPr txBox="1"/>
          <p:nvPr/>
        </p:nvSpPr>
        <p:spPr>
          <a:xfrm>
            <a:off x="479377" y="949714"/>
            <a:ext cx="2278380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Actual Fixed Overhead Incurred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95CFF0-103A-849C-A240-A75D32386A68}"/>
              </a:ext>
            </a:extLst>
          </p:cNvPr>
          <p:cNvSpPr txBox="1"/>
          <p:nvPr/>
        </p:nvSpPr>
        <p:spPr>
          <a:xfrm>
            <a:off x="4151784" y="859589"/>
            <a:ext cx="2279015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Fixed Overhead Budget</a:t>
            </a: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endParaRPr lang="en-CA" sz="2400" b="1" spc="-5" dirty="0">
              <a:latin typeface="Arial"/>
              <a:cs typeface="Arial"/>
            </a:endParaRP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DH x FR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413BAD7-12E2-53D6-145B-0EB7A0C1765E}"/>
              </a:ext>
            </a:extLst>
          </p:cNvPr>
          <p:cNvSpPr txBox="1"/>
          <p:nvPr/>
        </p:nvSpPr>
        <p:spPr>
          <a:xfrm>
            <a:off x="7593286" y="892485"/>
            <a:ext cx="2666365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Fixed Overhead Applied</a:t>
            </a: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endParaRPr lang="en-CA" sz="2400" b="1" spc="-5" dirty="0">
              <a:latin typeface="Arial"/>
              <a:cs typeface="Arial"/>
            </a:endParaRP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SH x FR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1C24480-6903-69E3-6B01-B1C122A4713C}"/>
              </a:ext>
            </a:extLst>
          </p:cNvPr>
          <p:cNvGrpSpPr/>
          <p:nvPr/>
        </p:nvGrpSpPr>
        <p:grpSpPr>
          <a:xfrm>
            <a:off x="839416" y="2461244"/>
            <a:ext cx="9626575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1398066-3548-7418-2881-74504641B49A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6EAE690-7F30-B87D-7268-C467E6E0FAAD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7766A31-14E6-A677-810C-82BF5099A5EA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9EDE851-822D-6470-4518-7EDB820B1FF5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C666200-08B1-1EDD-E864-080A638B9BB9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2BAB7C7-9F81-5A1E-BBEA-91A8868D258E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9CF618D-7771-2320-1C31-C9984376BFFE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5B9540CC-3EDB-BC2A-7C45-543D0E87AE21}"/>
              </a:ext>
            </a:extLst>
          </p:cNvPr>
          <p:cNvSpPr txBox="1"/>
          <p:nvPr/>
        </p:nvSpPr>
        <p:spPr>
          <a:xfrm>
            <a:off x="6810064" y="3755219"/>
            <a:ext cx="3246376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Volume</a:t>
            </a:r>
            <a:r>
              <a:rPr sz="2400" b="1" spc="-20" dirty="0">
                <a:solidFill>
                  <a:srgbClr val="0070C0"/>
                </a:solidFill>
                <a:latin typeface="Arial"/>
                <a:cs typeface="Arial"/>
              </a:rPr>
              <a:t> Variance</a:t>
            </a:r>
            <a:endParaRPr lang="en-CA" sz="2400" b="1" spc="-2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CA" sz="2400" b="1" spc="-20" dirty="0">
                <a:latin typeface="Arial"/>
                <a:cs typeface="Arial"/>
              </a:rPr>
              <a:t>- </a:t>
            </a:r>
            <a:r>
              <a:rPr lang="en-CA" sz="1600" b="1" spc="-20" dirty="0">
                <a:latin typeface="Arial"/>
                <a:cs typeface="Arial"/>
              </a:rPr>
              <a:t>Measure of utilization of plant facilities</a:t>
            </a: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E70D2599-7503-7B24-FC93-12CBBA8E6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616" y="5301208"/>
            <a:ext cx="6013450" cy="1142364"/>
          </a:xfrm>
          <a:prstGeom prst="rect">
            <a:avLst/>
          </a:prstGeom>
          <a:noFill/>
          <a:ln w="25400">
            <a:solidFill>
              <a:srgbClr val="1C3163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95000"/>
              </a:lnSpc>
              <a:defRPr/>
            </a:pPr>
            <a: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 = Denominator Hours                         </a:t>
            </a:r>
          </a:p>
          <a:p>
            <a:pPr eaLnBrk="1" hangingPunct="1">
              <a:lnSpc>
                <a:spcPct val="95000"/>
              </a:lnSpc>
              <a:defRPr/>
            </a:pPr>
            <a: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 = Standard Fixed Overhead Rate</a:t>
            </a:r>
            <a:b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 = Standard Hours Allowed</a:t>
            </a:r>
          </a:p>
        </p:txBody>
      </p:sp>
    </p:spTree>
    <p:extLst>
      <p:ext uri="{BB962C8B-B14F-4D97-AF65-F5344CB8AC3E}">
        <p14:creationId xmlns:p14="http://schemas.microsoft.com/office/powerpoint/2010/main" val="4255918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20DD6E-56E3-E0C0-7873-0D80F12A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EE98F-7B6A-82FA-2B55-8C400E9DE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Rates and Overhead Analysis - Example</a:t>
            </a:r>
          </a:p>
        </p:txBody>
      </p:sp>
      <p:pic>
        <p:nvPicPr>
          <p:cNvPr id="6" name="Picture 5" descr="A table with black text&#10;&#10;AI-generated content may be incorrect.">
            <a:extLst>
              <a:ext uri="{FF2B5EF4-FFF2-40B4-BE49-F238E27FC236}">
                <a16:creationId xmlns:a16="http://schemas.microsoft.com/office/drawing/2014/main" id="{474F14F3-0104-2D2F-AB1D-9EE17F5CF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692696"/>
            <a:ext cx="6779416" cy="2080697"/>
          </a:xfrm>
          <a:prstGeom prst="rect">
            <a:avLst/>
          </a:prstGeom>
        </p:spPr>
      </p:pic>
      <p:pic>
        <p:nvPicPr>
          <p:cNvPr id="8" name="Picture 7" descr="A diagram of a variable overhead rate&#10;&#10;AI-generated content may be incorrect.">
            <a:extLst>
              <a:ext uri="{FF2B5EF4-FFF2-40B4-BE49-F238E27FC236}">
                <a16:creationId xmlns:a16="http://schemas.microsoft.com/office/drawing/2014/main" id="{64FECF57-F07C-71B3-ECD8-5E494557A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3212976"/>
            <a:ext cx="6851424" cy="1713120"/>
          </a:xfrm>
          <a:prstGeom prst="rect">
            <a:avLst/>
          </a:prstGeom>
        </p:spPr>
      </p:pic>
      <p:sp>
        <p:nvSpPr>
          <p:cNvPr id="9" name="Rectangle 36">
            <a:extLst>
              <a:ext uri="{FF2B5EF4-FFF2-40B4-BE49-F238E27FC236}">
                <a16:creationId xmlns:a16="http://schemas.microsoft.com/office/drawing/2014/main" id="{F8C9C1EF-FD54-66D7-DF5C-87C89F632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5646159"/>
            <a:ext cx="8737600" cy="4591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mpd="dbl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Rate = Total </a:t>
            </a:r>
            <a: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 Overhead   /    Machine Hours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B1C2460-D772-1267-989D-30FB72966E8A}"/>
              </a:ext>
            </a:extLst>
          </p:cNvPr>
          <p:cNvSpPr/>
          <p:nvPr/>
        </p:nvSpPr>
        <p:spPr>
          <a:xfrm rot="10800000">
            <a:off x="4491666" y="5085184"/>
            <a:ext cx="228600" cy="368823"/>
          </a:xfrm>
          <a:prstGeom prst="downArrow">
            <a:avLst/>
          </a:prstGeom>
          <a:solidFill>
            <a:srgbClr val="ED037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BB10-8068-E788-1CC0-B72CFB54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9E583-C191-37AD-2F82-1F8AFB0B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1F572-58B0-2814-89F2-823C281D2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Rates and Overhead Analysis - Example</a:t>
            </a:r>
          </a:p>
        </p:txBody>
      </p:sp>
      <p:sp>
        <p:nvSpPr>
          <p:cNvPr id="9" name="Rectangle 36">
            <a:extLst>
              <a:ext uri="{FF2B5EF4-FFF2-40B4-BE49-F238E27FC236}">
                <a16:creationId xmlns:a16="http://schemas.microsoft.com/office/drawing/2014/main" id="{DBF9D243-6595-D86B-1441-4278561B5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094" y="602996"/>
            <a:ext cx="8737600" cy="4591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mpd="dbl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Rate = Total </a:t>
            </a:r>
            <a: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 Overhead   /    Machine Hours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796577E-373A-76FB-DC51-E6C617961501}"/>
              </a:ext>
            </a:extLst>
          </p:cNvPr>
          <p:cNvSpPr/>
          <p:nvPr/>
        </p:nvSpPr>
        <p:spPr>
          <a:xfrm>
            <a:off x="7320136" y="1201864"/>
            <a:ext cx="288032" cy="570952"/>
          </a:xfrm>
          <a:prstGeom prst="downArrow">
            <a:avLst/>
          </a:prstGeom>
          <a:solidFill>
            <a:srgbClr val="ED037C"/>
          </a:solidFill>
          <a:ln>
            <a:solidFill>
              <a:srgbClr val="ED0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2CC44C44-B745-A008-F116-0C80F6111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42" y="1821916"/>
            <a:ext cx="7425333" cy="1750688"/>
          </a:xfrm>
          <a:prstGeom prst="rect">
            <a:avLst/>
          </a:prstGeom>
        </p:spPr>
      </p:pic>
      <p:sp>
        <p:nvSpPr>
          <p:cNvPr id="7" name="Rectangle 57">
            <a:extLst>
              <a:ext uri="{FF2B5EF4-FFF2-40B4-BE49-F238E27FC236}">
                <a16:creationId xmlns:a16="http://schemas.microsoft.com/office/drawing/2014/main" id="{CF335EF5-B829-AE36-4125-2DDA21EB1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122" y="5157192"/>
            <a:ext cx="7792771" cy="12223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mpd="dbl">
            <a:solidFill>
              <a:srgbClr val="1C3163"/>
            </a:solidFill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The total </a:t>
            </a:r>
            <a:r>
              <a:rPr lang="en-CA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POHR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 is the sum of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the fixed and variable rates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for a given activity level.  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4309052-EF5C-EA46-D385-4B5F617F099F}"/>
              </a:ext>
            </a:extLst>
          </p:cNvPr>
          <p:cNvSpPr/>
          <p:nvPr/>
        </p:nvSpPr>
        <p:spPr>
          <a:xfrm rot="10800000">
            <a:off x="4651855" y="3641422"/>
            <a:ext cx="295304" cy="1446951"/>
          </a:xfrm>
          <a:prstGeom prst="downArrow">
            <a:avLst/>
          </a:prstGeom>
          <a:solidFill>
            <a:srgbClr val="ED037C"/>
          </a:solidFill>
          <a:ln>
            <a:solidFill>
              <a:srgbClr val="ED0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EA8A970-F023-C167-AEE3-AE47B2834136}"/>
              </a:ext>
            </a:extLst>
          </p:cNvPr>
          <p:cNvSpPr/>
          <p:nvPr/>
        </p:nvSpPr>
        <p:spPr>
          <a:xfrm rot="10800000">
            <a:off x="7579136" y="3645682"/>
            <a:ext cx="295304" cy="1446951"/>
          </a:xfrm>
          <a:prstGeom prst="downArrow">
            <a:avLst/>
          </a:prstGeom>
          <a:solidFill>
            <a:srgbClr val="ED037C"/>
          </a:solidFill>
          <a:ln>
            <a:solidFill>
              <a:srgbClr val="ED0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64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0355-AD65-83AC-3935-DA843404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03C0BEF8-957D-B2BD-9A50-CF74DF22F28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1C96A190-D2BE-1869-CE97-A5DA42EE19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 dirty="0"/>
              <a:t>Fixed Overhead Variance  - Example </a:t>
            </a:r>
            <a:endParaRPr lang="en-CA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6C2BF8-0DBA-1C18-E45D-79E11B77F013}"/>
              </a:ext>
            </a:extLst>
          </p:cNvPr>
          <p:cNvSpPr txBox="1"/>
          <p:nvPr/>
        </p:nvSpPr>
        <p:spPr>
          <a:xfrm>
            <a:off x="1433258" y="4826290"/>
            <a:ext cx="4357081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Budget </a:t>
            </a:r>
            <a:r>
              <a:rPr sz="2400" b="1" spc="-20" dirty="0">
                <a:latin typeface="Arial"/>
                <a:cs typeface="Arial"/>
              </a:rPr>
              <a:t>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$550 favourable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CA" sz="1600" b="1" spc="-2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392833-D9D8-BE5F-C2A8-51CD2FA76F6D}"/>
              </a:ext>
            </a:extLst>
          </p:cNvPr>
          <p:cNvSpPr txBox="1"/>
          <p:nvPr/>
        </p:nvSpPr>
        <p:spPr>
          <a:xfrm>
            <a:off x="911424" y="2198847"/>
            <a:ext cx="2278380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Actual Fixed Overhead Incurred</a:t>
            </a: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endParaRPr lang="en-CA" sz="2400" b="1" spc="-5" dirty="0">
              <a:latin typeface="Arial"/>
              <a:cs typeface="Arial"/>
            </a:endParaRP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b="1" spc="-5" dirty="0">
                <a:solidFill>
                  <a:srgbClr val="0070C0"/>
                </a:solidFill>
                <a:latin typeface="Arial"/>
                <a:cs typeface="Arial"/>
              </a:rPr>
              <a:t>$8,450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AB48DCD-CAB3-5313-E010-7D867B4F2B41}"/>
              </a:ext>
            </a:extLst>
          </p:cNvPr>
          <p:cNvSpPr txBox="1"/>
          <p:nvPr/>
        </p:nvSpPr>
        <p:spPr>
          <a:xfrm>
            <a:off x="4657807" y="2456041"/>
            <a:ext cx="2279015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Fixed Overhead Budget</a:t>
            </a: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endParaRPr lang="en-CA" sz="2400" b="1" spc="-5" dirty="0">
              <a:latin typeface="Arial"/>
              <a:cs typeface="Arial"/>
            </a:endParaRPr>
          </a:p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b="1" spc="-5" dirty="0">
                <a:solidFill>
                  <a:srgbClr val="0070C0"/>
                </a:solidFill>
                <a:latin typeface="Arial"/>
                <a:cs typeface="Arial"/>
              </a:rPr>
              <a:t>$9,000</a:t>
            </a:r>
            <a:endParaRPr b="1" spc="-5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80EA65C-DB38-D340-6D1A-F6838242218C}"/>
              </a:ext>
            </a:extLst>
          </p:cNvPr>
          <p:cNvSpPr txBox="1"/>
          <p:nvPr/>
        </p:nvSpPr>
        <p:spPr>
          <a:xfrm>
            <a:off x="8112224" y="1565134"/>
            <a:ext cx="2666365" cy="2221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90"/>
              </a:lnSpc>
              <a:spcBef>
                <a:spcPts val="100"/>
              </a:spcBef>
            </a:pPr>
            <a:r>
              <a:rPr lang="en-CA" sz="2400" b="1" spc="-5" dirty="0">
                <a:latin typeface="Arial"/>
                <a:cs typeface="Arial"/>
              </a:rPr>
              <a:t>Fixed Overhead Applied</a:t>
            </a:r>
          </a:p>
          <a:p>
            <a:pPr algn="ctr">
              <a:spcBef>
                <a:spcPts val="100"/>
              </a:spcBef>
            </a:pPr>
            <a:endParaRPr lang="en-CA" sz="1600" b="1" spc="-5" dirty="0">
              <a:latin typeface="Arial"/>
              <a:cs typeface="Arial"/>
            </a:endParaRPr>
          </a:p>
          <a:p>
            <a:pPr algn="ctr">
              <a:spcBef>
                <a:spcPts val="100"/>
              </a:spcBef>
            </a:pPr>
            <a:r>
              <a:rPr lang="en-CA" sz="1600" b="1" spc="-5" dirty="0">
                <a:latin typeface="Arial"/>
                <a:cs typeface="Arial"/>
              </a:rPr>
              <a:t>SH x FR</a:t>
            </a:r>
          </a:p>
          <a:p>
            <a:pPr algn="ctr">
              <a:spcBef>
                <a:spcPts val="100"/>
              </a:spcBef>
            </a:pPr>
            <a:r>
              <a:rPr lang="en-CA" sz="1600" b="1" spc="-5" dirty="0">
                <a:solidFill>
                  <a:srgbClr val="0070C0"/>
                </a:solidFill>
                <a:latin typeface="Arial"/>
                <a:cs typeface="Arial"/>
              </a:rPr>
              <a:t>3,200 hours</a:t>
            </a:r>
          </a:p>
          <a:p>
            <a:pPr algn="ctr"/>
            <a:r>
              <a:rPr lang="en-CA" sz="1600" b="1" spc="-5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</a:p>
          <a:p>
            <a:pPr algn="ctr">
              <a:spcBef>
                <a:spcPts val="100"/>
              </a:spcBef>
            </a:pPr>
            <a:r>
              <a:rPr lang="en-CA" sz="1600" b="1" spc="-5" dirty="0">
                <a:solidFill>
                  <a:srgbClr val="0070C0"/>
                </a:solidFill>
                <a:latin typeface="Arial"/>
                <a:cs typeface="Arial"/>
              </a:rPr>
              <a:t>$3.00 / hour</a:t>
            </a:r>
          </a:p>
          <a:p>
            <a:pPr algn="ctr">
              <a:spcBef>
                <a:spcPts val="100"/>
              </a:spcBef>
            </a:pPr>
            <a:r>
              <a:rPr lang="en-CA" sz="1600" b="1" spc="-5" dirty="0">
                <a:solidFill>
                  <a:srgbClr val="0070C0"/>
                </a:solidFill>
                <a:latin typeface="Arial"/>
                <a:cs typeface="Arial"/>
              </a:rPr>
              <a:t>= $9,600</a:t>
            </a:r>
            <a:endParaRPr sz="1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2C8BC42C-E984-2DF4-DAA2-AD2459D19DA0}"/>
              </a:ext>
            </a:extLst>
          </p:cNvPr>
          <p:cNvGrpSpPr/>
          <p:nvPr/>
        </p:nvGrpSpPr>
        <p:grpSpPr>
          <a:xfrm>
            <a:off x="1111349" y="3944605"/>
            <a:ext cx="9626575" cy="852805"/>
            <a:chOff x="444245" y="2458402"/>
            <a:chExt cx="8179434" cy="85280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25A8AE5-0078-56B5-5491-54C6EB389F24}"/>
                </a:ext>
              </a:extLst>
            </p:cNvPr>
            <p:cNvSpPr/>
            <p:nvPr/>
          </p:nvSpPr>
          <p:spPr>
            <a:xfrm>
              <a:off x="444245" y="2472689"/>
              <a:ext cx="2185670" cy="469900"/>
            </a:xfrm>
            <a:custGeom>
              <a:avLst/>
              <a:gdLst/>
              <a:ahLst/>
              <a:cxnLst/>
              <a:rect l="l" t="t" r="r" b="b"/>
              <a:pathLst>
                <a:path w="2185670" h="469900">
                  <a:moveTo>
                    <a:pt x="0" y="0"/>
                  </a:moveTo>
                  <a:lnTo>
                    <a:pt x="2185416" y="0"/>
                  </a:lnTo>
                </a:path>
                <a:path w="2185670" h="469900">
                  <a:moveTo>
                    <a:pt x="1092708" y="0"/>
                  </a:moveTo>
                  <a:lnTo>
                    <a:pt x="1092708" y="469392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2AC0E05-A4C9-843B-64E1-82E5748185EA}"/>
                </a:ext>
              </a:extLst>
            </p:cNvPr>
            <p:cNvSpPr/>
            <p:nvPr/>
          </p:nvSpPr>
          <p:spPr>
            <a:xfrm>
              <a:off x="2583688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BDE8DD3-A0C4-3608-5ADB-DF5C4C824933}"/>
                </a:ext>
              </a:extLst>
            </p:cNvPr>
            <p:cNvSpPr/>
            <p:nvPr/>
          </p:nvSpPr>
          <p:spPr>
            <a:xfrm>
              <a:off x="3327653" y="2458973"/>
              <a:ext cx="2184400" cy="483234"/>
            </a:xfrm>
            <a:custGeom>
              <a:avLst/>
              <a:gdLst/>
              <a:ahLst/>
              <a:cxnLst/>
              <a:rect l="l" t="t" r="r" b="b"/>
              <a:pathLst>
                <a:path w="2184400" h="483235">
                  <a:moveTo>
                    <a:pt x="0" y="13715"/>
                  </a:moveTo>
                  <a:lnTo>
                    <a:pt x="2183892" y="13715"/>
                  </a:lnTo>
                </a:path>
                <a:path w="2184400" h="483235">
                  <a:moveTo>
                    <a:pt x="445008" y="483108"/>
                  </a:moveTo>
                  <a:lnTo>
                    <a:pt x="445008" y="0"/>
                  </a:lnTo>
                </a:path>
                <a:path w="2184400" h="483235">
                  <a:moveTo>
                    <a:pt x="1740408" y="13715"/>
                  </a:moveTo>
                  <a:lnTo>
                    <a:pt x="1740408" y="483108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7CB9B91-EF55-0368-DEB7-EBABA5C561FA}"/>
                </a:ext>
              </a:extLst>
            </p:cNvPr>
            <p:cNvSpPr/>
            <p:nvPr/>
          </p:nvSpPr>
          <p:spPr>
            <a:xfrm>
              <a:off x="1536954" y="2955797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200B7B8-7466-028A-1F50-69DC2FFD2DC0}"/>
                </a:ext>
              </a:extLst>
            </p:cNvPr>
            <p:cNvSpPr/>
            <p:nvPr/>
          </p:nvSpPr>
          <p:spPr>
            <a:xfrm>
              <a:off x="6211061" y="2458973"/>
              <a:ext cx="2413000" cy="483234"/>
            </a:xfrm>
            <a:custGeom>
              <a:avLst/>
              <a:gdLst/>
              <a:ahLst/>
              <a:cxnLst/>
              <a:rect l="l" t="t" r="r" b="b"/>
              <a:pathLst>
                <a:path w="2413000" h="483235">
                  <a:moveTo>
                    <a:pt x="0" y="13715"/>
                  </a:moveTo>
                  <a:lnTo>
                    <a:pt x="2412491" y="13715"/>
                  </a:lnTo>
                </a:path>
                <a:path w="2413000" h="483235">
                  <a:moveTo>
                    <a:pt x="1205484" y="483108"/>
                  </a:moveTo>
                  <a:lnTo>
                    <a:pt x="1205484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ABC33E-7B2E-94A3-10C5-59A950A29128}"/>
                </a:ext>
              </a:extLst>
            </p:cNvPr>
            <p:cNvSpPr/>
            <p:nvPr/>
          </p:nvSpPr>
          <p:spPr>
            <a:xfrm>
              <a:off x="6241287" y="2954273"/>
              <a:ext cx="85725" cy="356870"/>
            </a:xfrm>
            <a:custGeom>
              <a:avLst/>
              <a:gdLst/>
              <a:ahLst/>
              <a:cxnLst/>
              <a:rect l="l" t="t" r="r" b="b"/>
              <a:pathLst>
                <a:path w="85725" h="356870">
                  <a:moveTo>
                    <a:pt x="28575" y="270890"/>
                  </a:moveTo>
                  <a:lnTo>
                    <a:pt x="0" y="270890"/>
                  </a:lnTo>
                  <a:lnTo>
                    <a:pt x="42925" y="356615"/>
                  </a:lnTo>
                  <a:lnTo>
                    <a:pt x="78623" y="285114"/>
                  </a:lnTo>
                  <a:lnTo>
                    <a:pt x="28575" y="285114"/>
                  </a:lnTo>
                  <a:lnTo>
                    <a:pt x="28575" y="270890"/>
                  </a:lnTo>
                  <a:close/>
                </a:path>
                <a:path w="85725" h="356870">
                  <a:moveTo>
                    <a:pt x="57150" y="0"/>
                  </a:moveTo>
                  <a:lnTo>
                    <a:pt x="28575" y="0"/>
                  </a:lnTo>
                  <a:lnTo>
                    <a:pt x="28575" y="285114"/>
                  </a:lnTo>
                  <a:lnTo>
                    <a:pt x="57150" y="285114"/>
                  </a:lnTo>
                  <a:lnTo>
                    <a:pt x="57150" y="0"/>
                  </a:lnTo>
                  <a:close/>
                </a:path>
                <a:path w="85725" h="356870">
                  <a:moveTo>
                    <a:pt x="85725" y="270890"/>
                  </a:moveTo>
                  <a:lnTo>
                    <a:pt x="57150" y="270890"/>
                  </a:lnTo>
                  <a:lnTo>
                    <a:pt x="57150" y="285114"/>
                  </a:lnTo>
                  <a:lnTo>
                    <a:pt x="78623" y="285114"/>
                  </a:lnTo>
                  <a:lnTo>
                    <a:pt x="85725" y="270890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77BFE97-F412-DA0A-8B9D-FE358A26AA4E}"/>
                </a:ext>
              </a:extLst>
            </p:cNvPr>
            <p:cNvSpPr/>
            <p:nvPr/>
          </p:nvSpPr>
          <p:spPr>
            <a:xfrm>
              <a:off x="5068061" y="2955797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4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20F9B0F9-D2BB-1C6E-B694-4D67B0C33B88}"/>
              </a:ext>
            </a:extLst>
          </p:cNvPr>
          <p:cNvSpPr txBox="1"/>
          <p:nvPr/>
        </p:nvSpPr>
        <p:spPr>
          <a:xfrm>
            <a:off x="7075776" y="4797346"/>
            <a:ext cx="324637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CA" sz="2400" b="1" spc="-20" dirty="0">
                <a:latin typeface="Arial"/>
                <a:cs typeface="Arial"/>
              </a:rPr>
              <a:t>Volume</a:t>
            </a:r>
            <a:r>
              <a:rPr sz="2400" b="1" spc="-20" dirty="0">
                <a:latin typeface="Arial"/>
                <a:cs typeface="Arial"/>
              </a:rPr>
              <a:t> Variance</a:t>
            </a:r>
            <a:endParaRPr lang="en-CA" sz="2400" b="1" spc="-20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$600 favourable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9BF2F-BCD2-9EC8-C88A-F33BDFC0D200}"/>
              </a:ext>
            </a:extLst>
          </p:cNvPr>
          <p:cNvSpPr txBox="1"/>
          <p:nvPr/>
        </p:nvSpPr>
        <p:spPr>
          <a:xfrm>
            <a:off x="1055440" y="7647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77BA01-0C53-3DF9-3084-3D3FB8D86B60}"/>
              </a:ext>
            </a:extLst>
          </p:cNvPr>
          <p:cNvSpPr txBox="1"/>
          <p:nvPr/>
        </p:nvSpPr>
        <p:spPr>
          <a:xfrm>
            <a:off x="459227" y="556028"/>
            <a:ext cx="10461309" cy="9233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- 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ColaCo’s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actual production required 3,200 </a:t>
            </a:r>
            <a:r>
              <a:rPr lang="en-CA" b="1" u="sng" dirty="0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machine hours</a:t>
            </a: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- Actual fixed overhead was $8,450</a:t>
            </a: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- The predetermined overhead rate is based on 3,000 machine hours</a:t>
            </a:r>
          </a:p>
        </p:txBody>
      </p:sp>
      <p:grpSp>
        <p:nvGrpSpPr>
          <p:cNvPr id="16" name="object 15">
            <a:extLst>
              <a:ext uri="{FF2B5EF4-FFF2-40B4-BE49-F238E27FC236}">
                <a16:creationId xmlns:a16="http://schemas.microsoft.com/office/drawing/2014/main" id="{F413B2B7-6BE9-4772-8029-96407E8213F4}"/>
              </a:ext>
            </a:extLst>
          </p:cNvPr>
          <p:cNvGrpSpPr/>
          <p:nvPr/>
        </p:nvGrpSpPr>
        <p:grpSpPr>
          <a:xfrm>
            <a:off x="4963795" y="5506405"/>
            <a:ext cx="2264410" cy="850900"/>
            <a:chOff x="3314890" y="3768090"/>
            <a:chExt cx="2264410" cy="850900"/>
          </a:xfrm>
        </p:grpSpPr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AF65B6D1-040A-E9E5-FF0F-85F435DC5824}"/>
                </a:ext>
              </a:extLst>
            </p:cNvPr>
            <p:cNvSpPr/>
            <p:nvPr/>
          </p:nvSpPr>
          <p:spPr>
            <a:xfrm>
              <a:off x="3329178" y="3768090"/>
              <a:ext cx="2235835" cy="481965"/>
            </a:xfrm>
            <a:custGeom>
              <a:avLst/>
              <a:gdLst/>
              <a:ahLst/>
              <a:cxnLst/>
              <a:rect l="l" t="t" r="r" b="b"/>
              <a:pathLst>
                <a:path w="2235835" h="481964">
                  <a:moveTo>
                    <a:pt x="0" y="12192"/>
                  </a:moveTo>
                  <a:lnTo>
                    <a:pt x="0" y="481584"/>
                  </a:lnTo>
                </a:path>
                <a:path w="2235835" h="481964">
                  <a:moveTo>
                    <a:pt x="2235708" y="481584"/>
                  </a:moveTo>
                  <a:lnTo>
                    <a:pt x="2235708" y="0"/>
                  </a:lnTo>
                </a:path>
              </a:pathLst>
            </a:custGeom>
            <a:ln w="28575">
              <a:solidFill>
                <a:srgbClr val="676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F7CB5F6D-CF5D-28CF-DDA6-3245C99CD543}"/>
                </a:ext>
              </a:extLst>
            </p:cNvPr>
            <p:cNvSpPr/>
            <p:nvPr/>
          </p:nvSpPr>
          <p:spPr>
            <a:xfrm>
              <a:off x="4377436" y="4263390"/>
              <a:ext cx="85725" cy="355600"/>
            </a:xfrm>
            <a:custGeom>
              <a:avLst/>
              <a:gdLst/>
              <a:ahLst/>
              <a:cxnLst/>
              <a:rect l="l" t="t" r="r" b="b"/>
              <a:pathLst>
                <a:path w="85725" h="355600">
                  <a:moveTo>
                    <a:pt x="28575" y="269367"/>
                  </a:moveTo>
                  <a:lnTo>
                    <a:pt x="0" y="269367"/>
                  </a:lnTo>
                  <a:lnTo>
                    <a:pt x="42925" y="355092"/>
                  </a:lnTo>
                  <a:lnTo>
                    <a:pt x="78623" y="283591"/>
                  </a:lnTo>
                  <a:lnTo>
                    <a:pt x="28575" y="283591"/>
                  </a:lnTo>
                  <a:lnTo>
                    <a:pt x="28575" y="269367"/>
                  </a:lnTo>
                  <a:close/>
                </a:path>
                <a:path w="85725" h="355600">
                  <a:moveTo>
                    <a:pt x="57150" y="0"/>
                  </a:moveTo>
                  <a:lnTo>
                    <a:pt x="28575" y="0"/>
                  </a:lnTo>
                  <a:lnTo>
                    <a:pt x="28575" y="283591"/>
                  </a:lnTo>
                  <a:lnTo>
                    <a:pt x="57150" y="283591"/>
                  </a:lnTo>
                  <a:lnTo>
                    <a:pt x="57150" y="0"/>
                  </a:lnTo>
                  <a:close/>
                </a:path>
                <a:path w="85725" h="355600">
                  <a:moveTo>
                    <a:pt x="85725" y="269367"/>
                  </a:moveTo>
                  <a:lnTo>
                    <a:pt x="57150" y="269367"/>
                  </a:lnTo>
                  <a:lnTo>
                    <a:pt x="57150" y="283591"/>
                  </a:lnTo>
                  <a:lnTo>
                    <a:pt x="78623" y="283591"/>
                  </a:lnTo>
                  <a:lnTo>
                    <a:pt x="85725" y="269367"/>
                  </a:lnTo>
                  <a:close/>
                </a:path>
              </a:pathLst>
            </a:custGeom>
            <a:solidFill>
              <a:srgbClr val="676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E2B9F82B-76D9-C994-7565-5A677DF4CB57}"/>
                </a:ext>
              </a:extLst>
            </p:cNvPr>
            <p:cNvSpPr/>
            <p:nvPr/>
          </p:nvSpPr>
          <p:spPr>
            <a:xfrm>
              <a:off x="3329178" y="4264914"/>
              <a:ext cx="2235200" cy="0"/>
            </a:xfrm>
            <a:custGeom>
              <a:avLst/>
              <a:gdLst/>
              <a:ahLst/>
              <a:cxnLst/>
              <a:rect l="l" t="t" r="r" b="b"/>
              <a:pathLst>
                <a:path w="2235200">
                  <a:moveTo>
                    <a:pt x="0" y="0"/>
                  </a:moveTo>
                  <a:lnTo>
                    <a:pt x="2235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3">
            <a:extLst>
              <a:ext uri="{FF2B5EF4-FFF2-40B4-BE49-F238E27FC236}">
                <a16:creationId xmlns:a16="http://schemas.microsoft.com/office/drawing/2014/main" id="{9D653262-B01A-473B-0B17-7BD425233F83}"/>
              </a:ext>
            </a:extLst>
          </p:cNvPr>
          <p:cNvSpPr txBox="1"/>
          <p:nvPr/>
        </p:nvSpPr>
        <p:spPr>
          <a:xfrm>
            <a:off x="4151784" y="6306228"/>
            <a:ext cx="435708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CA" sz="2400" b="1" spc="-20" dirty="0">
                <a:solidFill>
                  <a:srgbClr val="0070C0"/>
                </a:solidFill>
                <a:latin typeface="Arial"/>
                <a:cs typeface="Arial"/>
              </a:rPr>
              <a:t>$1,150 favourable</a:t>
            </a:r>
          </a:p>
        </p:txBody>
      </p:sp>
    </p:spTree>
    <p:extLst>
      <p:ext uri="{BB962C8B-B14F-4D97-AF65-F5344CB8AC3E}">
        <p14:creationId xmlns:p14="http://schemas.microsoft.com/office/powerpoint/2010/main" val="187963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2E632A0-9CCA-5F2B-122E-49791243D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Why</a:t>
            </a:r>
            <a:r>
              <a:rPr lang="en-CA" spc="-30" dirty="0"/>
              <a:t> </a:t>
            </a:r>
            <a:r>
              <a:rPr lang="en-CA" dirty="0"/>
              <a:t>do</a:t>
            </a:r>
            <a:r>
              <a:rPr lang="en-CA" spc="-5" dirty="0"/>
              <a:t> </a:t>
            </a:r>
            <a:r>
              <a:rPr lang="en-CA" spc="-20" dirty="0"/>
              <a:t>Variances</a:t>
            </a:r>
            <a:r>
              <a:rPr lang="en-CA" spc="-50" dirty="0"/>
              <a:t> </a:t>
            </a:r>
            <a:r>
              <a:rPr lang="en-CA" dirty="0"/>
              <a:t>Occur?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6531" y="1620774"/>
          <a:ext cx="10554970" cy="45531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3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Direct Materials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Variances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Labour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Variances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4067">
                <a:tc>
                  <a:txBody>
                    <a:bodyPr/>
                    <a:lstStyle/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material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 quantity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purchased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(volume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discount)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supplier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Better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negotiation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Drop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/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price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material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new union contract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 marR="6527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or training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48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workers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government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regulations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Unanticipated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overtime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426">
                <a:tc>
                  <a:txBody>
                    <a:bodyPr/>
                    <a:lstStyle/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320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Normal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fluctuations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usage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production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process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proportion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spoilage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materials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equipment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technology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Equipment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malfunction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085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272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Theft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material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320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equipment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technology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workers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Improved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programs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employee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turnover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 marR="438784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3355" algn="l"/>
                          <a:tab pos="394335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Intentional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unintentional</a:t>
                      </a:r>
                      <a:r>
                        <a:rPr sz="18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reporting	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labour </a:t>
                      </a:r>
                      <a:r>
                        <a:rPr sz="1800" spc="-4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hours.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335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Unreasonable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labour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hours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standard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6096" y="4590846"/>
            <a:ext cx="281305" cy="1186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latin typeface="Arial MT"/>
                <a:cs typeface="Arial MT"/>
              </a:rPr>
              <a:t>QUANTITY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163" y="2474747"/>
            <a:ext cx="281305" cy="724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latin typeface="Arial MT"/>
                <a:cs typeface="Arial MT"/>
              </a:rPr>
              <a:t>PRICE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8190" y="2638805"/>
            <a:ext cx="168275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CA" sz="2800" b="1" dirty="0">
                <a:solidFill>
                  <a:srgbClr val="FFFFFF"/>
                </a:solidFill>
                <a:latin typeface="Arial"/>
                <a:cs typeface="Arial"/>
              </a:rPr>
              <a:t>Emerson Sport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8" name="Picture 7" descr="A yellow helmet with a strap&#10;&#10;AI-generated content may be incorrect.">
            <a:extLst>
              <a:ext uri="{FF2B5EF4-FFF2-40B4-BE49-F238E27FC236}">
                <a16:creationId xmlns:a16="http://schemas.microsoft.com/office/drawing/2014/main" id="{583D93C1-09A2-DD96-322A-E9A923087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1406526"/>
            <a:ext cx="2316505" cy="27445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103E23-3D7C-4E39-9DD5-75683B020A9E}">
  <ds:schemaRefs>
    <ds:schemaRef ds:uri="http://schemas.openxmlformats.org/package/2006/metadata/core-properties"/>
    <ds:schemaRef ds:uri="http://purl.org/dc/terms/"/>
    <ds:schemaRef ds:uri="http://www.w3.org/XML/1998/namespace"/>
    <ds:schemaRef ds:uri="c18c8954-ab2f-4275-a5d7-b9aa33856ba2"/>
    <ds:schemaRef ds:uri="http://purl.org/dc/elements/1.1/"/>
    <ds:schemaRef ds:uri="http://schemas.microsoft.com/office/2006/documentManagement/types"/>
    <ds:schemaRef ds:uri="7e677d30-5ff7-4313-a396-6d249a69ab27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11981</TotalTime>
  <Words>2362</Words>
  <Application>Microsoft Office PowerPoint</Application>
  <PresentationFormat>Widescreen</PresentationFormat>
  <Paragraphs>476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38</vt:i4>
      </vt:variant>
    </vt:vector>
  </HeadingPairs>
  <TitlesOfParts>
    <vt:vector size="54" baseType="lpstr">
      <vt:lpstr>Wingdings</vt:lpstr>
      <vt:lpstr>Wingdings 2</vt:lpstr>
      <vt:lpstr>Arial MT</vt:lpstr>
      <vt:lpstr>Cambria</vt:lpstr>
      <vt:lpstr>Arial</vt:lpstr>
      <vt:lpstr>Wingdings 3</vt:lpstr>
      <vt:lpstr>Rockwell</vt:lpstr>
      <vt:lpstr>Calibri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2_Foundry</vt:lpstr>
      <vt:lpstr>    RSM222 Management Accounting 1  Class 9:Planning and Control: Standard Cost &amp; Variance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Flexible Budget  Variances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Guest</cp:lastModifiedBy>
  <cp:revision>193</cp:revision>
  <cp:lastPrinted>2025-09-11T22:16:33Z</cp:lastPrinted>
  <dcterms:created xsi:type="dcterms:W3CDTF">2013-07-26T14:57:40Z</dcterms:created>
  <dcterms:modified xsi:type="dcterms:W3CDTF">2025-11-04T16:54:57Z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