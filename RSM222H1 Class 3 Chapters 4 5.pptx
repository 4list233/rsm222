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69"/>
  </p:notesMasterIdLst>
  <p:sldIdLst>
    <p:sldId id="256" r:id="rId11"/>
    <p:sldId id="357" r:id="rId12"/>
    <p:sldId id="352" r:id="rId13"/>
    <p:sldId id="739" r:id="rId14"/>
    <p:sldId id="749" r:id="rId15"/>
    <p:sldId id="740" r:id="rId16"/>
    <p:sldId id="741" r:id="rId17"/>
    <p:sldId id="742" r:id="rId18"/>
    <p:sldId id="765" r:id="rId19"/>
    <p:sldId id="766" r:id="rId20"/>
    <p:sldId id="767" r:id="rId21"/>
    <p:sldId id="790" r:id="rId22"/>
    <p:sldId id="768" r:id="rId23"/>
    <p:sldId id="769" r:id="rId24"/>
    <p:sldId id="792" r:id="rId25"/>
    <p:sldId id="791" r:id="rId26"/>
    <p:sldId id="771" r:id="rId27"/>
    <p:sldId id="772" r:id="rId28"/>
    <p:sldId id="793" r:id="rId29"/>
    <p:sldId id="773" r:id="rId30"/>
    <p:sldId id="798" r:id="rId31"/>
    <p:sldId id="751" r:id="rId32"/>
    <p:sldId id="794" r:id="rId33"/>
    <p:sldId id="764" r:id="rId34"/>
    <p:sldId id="753" r:id="rId35"/>
    <p:sldId id="754" r:id="rId36"/>
    <p:sldId id="755" r:id="rId37"/>
    <p:sldId id="756" r:id="rId38"/>
    <p:sldId id="757" r:id="rId39"/>
    <p:sldId id="758" r:id="rId40"/>
    <p:sldId id="759" r:id="rId41"/>
    <p:sldId id="760" r:id="rId42"/>
    <p:sldId id="761" r:id="rId43"/>
    <p:sldId id="762" r:id="rId44"/>
    <p:sldId id="763" r:id="rId45"/>
    <p:sldId id="774" r:id="rId46"/>
    <p:sldId id="258" r:id="rId47"/>
    <p:sldId id="775" r:id="rId48"/>
    <p:sldId id="776" r:id="rId49"/>
    <p:sldId id="777" r:id="rId50"/>
    <p:sldId id="778" r:id="rId51"/>
    <p:sldId id="779" r:id="rId52"/>
    <p:sldId id="780" r:id="rId53"/>
    <p:sldId id="781" r:id="rId54"/>
    <p:sldId id="782" r:id="rId55"/>
    <p:sldId id="268" r:id="rId56"/>
    <p:sldId id="269" r:id="rId57"/>
    <p:sldId id="270" r:id="rId58"/>
    <p:sldId id="783" r:id="rId59"/>
    <p:sldId id="784" r:id="rId60"/>
    <p:sldId id="785" r:id="rId61"/>
    <p:sldId id="786" r:id="rId62"/>
    <p:sldId id="787" r:id="rId63"/>
    <p:sldId id="788" r:id="rId64"/>
    <p:sldId id="789" r:id="rId65"/>
    <p:sldId id="795" r:id="rId66"/>
    <p:sldId id="796" r:id="rId67"/>
    <p:sldId id="706" r:id="rId68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50000" autoAdjust="0"/>
  </p:normalViewPr>
  <p:slideViewPr>
    <p:cSldViewPr>
      <p:cViewPr varScale="1">
        <p:scale>
          <a:sx n="63" d="100"/>
          <a:sy n="63" d="100"/>
        </p:scale>
        <p:origin x="1072" y="56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slide" Target="slides/slide56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" Type="http://schemas.openxmlformats.org/officeDocument/2006/relationships/slideMaster" Target="slideMasters/slideMaster4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52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E231-0125-A7D6-67F2-A33E5D00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E6B0D-4EB1-8F70-529A-6D23CF07B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9D3D1-089C-3840-734B-17C888747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26ABD-6112-E6A6-7BB4-E0A628A3D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1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36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EA77A2D-9CDF-4296-A57E-ADEFA02CA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D0FE8F70-6E59-4635-993B-857F6F196E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561461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EA77A2D-9CDF-4296-A57E-ADEFA02CA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D0FE8F70-6E59-4635-993B-857F6F196E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539593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EA77A2D-9CDF-4296-A57E-ADEFA02CA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D0FE8F70-6E59-4635-993B-857F6F196E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05452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EA77A2D-9CDF-4296-A57E-ADEFA02CA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D0FE8F70-6E59-4635-993B-857F6F196E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103519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242-C8DB-4802-BA0C-926516A62445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242-C8DB-4802-BA0C-926516A62445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4D44D-4EBB-4F8B-899F-0377CDBB3C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880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152086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2" r:id="rId13"/>
    <p:sldLayoutId id="2147483843" r:id="rId14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3: CVP Analysis &amp; Introduction to Costing Systems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b="0" i="0" kern="1200">
                <a:solidFill>
                  <a:srgbClr val="888888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n-CA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2</a:t>
            </a:fld>
            <a:endParaRPr spc="-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0AF863B-103C-9A3C-9F1A-BDFABDDCBC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Learning Objectives of Class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57A81-398D-62BB-AE29-506724B935F9}"/>
              </a:ext>
            </a:extLst>
          </p:cNvPr>
          <p:cNvSpPr txBox="1"/>
          <p:nvPr/>
        </p:nvSpPr>
        <p:spPr>
          <a:xfrm>
            <a:off x="719404" y="980728"/>
            <a:ext cx="10705188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Contribution Margin and Contribution Margin Ratio</a:t>
            </a:r>
          </a:p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Variable Expense Ratio</a:t>
            </a:r>
          </a:p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Compute</a:t>
            </a:r>
            <a:r>
              <a:rPr lang="en-CA" sz="2400" spc="-10" dirty="0">
                <a:latin typeface="Arial MT"/>
                <a:cs typeface="Arial MT"/>
              </a:rPr>
              <a:t> the break-even point</a:t>
            </a:r>
          </a:p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spc="-10" dirty="0">
                <a:latin typeface="Arial MT"/>
                <a:cs typeface="Arial MT"/>
              </a:rPr>
              <a:t>Target Operating Price Analysis / Sensitivity and Indifference Analysis</a:t>
            </a:r>
          </a:p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spc="-10" dirty="0">
                <a:latin typeface="Arial MT"/>
                <a:cs typeface="Arial MT"/>
              </a:rPr>
              <a:t>Margin of safety</a:t>
            </a:r>
          </a:p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spc="-10" dirty="0">
                <a:latin typeface="Arial MT"/>
                <a:cs typeface="Arial MT"/>
              </a:rPr>
              <a:t>Product Costing – Job costing</a:t>
            </a:r>
          </a:p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endParaRPr lang="en-CA"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335360" y="2747963"/>
            <a:ext cx="10363200" cy="1362075"/>
          </a:xfrm>
        </p:spPr>
        <p:txBody>
          <a:bodyPr anchor="b"/>
          <a:lstStyle/>
          <a:p>
            <a:r>
              <a:rPr lang="en-US" dirty="0"/>
              <a:t>CVP Analysis</a:t>
            </a:r>
            <a:r>
              <a:rPr lang="en-CA" sz="3200" dirty="0"/>
              <a:t> 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407368" y="4110038"/>
            <a:ext cx="3382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–Volume-Profit</a:t>
            </a:r>
          </a:p>
        </p:txBody>
      </p:sp>
    </p:spTree>
    <p:extLst>
      <p:ext uri="{BB962C8B-B14F-4D97-AF65-F5344CB8AC3E}">
        <p14:creationId xmlns:p14="http://schemas.microsoft.com/office/powerpoint/2010/main" val="58672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36798" y="1960039"/>
            <a:ext cx="110750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Set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5" dirty="0">
                <a:latin typeface="Arial MT"/>
                <a:cs typeface="Arial MT"/>
              </a:rPr>
              <a:t>tools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help managers understand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behaviour </a:t>
            </a:r>
            <a:r>
              <a:rPr sz="2400" dirty="0">
                <a:latin typeface="Arial MT"/>
                <a:cs typeface="Arial MT"/>
              </a:rPr>
              <a:t>of total </a:t>
            </a:r>
            <a:r>
              <a:rPr sz="2400" spc="-5" dirty="0">
                <a:latin typeface="Arial MT"/>
                <a:cs typeface="Arial MT"/>
              </a:rPr>
              <a:t>revenues, total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 </a:t>
            </a:r>
            <a:r>
              <a:rPr sz="2400" spc="-5" dirty="0">
                <a:latin typeface="Arial MT"/>
                <a:cs typeface="Arial MT"/>
              </a:rPr>
              <a:t>and operating income when </a:t>
            </a:r>
            <a:r>
              <a:rPr sz="2400" spc="-25" dirty="0">
                <a:latin typeface="Arial MT"/>
                <a:cs typeface="Arial MT"/>
              </a:rPr>
              <a:t>quantity, </a:t>
            </a:r>
            <a:r>
              <a:rPr sz="2400" spc="-5" dirty="0">
                <a:latin typeface="Arial MT"/>
                <a:cs typeface="Arial MT"/>
              </a:rPr>
              <a:t>selling price, variable or fixed </a:t>
            </a:r>
            <a:r>
              <a:rPr sz="2400" dirty="0">
                <a:latin typeface="Arial MT"/>
                <a:cs typeface="Arial MT"/>
              </a:rPr>
              <a:t>costs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change.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404" y="3400399"/>
            <a:ext cx="5311775" cy="276669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90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Focuses 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interactions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among:</a:t>
            </a:r>
            <a:endParaRPr sz="2400" dirty="0">
              <a:latin typeface="Arial MT"/>
              <a:cs typeface="Arial MT"/>
            </a:endParaRPr>
          </a:p>
          <a:p>
            <a:pPr marL="918844" lvl="1" indent="-457200">
              <a:lnSpc>
                <a:spcPct val="100000"/>
              </a:lnSpc>
              <a:spcBef>
                <a:spcPts val="1085"/>
              </a:spcBef>
              <a:buSzPct val="80000"/>
              <a:buAutoNum type="arabicPeriod"/>
              <a:tabLst>
                <a:tab pos="918844" algn="l"/>
                <a:tab pos="919480" algn="l"/>
              </a:tabLst>
            </a:pPr>
            <a:r>
              <a:rPr sz="2000" dirty="0">
                <a:latin typeface="Arial MT"/>
                <a:cs typeface="Arial MT"/>
              </a:rPr>
              <a:t>Prices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products</a:t>
            </a:r>
          </a:p>
          <a:p>
            <a:pPr marL="918844" lvl="1" indent="-457200">
              <a:lnSpc>
                <a:spcPct val="100000"/>
              </a:lnSpc>
              <a:spcBef>
                <a:spcPts val="1080"/>
              </a:spcBef>
              <a:buSzPct val="80000"/>
              <a:buAutoNum type="arabicPeriod"/>
              <a:tabLst>
                <a:tab pos="918844" algn="l"/>
                <a:tab pos="919480" algn="l"/>
              </a:tabLst>
            </a:pPr>
            <a:r>
              <a:rPr sz="2000" spc="-20" dirty="0">
                <a:latin typeface="Arial MT"/>
                <a:cs typeface="Arial MT"/>
              </a:rPr>
              <a:t>Volume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level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activity</a:t>
            </a:r>
            <a:endParaRPr sz="2000" dirty="0">
              <a:latin typeface="Arial MT"/>
              <a:cs typeface="Arial MT"/>
            </a:endParaRPr>
          </a:p>
          <a:p>
            <a:pPr marL="918844" lvl="1" indent="-457200">
              <a:lnSpc>
                <a:spcPct val="100000"/>
              </a:lnSpc>
              <a:spcBef>
                <a:spcPts val="1085"/>
              </a:spcBef>
              <a:buSzPct val="80000"/>
              <a:buAutoNum type="arabicPeriod"/>
              <a:tabLst>
                <a:tab pos="918844" algn="l"/>
                <a:tab pos="919480" algn="l"/>
              </a:tabLst>
            </a:pP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</a:p>
          <a:p>
            <a:pPr marL="918844" lvl="1" indent="-457200">
              <a:lnSpc>
                <a:spcPct val="100000"/>
              </a:lnSpc>
              <a:spcBef>
                <a:spcPts val="1080"/>
              </a:spcBef>
              <a:buSzPct val="80000"/>
              <a:buAutoNum type="arabicPeriod"/>
              <a:tabLst>
                <a:tab pos="918844" algn="l"/>
                <a:tab pos="919480" algn="l"/>
              </a:tabLst>
            </a:pPr>
            <a:r>
              <a:rPr sz="2000" spc="-45" dirty="0">
                <a:latin typeface="Arial MT"/>
                <a:cs typeface="Arial MT"/>
              </a:rPr>
              <a:t>Total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fixed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</a:p>
          <a:p>
            <a:pPr marL="918844" lvl="1" indent="-457200">
              <a:lnSpc>
                <a:spcPct val="100000"/>
              </a:lnSpc>
              <a:spcBef>
                <a:spcPts val="1080"/>
              </a:spcBef>
              <a:buSzPct val="80000"/>
              <a:buAutoNum type="arabicPeriod"/>
              <a:tabLst>
                <a:tab pos="918844" algn="l"/>
                <a:tab pos="919480" algn="l"/>
              </a:tabLst>
            </a:pPr>
            <a:r>
              <a:rPr sz="2000" dirty="0">
                <a:latin typeface="Arial MT"/>
                <a:cs typeface="Arial MT"/>
              </a:rPr>
              <a:t>Mix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4920" y="809874"/>
            <a:ext cx="11504930" cy="83248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Cost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Behavior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Analysis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study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how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specific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respond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" dirty="0">
                <a:latin typeface="Arial MT"/>
                <a:cs typeface="Arial MT"/>
              </a:rPr>
              <a:t> changes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level</a:t>
            </a:r>
            <a:r>
              <a:rPr sz="2400" dirty="0">
                <a:latin typeface="Arial MT"/>
                <a:cs typeface="Arial MT"/>
              </a:rPr>
              <a:t> 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business 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activity</a:t>
            </a:r>
            <a:r>
              <a:rPr sz="2400" spc="-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56582" y="4956047"/>
            <a:ext cx="1800225" cy="114300"/>
          </a:xfrm>
          <a:custGeom>
            <a:avLst/>
            <a:gdLst/>
            <a:ahLst/>
            <a:cxnLst/>
            <a:rect l="l" t="t" r="r" b="b"/>
            <a:pathLst>
              <a:path w="1800225" h="114300">
                <a:moveTo>
                  <a:pt x="1685925" y="0"/>
                </a:moveTo>
                <a:lnTo>
                  <a:pt x="1685925" y="114300"/>
                </a:lnTo>
                <a:lnTo>
                  <a:pt x="1762125" y="76200"/>
                </a:lnTo>
                <a:lnTo>
                  <a:pt x="1704975" y="76200"/>
                </a:lnTo>
                <a:lnTo>
                  <a:pt x="1704975" y="38100"/>
                </a:lnTo>
                <a:lnTo>
                  <a:pt x="1762125" y="38100"/>
                </a:lnTo>
                <a:lnTo>
                  <a:pt x="1685925" y="0"/>
                </a:lnTo>
                <a:close/>
              </a:path>
              <a:path w="1800225" h="114300">
                <a:moveTo>
                  <a:pt x="168592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85925" y="76200"/>
                </a:lnTo>
                <a:lnTo>
                  <a:pt x="1685925" y="38100"/>
                </a:lnTo>
                <a:close/>
              </a:path>
              <a:path w="1800225" h="114300">
                <a:moveTo>
                  <a:pt x="1762125" y="38100"/>
                </a:moveTo>
                <a:lnTo>
                  <a:pt x="1704975" y="38100"/>
                </a:lnTo>
                <a:lnTo>
                  <a:pt x="1704975" y="76200"/>
                </a:lnTo>
                <a:lnTo>
                  <a:pt x="1762125" y="76200"/>
                </a:lnTo>
                <a:lnTo>
                  <a:pt x="1800225" y="57150"/>
                </a:lnTo>
                <a:lnTo>
                  <a:pt x="1762125" y="38100"/>
                </a:lnTo>
                <a:close/>
              </a:path>
            </a:pathLst>
          </a:custGeom>
          <a:solidFill>
            <a:srgbClr val="929292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01206" y="4083558"/>
            <a:ext cx="5400040" cy="1938655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300"/>
              </a:spcBef>
            </a:pPr>
            <a:r>
              <a:rPr sz="2000" u="heavy" spc="-1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ypes</a:t>
            </a:r>
            <a:r>
              <a:rPr sz="20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of</a:t>
            </a:r>
            <a:r>
              <a:rPr sz="2000" u="heavy" spc="-1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Acti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v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ity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Levels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Arial MT"/>
              <a:cs typeface="Arial MT"/>
            </a:endParaRPr>
          </a:p>
          <a:p>
            <a:pPr marL="890905" indent="-343535">
              <a:lnSpc>
                <a:spcPct val="100000"/>
              </a:lnSpc>
              <a:buAutoNum type="arabicPeriod"/>
              <a:tabLst>
                <a:tab pos="890905" algn="l"/>
                <a:tab pos="891540" algn="l"/>
              </a:tabLst>
            </a:pPr>
            <a:r>
              <a:rPr sz="2000" dirty="0">
                <a:latin typeface="Arial MT"/>
                <a:cs typeface="Arial MT"/>
              </a:rPr>
              <a:t>Sales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dollars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(retail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company)</a:t>
            </a:r>
          </a:p>
          <a:p>
            <a:pPr marL="890905" indent="-343535">
              <a:lnSpc>
                <a:spcPct val="100000"/>
              </a:lnSpc>
              <a:buAutoNum type="arabicPeriod"/>
              <a:tabLst>
                <a:tab pos="890905" algn="l"/>
                <a:tab pos="891540" algn="l"/>
              </a:tabLst>
            </a:pPr>
            <a:r>
              <a:rPr sz="2000" dirty="0">
                <a:latin typeface="Arial MT"/>
                <a:cs typeface="Arial MT"/>
              </a:rPr>
              <a:t>Miles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(trucking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company).</a:t>
            </a:r>
          </a:p>
          <a:p>
            <a:pPr marL="890905" indent="-343535">
              <a:lnSpc>
                <a:spcPct val="100000"/>
              </a:lnSpc>
              <a:buAutoNum type="arabicPeriod"/>
              <a:tabLst>
                <a:tab pos="890905" algn="l"/>
                <a:tab pos="891540" algn="l"/>
              </a:tabLst>
            </a:pPr>
            <a:r>
              <a:rPr sz="2000" dirty="0">
                <a:latin typeface="Arial MT"/>
                <a:cs typeface="Arial MT"/>
              </a:rPr>
              <a:t>Room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occupancy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(hotel).</a:t>
            </a:r>
          </a:p>
          <a:p>
            <a:pPr marL="890905" indent="-343535">
              <a:lnSpc>
                <a:spcPct val="100000"/>
              </a:lnSpc>
              <a:buAutoNum type="arabicPeriod"/>
              <a:tabLst>
                <a:tab pos="890905" algn="l"/>
                <a:tab pos="891540" algn="l"/>
              </a:tabLst>
            </a:pPr>
            <a:r>
              <a:rPr sz="2000" dirty="0">
                <a:latin typeface="Arial MT"/>
                <a:cs typeface="Arial MT"/>
              </a:rPr>
              <a:t>Dance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taught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(dance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studio).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CE8A8C34-4406-E174-27C5-D3393C716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spc="-15" dirty="0"/>
              <a:t>Cost-Volume-Profit</a:t>
            </a:r>
            <a:r>
              <a:rPr lang="en-CA" sz="1800" spc="-165" dirty="0"/>
              <a:t> </a:t>
            </a:r>
            <a:r>
              <a:rPr lang="en-CA" sz="1800" spc="-5" dirty="0"/>
              <a:t>Analysis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2091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019" y="1546352"/>
            <a:ext cx="4277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SzPct val="79166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internal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8ADCC677-BC19-0C23-72B0-4491C7DA2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CVP</a:t>
            </a:r>
            <a:r>
              <a:rPr lang="en-CA" sz="1800" spc="-85" dirty="0"/>
              <a:t> </a:t>
            </a:r>
            <a:r>
              <a:rPr lang="en-CA" sz="1800" dirty="0"/>
              <a:t>Income</a:t>
            </a:r>
            <a:r>
              <a:rPr lang="en-CA" sz="1800" spc="-50" dirty="0"/>
              <a:t> </a:t>
            </a:r>
            <a:r>
              <a:rPr lang="en-CA" sz="1800" dirty="0"/>
              <a:t>Statement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863904" y="2061464"/>
            <a:ext cx="4615815" cy="398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615315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CVP income </a:t>
            </a:r>
            <a:r>
              <a:rPr sz="2400" dirty="0">
                <a:latin typeface="Arial MT"/>
                <a:cs typeface="Arial MT"/>
              </a:rPr>
              <a:t>statement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classifies </a:t>
            </a:r>
            <a:r>
              <a:rPr sz="2400" dirty="0">
                <a:latin typeface="Arial MT"/>
                <a:cs typeface="Arial MT"/>
              </a:rPr>
              <a:t>costs </a:t>
            </a:r>
            <a:r>
              <a:rPr sz="2400" spc="-5" dirty="0">
                <a:latin typeface="Arial MT"/>
                <a:cs typeface="Arial MT"/>
              </a:rPr>
              <a:t>as fixed or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computes 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contribution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margin.</a:t>
            </a:r>
            <a:endParaRPr sz="2400" dirty="0">
              <a:latin typeface="Arial MT"/>
              <a:cs typeface="Arial MT"/>
            </a:endParaRPr>
          </a:p>
          <a:p>
            <a:pPr marL="469265" marR="87630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Contribution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margin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amount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5" dirty="0">
                <a:latin typeface="Arial MT"/>
                <a:cs typeface="Arial MT"/>
              </a:rPr>
              <a:t>revenue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remaining </a:t>
            </a:r>
            <a:r>
              <a:rPr sz="2400" dirty="0">
                <a:latin typeface="Arial MT"/>
                <a:cs typeface="Arial MT"/>
              </a:rPr>
              <a:t> after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deducting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costs.</a:t>
            </a:r>
          </a:p>
          <a:p>
            <a:pPr marL="469265" marR="5080" indent="-457200">
              <a:lnSpc>
                <a:spcPct val="100000"/>
              </a:lnSpc>
              <a:spcBef>
                <a:spcPts val="1180"/>
              </a:spcBef>
              <a:buSzPct val="79166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Arial"/>
                <a:cs typeface="Arial"/>
              </a:rPr>
              <a:t>Reports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same</a:t>
            </a:r>
            <a:r>
              <a:rPr sz="2400" b="1" dirty="0">
                <a:latin typeface="Arial"/>
                <a:cs typeface="Arial"/>
              </a:rPr>
              <a:t> net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income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as </a:t>
            </a:r>
            <a:r>
              <a:rPr sz="2400" b="1" spc="-6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 </a:t>
            </a:r>
            <a:r>
              <a:rPr sz="2400" b="1" dirty="0">
                <a:latin typeface="Arial"/>
                <a:cs typeface="Arial"/>
              </a:rPr>
              <a:t>traditional income 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statement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92495" y="2414523"/>
          <a:ext cx="588264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Revenue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(Price*Quantity)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Less: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(VC/unit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 Quantity)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Margin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Less: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Income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(CM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FC)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997702" y="1640585"/>
            <a:ext cx="5931535" cy="462280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Make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Decisions!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2577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2023" y="955278"/>
            <a:ext cx="10576560" cy="142176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75"/>
              </a:spcBef>
              <a:buSzPct val="79166"/>
              <a:buFont typeface="Arial MT"/>
              <a:buAutoNum type="arabicPeriod"/>
              <a:tabLst>
                <a:tab pos="469900" algn="l"/>
                <a:tab pos="470534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Unit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Contribution</a:t>
            </a:r>
            <a:r>
              <a:rPr sz="2400" u="heavy" spc="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Margin</a:t>
            </a:r>
            <a:endParaRPr sz="2400" dirty="0">
              <a:latin typeface="Arial MT"/>
              <a:cs typeface="Arial MT"/>
            </a:endParaRPr>
          </a:p>
          <a:p>
            <a:pPr marL="919480" marR="50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  <a:tab pos="920115" algn="l"/>
              </a:tabLst>
            </a:pPr>
            <a:r>
              <a:rPr sz="2400" spc="-5" dirty="0">
                <a:latin typeface="Arial MT"/>
                <a:cs typeface="Arial MT"/>
              </a:rPr>
              <a:t>Contribution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margin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available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cover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fixed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" dirty="0">
                <a:latin typeface="Arial MT"/>
                <a:cs typeface="Arial MT"/>
              </a:rPr>
              <a:t> contribute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income.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0777" y="2483602"/>
            <a:ext cx="7321550" cy="5765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613410" indent="-457834">
              <a:lnSpc>
                <a:spcPct val="100000"/>
              </a:lnSpc>
              <a:spcBef>
                <a:spcPts val="800"/>
              </a:spcBef>
              <a:buSzPct val="79166"/>
              <a:buChar char="•"/>
              <a:tabLst>
                <a:tab pos="613410" algn="l"/>
                <a:tab pos="614045" algn="l"/>
              </a:tabLst>
            </a:pPr>
            <a:r>
              <a:rPr sz="2400" spc="-5" dirty="0">
                <a:latin typeface="Arial MT"/>
                <a:cs typeface="Arial MT"/>
              </a:rPr>
              <a:t>Unit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Contribution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Margin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Price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VC per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023" y="3166312"/>
            <a:ext cx="10848975" cy="14217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70"/>
              </a:spcBef>
              <a:buSzPct val="79166"/>
              <a:buAutoNum type="arabicPeriod" startAt="2"/>
              <a:tabLst>
                <a:tab pos="469900" algn="l"/>
                <a:tab pos="470534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Contribution</a:t>
            </a:r>
            <a:r>
              <a:rPr sz="2400" u="heavy" spc="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Margin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Ratio</a:t>
            </a:r>
            <a:endParaRPr sz="2400" dirty="0">
              <a:latin typeface="Arial MT"/>
              <a:cs typeface="Arial MT"/>
            </a:endParaRPr>
          </a:p>
          <a:p>
            <a:pPr marL="919480" lvl="1" indent="-457834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  <a:tab pos="920115" algn="l"/>
              </a:tabLst>
            </a:pPr>
            <a:r>
              <a:rPr sz="2400" spc="-5" dirty="0">
                <a:latin typeface="Arial MT"/>
                <a:cs typeface="Arial MT"/>
              </a:rPr>
              <a:t>Shows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percentage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each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dollar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available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" dirty="0">
                <a:latin typeface="Arial MT"/>
                <a:cs typeface="Arial MT"/>
              </a:rPr>
              <a:t> apply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toward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fixed</a:t>
            </a:r>
            <a:endParaRPr sz="2400" dirty="0">
              <a:latin typeface="Arial MT"/>
              <a:cs typeface="Arial MT"/>
            </a:endParaRPr>
          </a:p>
          <a:p>
            <a:pPr marL="9194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604" y="4704435"/>
            <a:ext cx="8511540" cy="105664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56565" indent="-457200">
              <a:lnSpc>
                <a:spcPct val="100000"/>
              </a:lnSpc>
              <a:spcBef>
                <a:spcPts val="1275"/>
              </a:spcBef>
              <a:buSzPct val="79166"/>
              <a:buChar char="•"/>
              <a:tabLst>
                <a:tab pos="456565" algn="l"/>
                <a:tab pos="457200" algn="l"/>
              </a:tabLst>
            </a:pPr>
            <a:r>
              <a:rPr sz="2400" spc="-5" dirty="0">
                <a:latin typeface="Arial MT"/>
                <a:cs typeface="Arial MT"/>
              </a:rPr>
              <a:t>Contribution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Margin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Ratio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Contribution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Margin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Price</a:t>
            </a:r>
            <a:endParaRPr sz="2400">
              <a:latin typeface="Arial MT"/>
              <a:cs typeface="Arial MT"/>
            </a:endParaRPr>
          </a:p>
          <a:p>
            <a:pPr marL="456565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56565" algn="l"/>
                <a:tab pos="457200" algn="l"/>
              </a:tabLst>
            </a:pPr>
            <a:r>
              <a:rPr sz="2400" dirty="0">
                <a:latin typeface="Arial MT"/>
                <a:cs typeface="Arial MT"/>
              </a:rPr>
              <a:t>OR: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Contribution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Margin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Ratio</a:t>
            </a:r>
            <a:r>
              <a:rPr sz="2400" dirty="0">
                <a:latin typeface="Arial MT"/>
                <a:cs typeface="Arial MT"/>
              </a:rPr>
              <a:t> 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Total</a:t>
            </a:r>
            <a:r>
              <a:rPr sz="2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CM/Total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Revenue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96450" y="4653534"/>
            <a:ext cx="2161540" cy="120142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92100" marR="284480" indent="50165" algn="just">
              <a:lnSpc>
                <a:spcPct val="100000"/>
              </a:lnSpc>
              <a:spcBef>
                <a:spcPts val="305"/>
              </a:spcBef>
            </a:pPr>
            <a:r>
              <a:rPr sz="2400" spc="-10" dirty="0">
                <a:latin typeface="Arial MT"/>
                <a:cs typeface="Arial MT"/>
              </a:rPr>
              <a:t>Don’t </a:t>
            </a:r>
            <a:r>
              <a:rPr sz="2400" spc="-20" dirty="0">
                <a:latin typeface="Arial MT"/>
                <a:cs typeface="Arial MT"/>
              </a:rPr>
              <a:t>Trust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Me?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algebra…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5037" y="4761738"/>
            <a:ext cx="8796655" cy="1115695"/>
          </a:xfrm>
          <a:custGeom>
            <a:avLst/>
            <a:gdLst/>
            <a:ahLst/>
            <a:cxnLst/>
            <a:rect l="l" t="t" r="r" b="b"/>
            <a:pathLst>
              <a:path w="8796655" h="1115695">
                <a:moveTo>
                  <a:pt x="0" y="1115568"/>
                </a:moveTo>
                <a:lnTo>
                  <a:pt x="8796527" y="1115568"/>
                </a:lnTo>
                <a:lnTo>
                  <a:pt x="8796527" y="0"/>
                </a:lnTo>
                <a:lnTo>
                  <a:pt x="0" y="0"/>
                </a:lnTo>
                <a:lnTo>
                  <a:pt x="0" y="1115568"/>
                </a:lnTo>
                <a:close/>
              </a:path>
            </a:pathLst>
          </a:custGeom>
          <a:ln w="25399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71EB6B50-0D86-B5D1-A5F9-7DEAEE94B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Key</a:t>
            </a:r>
            <a:r>
              <a:rPr lang="en-CA" sz="1800" spc="-85" dirty="0"/>
              <a:t> </a:t>
            </a:r>
            <a:r>
              <a:rPr lang="en-CA" sz="1800" dirty="0"/>
              <a:t>Formulas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0183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397108" y="2374447"/>
            <a:ext cx="9067800" cy="2370455"/>
            <a:chOff x="1397108" y="2374447"/>
            <a:chExt cx="9067800" cy="23704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108" y="2374447"/>
              <a:ext cx="9067460" cy="23624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28387" y="4103370"/>
              <a:ext cx="114300" cy="641350"/>
            </a:xfrm>
            <a:custGeom>
              <a:avLst/>
              <a:gdLst/>
              <a:ahLst/>
              <a:cxnLst/>
              <a:rect l="l" t="t" r="r" b="b"/>
              <a:pathLst>
                <a:path w="114300" h="641350">
                  <a:moveTo>
                    <a:pt x="38100" y="527049"/>
                  </a:moveTo>
                  <a:lnTo>
                    <a:pt x="0" y="527049"/>
                  </a:lnTo>
                  <a:lnTo>
                    <a:pt x="57150" y="641349"/>
                  </a:lnTo>
                  <a:lnTo>
                    <a:pt x="104775" y="546099"/>
                  </a:lnTo>
                  <a:lnTo>
                    <a:pt x="38100" y="546099"/>
                  </a:lnTo>
                  <a:lnTo>
                    <a:pt x="38100" y="527049"/>
                  </a:lnTo>
                  <a:close/>
                </a:path>
                <a:path w="114300" h="641350">
                  <a:moveTo>
                    <a:pt x="76200" y="0"/>
                  </a:moveTo>
                  <a:lnTo>
                    <a:pt x="38100" y="0"/>
                  </a:lnTo>
                  <a:lnTo>
                    <a:pt x="38100" y="546099"/>
                  </a:lnTo>
                  <a:lnTo>
                    <a:pt x="76200" y="546099"/>
                  </a:lnTo>
                  <a:lnTo>
                    <a:pt x="76200" y="0"/>
                  </a:lnTo>
                  <a:close/>
                </a:path>
                <a:path w="114300" h="641350">
                  <a:moveTo>
                    <a:pt x="114300" y="527049"/>
                  </a:moveTo>
                  <a:lnTo>
                    <a:pt x="76200" y="527049"/>
                  </a:lnTo>
                  <a:lnTo>
                    <a:pt x="76200" y="546099"/>
                  </a:lnTo>
                  <a:lnTo>
                    <a:pt x="104775" y="546099"/>
                  </a:lnTo>
                  <a:lnTo>
                    <a:pt x="114300" y="527049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42765" y="4853178"/>
            <a:ext cx="1728470" cy="646430"/>
          </a:xfrm>
          <a:prstGeom prst="rect">
            <a:avLst/>
          </a:prstGeom>
          <a:ln w="25400">
            <a:solidFill>
              <a:srgbClr val="929292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29539" marR="121920" indent="379095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latin typeface="Arial MT"/>
                <a:cs typeface="Arial MT"/>
              </a:rPr>
              <a:t>Price </a:t>
            </a:r>
            <a:r>
              <a:rPr sz="1800" dirty="0">
                <a:latin typeface="Arial MT"/>
                <a:cs typeface="Arial MT"/>
              </a:rPr>
              <a:t>–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Variable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Costs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90337FE6-6FC3-FCCD-C831-CA02C8DFB8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Profit</a:t>
            </a:r>
            <a:r>
              <a:rPr lang="en-CA" sz="1800" spc="-90" dirty="0"/>
              <a:t> </a:t>
            </a:r>
            <a:r>
              <a:rPr lang="en-CA" sz="1800" dirty="0"/>
              <a:t>Equation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462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90145" y="2730245"/>
            <a:ext cx="9069070" cy="2493010"/>
            <a:chOff x="1490145" y="2730245"/>
            <a:chExt cx="9069070" cy="2493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145" y="2852983"/>
              <a:ext cx="9068817" cy="23624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21352" y="2730245"/>
              <a:ext cx="114300" cy="648335"/>
            </a:xfrm>
            <a:custGeom>
              <a:avLst/>
              <a:gdLst/>
              <a:ahLst/>
              <a:cxnLst/>
              <a:rect l="l" t="t" r="r" b="b"/>
              <a:pathLst>
                <a:path w="114300" h="648335">
                  <a:moveTo>
                    <a:pt x="76200" y="95250"/>
                  </a:moveTo>
                  <a:lnTo>
                    <a:pt x="38100" y="95250"/>
                  </a:lnTo>
                  <a:lnTo>
                    <a:pt x="38100" y="648080"/>
                  </a:lnTo>
                  <a:lnTo>
                    <a:pt x="76200" y="648080"/>
                  </a:lnTo>
                  <a:lnTo>
                    <a:pt x="76200" y="95250"/>
                  </a:lnTo>
                  <a:close/>
                </a:path>
                <a:path w="114300" h="648335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648335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21352" y="2730245"/>
              <a:ext cx="4889500" cy="2493010"/>
            </a:xfrm>
            <a:custGeom>
              <a:avLst/>
              <a:gdLst/>
              <a:ahLst/>
              <a:cxnLst/>
              <a:rect l="l" t="t" r="r" b="b"/>
              <a:pathLst>
                <a:path w="4889500" h="2493010">
                  <a:moveTo>
                    <a:pt x="114300" y="2378710"/>
                  </a:moveTo>
                  <a:lnTo>
                    <a:pt x="76200" y="2378710"/>
                  </a:lnTo>
                  <a:lnTo>
                    <a:pt x="76200" y="1851660"/>
                  </a:lnTo>
                  <a:lnTo>
                    <a:pt x="38100" y="1851660"/>
                  </a:lnTo>
                  <a:lnTo>
                    <a:pt x="38100" y="2378710"/>
                  </a:lnTo>
                  <a:lnTo>
                    <a:pt x="0" y="2378710"/>
                  </a:lnTo>
                  <a:lnTo>
                    <a:pt x="57150" y="2493010"/>
                  </a:lnTo>
                  <a:lnTo>
                    <a:pt x="104775" y="2397760"/>
                  </a:lnTo>
                  <a:lnTo>
                    <a:pt x="114300" y="2378710"/>
                  </a:lnTo>
                  <a:close/>
                </a:path>
                <a:path w="4889500" h="2493010">
                  <a:moveTo>
                    <a:pt x="2584704" y="114300"/>
                  </a:moveTo>
                  <a:lnTo>
                    <a:pt x="2575179" y="95250"/>
                  </a:lnTo>
                  <a:lnTo>
                    <a:pt x="2527554" y="0"/>
                  </a:lnTo>
                  <a:lnTo>
                    <a:pt x="2470404" y="114300"/>
                  </a:lnTo>
                  <a:lnTo>
                    <a:pt x="2508504" y="114300"/>
                  </a:lnTo>
                  <a:lnTo>
                    <a:pt x="2508504" y="648081"/>
                  </a:lnTo>
                  <a:lnTo>
                    <a:pt x="2546604" y="648081"/>
                  </a:lnTo>
                  <a:lnTo>
                    <a:pt x="2546604" y="114300"/>
                  </a:lnTo>
                  <a:lnTo>
                    <a:pt x="2584704" y="114300"/>
                  </a:lnTo>
                  <a:close/>
                </a:path>
                <a:path w="4889500" h="2493010">
                  <a:moveTo>
                    <a:pt x="4888992" y="2378710"/>
                  </a:moveTo>
                  <a:lnTo>
                    <a:pt x="4850892" y="2378710"/>
                  </a:lnTo>
                  <a:lnTo>
                    <a:pt x="4850892" y="1851660"/>
                  </a:lnTo>
                  <a:lnTo>
                    <a:pt x="4812792" y="1851660"/>
                  </a:lnTo>
                  <a:lnTo>
                    <a:pt x="4812792" y="2378710"/>
                  </a:lnTo>
                  <a:lnTo>
                    <a:pt x="4774692" y="2378710"/>
                  </a:lnTo>
                  <a:lnTo>
                    <a:pt x="4831842" y="2493010"/>
                  </a:lnTo>
                  <a:lnTo>
                    <a:pt x="4879467" y="2397760"/>
                  </a:lnTo>
                  <a:lnTo>
                    <a:pt x="4888992" y="237871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64102" y="1780794"/>
            <a:ext cx="1728470" cy="647700"/>
          </a:xfrm>
          <a:prstGeom prst="rect">
            <a:avLst/>
          </a:prstGeom>
          <a:ln w="25400">
            <a:solidFill>
              <a:srgbClr val="929292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228600" marR="220979" indent="1981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Increase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Selling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Price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B28F9B5D-2D2E-2A56-4D8F-BA6530434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Levers</a:t>
            </a:r>
            <a:r>
              <a:rPr lang="en-CA" sz="1800" spc="-50" dirty="0"/>
              <a:t> </a:t>
            </a:r>
            <a:r>
              <a:rPr lang="en-CA" sz="1800" dirty="0"/>
              <a:t>of</a:t>
            </a:r>
            <a:r>
              <a:rPr lang="en-CA" sz="1800" spc="-15" dirty="0"/>
              <a:t> </a:t>
            </a:r>
            <a:r>
              <a:rPr lang="en-CA" sz="1800" spc="-5" dirty="0"/>
              <a:t>Profitability</a:t>
            </a:r>
            <a:endParaRPr lang="en-CA" dirty="0"/>
          </a:p>
        </p:txBody>
      </p:sp>
      <p:sp>
        <p:nvSpPr>
          <p:cNvPr id="8" name="object 8"/>
          <p:cNvSpPr txBox="1"/>
          <p:nvPr/>
        </p:nvSpPr>
        <p:spPr>
          <a:xfrm>
            <a:off x="6240017" y="1780794"/>
            <a:ext cx="1728470" cy="647700"/>
          </a:xfrm>
          <a:prstGeom prst="rect">
            <a:avLst/>
          </a:prstGeom>
          <a:ln w="25400">
            <a:solidFill>
              <a:srgbClr val="929292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636270" marR="206375" indent="-419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Increase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Qty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Sold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89085" y="5331714"/>
            <a:ext cx="1728470" cy="646430"/>
          </a:xfrm>
          <a:prstGeom prst="rect">
            <a:avLst/>
          </a:prstGeom>
          <a:ln w="25400">
            <a:solidFill>
              <a:srgbClr val="929292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260985" marR="254000" indent="11557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Decrease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Fixed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Costs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7253" y="5331714"/>
            <a:ext cx="1728470" cy="646430"/>
          </a:xfrm>
          <a:prstGeom prst="rect">
            <a:avLst/>
          </a:prstGeom>
          <a:ln w="25400">
            <a:solidFill>
              <a:srgbClr val="929292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28270" marR="123189" indent="246379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Decrease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Variable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Costs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4072" y="899959"/>
            <a:ext cx="495935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2400" spc="-5" dirty="0">
                <a:latin typeface="Arial MT"/>
                <a:cs typeface="Arial MT"/>
              </a:rPr>
              <a:t>Easier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said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done…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19591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404" y="980728"/>
            <a:ext cx="102251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Coffee Klatch is an espresso stand in a downtown office building. The average selling price of a cup of coffee is $4.00 and the average variable expense per cup is $1.00. The average fixed expense per month is $3,000. 2,100 cups of coffee are sold each month on average. What is the CM Ratio for Coffee Klatch?</a:t>
            </a:r>
          </a:p>
          <a:p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163" lvl="1" indent="0">
              <a:buFontTx/>
              <a:buNone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a.   33%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b.   75%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c.   25%</a:t>
            </a:r>
          </a:p>
          <a:p>
            <a:pPr marL="411163" lvl="1" indent="0">
              <a:buFontTx/>
              <a:buNone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d. 400%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395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404" y="980728"/>
            <a:ext cx="10225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Coffee Klatch is an espresso stand in a downtown office building. The average selling price of a cup of coffee is $4.00 and the average variable expense per cup is $1.00. The average fixed expense per month is $3,000. 2,100 cups of coffee are sold each month on average. What is the CM Ratio for Coffee Klatch?</a:t>
            </a:r>
          </a:p>
          <a:p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Answer:                                  </a:t>
            </a:r>
          </a:p>
          <a:p>
            <a:pPr marL="868363" lvl="1" indent="-457200">
              <a:buFontTx/>
              <a:buAutoNum type="alphaLcPeriod" startAt="2"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</a:p>
          <a:p>
            <a:pPr marL="868363" lvl="1" indent="-457200">
              <a:buFontTx/>
              <a:buAutoNum type="alphaLcPeriod" startAt="2"/>
            </a:pPr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/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CM Ratio =   Unit Contribution Margin   =    </a:t>
            </a:r>
            <a:r>
              <a:rPr lang="en-CA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$4.00 - $1.00</a:t>
            </a: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</a:p>
          <a:p>
            <a:pPr marL="0" lvl="1" indent="0"/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Unit Selling Price                     $4.00</a:t>
            </a: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116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Variable Expense Ratio</a:t>
            </a:r>
          </a:p>
        </p:txBody>
      </p:sp>
      <p:sp>
        <p:nvSpPr>
          <p:cNvPr id="2" name="Rectangle 1"/>
          <p:cNvSpPr/>
          <p:nvPr/>
        </p:nvSpPr>
        <p:spPr>
          <a:xfrm>
            <a:off x="849659" y="562421"/>
            <a:ext cx="102971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variable expense ratio is the ratio of variable expenses to sales: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7440" y="1612315"/>
            <a:ext cx="9793088" cy="7920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Variable expense ratio = Variable Expenses /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351" y="2605652"/>
            <a:ext cx="11665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leads to a useful equation that relates the CM ratio to the variable expense ratio as follows:</a:t>
            </a:r>
            <a:r>
              <a:rPr lang="en-CA" altLang="en-US" dirty="0">
                <a:solidFill>
                  <a:schemeClr val="bg1"/>
                </a:solidFill>
              </a:rPr>
              <a:t> = Variable expenses / 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7440" y="3690651"/>
            <a:ext cx="9793088" cy="7920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CM ratio = CM /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624" y="4748151"/>
            <a:ext cx="116652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CM ratio = (Sales – Variable expenses) / Sales</a:t>
            </a:r>
            <a:r>
              <a:rPr lang="en-CA" altLang="en-US" dirty="0">
                <a:solidFill>
                  <a:schemeClr val="bg1"/>
                </a:solidFill>
              </a:rPr>
              <a:t> expenses / 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67440" y="5582116"/>
            <a:ext cx="9793088" cy="7920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CM ratio = 1 – Variable expense ratio</a:t>
            </a:r>
          </a:p>
        </p:txBody>
      </p:sp>
    </p:spTree>
    <p:extLst>
      <p:ext uri="{BB962C8B-B14F-4D97-AF65-F5344CB8AC3E}">
        <p14:creationId xmlns:p14="http://schemas.microsoft.com/office/powerpoint/2010/main" val="4187420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31B5-69E9-D469-A14B-D6198A0F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E2CB6-C7FB-9759-BFE5-6D7420EC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A87445-DE73-646E-DC56-F70E85C6AA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Change in Fixed Cost and Sales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23F79-1083-C949-43A9-5F5A6AC62951}"/>
              </a:ext>
            </a:extLst>
          </p:cNvPr>
          <p:cNvSpPr txBox="1"/>
          <p:nvPr/>
        </p:nvSpPr>
        <p:spPr>
          <a:xfrm>
            <a:off x="702203" y="510072"/>
            <a:ext cx="10225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impact on profit if sales increase from 500 units to 540 units due to a $10,000 increase in the monthly advertising budget?</a:t>
            </a: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D29576-0825-45E8-E876-A1570AA32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038008"/>
              </p:ext>
            </p:extLst>
          </p:nvPr>
        </p:nvGraphicFramePr>
        <p:xfrm>
          <a:off x="1847629" y="2085944"/>
          <a:ext cx="7110414" cy="34750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0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8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Example Company</a:t>
                      </a:r>
                    </a:p>
                    <a:p>
                      <a:pPr algn="ctr"/>
                      <a:r>
                        <a:rPr lang="en-US" sz="1800" dirty="0"/>
                        <a:t>Contribution Income Statement</a:t>
                      </a:r>
                    </a:p>
                    <a:p>
                      <a:pPr algn="ctr"/>
                      <a:r>
                        <a:rPr lang="en-US" sz="1800" dirty="0"/>
                        <a:t>For the Month of June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39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Current Sales</a:t>
                      </a:r>
                    </a:p>
                    <a:p>
                      <a:pPr algn="ctr"/>
                      <a:r>
                        <a:rPr lang="en-US" sz="1800" b="1" dirty="0"/>
                        <a:t> (500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Projected Sales (540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Sales</a:t>
                      </a:r>
                      <a:r>
                        <a:rPr lang="en-US" sz="1800" b="1" baseline="0" dirty="0"/>
                        <a:t> revenue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$250,000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Variable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150,000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Contribution Margin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$100,000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Fixed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80,000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r>
                        <a:rPr lang="en-US" sz="1800" b="1" dirty="0"/>
                        <a:t>Operating Income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$  20,000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66122792-FF4C-6CE7-05DE-E36BB3924E8E}"/>
              </a:ext>
            </a:extLst>
          </p:cNvPr>
          <p:cNvSpPr/>
          <p:nvPr/>
        </p:nvSpPr>
        <p:spPr>
          <a:xfrm>
            <a:off x="9922885" y="3068960"/>
            <a:ext cx="2008908" cy="1153110"/>
          </a:xfrm>
          <a:prstGeom prst="wedgeRoundRectCallout">
            <a:avLst>
              <a:gd name="adj1" fmla="val -193543"/>
              <a:gd name="adj2" fmla="val 1358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$ / unit = $250,000 /500 units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$500 / unit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E63597A8-41E5-3EB5-043B-E5CAC6FD4EF1}"/>
              </a:ext>
            </a:extLst>
          </p:cNvPr>
          <p:cNvSpPr/>
          <p:nvPr/>
        </p:nvSpPr>
        <p:spPr>
          <a:xfrm>
            <a:off x="119336" y="1804852"/>
            <a:ext cx="2008908" cy="1265919"/>
          </a:xfrm>
          <a:prstGeom prst="wedgeRoundRectCallout">
            <a:avLst>
              <a:gd name="adj1" fmla="val 238606"/>
              <a:gd name="adj2" fmla="val 15432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 Margin/ unit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$100,000/ 500 units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$200/ unit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1555328B-D70D-7F0F-897C-5F531DE91EE6}"/>
              </a:ext>
            </a:extLst>
          </p:cNvPr>
          <p:cNvSpPr/>
          <p:nvPr/>
        </p:nvSpPr>
        <p:spPr>
          <a:xfrm>
            <a:off x="191344" y="5492882"/>
            <a:ext cx="2008908" cy="1265919"/>
          </a:xfrm>
          <a:prstGeom prst="wedgeRoundRectCallout">
            <a:avLst>
              <a:gd name="adj1" fmla="val 236709"/>
              <a:gd name="adj2" fmla="val -11754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 Margin ratio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$100,000/$250,000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40%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43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Change in Fixed Cost and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03" y="510072"/>
            <a:ext cx="10225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impact on profit if sales increase from 500 units to 540 units due to a $10,000 increase in the monthly advertising budget?</a:t>
            </a: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DD9B3B-DD19-4A4E-9134-40C6390CF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46381"/>
              </p:ext>
            </p:extLst>
          </p:nvPr>
        </p:nvGraphicFramePr>
        <p:xfrm>
          <a:off x="1847629" y="2085944"/>
          <a:ext cx="7110414" cy="34750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0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8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Example Company</a:t>
                      </a:r>
                    </a:p>
                    <a:p>
                      <a:pPr algn="ctr"/>
                      <a:r>
                        <a:rPr lang="en-US" sz="1800" dirty="0"/>
                        <a:t>Contribution Income Statement</a:t>
                      </a:r>
                    </a:p>
                    <a:p>
                      <a:pPr algn="ctr"/>
                      <a:r>
                        <a:rPr lang="en-US" sz="1800" dirty="0"/>
                        <a:t>For the Month of June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39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Current Sales</a:t>
                      </a:r>
                    </a:p>
                    <a:p>
                      <a:pPr algn="ctr"/>
                      <a:r>
                        <a:rPr lang="en-US" sz="1800" b="1" dirty="0"/>
                        <a:t> (500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Projected Sales (540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Sales</a:t>
                      </a:r>
                      <a:r>
                        <a:rPr lang="en-US" sz="1800" b="1" baseline="0" dirty="0"/>
                        <a:t> revenue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$250,000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$270,000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Variable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150,000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162,000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Contribution Margin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$100,000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$108,000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Fixed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80,000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90,000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r>
                        <a:rPr lang="en-US" sz="1800" b="1" dirty="0"/>
                        <a:t>Operating Income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$  20,000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$  18,000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3D75639E-C137-446D-AADE-36FD8B5C8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584" y="1453879"/>
            <a:ext cx="6102505" cy="459100"/>
          </a:xfrm>
          <a:prstGeom prst="rect">
            <a:avLst/>
          </a:prstGeom>
          <a:solidFill>
            <a:srgbClr val="1E3163"/>
          </a:solidFill>
          <a:ln w="1270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CA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$80,000 + $10,000 advertising = $90,000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C0A9465A-6BF7-4234-ABC3-99B495AF9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4112" y="2086624"/>
            <a:ext cx="457200" cy="2887662"/>
          </a:xfrm>
          <a:prstGeom prst="line">
            <a:avLst/>
          </a:prstGeom>
          <a:noFill/>
          <a:ln w="38100">
            <a:solidFill>
              <a:srgbClr val="ED037C"/>
            </a:solidFill>
            <a:round/>
            <a:headEnd/>
            <a:tailEnd type="triangle" w="med" len="med"/>
          </a:ln>
          <a:effectLst>
            <a:outerShdw blurRad="63500" dist="29783" dir="1514402" algn="ctr" rotWithShape="0">
              <a:schemeClr val="bg2">
                <a:alpha val="74997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BD8EF70-B022-45E6-92AD-AE2C5C671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51" y="5693498"/>
            <a:ext cx="8077200" cy="831850"/>
          </a:xfrm>
          <a:prstGeom prst="rect">
            <a:avLst/>
          </a:prstGeom>
          <a:solidFill>
            <a:srgbClr val="1E316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Sales </a:t>
            </a:r>
            <a:r>
              <a:rPr lang="en-CA" sz="2400" b="1" i="1" dirty="0">
                <a:solidFill>
                  <a:srgbClr val="ED037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lang="en-CA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by $20,000,  but operating income </a:t>
            </a:r>
            <a:r>
              <a:rPr lang="en-CA" sz="2400" b="1" i="1" dirty="0">
                <a:solidFill>
                  <a:srgbClr val="ED037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decreased</a:t>
            </a: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by $2,000</a:t>
            </a:r>
            <a:r>
              <a:rPr lang="en-CA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3338035-8393-EE19-59E6-34EC41D25C4A}"/>
              </a:ext>
            </a:extLst>
          </p:cNvPr>
          <p:cNvSpPr/>
          <p:nvPr/>
        </p:nvSpPr>
        <p:spPr>
          <a:xfrm>
            <a:off x="9768408" y="4365104"/>
            <a:ext cx="1888360" cy="1153110"/>
          </a:xfrm>
          <a:prstGeom prst="wedgeRoundRectCallout">
            <a:avLst>
              <a:gd name="adj1" fmla="val -93150"/>
              <a:gd name="adj2" fmla="val -9165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 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$500 x 540 units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$270,000</a:t>
            </a:r>
          </a:p>
        </p:txBody>
      </p:sp>
    </p:spTree>
    <p:extLst>
      <p:ext uri="{BB962C8B-B14F-4D97-AF65-F5344CB8AC3E}">
        <p14:creationId xmlns:p14="http://schemas.microsoft.com/office/powerpoint/2010/main" val="223579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Change in Fixed Cost and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122" y="1700808"/>
            <a:ext cx="102251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CA" alt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The CM Solution:</a:t>
            </a:r>
          </a:p>
          <a:p>
            <a:pPr>
              <a:defRPr/>
            </a:pPr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CM (40 units x $200)	$  8,000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advertising expenses	 </a:t>
            </a:r>
            <a:r>
              <a:rPr lang="en-CA" alt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(10,000)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Decrease in net operating income	</a:t>
            </a:r>
            <a:r>
              <a:rPr lang="en-CA" altLang="en-US" sz="3200" u="dbl" dirty="0">
                <a:latin typeface="Arial" panose="020B0604020202020204" pitchFamily="34" charset="0"/>
                <a:cs typeface="Arial" panose="020B0604020202020204" pitchFamily="34" charset="0"/>
              </a:rPr>
              <a:t>   (2,000)</a:t>
            </a:r>
          </a:p>
          <a:p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77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8130-EF90-5726-721D-727904D01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33AF9-F85A-47BE-40EF-D67A835B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89F5DD-4D3D-C8E4-068B-F070BDE35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Change in Variable Cost and Sales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F8870-67C6-61DA-8086-2C31BF002526}"/>
              </a:ext>
            </a:extLst>
          </p:cNvPr>
          <p:cNvSpPr txBox="1"/>
          <p:nvPr/>
        </p:nvSpPr>
        <p:spPr>
          <a:xfrm>
            <a:off x="335362" y="510072"/>
            <a:ext cx="11233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impact on profit if a higher quality of raw materials is used, thus increasing variable costs per unit by $10. Assume that the increase in quality  generates an increase in unit sales from 500 to 580?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55F0F4-C571-E6A2-637B-1F6E3D9A8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551533"/>
              </p:ext>
            </p:extLst>
          </p:nvPr>
        </p:nvGraphicFramePr>
        <p:xfrm>
          <a:off x="1847629" y="2085944"/>
          <a:ext cx="7110414" cy="34750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0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8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Example Company</a:t>
                      </a:r>
                    </a:p>
                    <a:p>
                      <a:pPr algn="ctr"/>
                      <a:r>
                        <a:rPr lang="en-US" sz="1800" dirty="0"/>
                        <a:t>Contribution Income Statement</a:t>
                      </a:r>
                    </a:p>
                    <a:p>
                      <a:pPr algn="ctr"/>
                      <a:r>
                        <a:rPr lang="en-US" sz="1800" dirty="0"/>
                        <a:t>For the Month of June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39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Current Sales</a:t>
                      </a:r>
                    </a:p>
                    <a:p>
                      <a:pPr algn="ctr"/>
                      <a:r>
                        <a:rPr lang="en-US" sz="1800" b="1" dirty="0"/>
                        <a:t> (500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Projected Sales (580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Sales</a:t>
                      </a:r>
                      <a:r>
                        <a:rPr lang="en-US" sz="1800" b="1" baseline="0" dirty="0"/>
                        <a:t> revenue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$250,000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Variable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150,000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Contribution Margin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$100,000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Fixed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80,000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r>
                        <a:rPr lang="en-US" sz="1800" b="1" dirty="0"/>
                        <a:t>Operating Income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$  20,000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29BA7E03-523A-70E5-7514-ACAE2BD5890C}"/>
              </a:ext>
            </a:extLst>
          </p:cNvPr>
          <p:cNvSpPr/>
          <p:nvPr/>
        </p:nvSpPr>
        <p:spPr>
          <a:xfrm>
            <a:off x="9922885" y="3068960"/>
            <a:ext cx="2008908" cy="1153110"/>
          </a:xfrm>
          <a:prstGeom prst="wedgeRoundRectCallout">
            <a:avLst>
              <a:gd name="adj1" fmla="val -193543"/>
              <a:gd name="adj2" fmla="val 1358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$ / unit = $250,000 /500 units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$500 / unit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DE4192E2-47DB-2794-57CE-6F99FE02F9A6}"/>
              </a:ext>
            </a:extLst>
          </p:cNvPr>
          <p:cNvSpPr/>
          <p:nvPr/>
        </p:nvSpPr>
        <p:spPr>
          <a:xfrm>
            <a:off x="119336" y="1804852"/>
            <a:ext cx="2008908" cy="1265919"/>
          </a:xfrm>
          <a:prstGeom prst="wedgeRoundRectCallout">
            <a:avLst>
              <a:gd name="adj1" fmla="val 238606"/>
              <a:gd name="adj2" fmla="val 15432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 Margin/ unit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$100,000/ 500 units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$200/ unit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4830531-3B9D-D0C8-7163-25A2F8015621}"/>
              </a:ext>
            </a:extLst>
          </p:cNvPr>
          <p:cNvSpPr/>
          <p:nvPr/>
        </p:nvSpPr>
        <p:spPr>
          <a:xfrm>
            <a:off x="191344" y="5492882"/>
            <a:ext cx="2008908" cy="1265919"/>
          </a:xfrm>
          <a:prstGeom prst="wedgeRoundRectCallout">
            <a:avLst>
              <a:gd name="adj1" fmla="val 236709"/>
              <a:gd name="adj2" fmla="val -11754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 Margin ratio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$100,000/$250,000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40%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7536ECD-1474-9C1C-619D-F067BC6A42FB}"/>
              </a:ext>
            </a:extLst>
          </p:cNvPr>
          <p:cNvSpPr/>
          <p:nvPr/>
        </p:nvSpPr>
        <p:spPr>
          <a:xfrm>
            <a:off x="9991748" y="4653136"/>
            <a:ext cx="2008908" cy="1153110"/>
          </a:xfrm>
          <a:prstGeom prst="wedgeRoundRectCallout">
            <a:avLst>
              <a:gd name="adj1" fmla="val -196003"/>
              <a:gd name="adj2" fmla="val -9143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Costs $ / unit = $150,000 /500 units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$300 / unit</a:t>
            </a:r>
          </a:p>
        </p:txBody>
      </p:sp>
    </p:spTree>
    <p:extLst>
      <p:ext uri="{BB962C8B-B14F-4D97-AF65-F5344CB8AC3E}">
        <p14:creationId xmlns:p14="http://schemas.microsoft.com/office/powerpoint/2010/main" val="1096186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A17C-E5BC-0331-5AB9-C87E377B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17CF7-0BAE-2CBA-4E43-D9E57DA3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9A92549-7AB7-F06C-3D60-B7BE081132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Change in Variable Cost and Sales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06D2E-E8E1-DACB-1116-2D639CFE093C}"/>
              </a:ext>
            </a:extLst>
          </p:cNvPr>
          <p:cNvSpPr txBox="1"/>
          <p:nvPr/>
        </p:nvSpPr>
        <p:spPr>
          <a:xfrm>
            <a:off x="335362" y="510072"/>
            <a:ext cx="11089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is the impact on profit if a higher quality of raw materials is used, thus increasing variable costs per unit by $10. Assume that the increase in quality  generates an increase in unit sales from 500 to 580?</a:t>
            </a:r>
          </a:p>
          <a:p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745FD6-5082-0ACE-B42A-B92A727A49E4}"/>
              </a:ext>
            </a:extLst>
          </p:cNvPr>
          <p:cNvGraphicFramePr>
            <a:graphicFrameLocks noGrp="1"/>
          </p:cNvGraphicFramePr>
          <p:nvPr/>
        </p:nvGraphicFramePr>
        <p:xfrm>
          <a:off x="1991544" y="2434485"/>
          <a:ext cx="7110414" cy="34750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0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8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Example Company</a:t>
                      </a:r>
                    </a:p>
                    <a:p>
                      <a:pPr algn="ctr"/>
                      <a:r>
                        <a:rPr lang="en-US" sz="1800" dirty="0"/>
                        <a:t>Contribution Income Statement</a:t>
                      </a:r>
                    </a:p>
                    <a:p>
                      <a:pPr algn="ctr"/>
                      <a:r>
                        <a:rPr lang="en-US" sz="1800" dirty="0"/>
                        <a:t>For the Month of June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39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Current Sales (500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Projected Sales (580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Sales</a:t>
                      </a:r>
                      <a:r>
                        <a:rPr lang="en-US" sz="1800" b="1" baseline="0" dirty="0"/>
                        <a:t> revenue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$250,000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$290,000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Variable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150,000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179,800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Contribution Margin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$100,000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$110,200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9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Fixed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80,000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80,000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41">
                <a:tc>
                  <a:txBody>
                    <a:bodyPr/>
                    <a:lstStyle/>
                    <a:p>
                      <a:r>
                        <a:rPr lang="en-US" sz="1800" b="1" dirty="0"/>
                        <a:t>Operating Income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$  20,000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$  30,200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7">
            <a:extLst>
              <a:ext uri="{FF2B5EF4-FFF2-40B4-BE49-F238E27FC236}">
                <a16:creationId xmlns:a16="http://schemas.microsoft.com/office/drawing/2014/main" id="{2A834598-F01B-2594-0BAE-580AB60EE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51" y="5909521"/>
            <a:ext cx="8077200" cy="831850"/>
          </a:xfrm>
          <a:prstGeom prst="rect">
            <a:avLst/>
          </a:prstGeom>
          <a:solidFill>
            <a:srgbClr val="1E316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Sales </a:t>
            </a:r>
            <a:r>
              <a:rPr lang="en-CA" sz="2400" b="1" i="1" dirty="0">
                <a:solidFill>
                  <a:srgbClr val="ED037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lang="en-CA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by $40,000,  but operating income </a:t>
            </a:r>
            <a:r>
              <a:rPr lang="en-CA" sz="2400" b="1" i="1" dirty="0">
                <a:solidFill>
                  <a:srgbClr val="ED037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by $10,200</a:t>
            </a:r>
            <a:r>
              <a:rPr lang="en-CA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247D0E90-854D-8745-CA0C-A8A6862A270F}"/>
              </a:ext>
            </a:extLst>
          </p:cNvPr>
          <p:cNvSpPr/>
          <p:nvPr/>
        </p:nvSpPr>
        <p:spPr>
          <a:xfrm>
            <a:off x="9991748" y="4653136"/>
            <a:ext cx="2008908" cy="1153110"/>
          </a:xfrm>
          <a:prstGeom prst="wedgeRoundRectCallout">
            <a:avLst>
              <a:gd name="adj1" fmla="val -92974"/>
              <a:gd name="adj2" fmla="val -5874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Costs = 580 units x $310 </a:t>
            </a:r>
            <a:r>
              <a:rPr lang="en-CA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</a:t>
            </a:r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/unit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$179,800</a:t>
            </a:r>
          </a:p>
        </p:txBody>
      </p:sp>
    </p:spTree>
    <p:extLst>
      <p:ext uri="{BB962C8B-B14F-4D97-AF65-F5344CB8AC3E}">
        <p14:creationId xmlns:p14="http://schemas.microsoft.com/office/powerpoint/2010/main" val="165161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Change in Variable Cost and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122" y="1412776"/>
            <a:ext cx="102251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CM Solution:</a:t>
            </a:r>
          </a:p>
          <a:p>
            <a:pPr>
              <a:defRPr/>
            </a:pPr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VC of $10 x 500 units	$   (5,000)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units sold: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80 units x 190 (200 – 10)	        	   </a:t>
            </a:r>
            <a:r>
              <a:rPr lang="en-CA" alt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  15,200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net operating income	</a:t>
            </a:r>
            <a:r>
              <a:rPr lang="en-CA" altLang="en-US" sz="3200" u="dbl" dirty="0">
                <a:latin typeface="Arial" panose="020B0604020202020204" pitchFamily="34" charset="0"/>
                <a:cs typeface="Arial" panose="020B0604020202020204" pitchFamily="34" charset="0"/>
              </a:rPr>
              <a:t>  $ 10,200</a:t>
            </a:r>
          </a:p>
          <a:p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752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122" y="1340768"/>
            <a:ext cx="102251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Clr>
                <a:srgbClr val="213260"/>
              </a:buCl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What is the impact on profit if:</a:t>
            </a:r>
          </a:p>
          <a:p>
            <a:pPr marL="806450" lvl="1" indent="-539750">
              <a:spcBef>
                <a:spcPts val="0"/>
              </a:spcBef>
              <a:buClr>
                <a:srgbClr val="213260"/>
              </a:buClr>
              <a:buFont typeface="+mj-lt"/>
              <a:buAutoNum type="arabicPeriod"/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selling price is cut by $20 per unit, </a:t>
            </a:r>
          </a:p>
          <a:p>
            <a:pPr marL="806450" lvl="1" indent="-539750">
              <a:spcBef>
                <a:spcPts val="0"/>
              </a:spcBef>
              <a:buClr>
                <a:srgbClr val="213260"/>
              </a:buClr>
              <a:buFont typeface="+mj-lt"/>
              <a:buAutoNum type="arabicPeriod"/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advertising budget is increased by $15,000 per month, and </a:t>
            </a:r>
          </a:p>
          <a:p>
            <a:pPr marL="806450" lvl="1" indent="-539750">
              <a:spcBef>
                <a:spcPts val="0"/>
              </a:spcBef>
              <a:buClr>
                <a:srgbClr val="213260"/>
              </a:buClr>
              <a:buFont typeface="+mj-lt"/>
              <a:buAutoNum type="arabicPeriod"/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sales increase from 500 to 650 units per month? </a:t>
            </a:r>
          </a:p>
          <a:p>
            <a:pPr>
              <a:defRPr/>
            </a:pPr>
            <a:endParaRPr lang="en-CA" altLang="en-US" sz="3200" u="db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841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D201-95CE-0D74-171E-1903D1CB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4BC3B-6BFD-475D-352E-63F572A5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BBD718-B62D-A351-BEBE-AA4E8D941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8" cy="506016"/>
          </a:xfrm>
        </p:spPr>
        <p:txBody>
          <a:bodyPr/>
          <a:lstStyle/>
          <a:p>
            <a:r>
              <a:rPr lang="en-CA" dirty="0"/>
              <a:t>Let’s apply …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91E0F7-27E4-54F9-0AC1-4A4096629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710790"/>
              </p:ext>
            </p:extLst>
          </p:nvPr>
        </p:nvGraphicFramePr>
        <p:xfrm>
          <a:off x="1847528" y="1304378"/>
          <a:ext cx="7776764" cy="422021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351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6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105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Example Company</a:t>
                      </a:r>
                    </a:p>
                    <a:p>
                      <a:pPr algn="ctr"/>
                      <a:r>
                        <a:rPr lang="en-US" sz="1800" dirty="0"/>
                        <a:t>Contribution Income Statement</a:t>
                      </a:r>
                    </a:p>
                    <a:p>
                      <a:pPr algn="ctr"/>
                      <a:r>
                        <a:rPr lang="en-US" sz="1800" dirty="0"/>
                        <a:t>For the Month of June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408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Current Sales</a:t>
                      </a:r>
                    </a:p>
                    <a:p>
                      <a:pPr algn="ctr"/>
                      <a:r>
                        <a:rPr lang="en-US" sz="1800" b="1" dirty="0"/>
                        <a:t> (500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Projected Sales (650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233">
                <a:tc>
                  <a:txBody>
                    <a:bodyPr/>
                    <a:lstStyle/>
                    <a:p>
                      <a:r>
                        <a:rPr lang="en-US" sz="1800" b="1" dirty="0"/>
                        <a:t>Sales</a:t>
                      </a:r>
                      <a:r>
                        <a:rPr lang="en-US" sz="1800" b="1" baseline="0" dirty="0"/>
                        <a:t> revenue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$250,000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23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Variable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150,000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233">
                <a:tc>
                  <a:txBody>
                    <a:bodyPr/>
                    <a:lstStyle/>
                    <a:p>
                      <a:r>
                        <a:rPr lang="en-US" sz="1800" b="1" dirty="0"/>
                        <a:t>Contribution Margin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$100,000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233">
                <a:tc>
                  <a:txBody>
                    <a:bodyPr/>
                    <a:lstStyle/>
                    <a:p>
                      <a:r>
                        <a:rPr lang="en-US" sz="1800" b="1" dirty="0"/>
                        <a:t>Less: Fixed</a:t>
                      </a:r>
                      <a:r>
                        <a:rPr lang="en-US" sz="1800" b="1" baseline="0" dirty="0"/>
                        <a:t> expenses</a:t>
                      </a:r>
                      <a:endParaRPr lang="en-US" sz="1800" b="1" dirty="0"/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80,000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290">
                <a:tc>
                  <a:txBody>
                    <a:bodyPr/>
                    <a:lstStyle/>
                    <a:p>
                      <a:r>
                        <a:rPr lang="en-US" sz="1800" b="1" dirty="0"/>
                        <a:t>Operating Income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$  20,000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/>
                        <a:t> 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9396D0C-8C81-3980-62D6-FA3B6DE80A45}"/>
              </a:ext>
            </a:extLst>
          </p:cNvPr>
          <p:cNvSpPr/>
          <p:nvPr/>
        </p:nvSpPr>
        <p:spPr>
          <a:xfrm>
            <a:off x="9936429" y="2837929"/>
            <a:ext cx="2008908" cy="1153110"/>
          </a:xfrm>
          <a:prstGeom prst="wedgeRoundRectCallout">
            <a:avLst>
              <a:gd name="adj1" fmla="val -171092"/>
              <a:gd name="adj2" fmla="val 769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$ / unit = $250,000 /500 units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$500 / unit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CF3BD22-1CF5-27E2-5306-5AD0231529C9}"/>
              </a:ext>
            </a:extLst>
          </p:cNvPr>
          <p:cNvSpPr/>
          <p:nvPr/>
        </p:nvSpPr>
        <p:spPr>
          <a:xfrm>
            <a:off x="119336" y="1804852"/>
            <a:ext cx="2008908" cy="1265919"/>
          </a:xfrm>
          <a:prstGeom prst="wedgeRoundRectCallout">
            <a:avLst>
              <a:gd name="adj1" fmla="val 238606"/>
              <a:gd name="adj2" fmla="val 15432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 Margin/ unit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$100,000/ 500 units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$200/ unit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B89331A7-AF45-A35C-D3C0-8A56299B273B}"/>
              </a:ext>
            </a:extLst>
          </p:cNvPr>
          <p:cNvSpPr/>
          <p:nvPr/>
        </p:nvSpPr>
        <p:spPr>
          <a:xfrm>
            <a:off x="191344" y="5492882"/>
            <a:ext cx="2008908" cy="1265919"/>
          </a:xfrm>
          <a:prstGeom prst="wedgeRoundRectCallout">
            <a:avLst>
              <a:gd name="adj1" fmla="val 236709"/>
              <a:gd name="adj2" fmla="val -13267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 Margin ratio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$100,000/$250,000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40%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609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C29658-2009-4584-A81F-536044FC4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462399"/>
              </p:ext>
            </p:extLst>
          </p:nvPr>
        </p:nvGraphicFramePr>
        <p:xfrm>
          <a:off x="2063552" y="1196752"/>
          <a:ext cx="7872876" cy="403244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31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606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Company</a:t>
                      </a:r>
                    </a:p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Contribution Income Statement</a:t>
                      </a:r>
                    </a:p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the Month of June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247">
                <a:tc>
                  <a:txBody>
                    <a:bodyPr/>
                    <a:lstStyle/>
                    <a:p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Sales (500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Projected Sales (650 units)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  <a:r>
                        <a:rPr lang="en-US" sz="18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revenue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 xx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Less: Variable</a:t>
                      </a:r>
                      <a:r>
                        <a:rPr lang="en-US" sz="18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expenses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Contribution Margin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$100,000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Less: Fixed</a:t>
                      </a:r>
                      <a:r>
                        <a:rPr lang="en-US" sz="18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expenses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Income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 20,000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u="dbl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 x</a:t>
                      </a:r>
                    </a:p>
                  </a:txBody>
                  <a:tcPr marT="45724" marB="45724"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932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Change in Variable Cost and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122" y="1412776"/>
            <a:ext cx="1022513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CM Solution:</a:t>
            </a:r>
          </a:p>
          <a:p>
            <a:pPr>
              <a:defRPr/>
            </a:pPr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selling price $20 x 500 units	$   10,000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CM for additional units 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$180 x 150 units $  27,000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advertising (fixed costs)             </a:t>
            </a:r>
            <a:r>
              <a:rPr lang="en-CA" alt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(15,000)</a:t>
            </a:r>
          </a:p>
          <a:p>
            <a:pPr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Increase in net operating income	          </a:t>
            </a:r>
            <a:r>
              <a:rPr lang="en-CA" altLang="en-US" sz="3200" u="dbl" dirty="0">
                <a:latin typeface="Arial" panose="020B0604020202020204" pitchFamily="34" charset="0"/>
                <a:cs typeface="Arial" panose="020B0604020202020204" pitchFamily="34" charset="0"/>
              </a:rPr>
              <a:t>$ 22,000</a:t>
            </a:r>
          </a:p>
          <a:p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754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Assumptions of Cost-Volume-Profit Analysis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483034"/>
              </p:ext>
            </p:extLst>
          </p:nvPr>
        </p:nvGraphicFramePr>
        <p:xfrm>
          <a:off x="1631504" y="671457"/>
          <a:ext cx="9937115" cy="4629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3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Selling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constant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throughout</a:t>
                      </a:r>
                      <a:r>
                        <a:rPr sz="2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entire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relevant</a:t>
                      </a:r>
                      <a:r>
                        <a:rPr sz="24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range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product/service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doesn’t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volume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changes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 marL="91440" marR="3816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2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2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2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divided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elements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→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Variable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constant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constant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overall.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multi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company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→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mix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constant.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Inventories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produced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sold.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235" y="951073"/>
            <a:ext cx="781812" cy="7086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884" y="1988444"/>
            <a:ext cx="838200" cy="6294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868" y="3601328"/>
            <a:ext cx="754379" cy="8270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86653" y="4618228"/>
            <a:ext cx="861060" cy="527685"/>
            <a:chOff x="643127" y="5332293"/>
            <a:chExt cx="861060" cy="52768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536" y="5332293"/>
              <a:ext cx="414528" cy="2943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127" y="5445252"/>
              <a:ext cx="414528" cy="4145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9659" y="5445252"/>
              <a:ext cx="414528" cy="414528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1751" y="2946567"/>
            <a:ext cx="1038466" cy="46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40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343B-F9DA-07A7-C7DC-3FEA56CDD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E5816E5-0434-34EB-D25E-EDB34928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747963"/>
            <a:ext cx="10363200" cy="1362075"/>
          </a:xfrm>
        </p:spPr>
        <p:txBody>
          <a:bodyPr anchor="b"/>
          <a:lstStyle/>
          <a:p>
            <a:r>
              <a:rPr lang="en-CA" dirty="0"/>
              <a:t>Break even analysis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28952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sz="3600" dirty="0">
                <a:solidFill>
                  <a:srgbClr val="FFFFFF"/>
                </a:solidFill>
              </a:rPr>
              <a:t>IN</a:t>
            </a:r>
            <a:r>
              <a:rPr lang="en-CA" sz="3600" spc="-15" dirty="0">
                <a:solidFill>
                  <a:srgbClr val="FFFFFF"/>
                </a:solidFill>
              </a:rPr>
              <a:t> </a:t>
            </a:r>
            <a:r>
              <a:rPr lang="en-CA" sz="3600" dirty="0">
                <a:solidFill>
                  <a:srgbClr val="FFFFFF"/>
                </a:solidFill>
              </a:rPr>
              <a:t>CLASS</a:t>
            </a:r>
            <a:r>
              <a:rPr lang="en-CA" sz="3600" spc="-10" dirty="0">
                <a:solidFill>
                  <a:srgbClr val="FFFFFF"/>
                </a:solidFill>
              </a:rPr>
              <a:t> EXAMPLE</a:t>
            </a:r>
            <a:endParaRPr lang="en-CA" sz="3600" dirty="0"/>
          </a:p>
        </p:txBody>
      </p:sp>
      <p:sp>
        <p:nvSpPr>
          <p:cNvPr id="11" name="Rectangle 10"/>
          <p:cNvSpPr/>
          <p:nvPr/>
        </p:nvSpPr>
        <p:spPr>
          <a:xfrm>
            <a:off x="407392" y="2104560"/>
            <a:ext cx="5112519" cy="2315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85"/>
              </a:spcBef>
            </a:pP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Although</a:t>
            </a:r>
            <a:r>
              <a:rPr lang="en-US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lang="en-US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price</a:t>
            </a:r>
            <a:r>
              <a:rPr lang="en-US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lang="en-US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pc="-10" dirty="0">
                <a:solidFill>
                  <a:srgbClr val="FFFFFF"/>
                </a:solidFill>
                <a:latin typeface="Arial MT"/>
                <a:cs typeface="Arial MT"/>
              </a:rPr>
              <a:t>recently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fallen,</a:t>
            </a:r>
            <a:r>
              <a:rPr lang="en-US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lang="en-US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still</a:t>
            </a:r>
            <a:r>
              <a:rPr lang="en-US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can’t</a:t>
            </a:r>
            <a:r>
              <a:rPr lang="en-US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believe</a:t>
            </a:r>
            <a:r>
              <a:rPr lang="en-US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lang="en-US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pc="-10" dirty="0">
                <a:solidFill>
                  <a:srgbClr val="FFFFFF"/>
                </a:solidFill>
                <a:latin typeface="Arial MT"/>
                <a:cs typeface="Arial MT"/>
              </a:rPr>
              <a:t>stock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price</a:t>
            </a:r>
            <a:r>
              <a:rPr lang="en-US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lang="en-US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lang="en-US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cap</a:t>
            </a:r>
            <a:r>
              <a:rPr lang="en-US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lang="en-US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shoes</a:t>
            </a:r>
            <a:r>
              <a:rPr lang="en-US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pc="-25" dirty="0">
                <a:solidFill>
                  <a:srgbClr val="FFFFFF"/>
                </a:solidFill>
                <a:latin typeface="Arial MT"/>
                <a:cs typeface="Arial MT"/>
              </a:rPr>
              <a:t>you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thought</a:t>
            </a:r>
            <a:r>
              <a:rPr lang="en-US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were</a:t>
            </a:r>
            <a:r>
              <a:rPr lang="en-US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lang="en-US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popular</a:t>
            </a:r>
            <a:r>
              <a:rPr lang="en-US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lang="en-US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pc="-10" dirty="0">
                <a:solidFill>
                  <a:srgbClr val="FFFFFF"/>
                </a:solidFill>
                <a:latin typeface="Arial MT"/>
                <a:cs typeface="Arial MT"/>
              </a:rPr>
              <a:t>Grey’s Anatomy.</a:t>
            </a:r>
            <a:endParaRPr lang="en-US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lang="en-US" dirty="0">
              <a:latin typeface="Arial MT"/>
              <a:cs typeface="Arial MT"/>
            </a:endParaRPr>
          </a:p>
          <a:p>
            <a:pPr marL="12700" marR="375920">
              <a:lnSpc>
                <a:spcPts val="2590"/>
              </a:lnSpc>
              <a:spcBef>
                <a:spcPts val="5"/>
              </a:spcBef>
            </a:pPr>
            <a:r>
              <a:rPr lang="en-US" spc="-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lang="en-US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lang="en-US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decided</a:t>
            </a:r>
            <a:r>
              <a:rPr lang="en-US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lang="en-US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compete</a:t>
            </a:r>
            <a:r>
              <a:rPr lang="en-US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pc="-20" dirty="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Crocs</a:t>
            </a:r>
            <a:r>
              <a:rPr lang="en-US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lang="en-US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lang="en-US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pc="-10" dirty="0">
                <a:solidFill>
                  <a:srgbClr val="FFFFFF"/>
                </a:solidFill>
                <a:latin typeface="Arial MT"/>
                <a:cs typeface="Arial MT"/>
              </a:rPr>
              <a:t>starting</a:t>
            </a:r>
            <a:r>
              <a:rPr lang="en-US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pc="-10" dirty="0">
                <a:solidFill>
                  <a:srgbClr val="FFFFFF"/>
                </a:solidFill>
                <a:latin typeface="Arial MT"/>
                <a:cs typeface="Arial MT"/>
              </a:rPr>
              <a:t>Alligator’s.</a:t>
            </a:r>
            <a:endParaRPr lang="en-US" dirty="0">
              <a:latin typeface="Arial MT"/>
              <a:cs typeface="Arial MT"/>
            </a:endParaRPr>
          </a:p>
        </p:txBody>
      </p:sp>
      <p:pic>
        <p:nvPicPr>
          <p:cNvPr id="12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5520" y="4838685"/>
            <a:ext cx="2448272" cy="1414492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404664"/>
            <a:ext cx="5544616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65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Cost of Sandals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490699"/>
              </p:ext>
            </p:extLst>
          </p:nvPr>
        </p:nvGraphicFramePr>
        <p:xfrm>
          <a:off x="335361" y="1081714"/>
          <a:ext cx="7416165" cy="36007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166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100" dirty="0">
                          <a:latin typeface="Arial MT"/>
                          <a:cs typeface="Arial MT"/>
                        </a:rPr>
                        <a:t>Plastic:</a:t>
                      </a:r>
                      <a:r>
                        <a:rPr sz="2100" spc="-25" dirty="0">
                          <a:latin typeface="Arial MT"/>
                          <a:cs typeface="Arial MT"/>
                        </a:rPr>
                        <a:t> $2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Bldg</a:t>
                      </a:r>
                      <a:r>
                        <a:rPr sz="2100" spc="-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10" dirty="0">
                          <a:latin typeface="Arial MT"/>
                          <a:cs typeface="Arial MT"/>
                        </a:rPr>
                        <a:t>Amort:</a:t>
                      </a:r>
                      <a:endParaRPr sz="21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$35,000/yr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Administration:</a:t>
                      </a:r>
                      <a:endParaRPr sz="21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$200,000/yr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100" dirty="0">
                          <a:latin typeface="Arial MT"/>
                          <a:cs typeface="Arial MT"/>
                        </a:rPr>
                        <a:t>Labour:</a:t>
                      </a:r>
                      <a:r>
                        <a:rPr sz="2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25" dirty="0">
                          <a:latin typeface="Arial MT"/>
                          <a:cs typeface="Arial MT"/>
                        </a:rPr>
                        <a:t>$1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100" dirty="0">
                          <a:latin typeface="Arial MT"/>
                          <a:cs typeface="Arial MT"/>
                        </a:rPr>
                        <a:t>Utilities:</a:t>
                      </a:r>
                      <a:r>
                        <a:rPr sz="2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10" dirty="0">
                          <a:latin typeface="Arial MT"/>
                          <a:cs typeface="Arial MT"/>
                        </a:rPr>
                        <a:t>$40,000/yr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Management:</a:t>
                      </a:r>
                      <a:endParaRPr sz="21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$350,000/yr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100" dirty="0">
                          <a:latin typeface="Arial MT"/>
                          <a:cs typeface="Arial MT"/>
                        </a:rPr>
                        <a:t>Paint:</a:t>
                      </a:r>
                      <a:r>
                        <a:rPr sz="2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20" dirty="0">
                          <a:latin typeface="Arial MT"/>
                          <a:cs typeface="Arial MT"/>
                        </a:rPr>
                        <a:t>$0.50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Advertising:</a:t>
                      </a:r>
                      <a:endParaRPr sz="21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$35,000/yr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778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100" dirty="0">
                          <a:latin typeface="Arial MT"/>
                          <a:cs typeface="Arial MT"/>
                        </a:rPr>
                        <a:t>Packaging:</a:t>
                      </a:r>
                      <a:r>
                        <a:rPr sz="2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10" dirty="0">
                          <a:latin typeface="Arial MT"/>
                          <a:cs typeface="Arial MT"/>
                        </a:rPr>
                        <a:t>$0.50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96011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1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2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10" dirty="0">
                          <a:latin typeface="Arial MT"/>
                          <a:cs typeface="Arial MT"/>
                        </a:rPr>
                        <a:t>Sandal Design:</a:t>
                      </a:r>
                      <a:endParaRPr sz="21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100" spc="-10" dirty="0">
                          <a:latin typeface="Arial MT"/>
                          <a:cs typeface="Arial MT"/>
                        </a:rPr>
                        <a:t>$100,000/yr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Selling</a:t>
                      </a:r>
                      <a:r>
                        <a:rPr sz="2000" spc="-4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000" spc="-6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per</a:t>
                      </a:r>
                      <a:r>
                        <a:rPr sz="2000" spc="-6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unit </a:t>
                      </a: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2000" spc="-1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$10</a:t>
                      </a:r>
                      <a:r>
                        <a:rPr sz="2000" spc="-25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000" spc="-2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they </a:t>
                      </a: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currently</a:t>
                      </a:r>
                      <a:r>
                        <a:rPr sz="2000" spc="-5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sell </a:t>
                      </a:r>
                      <a:r>
                        <a:rPr sz="200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250,000</a:t>
                      </a:r>
                      <a:r>
                        <a:rPr sz="2000" spc="-3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solidFill>
                            <a:schemeClr val="tx2"/>
                          </a:solidFill>
                          <a:latin typeface="Arial MT"/>
                          <a:cs typeface="Arial MT"/>
                        </a:rPr>
                        <a:t>units.</a:t>
                      </a:r>
                      <a:endParaRPr sz="2000" dirty="0">
                        <a:solidFill>
                          <a:schemeClr val="tx2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0623" y="2123770"/>
            <a:ext cx="4032504" cy="27072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729" y="5302035"/>
            <a:ext cx="1840003" cy="11531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71664" y="5285537"/>
            <a:ext cx="8712835" cy="46228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thought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concept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ridiculous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…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415805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ubtitle 2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Calculate the CM and CM Ratio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52554" y="1907590"/>
            <a:ext cx="827022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10" dirty="0"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2083" y="1907590"/>
            <a:ext cx="72263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Calibri"/>
                <a:cs typeface="Calibri"/>
              </a:rPr>
              <a:t>$</a:t>
            </a:r>
            <a:r>
              <a:rPr sz="1200" spc="-1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2,500,000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33504" y="2378229"/>
          <a:ext cx="3269615" cy="992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Variable</a:t>
                      </a:r>
                      <a:r>
                        <a:rPr sz="1200" spc="1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Costs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137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Plastic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70"/>
                        </a:lnSpc>
                        <a:tabLst>
                          <a:tab pos="208915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500,000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137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Labour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75"/>
                        </a:lnSpc>
                        <a:tabLst>
                          <a:tab pos="208915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250,000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137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Paint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75"/>
                        </a:lnSpc>
                        <a:tabLst>
                          <a:tab pos="208915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125,000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Packaging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40"/>
                        </a:lnSpc>
                        <a:tabLst>
                          <a:tab pos="208915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125,000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452554" y="3581846"/>
            <a:ext cx="133032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Calibri"/>
                <a:cs typeface="Calibri"/>
              </a:rPr>
              <a:t>Contribution</a:t>
            </a:r>
            <a:r>
              <a:rPr sz="1200" spc="2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Margin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9209" y="3581846"/>
            <a:ext cx="86233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u="dbl" spc="3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$</a:t>
            </a:r>
            <a:r>
              <a:rPr sz="1200" u="dbl" spc="-1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dbl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1,500,000</a:t>
            </a:r>
            <a:r>
              <a:rPr sz="1200" u="dbl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33504" y="4073226"/>
          <a:ext cx="3268980" cy="1619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12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Costs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Bldg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Amort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755"/>
                        </a:spcBef>
                        <a:tabLst>
                          <a:tab pos="319405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35,000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ts val="137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Utilities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370"/>
                        </a:lnSpc>
                        <a:tabLst>
                          <a:tab pos="319405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40,000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ts val="137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Advertising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370"/>
                        </a:lnSpc>
                        <a:tabLst>
                          <a:tab pos="319405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35,000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ts val="13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Sandal</a:t>
                      </a:r>
                      <a:r>
                        <a:rPr sz="12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Design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375"/>
                        </a:lnSpc>
                        <a:tabLst>
                          <a:tab pos="246379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100,000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ts val="137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Administration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370"/>
                        </a:lnSpc>
                        <a:tabLst>
                          <a:tab pos="246379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200,000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Management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340"/>
                        </a:lnSpc>
                        <a:tabLst>
                          <a:tab pos="246379" algn="l"/>
                        </a:tabLst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350,000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52554" y="5904619"/>
            <a:ext cx="117983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Calibri"/>
                <a:cs typeface="Calibri"/>
              </a:rPr>
              <a:t>Operating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Income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9209" y="5904619"/>
            <a:ext cx="86233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640" algn="l"/>
              </a:tabLst>
            </a:pPr>
            <a:r>
              <a:rPr sz="1200" u="dbl" spc="2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dbl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$</a:t>
            </a:r>
            <a:r>
              <a:rPr sz="120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200" u="dbl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740,000</a:t>
            </a:r>
            <a:r>
              <a:rPr sz="1200" u="dbl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91478" y="3584037"/>
            <a:ext cx="857885" cy="10795"/>
            <a:chOff x="3891478" y="3584037"/>
            <a:chExt cx="857885" cy="10795"/>
          </a:xfrm>
        </p:grpSpPr>
        <p:sp>
          <p:nvSpPr>
            <p:cNvPr id="12" name="object 12"/>
            <p:cNvSpPr/>
            <p:nvPr/>
          </p:nvSpPr>
          <p:spPr>
            <a:xfrm>
              <a:off x="3896624" y="3589326"/>
              <a:ext cx="847090" cy="0"/>
            </a:xfrm>
            <a:custGeom>
              <a:avLst/>
              <a:gdLst/>
              <a:ahLst/>
              <a:cxnLst/>
              <a:rect l="l" t="t" r="r" b="b"/>
              <a:pathLst>
                <a:path w="847089">
                  <a:moveTo>
                    <a:pt x="0" y="0"/>
                  </a:moveTo>
                  <a:lnTo>
                    <a:pt x="846963" y="0"/>
                  </a:lnTo>
                </a:path>
              </a:pathLst>
            </a:custGeom>
            <a:ln w="10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1478" y="3584037"/>
              <a:ext cx="857885" cy="10795"/>
            </a:xfrm>
            <a:custGeom>
              <a:avLst/>
              <a:gdLst/>
              <a:ahLst/>
              <a:cxnLst/>
              <a:rect l="l" t="t" r="r" b="b"/>
              <a:pathLst>
                <a:path w="857885" h="10795">
                  <a:moveTo>
                    <a:pt x="857394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857394" y="10439"/>
                  </a:lnTo>
                  <a:lnTo>
                    <a:pt x="8573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891478" y="5906879"/>
            <a:ext cx="857885" cy="10795"/>
            <a:chOff x="3891478" y="5906879"/>
            <a:chExt cx="857885" cy="10795"/>
          </a:xfrm>
        </p:grpSpPr>
        <p:sp>
          <p:nvSpPr>
            <p:cNvPr id="15" name="object 15"/>
            <p:cNvSpPr/>
            <p:nvPr/>
          </p:nvSpPr>
          <p:spPr>
            <a:xfrm>
              <a:off x="3896624" y="5912099"/>
              <a:ext cx="847090" cy="0"/>
            </a:xfrm>
            <a:custGeom>
              <a:avLst/>
              <a:gdLst/>
              <a:ahLst/>
              <a:cxnLst/>
              <a:rect l="l" t="t" r="r" b="b"/>
              <a:pathLst>
                <a:path w="847089">
                  <a:moveTo>
                    <a:pt x="0" y="0"/>
                  </a:moveTo>
                  <a:lnTo>
                    <a:pt x="846963" y="0"/>
                  </a:lnTo>
                </a:path>
              </a:pathLst>
            </a:custGeom>
            <a:ln w="10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91478" y="5906879"/>
              <a:ext cx="857885" cy="10795"/>
            </a:xfrm>
            <a:custGeom>
              <a:avLst/>
              <a:gdLst/>
              <a:ahLst/>
              <a:cxnLst/>
              <a:rect l="l" t="t" r="r" b="b"/>
              <a:pathLst>
                <a:path w="857885" h="10795">
                  <a:moveTo>
                    <a:pt x="857394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857394" y="10439"/>
                  </a:lnTo>
                  <a:lnTo>
                    <a:pt x="8573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023294" y="1168321"/>
            <a:ext cx="4089400" cy="5068991"/>
            <a:chOff x="1046987" y="1700777"/>
            <a:chExt cx="4089400" cy="4666615"/>
          </a:xfrm>
        </p:grpSpPr>
        <p:sp>
          <p:nvSpPr>
            <p:cNvPr id="18" name="object 18"/>
            <p:cNvSpPr/>
            <p:nvPr/>
          </p:nvSpPr>
          <p:spPr>
            <a:xfrm>
              <a:off x="1046988" y="1700783"/>
              <a:ext cx="3702050" cy="10795"/>
            </a:xfrm>
            <a:custGeom>
              <a:avLst/>
              <a:gdLst/>
              <a:ahLst/>
              <a:cxnLst/>
              <a:rect l="l" t="t" r="r" b="b"/>
              <a:pathLst>
                <a:path w="3702050" h="10794">
                  <a:moveTo>
                    <a:pt x="10426" y="5219"/>
                  </a:moveTo>
                  <a:lnTo>
                    <a:pt x="8902" y="1524"/>
                  </a:lnTo>
                  <a:lnTo>
                    <a:pt x="5207" y="0"/>
                  </a:lnTo>
                  <a:lnTo>
                    <a:pt x="1524" y="1524"/>
                  </a:lnTo>
                  <a:lnTo>
                    <a:pt x="0" y="5219"/>
                  </a:lnTo>
                  <a:lnTo>
                    <a:pt x="1524" y="8915"/>
                  </a:lnTo>
                  <a:lnTo>
                    <a:pt x="5207" y="10439"/>
                  </a:lnTo>
                  <a:lnTo>
                    <a:pt x="8902" y="8915"/>
                  </a:lnTo>
                  <a:lnTo>
                    <a:pt x="10426" y="5219"/>
                  </a:lnTo>
                  <a:close/>
                </a:path>
                <a:path w="3702050" h="10794">
                  <a:moveTo>
                    <a:pt x="397395" y="5219"/>
                  </a:moveTo>
                  <a:lnTo>
                    <a:pt x="395871" y="1524"/>
                  </a:lnTo>
                  <a:lnTo>
                    <a:pt x="392188" y="0"/>
                  </a:lnTo>
                  <a:lnTo>
                    <a:pt x="388493" y="1524"/>
                  </a:lnTo>
                  <a:lnTo>
                    <a:pt x="386969" y="5219"/>
                  </a:lnTo>
                  <a:lnTo>
                    <a:pt x="388493" y="8915"/>
                  </a:lnTo>
                  <a:lnTo>
                    <a:pt x="392188" y="10439"/>
                  </a:lnTo>
                  <a:lnTo>
                    <a:pt x="395871" y="8915"/>
                  </a:lnTo>
                  <a:lnTo>
                    <a:pt x="397395" y="5219"/>
                  </a:lnTo>
                  <a:close/>
                </a:path>
                <a:path w="3702050" h="10794">
                  <a:moveTo>
                    <a:pt x="1798574" y="5219"/>
                  </a:moveTo>
                  <a:lnTo>
                    <a:pt x="1797050" y="1524"/>
                  </a:lnTo>
                  <a:lnTo>
                    <a:pt x="1793354" y="0"/>
                  </a:lnTo>
                  <a:lnTo>
                    <a:pt x="1789671" y="1524"/>
                  </a:lnTo>
                  <a:lnTo>
                    <a:pt x="1788147" y="5219"/>
                  </a:lnTo>
                  <a:lnTo>
                    <a:pt x="1789671" y="8915"/>
                  </a:lnTo>
                  <a:lnTo>
                    <a:pt x="1793354" y="10439"/>
                  </a:lnTo>
                  <a:lnTo>
                    <a:pt x="1797050" y="8915"/>
                  </a:lnTo>
                  <a:lnTo>
                    <a:pt x="1798574" y="5219"/>
                  </a:lnTo>
                  <a:close/>
                </a:path>
                <a:path w="3702050" h="10794">
                  <a:moveTo>
                    <a:pt x="2854845" y="5219"/>
                  </a:moveTo>
                  <a:lnTo>
                    <a:pt x="2853321" y="1524"/>
                  </a:lnTo>
                  <a:lnTo>
                    <a:pt x="2849626" y="0"/>
                  </a:lnTo>
                  <a:lnTo>
                    <a:pt x="2845943" y="1524"/>
                  </a:lnTo>
                  <a:lnTo>
                    <a:pt x="2844419" y="5219"/>
                  </a:lnTo>
                  <a:lnTo>
                    <a:pt x="2845943" y="8915"/>
                  </a:lnTo>
                  <a:lnTo>
                    <a:pt x="2849626" y="10439"/>
                  </a:lnTo>
                  <a:lnTo>
                    <a:pt x="2853321" y="8915"/>
                  </a:lnTo>
                  <a:lnTo>
                    <a:pt x="2854845" y="5219"/>
                  </a:lnTo>
                  <a:close/>
                </a:path>
                <a:path w="3702050" h="10794">
                  <a:moveTo>
                    <a:pt x="3701808" y="5219"/>
                  </a:moveTo>
                  <a:lnTo>
                    <a:pt x="3700284" y="1524"/>
                  </a:lnTo>
                  <a:lnTo>
                    <a:pt x="3696589" y="0"/>
                  </a:lnTo>
                  <a:lnTo>
                    <a:pt x="3692906" y="1524"/>
                  </a:lnTo>
                  <a:lnTo>
                    <a:pt x="3691382" y="5219"/>
                  </a:lnTo>
                  <a:lnTo>
                    <a:pt x="3692906" y="8915"/>
                  </a:lnTo>
                  <a:lnTo>
                    <a:pt x="3696589" y="10439"/>
                  </a:lnTo>
                  <a:lnTo>
                    <a:pt x="3700284" y="8915"/>
                  </a:lnTo>
                  <a:lnTo>
                    <a:pt x="3701808" y="521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7418" y="1700783"/>
              <a:ext cx="4078604" cy="10795"/>
            </a:xfrm>
            <a:custGeom>
              <a:avLst/>
              <a:gdLst/>
              <a:ahLst/>
              <a:cxnLst/>
              <a:rect l="l" t="t" r="r" b="b"/>
              <a:pathLst>
                <a:path w="4078604" h="10794">
                  <a:moveTo>
                    <a:pt x="4078410" y="0"/>
                  </a:moveTo>
                  <a:lnTo>
                    <a:pt x="0" y="0"/>
                  </a:lnTo>
                  <a:lnTo>
                    <a:pt x="0" y="10363"/>
                  </a:lnTo>
                  <a:lnTo>
                    <a:pt x="4078461" y="10363"/>
                  </a:lnTo>
                  <a:lnTo>
                    <a:pt x="4078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25416" y="170077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0" y="5220"/>
                  </a:moveTo>
                  <a:lnTo>
                    <a:pt x="1527" y="1529"/>
                  </a:lnTo>
                  <a:lnTo>
                    <a:pt x="5215" y="0"/>
                  </a:lnTo>
                  <a:lnTo>
                    <a:pt x="8903" y="1529"/>
                  </a:lnTo>
                  <a:lnTo>
                    <a:pt x="10430" y="5220"/>
                  </a:lnTo>
                  <a:lnTo>
                    <a:pt x="8903" y="8911"/>
                  </a:lnTo>
                  <a:lnTo>
                    <a:pt x="5215" y="10439"/>
                  </a:lnTo>
                  <a:lnTo>
                    <a:pt x="1527" y="8911"/>
                  </a:lnTo>
                  <a:lnTo>
                    <a:pt x="0" y="522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46975" y="1700783"/>
              <a:ext cx="4089400" cy="4666615"/>
            </a:xfrm>
            <a:custGeom>
              <a:avLst/>
              <a:gdLst/>
              <a:ahLst/>
              <a:cxnLst/>
              <a:rect l="l" t="t" r="r" b="b"/>
              <a:pathLst>
                <a:path w="4089400" h="4666615">
                  <a:moveTo>
                    <a:pt x="4088790" y="10375"/>
                  </a:moveTo>
                  <a:lnTo>
                    <a:pt x="4067937" y="10375"/>
                  </a:lnTo>
                  <a:lnTo>
                    <a:pt x="4067937" y="4645609"/>
                  </a:lnTo>
                  <a:lnTo>
                    <a:pt x="10439" y="4645609"/>
                  </a:lnTo>
                  <a:lnTo>
                    <a:pt x="10439" y="0"/>
                  </a:lnTo>
                  <a:lnTo>
                    <a:pt x="0" y="0"/>
                  </a:lnTo>
                  <a:lnTo>
                    <a:pt x="0" y="4666500"/>
                  </a:lnTo>
                  <a:lnTo>
                    <a:pt x="10439" y="4666500"/>
                  </a:lnTo>
                  <a:lnTo>
                    <a:pt x="4067937" y="4666500"/>
                  </a:lnTo>
                  <a:lnTo>
                    <a:pt x="4088790" y="4666500"/>
                  </a:lnTo>
                  <a:lnTo>
                    <a:pt x="4088790" y="4645609"/>
                  </a:lnTo>
                  <a:lnTo>
                    <a:pt x="4088790" y="103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951984" y="860411"/>
            <a:ext cx="1700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CM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unit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78667" y="1313352"/>
            <a:ext cx="5048250" cy="193738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75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(Price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VC)</a:t>
            </a:r>
            <a:endParaRPr sz="2400" dirty="0">
              <a:latin typeface="Arial MT"/>
              <a:cs typeface="Arial MT"/>
            </a:endParaRPr>
          </a:p>
          <a:p>
            <a:pPr marL="469900" marR="5080" indent="-457834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(Plastic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Labour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+ </a:t>
            </a:r>
            <a:r>
              <a:rPr sz="2400" spc="-10" dirty="0">
                <a:latin typeface="Arial MT"/>
                <a:cs typeface="Arial MT"/>
              </a:rPr>
              <a:t>Packaging)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900" algn="l"/>
              </a:tabLst>
            </a:pPr>
            <a:r>
              <a:rPr lang="en-CA" sz="2400" dirty="0">
                <a:latin typeface="Arial MT"/>
                <a:cs typeface="Arial MT"/>
              </a:rPr>
              <a:t>$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lang="en-CA" sz="2400" spc="-15" dirty="0">
                <a:latin typeface="Arial MT"/>
                <a:cs typeface="Arial MT"/>
              </a:rPr>
              <a:t>$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lang="en-CA" sz="2400" spc="-15" dirty="0">
                <a:latin typeface="Arial MT"/>
                <a:cs typeface="Arial MT"/>
              </a:rPr>
              <a:t>$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lang="en-CA" sz="2400" spc="-15" dirty="0">
                <a:latin typeface="Arial MT"/>
                <a:cs typeface="Arial MT"/>
              </a:rPr>
              <a:t>$</a:t>
            </a:r>
            <a:r>
              <a:rPr sz="2400" dirty="0">
                <a:latin typeface="Arial MT"/>
                <a:cs typeface="Arial MT"/>
              </a:rPr>
              <a:t>.5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lang="en-CA" sz="2400" spc="-10" dirty="0">
                <a:latin typeface="Arial MT"/>
                <a:cs typeface="Arial MT"/>
              </a:rPr>
              <a:t> $</a:t>
            </a:r>
            <a:r>
              <a:rPr sz="2400" spc="-25" dirty="0">
                <a:latin typeface="Arial MT"/>
                <a:cs typeface="Arial MT"/>
              </a:rPr>
              <a:t>.5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07353" y="3267521"/>
            <a:ext cx="1397000" cy="105664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80"/>
              </a:spcBef>
              <a:buSzPct val="79166"/>
              <a:buChar char="•"/>
              <a:tabLst>
                <a:tab pos="469900" algn="l"/>
              </a:tabLst>
            </a:pPr>
            <a:r>
              <a:rPr sz="2400" spc="-10" dirty="0">
                <a:latin typeface="Arial MT"/>
                <a:cs typeface="Arial MT"/>
              </a:rPr>
              <a:t>$6/unit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CM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ratio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78667" y="4441005"/>
            <a:ext cx="2531745" cy="157099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7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CM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Price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69900" algn="l"/>
              </a:tabLst>
            </a:pPr>
            <a:r>
              <a:rPr sz="2400" spc="-10" dirty="0">
                <a:latin typeface="Arial MT"/>
                <a:cs typeface="Arial MT"/>
              </a:rPr>
              <a:t>$6/$10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900" algn="l"/>
              </a:tabLst>
            </a:pPr>
            <a:r>
              <a:rPr sz="2400" spc="-25" dirty="0">
                <a:latin typeface="Arial MT"/>
                <a:cs typeface="Arial MT"/>
              </a:rPr>
              <a:t>60%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871365" y="4653136"/>
            <a:ext cx="360045" cy="1251483"/>
          </a:xfrm>
          <a:custGeom>
            <a:avLst/>
            <a:gdLst/>
            <a:ahLst/>
            <a:cxnLst/>
            <a:rect l="l" t="t" r="r" b="b"/>
            <a:pathLst>
              <a:path w="360045" h="2146300">
                <a:moveTo>
                  <a:pt x="0" y="0"/>
                </a:moveTo>
                <a:lnTo>
                  <a:pt x="69996" y="2361"/>
                </a:lnTo>
                <a:lnTo>
                  <a:pt x="127158" y="8794"/>
                </a:lnTo>
                <a:lnTo>
                  <a:pt x="165699" y="18323"/>
                </a:lnTo>
                <a:lnTo>
                  <a:pt x="179831" y="29971"/>
                </a:lnTo>
                <a:lnTo>
                  <a:pt x="179831" y="1042923"/>
                </a:lnTo>
                <a:lnTo>
                  <a:pt x="193964" y="1054572"/>
                </a:lnTo>
                <a:lnTo>
                  <a:pt x="232505" y="1064101"/>
                </a:lnTo>
                <a:lnTo>
                  <a:pt x="289667" y="1070534"/>
                </a:lnTo>
                <a:lnTo>
                  <a:pt x="359663" y="1072895"/>
                </a:lnTo>
                <a:lnTo>
                  <a:pt x="289667" y="1075257"/>
                </a:lnTo>
                <a:lnTo>
                  <a:pt x="232505" y="1081690"/>
                </a:lnTo>
                <a:lnTo>
                  <a:pt x="193964" y="1091219"/>
                </a:lnTo>
                <a:lnTo>
                  <a:pt x="179831" y="1102867"/>
                </a:lnTo>
                <a:lnTo>
                  <a:pt x="179831" y="2115819"/>
                </a:lnTo>
                <a:lnTo>
                  <a:pt x="165699" y="2127484"/>
                </a:lnTo>
                <a:lnTo>
                  <a:pt x="127158" y="2137011"/>
                </a:lnTo>
                <a:lnTo>
                  <a:pt x="69996" y="2143435"/>
                </a:lnTo>
                <a:lnTo>
                  <a:pt x="0" y="2145791"/>
                </a:lnTo>
              </a:path>
            </a:pathLst>
          </a:custGeom>
          <a:ln w="381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553193" y="4886705"/>
            <a:ext cx="2016760" cy="830580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 marR="15494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What </a:t>
            </a:r>
            <a:r>
              <a:rPr sz="2400" spc="-25" dirty="0">
                <a:latin typeface="Arial MT"/>
                <a:cs typeface="Arial MT"/>
              </a:rPr>
              <a:t>do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mean?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74933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Break-Even Point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05055" y="762835"/>
            <a:ext cx="9601067" cy="466153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22555" algn="ctr">
              <a:lnSpc>
                <a:spcPct val="100000"/>
              </a:lnSpc>
              <a:spcBef>
                <a:spcPts val="275"/>
              </a:spcBef>
            </a:pP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Revenues</a:t>
            </a:r>
            <a:r>
              <a:rPr sz="28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28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Arial MT"/>
                <a:cs typeface="Arial MT"/>
              </a:rPr>
              <a:t>Variable</a:t>
            </a:r>
            <a:r>
              <a:rPr sz="28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Costs</a:t>
            </a:r>
            <a:r>
              <a:rPr sz="28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2800"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Fixed</a:t>
            </a:r>
            <a:r>
              <a:rPr sz="28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Costs</a:t>
            </a:r>
            <a:r>
              <a:rPr sz="28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sz="28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Arial MT"/>
                <a:cs typeface="Arial MT"/>
              </a:rPr>
              <a:t>0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2898" y="1570775"/>
            <a:ext cx="10974705" cy="266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62890" indent="-457834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spc="-20" dirty="0">
                <a:latin typeface="Arial MT"/>
                <a:cs typeface="Arial MT"/>
              </a:rPr>
              <a:t>Break-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revenues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 </a:t>
            </a:r>
            <a:r>
              <a:rPr sz="2400" dirty="0">
                <a:latin typeface="Arial MT"/>
                <a:cs typeface="Arial MT"/>
              </a:rPr>
              <a:t>(both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variable).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 MT"/>
                <a:cs typeface="Arial MT"/>
              </a:rPr>
              <a:t>Expressed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either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dollars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 MT"/>
                <a:cs typeface="Arial MT"/>
              </a:rPr>
              <a:t>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break-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margin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costs.</a:t>
            </a:r>
            <a:endParaRPr sz="2400" dirty="0">
              <a:latin typeface="Arial MT"/>
              <a:cs typeface="Arial MT"/>
            </a:endParaRPr>
          </a:p>
          <a:p>
            <a:pPr marL="1367155" lvl="2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1367155" algn="l"/>
              </a:tabLst>
            </a:pPr>
            <a:r>
              <a:rPr sz="2400" spc="-10" dirty="0">
                <a:latin typeface="Arial MT"/>
                <a:cs typeface="Arial MT"/>
              </a:rPr>
              <a:t>Break-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either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contribution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margin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per</a:t>
            </a:r>
            <a:endParaRPr sz="2400" dirty="0">
              <a:latin typeface="Arial MT"/>
              <a:cs typeface="Arial MT"/>
            </a:endParaRPr>
          </a:p>
          <a:p>
            <a:pPr marL="136779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margin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ratio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899512"/>
              </p:ext>
            </p:extLst>
          </p:nvPr>
        </p:nvGraphicFramePr>
        <p:xfrm>
          <a:off x="618480" y="4581128"/>
          <a:ext cx="10583542" cy="1645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8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478790" marR="470534" indent="241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Fixed Costs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÷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Unit</a:t>
                      </a:r>
                      <a:r>
                        <a:rPr sz="24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Contribution</a:t>
                      </a:r>
                      <a:r>
                        <a:rPr sz="24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Margin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8445" marR="461645" indent="-10585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Break-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Even</a:t>
                      </a:r>
                      <a:r>
                        <a:rPr sz="2400" b="1" spc="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Point</a:t>
                      </a:r>
                      <a:r>
                        <a:rPr sz="2400" b="1" spc="-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2400" b="1" spc="-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Units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478790" marR="469900" indent="241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Fixed Costs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÷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6540" marR="445134" indent="-10737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Contribution</a:t>
                      </a:r>
                      <a:r>
                        <a:rPr sz="24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Margin Ratio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3190" marR="461645" indent="-9226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Break-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Even</a:t>
                      </a:r>
                      <a:r>
                        <a:rPr sz="2400" b="1" spc="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Point</a:t>
                      </a:r>
                      <a:r>
                        <a:rPr sz="2400" b="1" spc="-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Dollars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989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Break-Even Point 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742144"/>
            <a:ext cx="9985375" cy="240411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495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sandals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would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Alligator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break-even?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800" spc="-10" dirty="0">
                <a:latin typeface="Arial MT"/>
                <a:cs typeface="Arial MT"/>
              </a:rPr>
              <a:t>Inputs: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469900" algn="l"/>
              </a:tabLst>
            </a:pPr>
            <a:r>
              <a:rPr sz="1450" spc="-25" dirty="0">
                <a:latin typeface="Arial MT"/>
                <a:cs typeface="Arial MT"/>
              </a:rPr>
              <a:t>1.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800" dirty="0">
                <a:latin typeface="Arial MT"/>
                <a:cs typeface="Arial MT"/>
              </a:rPr>
              <a:t>Fixed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Costs</a:t>
            </a:r>
            <a:endParaRPr sz="1800" dirty="0">
              <a:latin typeface="Arial MT"/>
              <a:cs typeface="Arial MT"/>
            </a:endParaRPr>
          </a:p>
          <a:p>
            <a:pPr marL="462280">
              <a:lnSpc>
                <a:spcPct val="100000"/>
              </a:lnSpc>
              <a:spcBef>
                <a:spcPts val="490"/>
              </a:spcBef>
              <a:tabLst>
                <a:tab pos="927100" algn="l"/>
              </a:tabLst>
            </a:pP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Bldg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Amort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Administration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Utilities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Management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Advertising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Sandal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Design</a:t>
            </a:r>
            <a:endParaRPr sz="1800" dirty="0">
              <a:latin typeface="Arial MT"/>
              <a:cs typeface="Arial MT"/>
            </a:endParaRPr>
          </a:p>
          <a:p>
            <a:pPr marL="462280">
              <a:lnSpc>
                <a:spcPct val="100000"/>
              </a:lnSpc>
              <a:spcBef>
                <a:spcPts val="505"/>
              </a:spcBef>
              <a:tabLst>
                <a:tab pos="927100" algn="l"/>
              </a:tabLst>
            </a:pP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$35,000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$200,000 +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$40,000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$350,000 +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$35,000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$100,000</a:t>
            </a:r>
            <a:endParaRPr sz="1800" dirty="0">
              <a:latin typeface="Arial MT"/>
              <a:cs typeface="Arial MT"/>
            </a:endParaRPr>
          </a:p>
          <a:p>
            <a:pPr marL="462280">
              <a:lnSpc>
                <a:spcPct val="100000"/>
              </a:lnSpc>
              <a:spcBef>
                <a:spcPts val="505"/>
              </a:spcBef>
              <a:tabLst>
                <a:tab pos="927100" algn="l"/>
              </a:tabLst>
            </a:pP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$760,000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019" y="3409766"/>
            <a:ext cx="5568950" cy="70231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00"/>
              </a:spcBef>
              <a:buSzPct val="80555"/>
              <a:buAutoNum type="arabicPeriod" startAt="2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Unit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VC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$10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$4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$6/unit</a:t>
            </a:r>
            <a:endParaRPr sz="1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SzPct val="80555"/>
              <a:buAutoNum type="arabicPeriod" startAt="2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CM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/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$6/$10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60%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75092"/>
              </p:ext>
            </p:extLst>
          </p:nvPr>
        </p:nvGraphicFramePr>
        <p:xfrm>
          <a:off x="905078" y="4574794"/>
          <a:ext cx="10584814" cy="1645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760,000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FC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÷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05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$6/unit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52169">
                        <a:lnSpc>
                          <a:spcPct val="10000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CM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126,666.67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5819" marR="131445" indent="-7048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Break-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Even</a:t>
                      </a:r>
                      <a:r>
                        <a:rPr sz="2400" b="1" spc="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2400" b="1" spc="-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Units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760,000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FC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÷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25" dirty="0">
                          <a:latin typeface="Arial"/>
                          <a:cs typeface="Arial"/>
                        </a:rPr>
                        <a:t>60%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Ratio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$1,266,666,67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9930" marR="131445" indent="-56896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Break-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Even</a:t>
                      </a:r>
                      <a:r>
                        <a:rPr sz="2400" b="1" spc="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2400" b="1" spc="-1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Dollars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432877" y="3608972"/>
            <a:ext cx="4057015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5946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Why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useful?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97030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Break-Even Point (Graph or “Substitution” Method)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35783" y="2055422"/>
            <a:ext cx="2310130" cy="311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2085">
              <a:lnSpc>
                <a:spcPct val="1408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Revenues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Quantity</a:t>
            </a:r>
            <a:endParaRPr sz="24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1180"/>
              </a:spcBef>
            </a:pPr>
            <a:r>
              <a:rPr sz="2400" spc="-25" dirty="0">
                <a:latin typeface="Arial MT"/>
                <a:cs typeface="Arial MT"/>
              </a:rPr>
              <a:t>10Q</a:t>
            </a:r>
            <a:endParaRPr sz="2400" dirty="0">
              <a:latin typeface="Arial MT"/>
              <a:cs typeface="Arial MT"/>
            </a:endParaRPr>
          </a:p>
          <a:p>
            <a:pPr marL="927100" marR="968375">
              <a:lnSpc>
                <a:spcPct val="140800"/>
              </a:lnSpc>
            </a:pPr>
            <a:r>
              <a:rPr sz="2400" spc="-25" dirty="0">
                <a:latin typeface="Arial MT"/>
                <a:cs typeface="Arial MT"/>
              </a:rPr>
              <a:t>6Q </a:t>
            </a:r>
            <a:r>
              <a:rPr sz="2400" spc="-50" dirty="0">
                <a:latin typeface="Arial MT"/>
                <a:cs typeface="Arial MT"/>
              </a:rPr>
              <a:t>Q</a:t>
            </a:r>
            <a:endParaRPr sz="24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1175"/>
              </a:spcBef>
            </a:pPr>
            <a:r>
              <a:rPr sz="2400" spc="-10" dirty="0">
                <a:latin typeface="Arial MT"/>
                <a:cs typeface="Arial MT"/>
              </a:rPr>
              <a:t>Revenues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6364" y="2016580"/>
            <a:ext cx="4662805" cy="20866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Variable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VC/unit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Quantity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</a:t>
            </a:r>
            <a:endParaRPr sz="24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1180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4Q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$760,000</a:t>
            </a:r>
            <a:endParaRPr sz="24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 </a:t>
            </a:r>
            <a:r>
              <a:rPr sz="2400" spc="-10" dirty="0">
                <a:latin typeface="Arial MT"/>
                <a:cs typeface="Arial MT"/>
              </a:rPr>
              <a:t>760,000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6995" y="4124497"/>
            <a:ext cx="2447925" cy="576580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126,667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units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1265" y="4636786"/>
            <a:ext cx="3489960" cy="105600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Quantity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$10/unit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126,667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5090" y="5905061"/>
            <a:ext cx="2447925" cy="576580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755"/>
              </a:spcBef>
            </a:pPr>
            <a:r>
              <a:rPr sz="2400" dirty="0">
                <a:latin typeface="Arial MT"/>
                <a:cs typeface="Arial MT"/>
              </a:rPr>
              <a:t>= </a:t>
            </a:r>
            <a:r>
              <a:rPr sz="2400" spc="-10" dirty="0">
                <a:latin typeface="Arial MT"/>
                <a:cs typeface="Arial MT"/>
              </a:rPr>
              <a:t>$1,266,667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004" y="1109421"/>
            <a:ext cx="7416165" cy="52324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275"/>
              </a:spcBef>
            </a:pPr>
            <a:r>
              <a:rPr sz="2800" dirty="0">
                <a:latin typeface="Arial MT"/>
                <a:cs typeface="Arial MT"/>
              </a:rPr>
              <a:t>Revenues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Variable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Costs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Fixed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Costs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36002" y="4807458"/>
            <a:ext cx="360045" cy="1728470"/>
          </a:xfrm>
          <a:custGeom>
            <a:avLst/>
            <a:gdLst/>
            <a:ahLst/>
            <a:cxnLst/>
            <a:rect l="l" t="t" r="r" b="b"/>
            <a:pathLst>
              <a:path w="360045" h="1728470">
                <a:moveTo>
                  <a:pt x="0" y="0"/>
                </a:moveTo>
                <a:lnTo>
                  <a:pt x="69996" y="2361"/>
                </a:lnTo>
                <a:lnTo>
                  <a:pt x="127158" y="8794"/>
                </a:lnTo>
                <a:lnTo>
                  <a:pt x="165699" y="18323"/>
                </a:lnTo>
                <a:lnTo>
                  <a:pt x="179831" y="29972"/>
                </a:lnTo>
                <a:lnTo>
                  <a:pt x="179831" y="834136"/>
                </a:lnTo>
                <a:lnTo>
                  <a:pt x="193964" y="845800"/>
                </a:lnTo>
                <a:lnTo>
                  <a:pt x="232505" y="855327"/>
                </a:lnTo>
                <a:lnTo>
                  <a:pt x="289667" y="861751"/>
                </a:lnTo>
                <a:lnTo>
                  <a:pt x="359664" y="864108"/>
                </a:lnTo>
                <a:lnTo>
                  <a:pt x="289667" y="866464"/>
                </a:lnTo>
                <a:lnTo>
                  <a:pt x="232505" y="872888"/>
                </a:lnTo>
                <a:lnTo>
                  <a:pt x="193964" y="882415"/>
                </a:lnTo>
                <a:lnTo>
                  <a:pt x="179831" y="894080"/>
                </a:lnTo>
                <a:lnTo>
                  <a:pt x="179831" y="1698244"/>
                </a:lnTo>
                <a:lnTo>
                  <a:pt x="165699" y="1709908"/>
                </a:lnTo>
                <a:lnTo>
                  <a:pt x="127158" y="1719435"/>
                </a:lnTo>
                <a:lnTo>
                  <a:pt x="69996" y="1725859"/>
                </a:lnTo>
                <a:lnTo>
                  <a:pt x="0" y="1728216"/>
                </a:lnTo>
              </a:path>
            </a:pathLst>
          </a:custGeom>
          <a:ln w="381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45602" y="5293614"/>
            <a:ext cx="3383279" cy="954405"/>
          </a:xfrm>
          <a:prstGeom prst="rect">
            <a:avLst/>
          </a:prstGeom>
          <a:ln w="38100">
            <a:solidFill>
              <a:srgbClr val="ED037C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710565" marR="237490" indent="-464184"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latin typeface="Arial MT"/>
                <a:cs typeface="Arial MT"/>
              </a:rPr>
              <a:t>Do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what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easiest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convert!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6047" y="1109422"/>
            <a:ext cx="3909843" cy="386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64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Target Operating Profit Analysis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328" y="950721"/>
            <a:ext cx="3467100" cy="46268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04281" y="1008945"/>
            <a:ext cx="6097905" cy="156972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I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</a:t>
            </a:r>
            <a:endParaRPr sz="2400">
              <a:latin typeface="Arial MT"/>
              <a:cs typeface="Arial MT"/>
            </a:endParaRPr>
          </a:p>
          <a:p>
            <a:pPr marL="276225" marR="267335" indent="-3175" algn="ctr">
              <a:lnSpc>
                <a:spcPct val="100000"/>
              </a:lnSpc>
              <a:tabLst>
                <a:tab pos="2037080" algn="l"/>
              </a:tabLst>
            </a:pPr>
            <a:r>
              <a:rPr sz="2400" spc="-10" dirty="0">
                <a:latin typeface="Arial MT"/>
                <a:cs typeface="Arial MT"/>
              </a:rPr>
              <a:t>$1,000,000.</a:t>
            </a:r>
            <a:r>
              <a:rPr sz="2400" dirty="0">
                <a:latin typeface="Arial MT"/>
                <a:cs typeface="Arial MT"/>
              </a:rPr>
              <a:t>	Assuming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 </a:t>
            </a:r>
            <a:r>
              <a:rPr sz="2400" dirty="0">
                <a:latin typeface="Arial MT"/>
                <a:cs typeface="Arial MT"/>
              </a:rPr>
              <a:t>won’t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you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sell?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9877" y="3061350"/>
            <a:ext cx="6097905" cy="46228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6672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Break-</a:t>
            </a:r>
            <a:r>
              <a:rPr sz="2400" spc="-10" dirty="0">
                <a:latin typeface="Arial MT"/>
                <a:cs typeface="Arial MT"/>
              </a:rPr>
              <a:t>Even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Analysis?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9701" y="4086148"/>
            <a:ext cx="1763395" cy="1079500"/>
          </a:xfrm>
          <a:custGeom>
            <a:avLst/>
            <a:gdLst/>
            <a:ahLst/>
            <a:cxnLst/>
            <a:rect l="l" t="t" r="r" b="b"/>
            <a:pathLst>
              <a:path w="1763395" h="1079500">
                <a:moveTo>
                  <a:pt x="0" y="179831"/>
                </a:moveTo>
                <a:lnTo>
                  <a:pt x="6424" y="132027"/>
                </a:lnTo>
                <a:lnTo>
                  <a:pt x="24553" y="89069"/>
                </a:lnTo>
                <a:lnTo>
                  <a:pt x="52673" y="52673"/>
                </a:lnTo>
                <a:lnTo>
                  <a:pt x="89069" y="24553"/>
                </a:lnTo>
                <a:lnTo>
                  <a:pt x="132027" y="6424"/>
                </a:lnTo>
                <a:lnTo>
                  <a:pt x="179831" y="0"/>
                </a:lnTo>
                <a:lnTo>
                  <a:pt x="1583436" y="0"/>
                </a:lnTo>
                <a:lnTo>
                  <a:pt x="1631240" y="6424"/>
                </a:lnTo>
                <a:lnTo>
                  <a:pt x="1674198" y="24553"/>
                </a:lnTo>
                <a:lnTo>
                  <a:pt x="1710594" y="52673"/>
                </a:lnTo>
                <a:lnTo>
                  <a:pt x="1738714" y="89069"/>
                </a:lnTo>
                <a:lnTo>
                  <a:pt x="1756843" y="132027"/>
                </a:lnTo>
                <a:lnTo>
                  <a:pt x="1763267" y="179831"/>
                </a:lnTo>
                <a:lnTo>
                  <a:pt x="1763267" y="899160"/>
                </a:lnTo>
                <a:lnTo>
                  <a:pt x="1756843" y="946964"/>
                </a:lnTo>
                <a:lnTo>
                  <a:pt x="1738714" y="989922"/>
                </a:lnTo>
                <a:lnTo>
                  <a:pt x="1710594" y="1026318"/>
                </a:lnTo>
                <a:lnTo>
                  <a:pt x="1674198" y="1054438"/>
                </a:lnTo>
                <a:lnTo>
                  <a:pt x="1631240" y="1072567"/>
                </a:lnTo>
                <a:lnTo>
                  <a:pt x="1583436" y="1078992"/>
                </a:lnTo>
                <a:lnTo>
                  <a:pt x="179831" y="1078992"/>
                </a:lnTo>
                <a:lnTo>
                  <a:pt x="132027" y="1072567"/>
                </a:lnTo>
                <a:lnTo>
                  <a:pt x="89069" y="1054438"/>
                </a:lnTo>
                <a:lnTo>
                  <a:pt x="52673" y="1026318"/>
                </a:lnTo>
                <a:lnTo>
                  <a:pt x="24553" y="989922"/>
                </a:lnTo>
                <a:lnTo>
                  <a:pt x="6424" y="946964"/>
                </a:lnTo>
                <a:lnTo>
                  <a:pt x="0" y="899160"/>
                </a:lnTo>
                <a:lnTo>
                  <a:pt x="0" y="179831"/>
                </a:lnTo>
                <a:close/>
              </a:path>
            </a:pathLst>
          </a:custGeom>
          <a:ln w="254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7334" y="4125463"/>
            <a:ext cx="1439545" cy="1031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Units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to </a:t>
            </a:r>
            <a:r>
              <a:rPr sz="2200" spc="-10" dirty="0">
                <a:latin typeface="Arial MT"/>
                <a:cs typeface="Arial MT"/>
              </a:rPr>
              <a:t>attain </a:t>
            </a:r>
            <a:r>
              <a:rPr sz="2200" dirty="0">
                <a:latin typeface="Arial MT"/>
                <a:cs typeface="Arial MT"/>
              </a:rPr>
              <a:t>target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profit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8843" y="4086148"/>
            <a:ext cx="3994785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2200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Fixed</a:t>
            </a:r>
            <a:r>
              <a:rPr sz="2200" u="sng" spc="-6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Expenses</a:t>
            </a:r>
            <a:r>
              <a:rPr sz="2200" u="sng" spc="-6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+</a:t>
            </a:r>
            <a:r>
              <a:rPr sz="2200" u="sng" spc="-3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2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Target</a:t>
            </a:r>
            <a:r>
              <a:rPr sz="2200" b="1" u="sng" spc="-5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Profit</a:t>
            </a:r>
            <a:endParaRPr sz="2200" dirty="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Unit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Arial MT"/>
                <a:cs typeface="Arial MT"/>
              </a:rPr>
              <a:t>CM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12258" y="4445558"/>
            <a:ext cx="1885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0" dirty="0">
                <a:latin typeface="Arial MT"/>
                <a:cs typeface="Arial MT"/>
              </a:rPr>
              <a:t>=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71565" y="5864758"/>
            <a:ext cx="318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*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profit,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use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80376" y="5373216"/>
            <a:ext cx="127152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u="sng" spc="-20" dirty="0">
                <a:solidFill>
                  <a:srgbClr val="4F81BC"/>
                </a:solidFill>
                <a:uFill>
                  <a:solidFill>
                    <a:srgbClr val="4F81BC"/>
                  </a:solidFill>
                </a:uFill>
                <a:latin typeface="Arial MT"/>
                <a:cs typeface="Arial MT"/>
              </a:rPr>
              <a:t>Target</a:t>
            </a:r>
            <a:r>
              <a:rPr sz="1600" u="sng" spc="-80" dirty="0">
                <a:solidFill>
                  <a:srgbClr val="4F81BC"/>
                </a:solidFill>
                <a:uFill>
                  <a:solidFill>
                    <a:srgbClr val="4F81BC"/>
                  </a:solidFill>
                </a:uFill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4F81BC"/>
                </a:solidFill>
                <a:uFill>
                  <a:solidFill>
                    <a:srgbClr val="4F81BC"/>
                  </a:solidFill>
                </a:uFill>
                <a:latin typeface="Arial MT"/>
                <a:cs typeface="Arial MT"/>
              </a:rPr>
              <a:t>profits</a:t>
            </a:r>
            <a:endParaRPr sz="1600" dirty="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</a:pPr>
            <a:r>
              <a:rPr sz="1600" spc="-10" dirty="0">
                <a:solidFill>
                  <a:srgbClr val="4F81BC"/>
                </a:solidFill>
                <a:latin typeface="Arial MT"/>
                <a:cs typeface="Arial MT"/>
              </a:rPr>
              <a:t>1-</a:t>
            </a:r>
            <a:r>
              <a:rPr sz="1600" dirty="0">
                <a:solidFill>
                  <a:srgbClr val="4F81BC"/>
                </a:solidFill>
                <a:latin typeface="Arial MT"/>
                <a:cs typeface="Arial MT"/>
              </a:rPr>
              <a:t>tax</a:t>
            </a:r>
            <a:r>
              <a:rPr sz="1600" spc="-10" dirty="0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F81BC"/>
                </a:solidFill>
                <a:latin typeface="Arial MT"/>
                <a:cs typeface="Arial MT"/>
              </a:rPr>
              <a:t>rate</a:t>
            </a:r>
            <a:endParaRPr sz="16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13165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Margin of Safety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73024" y="1049675"/>
            <a:ext cx="10649585" cy="157162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75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Difference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break-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point.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 MT"/>
                <a:cs typeface="Arial MT"/>
              </a:rPr>
              <a:t>Measures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“cushion”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particular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provides.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expressed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dollars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ratio.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374806"/>
              </p:ext>
            </p:extLst>
          </p:nvPr>
        </p:nvGraphicFramePr>
        <p:xfrm>
          <a:off x="473024" y="3285871"/>
          <a:ext cx="11160122" cy="2011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9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5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2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marL="1332230" marR="436245" indent="-890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Actual</a:t>
                      </a:r>
                      <a:r>
                        <a:rPr sz="24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(Expected) </a:t>
                      </a:r>
                      <a:r>
                        <a:rPr sz="2400" b="1" spc="-20" dirty="0">
                          <a:latin typeface="Arial"/>
                          <a:cs typeface="Arial"/>
                        </a:rPr>
                        <a:t>Sales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−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0590" marR="461645" indent="-4406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5" dirty="0">
                          <a:latin typeface="Arial"/>
                          <a:cs typeface="Arial"/>
                        </a:rPr>
                        <a:t>Break-</a:t>
                      </a:r>
                      <a:r>
                        <a:rPr sz="2400" b="1" spc="-20" dirty="0">
                          <a:latin typeface="Arial"/>
                          <a:cs typeface="Arial"/>
                        </a:rPr>
                        <a:t>Even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Sales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5420" marR="600075" indent="-8464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Margin</a:t>
                      </a:r>
                      <a:r>
                        <a:rPr sz="2400" b="1" spc="-5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Safety</a:t>
                      </a:r>
                      <a:r>
                        <a:rPr sz="2400" b="1" spc="-3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Dollars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1213485" marR="359410" indent="-8464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Margin</a:t>
                      </a:r>
                      <a:r>
                        <a:rPr sz="2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Safety</a:t>
                      </a:r>
                      <a:r>
                        <a:rPr sz="2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Dollars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÷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9590" marR="520065" indent="-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Actual (Expected) Sales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Margin</a:t>
                      </a:r>
                      <a:r>
                        <a:rPr sz="2400" b="1" spc="-5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Safety</a:t>
                      </a:r>
                      <a:r>
                        <a:rPr sz="2400" b="1" spc="-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Ratio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412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1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Make the Decision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4672" y="872791"/>
            <a:ext cx="111582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Alligator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advertising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expense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$50,000,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will </a:t>
            </a:r>
            <a:r>
              <a:rPr sz="2400" dirty="0">
                <a:latin typeface="Arial MT"/>
                <a:cs typeface="Arial MT"/>
              </a:rPr>
              <a:t>go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250,000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265,000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6426" y="2782061"/>
            <a:ext cx="4608830" cy="138557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614680" marR="609600" indent="-1270" algn="ctr"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latin typeface="Arial MT"/>
                <a:cs typeface="Arial MT"/>
              </a:rPr>
              <a:t>Operating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Income </a:t>
            </a:r>
            <a:r>
              <a:rPr sz="2800" dirty="0">
                <a:latin typeface="Arial MT"/>
                <a:cs typeface="Arial MT"/>
              </a:rPr>
              <a:t>Increases.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Therefore, Accept.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6426" y="4612385"/>
            <a:ext cx="4608830" cy="52451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521970">
              <a:lnSpc>
                <a:spcPct val="100000"/>
              </a:lnSpc>
              <a:spcBef>
                <a:spcPts val="285"/>
              </a:spcBef>
            </a:pPr>
            <a:r>
              <a:rPr sz="2800" dirty="0">
                <a:latin typeface="Arial MT"/>
                <a:cs typeface="Arial MT"/>
              </a:rPr>
              <a:t>Other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Considerations?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066885"/>
              </p:ext>
            </p:extLst>
          </p:nvPr>
        </p:nvGraphicFramePr>
        <p:xfrm>
          <a:off x="960955" y="2263664"/>
          <a:ext cx="4454885" cy="3757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410">
                <a:tc gridSpan="3">
                  <a:txBody>
                    <a:bodyPr/>
                    <a:lstStyle/>
                    <a:p>
                      <a:pPr marR="59055" algn="r">
                        <a:lnSpc>
                          <a:spcPts val="1160"/>
                        </a:lnSpc>
                      </a:pPr>
                      <a:r>
                        <a:rPr sz="1100" b="1" u="sng" spc="37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Status-</a:t>
                      </a:r>
                      <a:r>
                        <a:rPr sz="11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Quo</a:t>
                      </a:r>
                      <a:r>
                        <a:rPr sz="11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1160"/>
                        </a:lnSpc>
                        <a:tabLst>
                          <a:tab pos="854075" algn="l"/>
                        </a:tabLst>
                      </a:pPr>
                      <a:r>
                        <a:rPr sz="1100" b="1" u="sng" spc="33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Proposal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9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Sales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32956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2,500,000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3016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2,650,000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Variable</a:t>
                      </a:r>
                      <a:r>
                        <a:rPr sz="11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Costs: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Plastic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2865" algn="ctr">
                        <a:lnSpc>
                          <a:spcPct val="100000"/>
                        </a:lnSpc>
                        <a:tabLst>
                          <a:tab pos="431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500,000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tabLst>
                          <a:tab pos="4032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530,000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Labour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220"/>
                        </a:lnSpc>
                        <a:tabLst>
                          <a:tab pos="431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250,000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220"/>
                        </a:lnSpc>
                        <a:tabLst>
                          <a:tab pos="4032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265,000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Paint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220"/>
                        </a:lnSpc>
                        <a:tabLst>
                          <a:tab pos="431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125,000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220"/>
                        </a:lnSpc>
                        <a:tabLst>
                          <a:tab pos="4032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132,500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1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Packaging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220"/>
                        </a:lnSpc>
                        <a:tabLst>
                          <a:tab pos="431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125,000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220"/>
                        </a:lnSpc>
                        <a:tabLst>
                          <a:tab pos="4032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132,500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1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Contribution</a:t>
                      </a:r>
                      <a:r>
                        <a:rPr sz="11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Margin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625"/>
                        </a:spcBef>
                        <a:tabLst>
                          <a:tab pos="32956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1,500,000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625"/>
                        </a:spcBef>
                        <a:tabLst>
                          <a:tab pos="3016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1,590,000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0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11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Costs: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Building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2865" algn="ct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50165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35,000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7307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35,000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Utilities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220"/>
                        </a:lnSpc>
                        <a:tabLst>
                          <a:tab pos="50165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40,000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220"/>
                        </a:lnSpc>
                        <a:tabLst>
                          <a:tab pos="47307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40,000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Advertising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220"/>
                        </a:lnSpc>
                        <a:tabLst>
                          <a:tab pos="50165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35,000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220"/>
                        </a:lnSpc>
                        <a:tabLst>
                          <a:tab pos="47307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50,000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Design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220"/>
                        </a:lnSpc>
                        <a:tabLst>
                          <a:tab pos="431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100,000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220"/>
                        </a:lnSpc>
                        <a:tabLst>
                          <a:tab pos="4032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100,000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Admin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220"/>
                        </a:lnSpc>
                        <a:tabLst>
                          <a:tab pos="431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200,000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220"/>
                        </a:lnSpc>
                        <a:tabLst>
                          <a:tab pos="4032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200,000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2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Management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180"/>
                        </a:lnSpc>
                        <a:tabLst>
                          <a:tab pos="431800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350,000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180"/>
                        </a:lnSpc>
                        <a:tabLst>
                          <a:tab pos="403225" algn="l"/>
                        </a:tabLst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350,000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54616" y="6132215"/>
            <a:ext cx="10661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Operating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Income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9697" y="6172687"/>
            <a:ext cx="20810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4500" algn="l"/>
                <a:tab pos="1029335" algn="l"/>
                <a:tab pos="1398270" algn="l"/>
              </a:tabLst>
            </a:pPr>
            <a:r>
              <a:rPr sz="1100" u="dbl" spc="2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dbl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$</a:t>
            </a:r>
            <a:r>
              <a:rPr sz="110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100" u="dbl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740,000</a:t>
            </a:r>
            <a:r>
              <a:rPr sz="110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lang="en-CA" sz="110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 </a:t>
            </a:r>
            <a:r>
              <a:rPr sz="1100" u="dbl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$</a:t>
            </a:r>
            <a:r>
              <a:rPr sz="110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lang="en-CA" sz="110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  </a:t>
            </a:r>
            <a:r>
              <a:rPr sz="1100" u="dbl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815,000</a:t>
            </a:r>
            <a:r>
              <a:rPr sz="1100" u="dbl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39370" y="6166336"/>
            <a:ext cx="1913889" cy="6350"/>
            <a:chOff x="3539370" y="6166336"/>
            <a:chExt cx="1913889" cy="6350"/>
          </a:xfrm>
        </p:grpSpPr>
        <p:sp>
          <p:nvSpPr>
            <p:cNvPr id="10" name="object 10"/>
            <p:cNvSpPr/>
            <p:nvPr/>
          </p:nvSpPr>
          <p:spPr>
            <a:xfrm>
              <a:off x="3542544" y="6169512"/>
              <a:ext cx="1907539" cy="0"/>
            </a:xfrm>
            <a:custGeom>
              <a:avLst/>
              <a:gdLst/>
              <a:ahLst/>
              <a:cxnLst/>
              <a:rect l="l" t="t" r="r" b="b"/>
              <a:pathLst>
                <a:path w="1907539">
                  <a:moveTo>
                    <a:pt x="0" y="0"/>
                  </a:moveTo>
                  <a:lnTo>
                    <a:pt x="1907446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39370" y="6166336"/>
              <a:ext cx="1913889" cy="6350"/>
            </a:xfrm>
            <a:custGeom>
              <a:avLst/>
              <a:gdLst/>
              <a:ahLst/>
              <a:cxnLst/>
              <a:rect l="l" t="t" r="r" b="b"/>
              <a:pathLst>
                <a:path w="1913889" h="6350">
                  <a:moveTo>
                    <a:pt x="1913796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1913796" y="6350"/>
                  </a:lnTo>
                  <a:lnTo>
                    <a:pt x="1913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54615" y="2250610"/>
            <a:ext cx="4540250" cy="4102735"/>
            <a:chOff x="1091183" y="2458211"/>
            <a:chExt cx="4540250" cy="4102735"/>
          </a:xfrm>
        </p:grpSpPr>
        <p:sp>
          <p:nvSpPr>
            <p:cNvPr id="13" name="object 13"/>
            <p:cNvSpPr/>
            <p:nvPr/>
          </p:nvSpPr>
          <p:spPr>
            <a:xfrm>
              <a:off x="1091184" y="2458249"/>
              <a:ext cx="4362450" cy="6350"/>
            </a:xfrm>
            <a:custGeom>
              <a:avLst/>
              <a:gdLst/>
              <a:ahLst/>
              <a:cxnLst/>
              <a:rect l="l" t="t" r="r" b="b"/>
              <a:pathLst>
                <a:path w="4362450" h="6350">
                  <a:moveTo>
                    <a:pt x="6337" y="3175"/>
                  </a:moveTo>
                  <a:lnTo>
                    <a:pt x="5410" y="927"/>
                  </a:lnTo>
                  <a:lnTo>
                    <a:pt x="3162" y="0"/>
                  </a:lnTo>
                  <a:lnTo>
                    <a:pt x="927" y="927"/>
                  </a:lnTo>
                  <a:lnTo>
                    <a:pt x="0" y="3175"/>
                  </a:lnTo>
                  <a:lnTo>
                    <a:pt x="927" y="5422"/>
                  </a:lnTo>
                  <a:lnTo>
                    <a:pt x="3162" y="6350"/>
                  </a:lnTo>
                  <a:lnTo>
                    <a:pt x="5410" y="5422"/>
                  </a:lnTo>
                  <a:lnTo>
                    <a:pt x="6337" y="3175"/>
                  </a:lnTo>
                  <a:close/>
                </a:path>
                <a:path w="4362450" h="6350">
                  <a:moveTo>
                    <a:pt x="184454" y="3175"/>
                  </a:moveTo>
                  <a:lnTo>
                    <a:pt x="183527" y="927"/>
                  </a:lnTo>
                  <a:lnTo>
                    <a:pt x="181279" y="0"/>
                  </a:lnTo>
                  <a:lnTo>
                    <a:pt x="179031" y="927"/>
                  </a:lnTo>
                  <a:lnTo>
                    <a:pt x="178104" y="3175"/>
                  </a:lnTo>
                  <a:lnTo>
                    <a:pt x="179031" y="5422"/>
                  </a:lnTo>
                  <a:lnTo>
                    <a:pt x="181279" y="6350"/>
                  </a:lnTo>
                  <a:lnTo>
                    <a:pt x="183527" y="5422"/>
                  </a:lnTo>
                  <a:lnTo>
                    <a:pt x="184454" y="3175"/>
                  </a:lnTo>
                  <a:close/>
                </a:path>
                <a:path w="4362450" h="6350">
                  <a:moveTo>
                    <a:pt x="1462328" y="3175"/>
                  </a:moveTo>
                  <a:lnTo>
                    <a:pt x="1461401" y="927"/>
                  </a:lnTo>
                  <a:lnTo>
                    <a:pt x="1459153" y="0"/>
                  </a:lnTo>
                  <a:lnTo>
                    <a:pt x="1456905" y="927"/>
                  </a:lnTo>
                  <a:lnTo>
                    <a:pt x="1455978" y="3175"/>
                  </a:lnTo>
                  <a:lnTo>
                    <a:pt x="1456905" y="5422"/>
                  </a:lnTo>
                  <a:lnTo>
                    <a:pt x="1459153" y="6350"/>
                  </a:lnTo>
                  <a:lnTo>
                    <a:pt x="1461401" y="5422"/>
                  </a:lnTo>
                  <a:lnTo>
                    <a:pt x="1462328" y="3175"/>
                  </a:lnTo>
                  <a:close/>
                </a:path>
                <a:path w="4362450" h="6350">
                  <a:moveTo>
                    <a:pt x="2454529" y="3175"/>
                  </a:moveTo>
                  <a:lnTo>
                    <a:pt x="2453602" y="927"/>
                  </a:lnTo>
                  <a:lnTo>
                    <a:pt x="2451354" y="0"/>
                  </a:lnTo>
                  <a:lnTo>
                    <a:pt x="2449106" y="927"/>
                  </a:lnTo>
                  <a:lnTo>
                    <a:pt x="2448179" y="3175"/>
                  </a:lnTo>
                  <a:lnTo>
                    <a:pt x="2449106" y="5422"/>
                  </a:lnTo>
                  <a:lnTo>
                    <a:pt x="2451354" y="6350"/>
                  </a:lnTo>
                  <a:lnTo>
                    <a:pt x="2453602" y="5422"/>
                  </a:lnTo>
                  <a:lnTo>
                    <a:pt x="2454529" y="3175"/>
                  </a:lnTo>
                  <a:close/>
                </a:path>
                <a:path w="4362450" h="6350">
                  <a:moveTo>
                    <a:pt x="3408248" y="3175"/>
                  </a:moveTo>
                  <a:lnTo>
                    <a:pt x="3407321" y="927"/>
                  </a:lnTo>
                  <a:lnTo>
                    <a:pt x="3405073" y="0"/>
                  </a:lnTo>
                  <a:lnTo>
                    <a:pt x="3402838" y="927"/>
                  </a:lnTo>
                  <a:lnTo>
                    <a:pt x="3401898" y="3175"/>
                  </a:lnTo>
                  <a:lnTo>
                    <a:pt x="3402838" y="5422"/>
                  </a:lnTo>
                  <a:lnTo>
                    <a:pt x="3405073" y="6350"/>
                  </a:lnTo>
                  <a:lnTo>
                    <a:pt x="3407321" y="5422"/>
                  </a:lnTo>
                  <a:lnTo>
                    <a:pt x="3408248" y="3175"/>
                  </a:lnTo>
                  <a:close/>
                </a:path>
                <a:path w="4362450" h="6350">
                  <a:moveTo>
                    <a:pt x="4361980" y="3175"/>
                  </a:moveTo>
                  <a:lnTo>
                    <a:pt x="4361040" y="927"/>
                  </a:lnTo>
                  <a:lnTo>
                    <a:pt x="4358805" y="0"/>
                  </a:lnTo>
                  <a:lnTo>
                    <a:pt x="4356557" y="927"/>
                  </a:lnTo>
                  <a:lnTo>
                    <a:pt x="4355630" y="3175"/>
                  </a:lnTo>
                  <a:lnTo>
                    <a:pt x="4356557" y="5422"/>
                  </a:lnTo>
                  <a:lnTo>
                    <a:pt x="4358805" y="6350"/>
                  </a:lnTo>
                  <a:lnTo>
                    <a:pt x="4361040" y="5422"/>
                  </a:lnTo>
                  <a:lnTo>
                    <a:pt x="4361980" y="317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97533" y="2458211"/>
              <a:ext cx="4533900" cy="6985"/>
            </a:xfrm>
            <a:custGeom>
              <a:avLst/>
              <a:gdLst/>
              <a:ahLst/>
              <a:cxnLst/>
              <a:rect l="l" t="t" r="r" b="b"/>
              <a:pathLst>
                <a:path w="4533900" h="6985">
                  <a:moveTo>
                    <a:pt x="4533662" y="0"/>
                  </a:moveTo>
                  <a:lnTo>
                    <a:pt x="0" y="0"/>
                  </a:lnTo>
                  <a:lnTo>
                    <a:pt x="0" y="6380"/>
                  </a:lnTo>
                  <a:lnTo>
                    <a:pt x="4533646" y="6380"/>
                  </a:lnTo>
                  <a:lnTo>
                    <a:pt x="45336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24861" y="2458242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0" y="3175"/>
                  </a:moveTo>
                  <a:lnTo>
                    <a:pt x="929" y="929"/>
                  </a:lnTo>
                  <a:lnTo>
                    <a:pt x="3174" y="0"/>
                  </a:lnTo>
                  <a:lnTo>
                    <a:pt x="5419" y="929"/>
                  </a:lnTo>
                  <a:lnTo>
                    <a:pt x="6349" y="3175"/>
                  </a:lnTo>
                  <a:lnTo>
                    <a:pt x="5419" y="5420"/>
                  </a:lnTo>
                  <a:lnTo>
                    <a:pt x="3174" y="6350"/>
                  </a:lnTo>
                  <a:lnTo>
                    <a:pt x="929" y="5420"/>
                  </a:lnTo>
                  <a:lnTo>
                    <a:pt x="0" y="3175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91171" y="2458224"/>
              <a:ext cx="4540250" cy="4102735"/>
            </a:xfrm>
            <a:custGeom>
              <a:avLst/>
              <a:gdLst/>
              <a:ahLst/>
              <a:cxnLst/>
              <a:rect l="l" t="t" r="r" b="b"/>
              <a:pathLst>
                <a:path w="4540250" h="4102734">
                  <a:moveTo>
                    <a:pt x="4540034" y="6388"/>
                  </a:moveTo>
                  <a:lnTo>
                    <a:pt x="4527334" y="6388"/>
                  </a:lnTo>
                  <a:lnTo>
                    <a:pt x="4527334" y="4089793"/>
                  </a:lnTo>
                  <a:lnTo>
                    <a:pt x="6350" y="4089793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102493"/>
                  </a:lnTo>
                  <a:lnTo>
                    <a:pt x="6350" y="4102493"/>
                  </a:lnTo>
                  <a:lnTo>
                    <a:pt x="4527334" y="4102493"/>
                  </a:lnTo>
                  <a:lnTo>
                    <a:pt x="4540034" y="4102493"/>
                  </a:lnTo>
                  <a:lnTo>
                    <a:pt x="4540034" y="4089793"/>
                  </a:lnTo>
                  <a:lnTo>
                    <a:pt x="4540034" y="6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2783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Make the Decision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5361" y="979877"/>
            <a:ext cx="60401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Alligator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decreases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$9,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25,000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6426" y="2254285"/>
            <a:ext cx="4608830" cy="138557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535940" marR="530225" indent="-1905" algn="ctr">
              <a:lnSpc>
                <a:spcPct val="100000"/>
              </a:lnSpc>
              <a:spcBef>
                <a:spcPts val="284"/>
              </a:spcBef>
            </a:pPr>
            <a:r>
              <a:rPr sz="2800" dirty="0">
                <a:latin typeface="Arial MT"/>
                <a:cs typeface="Arial MT"/>
              </a:rPr>
              <a:t>Operating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Income </a:t>
            </a:r>
            <a:r>
              <a:rPr sz="2800" dirty="0">
                <a:latin typeface="Arial MT"/>
                <a:cs typeface="Arial MT"/>
              </a:rPr>
              <a:t>Decreases.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Therefore, Don’t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Accept.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6426" y="3902898"/>
            <a:ext cx="4608830" cy="52451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521970">
              <a:lnSpc>
                <a:spcPct val="100000"/>
              </a:lnSpc>
              <a:spcBef>
                <a:spcPts val="285"/>
              </a:spcBef>
            </a:pPr>
            <a:r>
              <a:rPr sz="2800" dirty="0">
                <a:latin typeface="Arial MT"/>
                <a:cs typeface="Arial MT"/>
              </a:rPr>
              <a:t>Other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Considerations?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532560"/>
              </p:ext>
            </p:extLst>
          </p:nvPr>
        </p:nvGraphicFramePr>
        <p:xfrm>
          <a:off x="1115711" y="2333053"/>
          <a:ext cx="4020183" cy="3260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454">
                <a:tc gridSpan="3">
                  <a:txBody>
                    <a:bodyPr/>
                    <a:lstStyle/>
                    <a:p>
                      <a:pPr marR="57150" algn="r">
                        <a:lnSpc>
                          <a:spcPts val="1215"/>
                        </a:lnSpc>
                        <a:spcBef>
                          <a:spcPts val="350"/>
                        </a:spcBef>
                      </a:pPr>
                      <a:r>
                        <a:rPr sz="1050" b="1" u="sng" spc="41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Status-</a:t>
                      </a:r>
                      <a:r>
                        <a:rPr sz="105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Quo</a:t>
                      </a:r>
                      <a:r>
                        <a:rPr sz="105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215"/>
                        </a:lnSpc>
                        <a:spcBef>
                          <a:spcPts val="350"/>
                        </a:spcBef>
                        <a:tabLst>
                          <a:tab pos="825500" algn="l"/>
                        </a:tabLst>
                      </a:pPr>
                      <a:r>
                        <a:rPr sz="1050" b="1" u="sng" spc="3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 </a:t>
                      </a:r>
                      <a:r>
                        <a:rPr sz="105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Proposal</a:t>
                      </a:r>
                      <a:r>
                        <a:rPr sz="105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Sales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234"/>
                        </a:spcBef>
                        <a:tabLst>
                          <a:tab pos="31877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2,500,000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34"/>
                        </a:spcBef>
                        <a:tabLst>
                          <a:tab pos="290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2,475,000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984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Variable</a:t>
                      </a:r>
                      <a:r>
                        <a:rPr sz="10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Costs: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Plastic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0960" algn="ctr">
                        <a:lnSpc>
                          <a:spcPct val="100000"/>
                        </a:lnSpc>
                        <a:tabLst>
                          <a:tab pos="417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500,000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2384" algn="ctr">
                        <a:lnSpc>
                          <a:spcPct val="100000"/>
                        </a:lnSpc>
                        <a:tabLst>
                          <a:tab pos="38925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550,000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Labour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80"/>
                        </a:lnSpc>
                        <a:tabLst>
                          <a:tab pos="417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250,000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80"/>
                        </a:lnSpc>
                        <a:tabLst>
                          <a:tab pos="38925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275,000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Paint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80"/>
                        </a:lnSpc>
                        <a:tabLst>
                          <a:tab pos="417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125,000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80"/>
                        </a:lnSpc>
                        <a:tabLst>
                          <a:tab pos="38925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137,500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Packaging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80"/>
                        </a:lnSpc>
                        <a:tabLst>
                          <a:tab pos="417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125,000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80"/>
                        </a:lnSpc>
                        <a:tabLst>
                          <a:tab pos="38925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137,500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Contribution</a:t>
                      </a:r>
                      <a:r>
                        <a:rPr sz="105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Margin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31877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1,500,000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620"/>
                        </a:spcBef>
                        <a:tabLst>
                          <a:tab pos="290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1,375,000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874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105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Costs: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Building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0960" algn="ctr">
                        <a:lnSpc>
                          <a:spcPct val="100000"/>
                        </a:lnSpc>
                        <a:tabLst>
                          <a:tab pos="48577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35,000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2384" algn="ctr">
                        <a:lnSpc>
                          <a:spcPct val="100000"/>
                        </a:lnSpc>
                        <a:tabLst>
                          <a:tab pos="45656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35,000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Utilities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80"/>
                        </a:lnSpc>
                        <a:tabLst>
                          <a:tab pos="48577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40,000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80"/>
                        </a:lnSpc>
                        <a:tabLst>
                          <a:tab pos="45656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40,000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Advertising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80"/>
                        </a:lnSpc>
                        <a:tabLst>
                          <a:tab pos="48577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35,000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80"/>
                        </a:lnSpc>
                        <a:tabLst>
                          <a:tab pos="45656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35,000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Design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80"/>
                        </a:lnSpc>
                        <a:tabLst>
                          <a:tab pos="417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100,000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80"/>
                        </a:lnSpc>
                        <a:tabLst>
                          <a:tab pos="38925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100,000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Admin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80"/>
                        </a:lnSpc>
                        <a:tabLst>
                          <a:tab pos="417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200,000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80"/>
                        </a:lnSpc>
                        <a:tabLst>
                          <a:tab pos="38925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200,000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13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Management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135"/>
                        </a:lnSpc>
                        <a:tabLst>
                          <a:tab pos="417830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350,000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35"/>
                        </a:lnSpc>
                        <a:tabLst>
                          <a:tab pos="389255" algn="l"/>
                        </a:tabLst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$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350,000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15711" y="5776771"/>
            <a:ext cx="1032510" cy="187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latin typeface="Calibri"/>
                <a:cs typeface="Calibri"/>
              </a:rPr>
              <a:t>Operating</a:t>
            </a:r>
            <a:r>
              <a:rPr sz="1050" spc="8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Income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7020" y="5751616"/>
            <a:ext cx="1865630" cy="187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30530" algn="l"/>
                <a:tab pos="996950" algn="l"/>
                <a:tab pos="1353820" algn="l"/>
              </a:tabLst>
            </a:pPr>
            <a:r>
              <a:rPr sz="1050" u="dbl" spc="2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dbl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$</a:t>
            </a:r>
            <a:r>
              <a:rPr sz="105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050" u="dbl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740,000</a:t>
            </a:r>
            <a:r>
              <a:rPr sz="105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050" u="dbl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$</a:t>
            </a:r>
            <a:r>
              <a:rPr sz="1050" u="dbl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050" u="dbl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615,000</a:t>
            </a:r>
            <a:r>
              <a:rPr sz="1050" u="dbl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59051" y="5682099"/>
            <a:ext cx="1852295" cy="6350"/>
            <a:chOff x="3352271" y="6086271"/>
            <a:chExt cx="1852295" cy="6350"/>
          </a:xfrm>
        </p:grpSpPr>
        <p:sp>
          <p:nvSpPr>
            <p:cNvPr id="10" name="object 10"/>
            <p:cNvSpPr/>
            <p:nvPr/>
          </p:nvSpPr>
          <p:spPr>
            <a:xfrm>
              <a:off x="3355344" y="6089342"/>
              <a:ext cx="1846580" cy="0"/>
            </a:xfrm>
            <a:custGeom>
              <a:avLst/>
              <a:gdLst/>
              <a:ahLst/>
              <a:cxnLst/>
              <a:rect l="l" t="t" r="r" b="b"/>
              <a:pathLst>
                <a:path w="1846579">
                  <a:moveTo>
                    <a:pt x="0" y="0"/>
                  </a:moveTo>
                  <a:lnTo>
                    <a:pt x="1845977" y="0"/>
                  </a:lnTo>
                </a:path>
              </a:pathLst>
            </a:custGeom>
            <a:ln w="6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52271" y="6086271"/>
              <a:ext cx="1852295" cy="6350"/>
            </a:xfrm>
            <a:custGeom>
              <a:avLst/>
              <a:gdLst/>
              <a:ahLst/>
              <a:cxnLst/>
              <a:rect l="l" t="t" r="r" b="b"/>
              <a:pathLst>
                <a:path w="1852295" h="6350">
                  <a:moveTo>
                    <a:pt x="1852123" y="0"/>
                  </a:moveTo>
                  <a:lnTo>
                    <a:pt x="0" y="0"/>
                  </a:lnTo>
                  <a:lnTo>
                    <a:pt x="0" y="6142"/>
                  </a:lnTo>
                  <a:lnTo>
                    <a:pt x="1852123" y="6142"/>
                  </a:lnTo>
                  <a:lnTo>
                    <a:pt x="1852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61170" y="2180766"/>
            <a:ext cx="4394200" cy="3968750"/>
            <a:chOff x="982980" y="2499360"/>
            <a:chExt cx="4394200" cy="3968750"/>
          </a:xfrm>
        </p:grpSpPr>
        <p:sp>
          <p:nvSpPr>
            <p:cNvPr id="13" name="object 13"/>
            <p:cNvSpPr/>
            <p:nvPr/>
          </p:nvSpPr>
          <p:spPr>
            <a:xfrm>
              <a:off x="982980" y="2499423"/>
              <a:ext cx="4221480" cy="6350"/>
            </a:xfrm>
            <a:custGeom>
              <a:avLst/>
              <a:gdLst/>
              <a:ahLst/>
              <a:cxnLst/>
              <a:rect l="l" t="t" r="r" b="b"/>
              <a:pathLst>
                <a:path w="4221480" h="6350">
                  <a:moveTo>
                    <a:pt x="6134" y="3073"/>
                  </a:moveTo>
                  <a:lnTo>
                    <a:pt x="5245" y="901"/>
                  </a:lnTo>
                  <a:lnTo>
                    <a:pt x="3060" y="0"/>
                  </a:lnTo>
                  <a:lnTo>
                    <a:pt x="889" y="901"/>
                  </a:lnTo>
                  <a:lnTo>
                    <a:pt x="0" y="3073"/>
                  </a:lnTo>
                  <a:lnTo>
                    <a:pt x="889" y="5245"/>
                  </a:lnTo>
                  <a:lnTo>
                    <a:pt x="3060" y="6146"/>
                  </a:lnTo>
                  <a:lnTo>
                    <a:pt x="5245" y="5245"/>
                  </a:lnTo>
                  <a:lnTo>
                    <a:pt x="6134" y="3073"/>
                  </a:lnTo>
                  <a:close/>
                </a:path>
                <a:path w="4221480" h="6350">
                  <a:moveTo>
                    <a:pt x="178511" y="3073"/>
                  </a:moveTo>
                  <a:lnTo>
                    <a:pt x="177609" y="901"/>
                  </a:lnTo>
                  <a:lnTo>
                    <a:pt x="175437" y="0"/>
                  </a:lnTo>
                  <a:lnTo>
                    <a:pt x="173266" y="901"/>
                  </a:lnTo>
                  <a:lnTo>
                    <a:pt x="172364" y="3073"/>
                  </a:lnTo>
                  <a:lnTo>
                    <a:pt x="173266" y="5245"/>
                  </a:lnTo>
                  <a:lnTo>
                    <a:pt x="175437" y="6146"/>
                  </a:lnTo>
                  <a:lnTo>
                    <a:pt x="177609" y="5245"/>
                  </a:lnTo>
                  <a:lnTo>
                    <a:pt x="178511" y="3073"/>
                  </a:lnTo>
                  <a:close/>
                </a:path>
                <a:path w="4221480" h="6350">
                  <a:moveTo>
                    <a:pt x="1415199" y="3073"/>
                  </a:moveTo>
                  <a:lnTo>
                    <a:pt x="1414297" y="901"/>
                  </a:lnTo>
                  <a:lnTo>
                    <a:pt x="1412125" y="0"/>
                  </a:lnTo>
                  <a:lnTo>
                    <a:pt x="1409954" y="901"/>
                  </a:lnTo>
                  <a:lnTo>
                    <a:pt x="1409052" y="3073"/>
                  </a:lnTo>
                  <a:lnTo>
                    <a:pt x="1409954" y="5245"/>
                  </a:lnTo>
                  <a:lnTo>
                    <a:pt x="1412125" y="6146"/>
                  </a:lnTo>
                  <a:lnTo>
                    <a:pt x="1414297" y="5245"/>
                  </a:lnTo>
                  <a:lnTo>
                    <a:pt x="1415199" y="3073"/>
                  </a:lnTo>
                  <a:close/>
                </a:path>
                <a:path w="4221480" h="6350">
                  <a:moveTo>
                    <a:pt x="2375433" y="3073"/>
                  </a:moveTo>
                  <a:lnTo>
                    <a:pt x="2374531" y="901"/>
                  </a:lnTo>
                  <a:lnTo>
                    <a:pt x="2372360" y="0"/>
                  </a:lnTo>
                  <a:lnTo>
                    <a:pt x="2370188" y="901"/>
                  </a:lnTo>
                  <a:lnTo>
                    <a:pt x="2369286" y="3073"/>
                  </a:lnTo>
                  <a:lnTo>
                    <a:pt x="2370188" y="5245"/>
                  </a:lnTo>
                  <a:lnTo>
                    <a:pt x="2372360" y="6146"/>
                  </a:lnTo>
                  <a:lnTo>
                    <a:pt x="2374531" y="5245"/>
                  </a:lnTo>
                  <a:lnTo>
                    <a:pt x="2375433" y="3073"/>
                  </a:lnTo>
                  <a:close/>
                </a:path>
                <a:path w="4221480" h="6350">
                  <a:moveTo>
                    <a:pt x="3298418" y="3073"/>
                  </a:moveTo>
                  <a:lnTo>
                    <a:pt x="3297517" y="901"/>
                  </a:lnTo>
                  <a:lnTo>
                    <a:pt x="3295345" y="0"/>
                  </a:lnTo>
                  <a:lnTo>
                    <a:pt x="3293173" y="901"/>
                  </a:lnTo>
                  <a:lnTo>
                    <a:pt x="3292271" y="3073"/>
                  </a:lnTo>
                  <a:lnTo>
                    <a:pt x="3293173" y="5245"/>
                  </a:lnTo>
                  <a:lnTo>
                    <a:pt x="3295345" y="6146"/>
                  </a:lnTo>
                  <a:lnTo>
                    <a:pt x="3297517" y="5245"/>
                  </a:lnTo>
                  <a:lnTo>
                    <a:pt x="3298418" y="3073"/>
                  </a:lnTo>
                  <a:close/>
                </a:path>
                <a:path w="4221480" h="6350">
                  <a:moveTo>
                    <a:pt x="4221404" y="3073"/>
                  </a:moveTo>
                  <a:lnTo>
                    <a:pt x="4220515" y="901"/>
                  </a:lnTo>
                  <a:lnTo>
                    <a:pt x="4218330" y="0"/>
                  </a:lnTo>
                  <a:lnTo>
                    <a:pt x="4216158" y="901"/>
                  </a:lnTo>
                  <a:lnTo>
                    <a:pt x="4215269" y="3073"/>
                  </a:lnTo>
                  <a:lnTo>
                    <a:pt x="4216158" y="5245"/>
                  </a:lnTo>
                  <a:lnTo>
                    <a:pt x="4218330" y="6146"/>
                  </a:lnTo>
                  <a:lnTo>
                    <a:pt x="4220515" y="5245"/>
                  </a:lnTo>
                  <a:lnTo>
                    <a:pt x="4221404" y="3073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9125" y="2499360"/>
              <a:ext cx="4387850" cy="6350"/>
            </a:xfrm>
            <a:custGeom>
              <a:avLst/>
              <a:gdLst/>
              <a:ahLst/>
              <a:cxnLst/>
              <a:rect l="l" t="t" r="r" b="b"/>
              <a:pathLst>
                <a:path w="4387850" h="6350">
                  <a:moveTo>
                    <a:pt x="4387562" y="0"/>
                  </a:moveTo>
                  <a:lnTo>
                    <a:pt x="0" y="0"/>
                  </a:lnTo>
                  <a:lnTo>
                    <a:pt x="0" y="6201"/>
                  </a:lnTo>
                  <a:lnTo>
                    <a:pt x="4387546" y="6201"/>
                  </a:lnTo>
                  <a:lnTo>
                    <a:pt x="43875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70557" y="2499418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0" y="3071"/>
                  </a:moveTo>
                  <a:lnTo>
                    <a:pt x="900" y="899"/>
                  </a:lnTo>
                  <a:lnTo>
                    <a:pt x="3072" y="0"/>
                  </a:lnTo>
                  <a:lnTo>
                    <a:pt x="5245" y="899"/>
                  </a:lnTo>
                  <a:lnTo>
                    <a:pt x="6145" y="3071"/>
                  </a:lnTo>
                  <a:lnTo>
                    <a:pt x="5245" y="5243"/>
                  </a:lnTo>
                  <a:lnTo>
                    <a:pt x="3072" y="6142"/>
                  </a:lnTo>
                  <a:lnTo>
                    <a:pt x="900" y="5243"/>
                  </a:lnTo>
                  <a:lnTo>
                    <a:pt x="0" y="307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2967" y="2499372"/>
              <a:ext cx="4394200" cy="3968750"/>
            </a:xfrm>
            <a:custGeom>
              <a:avLst/>
              <a:gdLst/>
              <a:ahLst/>
              <a:cxnLst/>
              <a:rect l="l" t="t" r="r" b="b"/>
              <a:pathLst>
                <a:path w="4394200" h="3968750">
                  <a:moveTo>
                    <a:pt x="4393730" y="6210"/>
                  </a:moveTo>
                  <a:lnTo>
                    <a:pt x="4381436" y="6210"/>
                  </a:lnTo>
                  <a:lnTo>
                    <a:pt x="4381436" y="3956100"/>
                  </a:lnTo>
                  <a:lnTo>
                    <a:pt x="6146" y="3956100"/>
                  </a:lnTo>
                  <a:lnTo>
                    <a:pt x="6146" y="0"/>
                  </a:lnTo>
                  <a:lnTo>
                    <a:pt x="0" y="0"/>
                  </a:lnTo>
                  <a:lnTo>
                    <a:pt x="0" y="3968381"/>
                  </a:lnTo>
                  <a:lnTo>
                    <a:pt x="6146" y="3968381"/>
                  </a:lnTo>
                  <a:lnTo>
                    <a:pt x="4381436" y="3968381"/>
                  </a:lnTo>
                  <a:lnTo>
                    <a:pt x="4393730" y="3968381"/>
                  </a:lnTo>
                  <a:lnTo>
                    <a:pt x="4393730" y="3956100"/>
                  </a:lnTo>
                  <a:lnTo>
                    <a:pt x="4393730" y="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33774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Sensitivity Analysis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12014" y="818204"/>
            <a:ext cx="11073765" cy="215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7940" indent="-457834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estimated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impact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quantity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made.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quantity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X?</a:t>
            </a:r>
            <a:endParaRPr sz="2400" dirty="0">
              <a:latin typeface="Arial MT"/>
              <a:cs typeface="Arial MT"/>
            </a:endParaRPr>
          </a:p>
          <a:p>
            <a:pPr marL="469900" marR="5080" indent="-457834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69900" algn="l"/>
                <a:tab pos="5248910" algn="l"/>
              </a:tabLst>
            </a:pPr>
            <a:r>
              <a:rPr sz="2400" spc="-10" dirty="0">
                <a:latin typeface="Arial MT"/>
                <a:cs typeface="Arial MT"/>
              </a:rPr>
              <a:t>Sensitivity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«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»</a:t>
            </a:r>
            <a:r>
              <a:rPr sz="2400" dirty="0">
                <a:latin typeface="Arial MT"/>
                <a:cs typeface="Arial MT"/>
              </a:rPr>
              <a:t>	technique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examines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would </a:t>
            </a:r>
            <a:r>
              <a:rPr sz="2400" dirty="0">
                <a:latin typeface="Arial MT"/>
                <a:cs typeface="Arial MT"/>
              </a:rPr>
              <a:t>change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achieved.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796" y="3311061"/>
            <a:ext cx="10490200" cy="83058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this?</a:t>
            </a:r>
            <a:endParaRPr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Break-</a:t>
            </a:r>
            <a:r>
              <a:rPr sz="2400" dirty="0">
                <a:latin typeface="Arial MT"/>
                <a:cs typeface="Arial MT"/>
              </a:rPr>
              <a:t>Even?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Adv.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Example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320638"/>
              </p:ext>
            </p:extLst>
          </p:nvPr>
        </p:nvGraphicFramePr>
        <p:xfrm>
          <a:off x="900965" y="4466879"/>
          <a:ext cx="10584814" cy="1645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15,000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FC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÷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05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$6/unit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5280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CM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2,500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5819" marR="131445" indent="-7042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Break-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Even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2400" b="1" spc="-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Units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15,000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FC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÷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25" dirty="0">
                          <a:latin typeface="Arial"/>
                          <a:cs typeface="Arial"/>
                        </a:rPr>
                        <a:t>60%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Ratio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5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$25,000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9930" marR="131445" indent="-56896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b="1" spc="-25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Break-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Even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sz="2400" b="1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2400" b="1" spc="-2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Dollars</a:t>
                      </a:r>
                      <a:endParaRPr sz="2400" dirty="0">
                        <a:solidFill>
                          <a:srgbClr val="0070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17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Indifference 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132" y="6550253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88888"/>
                </a:solidFill>
                <a:latin typeface="Arial MT"/>
                <a:cs typeface="Arial MT"/>
              </a:rPr>
              <a:t>32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967" y="770048"/>
            <a:ext cx="10272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indifferent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alternatives?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006" y="1452624"/>
            <a:ext cx="11440795" cy="156972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67005" marR="164465" algn="ctr">
              <a:lnSpc>
                <a:spcPct val="100000"/>
              </a:lnSpc>
              <a:spcBef>
                <a:spcPts val="300"/>
              </a:spcBef>
              <a:tabLst>
                <a:tab pos="1980564" algn="l"/>
              </a:tabLst>
            </a:pPr>
            <a:r>
              <a:rPr sz="2400" dirty="0">
                <a:latin typeface="Arial MT"/>
                <a:cs typeface="Arial MT"/>
              </a:rPr>
              <a:t>Alligator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labour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intensive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their competitors.</a:t>
            </a:r>
            <a:r>
              <a:rPr sz="2400" dirty="0">
                <a:latin typeface="Arial MT"/>
                <a:cs typeface="Arial MT"/>
              </a:rPr>
              <a:t>	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expanding,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switching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more </a:t>
            </a:r>
            <a:r>
              <a:rPr sz="2400" dirty="0">
                <a:latin typeface="Arial MT"/>
                <a:cs typeface="Arial MT"/>
              </a:rPr>
              <a:t>automated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process.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Labour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decrease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$.5/unit.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However,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automated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$100,000/year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56197"/>
              </p:ext>
            </p:extLst>
          </p:nvPr>
        </p:nvGraphicFramePr>
        <p:xfrm>
          <a:off x="335360" y="3415850"/>
          <a:ext cx="6096000" cy="1278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r>
                        <a:rPr sz="2200" b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Quo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Automation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 MT"/>
                          <a:cs typeface="Arial MT"/>
                        </a:rPr>
                        <a:t>CM/unit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 MT"/>
                          <a:cs typeface="Arial MT"/>
                        </a:rPr>
                        <a:t>$6/unit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 MT"/>
                          <a:cs typeface="Arial MT"/>
                        </a:rPr>
                        <a:t>$6.50/unit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10" dirty="0">
                          <a:latin typeface="Arial MT"/>
                          <a:cs typeface="Arial MT"/>
                        </a:rPr>
                        <a:t>Costs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Arial MT"/>
                          <a:cs typeface="Arial MT"/>
                        </a:rPr>
                        <a:t>760,000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Arial MT"/>
                          <a:cs typeface="Arial MT"/>
                        </a:rPr>
                        <a:t>860,000</a:t>
                      </a:r>
                      <a:endParaRPr sz="22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003380" y="4928806"/>
            <a:ext cx="4759960" cy="1314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$6Q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760,000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=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$6.50Q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–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860,000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100,000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=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.5Q</a:t>
            </a:r>
            <a:endParaRPr lang="en-CA" sz="2400" spc="-25" dirty="0">
              <a:solidFill>
                <a:srgbClr val="252525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CA" sz="2400" spc="-25" dirty="0">
                <a:solidFill>
                  <a:srgbClr val="252525"/>
                </a:solidFill>
                <a:latin typeface="Arial MT"/>
                <a:cs typeface="Arial MT"/>
              </a:rPr>
              <a:t>Q = 200,000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0136" y="3780513"/>
            <a:ext cx="3961129" cy="156972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If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Q&gt;</a:t>
            </a:r>
            <a:r>
              <a:rPr sz="24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200,000:</a:t>
            </a:r>
            <a:r>
              <a:rPr sz="2400" spc="-1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Automate</a:t>
            </a:r>
            <a:endParaRPr sz="2400">
              <a:latin typeface="Arial MT"/>
              <a:cs typeface="Arial MT"/>
            </a:endParaRPr>
          </a:p>
          <a:p>
            <a:pPr marL="379730" marR="200025" indent="-173990">
              <a:lnSpc>
                <a:spcPct val="119600"/>
              </a:lnSpc>
              <a:spcBef>
                <a:spcPts val="10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If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Q&lt;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200,000: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Status</a:t>
            </a:r>
            <a:r>
              <a:rPr sz="24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Quo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If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Q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200,000 </a:t>
            </a:r>
            <a:r>
              <a:rPr sz="2400" dirty="0">
                <a:solidFill>
                  <a:srgbClr val="252525"/>
                </a:solidFill>
                <a:latin typeface="Wingdings"/>
                <a:cs typeface="Wingdings"/>
              </a:rPr>
              <a:t></a:t>
            </a:r>
            <a:r>
              <a:rPr sz="24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Either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154156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335360" y="2747963"/>
            <a:ext cx="10363200" cy="1362075"/>
          </a:xfrm>
        </p:spPr>
        <p:txBody>
          <a:bodyPr anchor="b"/>
          <a:lstStyle/>
          <a:p>
            <a:r>
              <a:rPr lang="en-CA" dirty="0"/>
              <a:t>Product Costing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0189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E5D1332-D765-EA83-ECAE-69A1B01C6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Costing Methods 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997" y="949166"/>
            <a:ext cx="771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Costing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assign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manufactured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product.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48" y="5911625"/>
            <a:ext cx="1315720" cy="462280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3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1211" y="5911625"/>
            <a:ext cx="1315720" cy="462280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99452" y="5911625"/>
            <a:ext cx="1315720" cy="462280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5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013" y="1816858"/>
            <a:ext cx="2665730" cy="4708490"/>
          </a:xfrm>
          <a:custGeom>
            <a:avLst/>
            <a:gdLst/>
            <a:ahLst/>
            <a:cxnLst/>
            <a:rect l="l" t="t" r="r" b="b"/>
            <a:pathLst>
              <a:path w="2665729" h="4434840">
                <a:moveTo>
                  <a:pt x="0" y="4434840"/>
                </a:moveTo>
                <a:lnTo>
                  <a:pt x="2665476" y="4434840"/>
                </a:lnTo>
                <a:lnTo>
                  <a:pt x="2665476" y="0"/>
                </a:lnTo>
                <a:lnTo>
                  <a:pt x="0" y="0"/>
                </a:lnTo>
                <a:lnTo>
                  <a:pt x="0" y="4434840"/>
                </a:lnTo>
                <a:close/>
              </a:path>
            </a:pathLst>
          </a:custGeom>
          <a:ln w="50800">
            <a:solidFill>
              <a:schemeClr val="accent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B53458-2511-C0B9-02A7-1BD6A2F89C08}"/>
              </a:ext>
            </a:extLst>
          </p:cNvPr>
          <p:cNvSpPr/>
          <p:nvPr/>
        </p:nvSpPr>
        <p:spPr>
          <a:xfrm>
            <a:off x="4223792" y="652453"/>
            <a:ext cx="3384376" cy="537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Costing Methods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BF1961-A4B2-96F7-28A6-03ADCB75807D}"/>
              </a:ext>
            </a:extLst>
          </p:cNvPr>
          <p:cNvSpPr/>
          <p:nvPr/>
        </p:nvSpPr>
        <p:spPr>
          <a:xfrm>
            <a:off x="3736790" y="1989031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Absorption Costing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F1E467-B7B8-C78D-912D-3E8AC78281EF}"/>
              </a:ext>
            </a:extLst>
          </p:cNvPr>
          <p:cNvSpPr/>
          <p:nvPr/>
        </p:nvSpPr>
        <p:spPr>
          <a:xfrm>
            <a:off x="567279" y="1967486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Absorption Costing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Job-Order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1E6AB2-1F7C-E2CA-ABD0-5CA0F4004660}"/>
              </a:ext>
            </a:extLst>
          </p:cNvPr>
          <p:cNvSpPr/>
          <p:nvPr/>
        </p:nvSpPr>
        <p:spPr>
          <a:xfrm>
            <a:off x="6698758" y="1989031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Based Costing (ABC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D3E553-0E33-FDBD-BAEA-9BF2FB796996}"/>
              </a:ext>
            </a:extLst>
          </p:cNvPr>
          <p:cNvSpPr/>
          <p:nvPr/>
        </p:nvSpPr>
        <p:spPr>
          <a:xfrm>
            <a:off x="9552384" y="1967486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Costing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FC5F4-E38D-BB28-F5DF-520C93CC12C8}"/>
              </a:ext>
            </a:extLst>
          </p:cNvPr>
          <p:cNvSpPr txBox="1"/>
          <p:nvPr/>
        </p:nvSpPr>
        <p:spPr>
          <a:xfrm>
            <a:off x="626061" y="4208544"/>
            <a:ext cx="23298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Classify costs between </a:t>
            </a:r>
            <a:r>
              <a:rPr lang="en-CA" sz="1400" dirty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and period </a:t>
            </a: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OH rate used to allocate indirect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Accepted under ASPE and IFRS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F13B0B-DDCB-64D4-7A90-AEA769B2A627}"/>
              </a:ext>
            </a:extLst>
          </p:cNvPr>
          <p:cNvSpPr/>
          <p:nvPr/>
        </p:nvSpPr>
        <p:spPr>
          <a:xfrm rot="2844813">
            <a:off x="1359377" y="3281840"/>
            <a:ext cx="752966" cy="765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C7BD56-D26E-3595-E865-A5B7F5500531}"/>
              </a:ext>
            </a:extLst>
          </p:cNvPr>
          <p:cNvSpPr txBox="1"/>
          <p:nvPr/>
        </p:nvSpPr>
        <p:spPr>
          <a:xfrm>
            <a:off x="1370215" y="3402758"/>
            <a:ext cx="731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Gross </a:t>
            </a:r>
          </a:p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5C4E6F-21DA-4B0C-898C-4D2A2522CAEB}"/>
              </a:ext>
            </a:extLst>
          </p:cNvPr>
          <p:cNvSpPr/>
          <p:nvPr/>
        </p:nvSpPr>
        <p:spPr>
          <a:xfrm rot="2844813">
            <a:off x="4507724" y="3333307"/>
            <a:ext cx="752966" cy="765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8C89A1-6574-270B-E811-8F3D46EA5744}"/>
              </a:ext>
            </a:extLst>
          </p:cNvPr>
          <p:cNvSpPr txBox="1"/>
          <p:nvPr/>
        </p:nvSpPr>
        <p:spPr>
          <a:xfrm>
            <a:off x="4518562" y="3454225"/>
            <a:ext cx="731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Gross </a:t>
            </a:r>
          </a:p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9023EE-1DAE-0FAD-DDFB-08BC1D99A160}"/>
              </a:ext>
            </a:extLst>
          </p:cNvPr>
          <p:cNvSpPr txBox="1"/>
          <p:nvPr/>
        </p:nvSpPr>
        <p:spPr>
          <a:xfrm>
            <a:off x="7166654" y="3560005"/>
            <a:ext cx="1149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</a:p>
          <a:p>
            <a:pPr algn="ctr"/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A1B96D-83D5-9069-2F58-B72EEB9EDC42}"/>
              </a:ext>
            </a:extLst>
          </p:cNvPr>
          <p:cNvSpPr/>
          <p:nvPr/>
        </p:nvSpPr>
        <p:spPr>
          <a:xfrm rot="2844813">
            <a:off x="7350749" y="3395122"/>
            <a:ext cx="839027" cy="8140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C623CB-B50E-38B9-6C5E-79B1C25E4649}"/>
              </a:ext>
            </a:extLst>
          </p:cNvPr>
          <p:cNvSpPr txBox="1"/>
          <p:nvPr/>
        </p:nvSpPr>
        <p:spPr>
          <a:xfrm>
            <a:off x="3863752" y="4257857"/>
            <a:ext cx="23298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Unit costs are computed by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Products in a process costing environment in sequence from one department to another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EC3731-EC61-DDD5-3AB2-83A3E41C82E0}"/>
              </a:ext>
            </a:extLst>
          </p:cNvPr>
          <p:cNvSpPr txBox="1"/>
          <p:nvPr/>
        </p:nvSpPr>
        <p:spPr>
          <a:xfrm>
            <a:off x="6692369" y="4410113"/>
            <a:ext cx="2211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Classify costs between </a:t>
            </a:r>
            <a:r>
              <a:rPr lang="en-CA" sz="1400" b="1" dirty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and fixed costs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C908F9-5B83-CE95-09CF-2EFAE62EBC43}"/>
              </a:ext>
            </a:extLst>
          </p:cNvPr>
          <p:cNvSpPr txBox="1"/>
          <p:nvPr/>
        </p:nvSpPr>
        <p:spPr>
          <a:xfrm>
            <a:off x="9428509" y="3457638"/>
            <a:ext cx="23298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Classify costs based on judgment and decision at hand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There are no specific rules to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Uses multiple cost pools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Find the best driver (allocation base) for each cost pool</a:t>
            </a: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8DB56C23-FA81-E727-1F9A-E96F3BA16862}"/>
              </a:ext>
            </a:extLst>
          </p:cNvPr>
          <p:cNvSpPr txBox="1"/>
          <p:nvPr/>
        </p:nvSpPr>
        <p:spPr>
          <a:xfrm>
            <a:off x="9888040" y="5916541"/>
            <a:ext cx="1315720" cy="407804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lang="en-CA" sz="2400" spc="-50" dirty="0">
                <a:latin typeface="Arial MT"/>
                <a:cs typeface="Arial MT"/>
              </a:rPr>
              <a:t>6</a:t>
            </a:r>
            <a:endParaRPr sz="2400" dirty="0">
              <a:latin typeface="Arial MT"/>
              <a:cs typeface="Arial M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761414B-D688-CECF-6A3B-48761EBF0CB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746884" y="2759574"/>
            <a:ext cx="0" cy="3606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764DB3-B5A2-6BFB-8A62-0CA705BCE1D7}"/>
              </a:ext>
            </a:extLst>
          </p:cNvPr>
          <p:cNvCxnSpPr>
            <a:cxnSpLocks/>
          </p:cNvCxnSpPr>
          <p:nvPr/>
        </p:nvCxnSpPr>
        <p:spPr>
          <a:xfrm>
            <a:off x="4886111" y="2819171"/>
            <a:ext cx="0" cy="3606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20FD190-CC1A-C90A-1EBA-52586DA69BAB}"/>
              </a:ext>
            </a:extLst>
          </p:cNvPr>
          <p:cNvCxnSpPr>
            <a:cxnSpLocks/>
          </p:cNvCxnSpPr>
          <p:nvPr/>
        </p:nvCxnSpPr>
        <p:spPr>
          <a:xfrm>
            <a:off x="7763040" y="2819171"/>
            <a:ext cx="0" cy="3606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9AF5C1B-5795-87A7-3631-CFCDAF6137AC}"/>
              </a:ext>
            </a:extLst>
          </p:cNvPr>
          <p:cNvCxnSpPr>
            <a:cxnSpLocks/>
          </p:cNvCxnSpPr>
          <p:nvPr/>
        </p:nvCxnSpPr>
        <p:spPr>
          <a:xfrm>
            <a:off x="1779268" y="1412776"/>
            <a:ext cx="0" cy="5547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3FC2B89-FD7A-028F-E5E2-CE52179C5B6F}"/>
              </a:ext>
            </a:extLst>
          </p:cNvPr>
          <p:cNvCxnSpPr>
            <a:cxnSpLocks/>
          </p:cNvCxnSpPr>
          <p:nvPr/>
        </p:nvCxnSpPr>
        <p:spPr>
          <a:xfrm>
            <a:off x="4884207" y="1412776"/>
            <a:ext cx="0" cy="5547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87BF4BA-D55B-0069-B78D-5BDA45A09BD9}"/>
              </a:ext>
            </a:extLst>
          </p:cNvPr>
          <p:cNvCxnSpPr>
            <a:cxnSpLocks/>
          </p:cNvCxnSpPr>
          <p:nvPr/>
        </p:nvCxnSpPr>
        <p:spPr>
          <a:xfrm>
            <a:off x="7763040" y="1427961"/>
            <a:ext cx="7222" cy="5066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202AD3-4029-6F68-DC0A-569BBE457563}"/>
              </a:ext>
            </a:extLst>
          </p:cNvPr>
          <p:cNvCxnSpPr>
            <a:cxnSpLocks/>
          </p:cNvCxnSpPr>
          <p:nvPr/>
        </p:nvCxnSpPr>
        <p:spPr>
          <a:xfrm>
            <a:off x="10545900" y="1412776"/>
            <a:ext cx="0" cy="4846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71DA18-71DD-2D0D-7285-873AE9313EB0}"/>
              </a:ext>
            </a:extLst>
          </p:cNvPr>
          <p:cNvCxnSpPr/>
          <p:nvPr/>
        </p:nvCxnSpPr>
        <p:spPr>
          <a:xfrm>
            <a:off x="1779268" y="1412776"/>
            <a:ext cx="87666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Types of Product Costing Systems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0ADA772F-DDDD-41C4-9A11-5C76BE04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2102053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Job-Order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5)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8D065DA7-9613-455B-AC61-A206C4261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792" y="2103640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6)</a:t>
            </a:r>
          </a:p>
        </p:txBody>
      </p:sp>
      <p:sp>
        <p:nvSpPr>
          <p:cNvPr id="19465" name="Line 15">
            <a:extLst>
              <a:ext uri="{FF2B5EF4-FFF2-40B4-BE49-F238E27FC236}">
                <a16:creationId xmlns:a16="http://schemas.microsoft.com/office/drawing/2014/main" id="{CA540903-D92E-469D-9547-E1340EB9A4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261" y="3566629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-128"/>
            </a:endParaRPr>
          </a:p>
        </p:txBody>
      </p:sp>
      <p:sp>
        <p:nvSpPr>
          <p:cNvPr id="27655" name="Slide Number Placeholder 72">
            <a:extLst>
              <a:ext uri="{FF2B5EF4-FFF2-40B4-BE49-F238E27FC236}">
                <a16:creationId xmlns:a16="http://schemas.microsoft.com/office/drawing/2014/main" id="{759250EA-FFA6-4F8D-A8D2-FC19195712C9}"/>
              </a:ext>
            </a:extLst>
          </p:cNvPr>
          <p:cNvSpPr txBox="1">
            <a:spLocks/>
          </p:cNvSpPr>
          <p:nvPr/>
        </p:nvSpPr>
        <p:spPr bwMode="auto">
          <a:xfrm>
            <a:off x="10204450" y="6477000"/>
            <a:ext cx="463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>
                <a:latin typeface="+mn-lt"/>
              </a:rPr>
              <a:t>5-</a:t>
            </a:r>
            <a:fld id="{263B17E3-5E9D-414D-AD1B-A27DFDC46A9A}" type="slidenum">
              <a:rPr lang="en-US" altLang="en-US" sz="1200">
                <a:latin typeface="+mn-lt"/>
              </a:rPr>
              <a:pPr eaLnBrk="1" hangingPunct="1"/>
              <a:t>38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1384" y="4397085"/>
            <a:ext cx="8356922" cy="208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different products are produced each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 are manufactured to order.</a:t>
            </a:r>
            <a:r>
              <a:rPr lang="en-CA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unique nature of each order requires tracing or allocating costs to each job and maintaining cost records for each job.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en-US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13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6160" y="804189"/>
            <a:ext cx="4320480" cy="3372040"/>
          </a:xfrm>
          <a:prstGeom prst="rect">
            <a:avLst/>
          </a:prstGeom>
        </p:spPr>
      </p:pic>
      <p:sp>
        <p:nvSpPr>
          <p:cNvPr id="14" name="object 8"/>
          <p:cNvSpPr txBox="1"/>
          <p:nvPr/>
        </p:nvSpPr>
        <p:spPr>
          <a:xfrm>
            <a:off x="1870482" y="678608"/>
            <a:ext cx="38392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ABSORPTION COSTING:</a:t>
            </a:r>
            <a:endParaRPr sz="2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includes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ALL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manufacturing</a:t>
            </a:r>
          </a:p>
          <a:p>
            <a:pPr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costs</a:t>
            </a:r>
          </a:p>
        </p:txBody>
      </p:sp>
    </p:spTree>
    <p:extLst>
      <p:ext uri="{BB962C8B-B14F-4D97-AF65-F5344CB8AC3E}">
        <p14:creationId xmlns:p14="http://schemas.microsoft.com/office/powerpoint/2010/main" val="1443572945"/>
      </p:ext>
    </p:extLst>
  </p:cSld>
  <p:clrMapOvr>
    <a:masterClrMapping/>
  </p:clrMapOvr>
  <p:transition>
    <p:blinds dir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Types of Product Costing Systems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0ADA772F-DDDD-41C4-9A11-5C76BE04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487489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Job-Order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5)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8D065DA7-9613-455B-AC61-A206C4261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080" y="1487489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6)</a:t>
            </a:r>
          </a:p>
        </p:txBody>
      </p:sp>
      <p:sp>
        <p:nvSpPr>
          <p:cNvPr id="19465" name="Line 15">
            <a:extLst>
              <a:ext uri="{FF2B5EF4-FFF2-40B4-BE49-F238E27FC236}">
                <a16:creationId xmlns:a16="http://schemas.microsoft.com/office/drawing/2014/main" id="{CA540903-D92E-469D-9547-E1340EB9A4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9776" y="2924944"/>
            <a:ext cx="0" cy="86409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-128"/>
            </a:endParaRPr>
          </a:p>
        </p:txBody>
      </p:sp>
      <p:sp>
        <p:nvSpPr>
          <p:cNvPr id="27655" name="Slide Number Placeholder 72">
            <a:extLst>
              <a:ext uri="{FF2B5EF4-FFF2-40B4-BE49-F238E27FC236}">
                <a16:creationId xmlns:a16="http://schemas.microsoft.com/office/drawing/2014/main" id="{759250EA-FFA6-4F8D-A8D2-FC19195712C9}"/>
              </a:ext>
            </a:extLst>
          </p:cNvPr>
          <p:cNvSpPr txBox="1">
            <a:spLocks/>
          </p:cNvSpPr>
          <p:nvPr/>
        </p:nvSpPr>
        <p:spPr bwMode="auto">
          <a:xfrm>
            <a:off x="10204450" y="6477000"/>
            <a:ext cx="463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>
                <a:latin typeface="+mn-lt"/>
              </a:rPr>
              <a:t>5-</a:t>
            </a:r>
            <a:fld id="{263B17E3-5E9D-414D-AD1B-A27DFDC46A9A}" type="slidenum">
              <a:rPr lang="en-US" altLang="en-US" sz="1200">
                <a:latin typeface="+mn-lt"/>
              </a:rPr>
              <a:pPr eaLnBrk="1" hangingPunct="1"/>
              <a:t>39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47528" y="4029209"/>
            <a:ext cx="8356922" cy="208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companies:</a:t>
            </a:r>
          </a:p>
          <a:p>
            <a:pPr marL="457200" indent="-457200">
              <a:buFont typeface="+mj-lt"/>
              <a:buAutoNum type="arabicPeriod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Bombardier (aircraft manufacturing)</a:t>
            </a:r>
          </a:p>
          <a:p>
            <a:pPr marL="457200" indent="-457200">
              <a:buFont typeface="+mj-lt"/>
              <a:buAutoNum type="arabicPeriod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Bechtel International (large scale construction)</a:t>
            </a:r>
          </a:p>
          <a:p>
            <a:pPr marL="457200" indent="-457200">
              <a:buFont typeface="+mj-lt"/>
              <a:buAutoNum type="arabicPeriod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Hallmark (greeting card design and printing)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en-US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531856"/>
      </p:ext>
    </p:extLst>
  </p:cSld>
  <p:clrMapOvr>
    <a:masterClrMapping/>
  </p:clrMapOvr>
  <p:transition>
    <p:blinds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Types of Product Costing Systems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0ADA772F-DDDD-41C4-9A11-5C76BE04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1" y="1891025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Job-Order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5)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8D065DA7-9613-455B-AC61-A206C4261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840" y="1868802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6)</a:t>
            </a:r>
          </a:p>
        </p:txBody>
      </p:sp>
      <p:sp>
        <p:nvSpPr>
          <p:cNvPr id="19465" name="Line 15">
            <a:extLst>
              <a:ext uri="{FF2B5EF4-FFF2-40B4-BE49-F238E27FC236}">
                <a16:creationId xmlns:a16="http://schemas.microsoft.com/office/drawing/2014/main" id="{CA540903-D92E-469D-9547-E1340EB9A4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8008" y="3212976"/>
            <a:ext cx="0" cy="93610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-128"/>
            </a:endParaRPr>
          </a:p>
        </p:txBody>
      </p:sp>
      <p:sp>
        <p:nvSpPr>
          <p:cNvPr id="27655" name="Slide Number Placeholder 72">
            <a:extLst>
              <a:ext uri="{FF2B5EF4-FFF2-40B4-BE49-F238E27FC236}">
                <a16:creationId xmlns:a16="http://schemas.microsoft.com/office/drawing/2014/main" id="{759250EA-FFA6-4F8D-A8D2-FC19195712C9}"/>
              </a:ext>
            </a:extLst>
          </p:cNvPr>
          <p:cNvSpPr txBox="1">
            <a:spLocks/>
          </p:cNvSpPr>
          <p:nvPr/>
        </p:nvSpPr>
        <p:spPr bwMode="auto">
          <a:xfrm>
            <a:off x="10204450" y="6477000"/>
            <a:ext cx="463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>
                <a:latin typeface="+mn-lt"/>
              </a:rPr>
              <a:t>5-</a:t>
            </a:r>
            <a:fld id="{263B17E3-5E9D-414D-AD1B-A27DFDC46A9A}" type="slidenum">
              <a:rPr lang="en-US" altLang="en-US" sz="1200">
                <a:latin typeface="+mn-lt"/>
              </a:rPr>
              <a:pPr eaLnBrk="1" hangingPunct="1"/>
              <a:t>40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361" y="4295490"/>
            <a:ext cx="8356922" cy="208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company produces many units of a single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unit of product is indistinguishable from other units of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identical nature of each unit of product enables assigning the same average cost per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en-US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8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6188" y="738568"/>
            <a:ext cx="4320480" cy="34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96261"/>
      </p:ext>
    </p:extLst>
  </p:cSld>
  <p:clrMapOvr>
    <a:masterClrMapping/>
  </p:clrMapOvr>
  <p:transition>
    <p:blinds dir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Types of Product Costing Systems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0ADA772F-DDDD-41C4-9A11-5C76BE04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487489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Job-Order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5)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8D065DA7-9613-455B-AC61-A206C4261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1492250"/>
            <a:ext cx="2971800" cy="1197764"/>
          </a:xfrm>
          <a:prstGeom prst="rect">
            <a:avLst/>
          </a:prstGeom>
          <a:solidFill>
            <a:srgbClr val="FFFFFF"/>
          </a:solidFill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b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Costing </a:t>
            </a:r>
          </a:p>
          <a:p>
            <a:pPr algn="ctr">
              <a:defRPr/>
            </a:pP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(Chapter 6)</a:t>
            </a:r>
          </a:p>
        </p:txBody>
      </p:sp>
      <p:sp>
        <p:nvSpPr>
          <p:cNvPr id="19465" name="Line 15">
            <a:extLst>
              <a:ext uri="{FF2B5EF4-FFF2-40B4-BE49-F238E27FC236}">
                <a16:creationId xmlns:a16="http://schemas.microsoft.com/office/drawing/2014/main" id="{CA540903-D92E-469D-9547-E1340EB9A4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8248" y="2780928"/>
            <a:ext cx="0" cy="93610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-128"/>
            </a:endParaRPr>
          </a:p>
        </p:txBody>
      </p:sp>
      <p:sp>
        <p:nvSpPr>
          <p:cNvPr id="27655" name="Slide Number Placeholder 72">
            <a:extLst>
              <a:ext uri="{FF2B5EF4-FFF2-40B4-BE49-F238E27FC236}">
                <a16:creationId xmlns:a16="http://schemas.microsoft.com/office/drawing/2014/main" id="{759250EA-FFA6-4F8D-A8D2-FC19195712C9}"/>
              </a:ext>
            </a:extLst>
          </p:cNvPr>
          <p:cNvSpPr txBox="1">
            <a:spLocks/>
          </p:cNvSpPr>
          <p:nvPr/>
        </p:nvSpPr>
        <p:spPr bwMode="auto">
          <a:xfrm>
            <a:off x="10204450" y="6477000"/>
            <a:ext cx="463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>
                <a:latin typeface="+mn-lt"/>
              </a:rPr>
              <a:t>5-</a:t>
            </a:r>
            <a:fld id="{263B17E3-5E9D-414D-AD1B-A27DFDC46A9A}" type="slidenum">
              <a:rPr lang="en-US" altLang="en-US" sz="1200">
                <a:latin typeface="+mn-lt"/>
              </a:rPr>
              <a:pPr eaLnBrk="1" hangingPunct="1"/>
              <a:t>41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47528" y="3807946"/>
            <a:ext cx="8356922" cy="208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companies:</a:t>
            </a:r>
          </a:p>
          <a:p>
            <a:pPr marL="457200" indent="-457200">
              <a:buFont typeface="+mj-lt"/>
              <a:buAutoNum type="arabicPeriod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St. Mary’s Cement (cement mixing)</a:t>
            </a:r>
          </a:p>
          <a:p>
            <a:pPr marL="457200" indent="-457200">
              <a:buFont typeface="+mj-lt"/>
              <a:buAutoNum type="arabicPeriod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Petro-Canada (refining oil)</a:t>
            </a:r>
          </a:p>
          <a:p>
            <a:pPr marL="457200" indent="-457200">
              <a:buFont typeface="+mj-lt"/>
              <a:buAutoNum type="arabicPeriod"/>
            </a:pPr>
            <a:r>
              <a:rPr lang="en-CA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Coca-Cola (mixing and bottling beverages)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en-US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882628"/>
      </p:ext>
    </p:extLst>
  </p:cSld>
  <p:clrMapOvr>
    <a:masterClrMapping/>
  </p:clrMapOvr>
  <p:transition>
    <p:blinds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7D261F0-D404-B831-D369-396D8637A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Overview</a:t>
            </a:r>
            <a:r>
              <a:rPr lang="en-CA" sz="1800" spc="-50" dirty="0"/>
              <a:t> </a:t>
            </a:r>
            <a:r>
              <a:rPr lang="en-CA" sz="1800" dirty="0"/>
              <a:t>of</a:t>
            </a:r>
            <a:r>
              <a:rPr lang="en-CA" sz="1800" spc="-25" dirty="0"/>
              <a:t> </a:t>
            </a:r>
            <a:r>
              <a:rPr lang="en-CA" sz="1800" dirty="0"/>
              <a:t>Job-Order</a:t>
            </a:r>
            <a:r>
              <a:rPr lang="en-CA" sz="1800" spc="-45" dirty="0"/>
              <a:t> </a:t>
            </a:r>
            <a:r>
              <a:rPr lang="en-CA" sz="1800" dirty="0"/>
              <a:t>Costing</a:t>
            </a:r>
            <a:endParaRPr lang="en-CA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684" y="980728"/>
            <a:ext cx="3614210" cy="18365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23992" y="1121932"/>
            <a:ext cx="4825365" cy="1108075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33705" marR="126364" indent="-3429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2200" b="1" spc="-5" dirty="0">
                <a:latin typeface="Arial"/>
                <a:cs typeface="Arial"/>
              </a:rPr>
              <a:t>Direct</a:t>
            </a:r>
            <a:r>
              <a:rPr sz="2200" b="1" spc="1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material</a:t>
            </a:r>
            <a:r>
              <a:rPr sz="2200" b="1" spc="1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direct</a:t>
            </a:r>
            <a:r>
              <a:rPr sz="2200" b="1" spc="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labour </a:t>
            </a:r>
            <a:r>
              <a:rPr sz="2200" b="1" spc="-595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costs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traced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directly</a:t>
            </a:r>
            <a:r>
              <a:rPr sz="2200" b="1" u="heavy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each 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job</a:t>
            </a:r>
            <a:r>
              <a:rPr sz="2200" b="1" spc="1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work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performed.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5520" y="3709759"/>
            <a:ext cx="3487002" cy="18286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45101" y="3789040"/>
            <a:ext cx="4825365" cy="1784985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33705" marR="168910" indent="-3429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sz="2200" b="1" spc="-5" dirty="0">
                <a:latin typeface="Arial"/>
                <a:cs typeface="Arial"/>
              </a:rPr>
              <a:t>Manufacturing</a:t>
            </a:r>
            <a:r>
              <a:rPr sz="2200" b="1" spc="5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Overhead 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(including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i="1" spc="-5" dirty="0">
                <a:latin typeface="Arial"/>
                <a:cs typeface="Arial"/>
              </a:rPr>
              <a:t>indirect material</a:t>
            </a:r>
            <a:r>
              <a:rPr sz="2200" i="1" spc="4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i="1" spc="-5" dirty="0">
                <a:latin typeface="Arial"/>
                <a:cs typeface="Arial"/>
              </a:rPr>
              <a:t>indirect</a:t>
            </a:r>
            <a:r>
              <a:rPr sz="2200" i="1" spc="-1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labour</a:t>
            </a:r>
            <a:r>
              <a:rPr sz="2200" dirty="0">
                <a:latin typeface="Arial MT"/>
                <a:cs typeface="Arial MT"/>
              </a:rPr>
              <a:t>)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allocated</a:t>
            </a:r>
            <a:r>
              <a:rPr sz="2200" b="1" spc="3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jobs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rather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than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traced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directly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5" dirty="0">
                <a:latin typeface="Arial MT"/>
                <a:cs typeface="Arial MT"/>
              </a:rPr>
              <a:t> job.</a:t>
            </a:r>
            <a:endParaRPr sz="2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141593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214149E5-A7C7-2537-C52B-F0E4F05E5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Allocating</a:t>
            </a:r>
            <a:r>
              <a:rPr lang="en-CA" sz="1800" spc="-45" dirty="0"/>
              <a:t> </a:t>
            </a:r>
            <a:r>
              <a:rPr lang="en-CA" sz="1800" dirty="0"/>
              <a:t>Manufacturing</a:t>
            </a:r>
            <a:r>
              <a:rPr lang="en-CA" sz="1800" spc="-40" dirty="0"/>
              <a:t> </a:t>
            </a:r>
            <a:r>
              <a:rPr lang="en-CA" sz="1800" dirty="0"/>
              <a:t>Overhead</a:t>
            </a:r>
            <a:r>
              <a:rPr lang="en-CA" sz="1800" spc="-40" dirty="0"/>
              <a:t> </a:t>
            </a:r>
            <a:r>
              <a:rPr lang="en-CA" sz="1800" dirty="0"/>
              <a:t>(MOH)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1510665"/>
            <a:ext cx="10744835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  <a:tab pos="470534" algn="l"/>
              </a:tabLst>
            </a:pPr>
            <a:r>
              <a:rPr sz="2400" spc="-5" dirty="0">
                <a:latin typeface="Arial MT"/>
                <a:cs typeface="Arial MT"/>
              </a:rPr>
              <a:t>Cost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allocation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process</a:t>
            </a:r>
            <a:r>
              <a:rPr sz="2400" b="1" u="heavy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assigning</a:t>
            </a:r>
            <a:r>
              <a:rPr sz="24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indirect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costs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products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by: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1: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Compute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4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Overhead</a:t>
            </a:r>
            <a:r>
              <a:rPr sz="2400" b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Allocation</a:t>
            </a:r>
            <a:r>
              <a:rPr sz="2400" b="1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019" y="4345940"/>
            <a:ext cx="5011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2:</a:t>
            </a:r>
            <a:r>
              <a:rPr sz="2400" b="1" u="heavy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Allocate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object: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0450" y="2933192"/>
            <a:ext cx="6254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252525"/>
                </a:solidFill>
                <a:latin typeface="Arial"/>
                <a:cs typeface="Arial"/>
              </a:rPr>
              <a:t>Estimated</a:t>
            </a:r>
            <a:r>
              <a:rPr sz="2800" b="1" spc="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52525"/>
                </a:solidFill>
                <a:latin typeface="Arial MT"/>
                <a:cs typeface="Arial MT"/>
              </a:rPr>
              <a:t>Manufacturing</a:t>
            </a:r>
            <a:r>
              <a:rPr sz="2800" spc="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OH</a:t>
            </a:r>
            <a:r>
              <a:rPr sz="28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8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($)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5350" y="2853689"/>
            <a:ext cx="2767965" cy="121031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Overhead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Rate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2509" y="3163316"/>
            <a:ext cx="233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=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5195" y="3584575"/>
            <a:ext cx="6465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252525"/>
                </a:solidFill>
                <a:latin typeface="Arial"/>
                <a:cs typeface="Arial"/>
              </a:rPr>
              <a:t>Estimated</a:t>
            </a:r>
            <a:r>
              <a:rPr sz="28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252525"/>
                </a:solidFill>
                <a:latin typeface="Arial MT"/>
                <a:cs typeface="Arial MT"/>
              </a:rPr>
              <a:t>Total</a:t>
            </a:r>
            <a:r>
              <a:rPr sz="28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Units</a:t>
            </a:r>
            <a:r>
              <a:rPr sz="28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Allocation</a:t>
            </a:r>
            <a:r>
              <a:rPr sz="28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Basis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13144" y="3455754"/>
            <a:ext cx="6745605" cy="102235"/>
            <a:chOff x="4613144" y="3455754"/>
            <a:chExt cx="6745605" cy="10223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144" y="3455754"/>
              <a:ext cx="6745240" cy="10202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47438" y="3486150"/>
              <a:ext cx="6681470" cy="0"/>
            </a:xfrm>
            <a:custGeom>
              <a:avLst/>
              <a:gdLst/>
              <a:ahLst/>
              <a:cxnLst/>
              <a:rect l="l" t="t" r="r" b="b"/>
              <a:pathLst>
                <a:path w="6681470">
                  <a:moveTo>
                    <a:pt x="0" y="0"/>
                  </a:moveTo>
                  <a:lnTo>
                    <a:pt x="668134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95350" y="5013197"/>
            <a:ext cx="2767965" cy="121158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Overhead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Rate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13326" y="5013197"/>
            <a:ext cx="4392295" cy="121158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020"/>
              </a:lnSpc>
            </a:pPr>
            <a:r>
              <a:rPr sz="2800" spc="-5" dirty="0">
                <a:latin typeface="Arial MT"/>
                <a:cs typeface="Arial MT"/>
              </a:rPr>
              <a:t>Cost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Object’s</a:t>
            </a:r>
            <a:endParaRPr sz="2800" dirty="0">
              <a:latin typeface="Arial MT"/>
              <a:cs typeface="Arial MT"/>
            </a:endParaRPr>
          </a:p>
          <a:p>
            <a:pPr marL="689610" marR="687705" algn="ctr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consumption of the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allocation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basis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024629" y="5542584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52525"/>
                </a:solidFill>
                <a:latin typeface="Arial MT"/>
                <a:cs typeface="Arial MT"/>
              </a:rPr>
              <a:t>x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12188" y="745456"/>
            <a:ext cx="3519170" cy="422275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870"/>
              </a:lnSpc>
            </a:pP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stands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out?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878009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B6BF646-DD4A-B736-F69F-4F76DE11A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Why</a:t>
            </a:r>
            <a:r>
              <a:rPr lang="en-CA" sz="1800" spc="-60" dirty="0"/>
              <a:t> </a:t>
            </a:r>
            <a:r>
              <a:rPr lang="en-CA" sz="1800" dirty="0"/>
              <a:t>use</a:t>
            </a:r>
            <a:r>
              <a:rPr lang="en-CA" sz="1800" spc="-55" dirty="0"/>
              <a:t> </a:t>
            </a:r>
            <a:r>
              <a:rPr lang="en-CA" sz="1800" dirty="0"/>
              <a:t>POHR?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623392" y="2636912"/>
            <a:ext cx="10124440" cy="281813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Benefits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of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Predetermined Rates</a:t>
            </a:r>
            <a:endParaRPr sz="2400" dirty="0">
              <a:latin typeface="Arial"/>
              <a:cs typeface="Arial"/>
            </a:endParaRPr>
          </a:p>
          <a:p>
            <a:pPr marL="469900" marR="5080" indent="-45783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469900" algn="l"/>
                <a:tab pos="470534" algn="l"/>
              </a:tabLst>
            </a:pP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predetermined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makes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possible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estimate total </a:t>
            </a:r>
            <a:r>
              <a:rPr sz="2400" dirty="0">
                <a:latin typeface="Arial MT"/>
                <a:cs typeface="Arial MT"/>
              </a:rPr>
              <a:t>job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sooner.</a:t>
            </a:r>
            <a:endParaRPr sz="2400" dirty="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469900" algn="l"/>
                <a:tab pos="470534" algn="l"/>
              </a:tabLst>
            </a:pP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overhead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period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until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period.</a:t>
            </a:r>
            <a:endParaRPr sz="2400" dirty="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469900" algn="l"/>
                <a:tab pos="470534" algn="l"/>
              </a:tabLst>
            </a:pPr>
            <a:r>
              <a:rPr sz="2400" spc="-5" dirty="0">
                <a:latin typeface="Arial MT"/>
                <a:cs typeface="Arial MT"/>
              </a:rPr>
              <a:t>Actual overhead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" dirty="0">
                <a:latin typeface="Arial MT"/>
                <a:cs typeface="Arial MT"/>
              </a:rPr>
              <a:t> fluctuate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seasonally,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leading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" dirty="0">
                <a:latin typeface="Arial MT"/>
                <a:cs typeface="Arial MT"/>
              </a:rPr>
              <a:t> misleading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decisions.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377" y="1121828"/>
            <a:ext cx="11504930" cy="120142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7155" marR="95250" indent="3810"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company could wait </a:t>
            </a:r>
            <a:r>
              <a:rPr sz="2400" dirty="0">
                <a:latin typeface="Arial MT"/>
                <a:cs typeface="Arial MT"/>
              </a:rPr>
              <a:t>until the </a:t>
            </a:r>
            <a:r>
              <a:rPr sz="2400" spc="-5" dirty="0">
                <a:latin typeface="Arial MT"/>
                <a:cs typeface="Arial MT"/>
              </a:rPr>
              <a:t>end </a:t>
            </a:r>
            <a:r>
              <a:rPr sz="2400" dirty="0">
                <a:latin typeface="Arial MT"/>
                <a:cs typeface="Arial MT"/>
              </a:rPr>
              <a:t>of the </a:t>
            </a:r>
            <a:r>
              <a:rPr sz="2400" spc="-5" dirty="0">
                <a:latin typeface="Arial MT"/>
                <a:cs typeface="Arial MT"/>
              </a:rPr>
              <a:t>accounting period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compute </a:t>
            </a:r>
            <a:r>
              <a:rPr sz="2400" dirty="0">
                <a:latin typeface="Arial MT"/>
                <a:cs typeface="Arial MT"/>
              </a:rPr>
              <a:t>an actual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overhead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dirty="0">
                <a:latin typeface="Arial MT"/>
                <a:cs typeface="Arial MT"/>
              </a:rPr>
              <a:t> total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manufacturing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actual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total units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allocation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189107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07C489C-FC53-B8CE-43BB-6F2570E85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0" lang="en-US" sz="2900" b="1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Allocating</a:t>
            </a:r>
            <a:r>
              <a:rPr kumimoji="0" lang="en-US" sz="2900" b="1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Manufacturing</a:t>
            </a:r>
            <a:r>
              <a:rPr kumimoji="0" lang="en-US" sz="2900" b="1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Overhead</a:t>
            </a:r>
            <a:r>
              <a:rPr kumimoji="0" lang="en-US" sz="2900" b="1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(MOH)</a:t>
            </a:r>
            <a:r>
              <a:rPr kumimoji="0" lang="en-US" sz="2900" b="1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(cont’d)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2484882" y="2349245"/>
            <a:ext cx="7223759" cy="459105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315"/>
              </a:spcBef>
              <a:tabLst>
                <a:tab pos="2927350" algn="l"/>
                <a:tab pos="3272790" algn="l"/>
                <a:tab pos="4408170" algn="l"/>
                <a:tab pos="4954905" algn="l"/>
              </a:tabLst>
            </a:pPr>
            <a:r>
              <a:rPr sz="2400" b="1" dirty="0">
                <a:latin typeface="Arial"/>
                <a:cs typeface="Arial"/>
              </a:rPr>
              <a:t>Overhead </a:t>
            </a:r>
            <a:r>
              <a:rPr sz="2400" b="1" spc="-5" dirty="0">
                <a:latin typeface="Arial"/>
                <a:cs typeface="Arial"/>
              </a:rPr>
              <a:t>applied	</a:t>
            </a:r>
            <a:r>
              <a:rPr sz="2400" b="1" dirty="0">
                <a:latin typeface="Arial"/>
                <a:cs typeface="Arial"/>
              </a:rPr>
              <a:t>=	POHR	</a:t>
            </a:r>
            <a:r>
              <a:rPr sz="2400" dirty="0">
                <a:latin typeface="MS PGothic"/>
                <a:cs typeface="MS PGothic"/>
              </a:rPr>
              <a:t>×	</a:t>
            </a:r>
            <a:r>
              <a:rPr sz="2400" b="1" spc="-5" dirty="0">
                <a:latin typeface="Arial"/>
                <a:cs typeface="Arial"/>
              </a:rPr>
              <a:t>Actual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activity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4594" y="3821429"/>
            <a:ext cx="3651885" cy="961802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35280" marR="331470" algn="ctr">
              <a:lnSpc>
                <a:spcPct val="100000"/>
              </a:lnSpc>
              <a:spcBef>
                <a:spcPts val="300"/>
              </a:spcBef>
            </a:pPr>
            <a:r>
              <a:rPr sz="2000" b="1" dirty="0">
                <a:latin typeface="Arial"/>
                <a:cs typeface="Arial"/>
              </a:rPr>
              <a:t>Based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ED037C"/>
                </a:solidFill>
                <a:latin typeface="Arial"/>
                <a:cs typeface="Arial"/>
              </a:rPr>
              <a:t>estimates</a:t>
            </a:r>
            <a:r>
              <a:rPr sz="2000" b="1" dirty="0">
                <a:latin typeface="Arial"/>
                <a:cs typeface="Arial"/>
              </a:rPr>
              <a:t>,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determined before the 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period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begins.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6426" y="3821429"/>
            <a:ext cx="3747770" cy="961802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14960" marR="306705" algn="ctr">
              <a:lnSpc>
                <a:spcPct val="100000"/>
              </a:lnSpc>
              <a:spcBef>
                <a:spcPts val="300"/>
              </a:spcBef>
            </a:pPr>
            <a:r>
              <a:rPr sz="2000" b="1" dirty="0">
                <a:solidFill>
                  <a:srgbClr val="ED037C"/>
                </a:solidFill>
                <a:latin typeface="Arial"/>
                <a:cs typeface="Arial"/>
              </a:rPr>
              <a:t>Actual</a:t>
            </a:r>
            <a:r>
              <a:rPr sz="2000" b="1" spc="-40" dirty="0">
                <a:solidFill>
                  <a:srgbClr val="ED037C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amount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ED037C"/>
                </a:solidFill>
                <a:latin typeface="Arial"/>
                <a:cs typeface="Arial"/>
              </a:rPr>
              <a:t>cost </a:t>
            </a:r>
            <a:r>
              <a:rPr sz="2000" b="1" spc="-5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ED037C"/>
                </a:solidFill>
                <a:latin typeface="Arial"/>
                <a:cs typeface="Arial"/>
              </a:rPr>
              <a:t>driver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incurred during the </a:t>
            </a:r>
            <a:r>
              <a:rPr sz="2000" b="1" spc="-5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period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91017" y="2822194"/>
            <a:ext cx="1555115" cy="965200"/>
          </a:xfrm>
          <a:custGeom>
            <a:avLst/>
            <a:gdLst/>
            <a:ahLst/>
            <a:cxnLst/>
            <a:rect l="l" t="t" r="r" b="b"/>
            <a:pathLst>
              <a:path w="1555115" h="965200">
                <a:moveTo>
                  <a:pt x="1447415" y="921432"/>
                </a:moveTo>
                <a:lnTo>
                  <a:pt x="1427479" y="953896"/>
                </a:lnTo>
                <a:lnTo>
                  <a:pt x="1554733" y="965072"/>
                </a:lnTo>
                <a:lnTo>
                  <a:pt x="1533832" y="931417"/>
                </a:lnTo>
                <a:lnTo>
                  <a:pt x="1463675" y="931417"/>
                </a:lnTo>
                <a:lnTo>
                  <a:pt x="1447415" y="921432"/>
                </a:lnTo>
                <a:close/>
              </a:path>
              <a:path w="1555115" h="965200">
                <a:moveTo>
                  <a:pt x="1467317" y="889023"/>
                </a:moveTo>
                <a:lnTo>
                  <a:pt x="1447415" y="921432"/>
                </a:lnTo>
                <a:lnTo>
                  <a:pt x="1463675" y="931417"/>
                </a:lnTo>
                <a:lnTo>
                  <a:pt x="1483613" y="899032"/>
                </a:lnTo>
                <a:lnTo>
                  <a:pt x="1467317" y="889023"/>
                </a:lnTo>
                <a:close/>
              </a:path>
              <a:path w="1555115" h="965200">
                <a:moveTo>
                  <a:pt x="1487297" y="856487"/>
                </a:moveTo>
                <a:lnTo>
                  <a:pt x="1467317" y="889023"/>
                </a:lnTo>
                <a:lnTo>
                  <a:pt x="1483613" y="899032"/>
                </a:lnTo>
                <a:lnTo>
                  <a:pt x="1463675" y="931417"/>
                </a:lnTo>
                <a:lnTo>
                  <a:pt x="1533832" y="931417"/>
                </a:lnTo>
                <a:lnTo>
                  <a:pt x="1487297" y="856487"/>
                </a:lnTo>
                <a:close/>
              </a:path>
              <a:path w="1555115" h="965200">
                <a:moveTo>
                  <a:pt x="19938" y="0"/>
                </a:moveTo>
                <a:lnTo>
                  <a:pt x="0" y="32511"/>
                </a:lnTo>
                <a:lnTo>
                  <a:pt x="1447415" y="921432"/>
                </a:lnTo>
                <a:lnTo>
                  <a:pt x="1467317" y="889023"/>
                </a:lnTo>
                <a:lnTo>
                  <a:pt x="19938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72990" y="2812414"/>
            <a:ext cx="1021715" cy="975360"/>
          </a:xfrm>
          <a:custGeom>
            <a:avLst/>
            <a:gdLst/>
            <a:ahLst/>
            <a:cxnLst/>
            <a:rect l="l" t="t" r="r" b="b"/>
            <a:pathLst>
              <a:path w="1021714" h="975360">
                <a:moveTo>
                  <a:pt x="43307" y="854837"/>
                </a:moveTo>
                <a:lnTo>
                  <a:pt x="0" y="974979"/>
                </a:lnTo>
                <a:lnTo>
                  <a:pt x="122174" y="937514"/>
                </a:lnTo>
                <a:lnTo>
                  <a:pt x="108363" y="923036"/>
                </a:lnTo>
                <a:lnTo>
                  <a:pt x="82042" y="923036"/>
                </a:lnTo>
                <a:lnTo>
                  <a:pt x="55752" y="895477"/>
                </a:lnTo>
                <a:lnTo>
                  <a:pt x="69537" y="882334"/>
                </a:lnTo>
                <a:lnTo>
                  <a:pt x="43307" y="854837"/>
                </a:lnTo>
                <a:close/>
              </a:path>
              <a:path w="1021714" h="975360">
                <a:moveTo>
                  <a:pt x="69537" y="882334"/>
                </a:moveTo>
                <a:lnTo>
                  <a:pt x="55752" y="895477"/>
                </a:lnTo>
                <a:lnTo>
                  <a:pt x="82042" y="923036"/>
                </a:lnTo>
                <a:lnTo>
                  <a:pt x="95826" y="909894"/>
                </a:lnTo>
                <a:lnTo>
                  <a:pt x="69537" y="882334"/>
                </a:lnTo>
                <a:close/>
              </a:path>
              <a:path w="1021714" h="975360">
                <a:moveTo>
                  <a:pt x="95826" y="909894"/>
                </a:moveTo>
                <a:lnTo>
                  <a:pt x="82042" y="923036"/>
                </a:lnTo>
                <a:lnTo>
                  <a:pt x="108363" y="923036"/>
                </a:lnTo>
                <a:lnTo>
                  <a:pt x="95826" y="909894"/>
                </a:lnTo>
                <a:close/>
              </a:path>
              <a:path w="1021714" h="975360">
                <a:moveTo>
                  <a:pt x="994918" y="0"/>
                </a:moveTo>
                <a:lnTo>
                  <a:pt x="69537" y="882334"/>
                </a:lnTo>
                <a:lnTo>
                  <a:pt x="95826" y="909894"/>
                </a:lnTo>
                <a:lnTo>
                  <a:pt x="1021207" y="27686"/>
                </a:lnTo>
                <a:lnTo>
                  <a:pt x="994918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7223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7624D66D-0271-208C-DA73-9DE9446BB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Journal </a:t>
            </a:r>
            <a:r>
              <a:rPr lang="en-CA" dirty="0" err="1"/>
              <a:t>Entires</a:t>
            </a:r>
            <a:endParaRPr lang="en-CA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1078" y="1766442"/>
          <a:ext cx="81280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2400" b="1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OH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(Ex.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Indirect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Labor)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835150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DR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MOH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xxxx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2996565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CR</a:t>
                      </a:r>
                      <a:r>
                        <a:rPr sz="24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Wages</a:t>
                      </a:r>
                      <a:r>
                        <a:rPr sz="24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Payable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xxxx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73024" y="3488054"/>
          <a:ext cx="81280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24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Applied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691639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DR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WIP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xxxx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835150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CR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MOH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xxxx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44736" y="1842410"/>
          <a:ext cx="2790190" cy="2126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90">
                <a:tc gridSpan="2">
                  <a:txBody>
                    <a:bodyPr/>
                    <a:lstStyle/>
                    <a:p>
                      <a:pPr marL="150495">
                        <a:lnSpc>
                          <a:spcPts val="2655"/>
                        </a:lnSpc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MOH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45" dirty="0">
                          <a:latin typeface="Arial"/>
                          <a:cs typeface="Arial"/>
                        </a:rPr>
                        <a:t>(T-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Account)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725">
                <a:tc>
                  <a:txBody>
                    <a:bodyPr/>
                    <a:lstStyle/>
                    <a:p>
                      <a:pPr marL="92075" marR="4476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Actual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OH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 marR="2806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Applied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OH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8944736" y="3512820"/>
            <a:ext cx="2790190" cy="0"/>
          </a:xfrm>
          <a:custGeom>
            <a:avLst/>
            <a:gdLst/>
            <a:ahLst/>
            <a:cxnLst/>
            <a:rect l="l" t="t" r="r" b="b"/>
            <a:pathLst>
              <a:path w="2790190">
                <a:moveTo>
                  <a:pt x="0" y="0"/>
                </a:moveTo>
                <a:lnTo>
                  <a:pt x="278980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2054" y="5269229"/>
            <a:ext cx="1150493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≠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OH?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5118" y="4171950"/>
            <a:ext cx="2790825" cy="35560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14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Ending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Balance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=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0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A3E01546-3816-D4A4-6DC8-450E6EB890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Under / Over Applied Overhead</a:t>
            </a:r>
          </a:p>
        </p:txBody>
      </p:sp>
      <p:sp>
        <p:nvSpPr>
          <p:cNvPr id="3" name="object 3"/>
          <p:cNvSpPr/>
          <p:nvPr/>
        </p:nvSpPr>
        <p:spPr>
          <a:xfrm>
            <a:off x="1343214" y="1882387"/>
            <a:ext cx="2489200" cy="914400"/>
          </a:xfrm>
          <a:custGeom>
            <a:avLst/>
            <a:gdLst/>
            <a:ahLst/>
            <a:cxnLst/>
            <a:rect l="l" t="t" r="r" b="b"/>
            <a:pathLst>
              <a:path w="2489200" h="91440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336292" y="0"/>
                </a:lnTo>
                <a:lnTo>
                  <a:pt x="2384474" y="7766"/>
                </a:lnTo>
                <a:lnTo>
                  <a:pt x="2426311" y="29394"/>
                </a:lnTo>
                <a:lnTo>
                  <a:pt x="2459297" y="62380"/>
                </a:lnTo>
                <a:lnTo>
                  <a:pt x="2480925" y="104217"/>
                </a:lnTo>
                <a:lnTo>
                  <a:pt x="2488692" y="152400"/>
                </a:lnTo>
                <a:lnTo>
                  <a:pt x="2488692" y="762000"/>
                </a:lnTo>
                <a:lnTo>
                  <a:pt x="2480925" y="810182"/>
                </a:lnTo>
                <a:lnTo>
                  <a:pt x="2459297" y="852019"/>
                </a:lnTo>
                <a:lnTo>
                  <a:pt x="2426311" y="885005"/>
                </a:lnTo>
                <a:lnTo>
                  <a:pt x="2384474" y="906633"/>
                </a:lnTo>
                <a:lnTo>
                  <a:pt x="2336292" y="914400"/>
                </a:lnTo>
                <a:lnTo>
                  <a:pt x="152400" y="914400"/>
                </a:lnTo>
                <a:lnTo>
                  <a:pt x="104217" y="906633"/>
                </a:lnTo>
                <a:lnTo>
                  <a:pt x="62380" y="885005"/>
                </a:lnTo>
                <a:lnTo>
                  <a:pt x="29394" y="852019"/>
                </a:lnTo>
                <a:lnTo>
                  <a:pt x="7766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32177" y="1916379"/>
            <a:ext cx="13112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UNDER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APPLIED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44930" y="3528821"/>
            <a:ext cx="2489200" cy="916305"/>
          </a:xfrm>
          <a:custGeom>
            <a:avLst/>
            <a:gdLst/>
            <a:ahLst/>
            <a:cxnLst/>
            <a:rect l="l" t="t" r="r" b="b"/>
            <a:pathLst>
              <a:path w="2489200" h="916304">
                <a:moveTo>
                  <a:pt x="0" y="152653"/>
                </a:moveTo>
                <a:lnTo>
                  <a:pt x="7780" y="104396"/>
                </a:lnTo>
                <a:lnTo>
                  <a:pt x="29447" y="62490"/>
                </a:lnTo>
                <a:lnTo>
                  <a:pt x="62490" y="29447"/>
                </a:lnTo>
                <a:lnTo>
                  <a:pt x="104396" y="7780"/>
                </a:lnTo>
                <a:lnTo>
                  <a:pt x="152653" y="0"/>
                </a:lnTo>
                <a:lnTo>
                  <a:pt x="2336037" y="0"/>
                </a:lnTo>
                <a:lnTo>
                  <a:pt x="2384295" y="7780"/>
                </a:lnTo>
                <a:lnTo>
                  <a:pt x="2426201" y="29447"/>
                </a:lnTo>
                <a:lnTo>
                  <a:pt x="2459244" y="62490"/>
                </a:lnTo>
                <a:lnTo>
                  <a:pt x="2480911" y="104396"/>
                </a:lnTo>
                <a:lnTo>
                  <a:pt x="2488692" y="152653"/>
                </a:lnTo>
                <a:lnTo>
                  <a:pt x="2488692" y="763269"/>
                </a:lnTo>
                <a:lnTo>
                  <a:pt x="2480911" y="811527"/>
                </a:lnTo>
                <a:lnTo>
                  <a:pt x="2459244" y="853433"/>
                </a:lnTo>
                <a:lnTo>
                  <a:pt x="2426201" y="886476"/>
                </a:lnTo>
                <a:lnTo>
                  <a:pt x="2384295" y="908143"/>
                </a:lnTo>
                <a:lnTo>
                  <a:pt x="2336037" y="915923"/>
                </a:lnTo>
                <a:lnTo>
                  <a:pt x="152653" y="915923"/>
                </a:lnTo>
                <a:lnTo>
                  <a:pt x="104396" y="908143"/>
                </a:lnTo>
                <a:lnTo>
                  <a:pt x="62490" y="886476"/>
                </a:lnTo>
                <a:lnTo>
                  <a:pt x="29447" y="853433"/>
                </a:lnTo>
                <a:lnTo>
                  <a:pt x="7780" y="811527"/>
                </a:lnTo>
                <a:lnTo>
                  <a:pt x="0" y="763269"/>
                </a:lnTo>
                <a:lnTo>
                  <a:pt x="0" y="152653"/>
                </a:lnTo>
                <a:close/>
              </a:path>
            </a:pathLst>
          </a:custGeom>
          <a:ln w="25399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2177" y="3600145"/>
            <a:ext cx="13112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OVER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APPLIED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68546" y="1846326"/>
            <a:ext cx="6696709" cy="914400"/>
          </a:xfrm>
          <a:custGeom>
            <a:avLst/>
            <a:gdLst/>
            <a:ahLst/>
            <a:cxnLst/>
            <a:rect l="l" t="t" r="r" b="b"/>
            <a:pathLst>
              <a:path w="6696709" h="91440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6544056" y="0"/>
                </a:lnTo>
                <a:lnTo>
                  <a:pt x="6592238" y="7766"/>
                </a:lnTo>
                <a:lnTo>
                  <a:pt x="6634075" y="29394"/>
                </a:lnTo>
                <a:lnTo>
                  <a:pt x="6667061" y="62380"/>
                </a:lnTo>
                <a:lnTo>
                  <a:pt x="6688689" y="104217"/>
                </a:lnTo>
                <a:lnTo>
                  <a:pt x="6696456" y="152400"/>
                </a:lnTo>
                <a:lnTo>
                  <a:pt x="6696456" y="762000"/>
                </a:lnTo>
                <a:lnTo>
                  <a:pt x="6688689" y="810182"/>
                </a:lnTo>
                <a:lnTo>
                  <a:pt x="6667061" y="852019"/>
                </a:lnTo>
                <a:lnTo>
                  <a:pt x="6634075" y="885005"/>
                </a:lnTo>
                <a:lnTo>
                  <a:pt x="6592238" y="906633"/>
                </a:lnTo>
                <a:lnTo>
                  <a:pt x="6544056" y="914400"/>
                </a:lnTo>
                <a:lnTo>
                  <a:pt x="152400" y="914400"/>
                </a:lnTo>
                <a:lnTo>
                  <a:pt x="104217" y="906633"/>
                </a:lnTo>
                <a:lnTo>
                  <a:pt x="62380" y="885005"/>
                </a:lnTo>
                <a:lnTo>
                  <a:pt x="29394" y="852019"/>
                </a:lnTo>
                <a:lnTo>
                  <a:pt x="7766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42434" y="2090115"/>
            <a:ext cx="59493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≥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WIP.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68546" y="3528821"/>
            <a:ext cx="6696709" cy="916305"/>
          </a:xfrm>
          <a:custGeom>
            <a:avLst/>
            <a:gdLst/>
            <a:ahLst/>
            <a:cxnLst/>
            <a:rect l="l" t="t" r="r" b="b"/>
            <a:pathLst>
              <a:path w="6696709" h="916304">
                <a:moveTo>
                  <a:pt x="0" y="152653"/>
                </a:moveTo>
                <a:lnTo>
                  <a:pt x="7780" y="104396"/>
                </a:lnTo>
                <a:lnTo>
                  <a:pt x="29447" y="62490"/>
                </a:lnTo>
                <a:lnTo>
                  <a:pt x="62490" y="29447"/>
                </a:lnTo>
                <a:lnTo>
                  <a:pt x="104396" y="7780"/>
                </a:lnTo>
                <a:lnTo>
                  <a:pt x="152653" y="0"/>
                </a:lnTo>
                <a:lnTo>
                  <a:pt x="6543802" y="0"/>
                </a:lnTo>
                <a:lnTo>
                  <a:pt x="6592059" y="7780"/>
                </a:lnTo>
                <a:lnTo>
                  <a:pt x="6633965" y="29447"/>
                </a:lnTo>
                <a:lnTo>
                  <a:pt x="6667008" y="62490"/>
                </a:lnTo>
                <a:lnTo>
                  <a:pt x="6688675" y="104396"/>
                </a:lnTo>
                <a:lnTo>
                  <a:pt x="6696456" y="152653"/>
                </a:lnTo>
                <a:lnTo>
                  <a:pt x="6696456" y="763269"/>
                </a:lnTo>
                <a:lnTo>
                  <a:pt x="6688675" y="811527"/>
                </a:lnTo>
                <a:lnTo>
                  <a:pt x="6667008" y="853433"/>
                </a:lnTo>
                <a:lnTo>
                  <a:pt x="6633965" y="886476"/>
                </a:lnTo>
                <a:lnTo>
                  <a:pt x="6592059" y="908143"/>
                </a:lnTo>
                <a:lnTo>
                  <a:pt x="6543802" y="915923"/>
                </a:lnTo>
                <a:lnTo>
                  <a:pt x="152653" y="915923"/>
                </a:lnTo>
                <a:lnTo>
                  <a:pt x="104396" y="908143"/>
                </a:lnTo>
                <a:lnTo>
                  <a:pt x="62490" y="886476"/>
                </a:lnTo>
                <a:lnTo>
                  <a:pt x="29447" y="853433"/>
                </a:lnTo>
                <a:lnTo>
                  <a:pt x="7780" y="811527"/>
                </a:lnTo>
                <a:lnTo>
                  <a:pt x="0" y="763269"/>
                </a:lnTo>
                <a:lnTo>
                  <a:pt x="0" y="152653"/>
                </a:lnTo>
                <a:close/>
              </a:path>
            </a:pathLst>
          </a:custGeom>
          <a:ln w="25399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42434" y="3773881"/>
            <a:ext cx="59493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≤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WIP.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054" y="5269229"/>
            <a:ext cx="1150493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Why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temporary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account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(Remember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219…)?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C655BF-9509-61DC-DF56-9CC6F860E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Accounting for Under/Over </a:t>
            </a:r>
            <a:r>
              <a:rPr lang="en-CA" dirty="0" err="1"/>
              <a:t>Applie</a:t>
            </a:r>
            <a:r>
              <a:rPr lang="en-CA" dirty="0"/>
              <a:t> Overhead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392544"/>
              </p:ext>
            </p:extLst>
          </p:nvPr>
        </p:nvGraphicFramePr>
        <p:xfrm>
          <a:off x="719404" y="1412776"/>
          <a:ext cx="10668634" cy="3629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8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0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0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UNDER</a:t>
                      </a:r>
                      <a:r>
                        <a:rPr sz="2400" b="1" spc="-1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APPLIED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OVERHEAD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290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2817495">
                        <a:lnSpc>
                          <a:spcPct val="2141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Close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difference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COGS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COGS……………………….XXX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2774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Manufacturing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OH…………..XXX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47700" marR="640080" indent="304800">
                        <a:lnSpc>
                          <a:spcPct val="1067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sz="2400" b="1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APPLIED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OVERHEAD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69215" marR="113664">
                        <a:lnSpc>
                          <a:spcPct val="107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Allocate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difference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WIP,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Finished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Goods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COGS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proportion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OH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applied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during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period.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0C46447-0633-47EC-8353-F502CAD6C8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spc="-5" dirty="0">
                <a:latin typeface="Arial MT"/>
                <a:cs typeface="Arial MT"/>
              </a:rPr>
              <a:t>Renaissance </a:t>
            </a:r>
            <a:r>
              <a:rPr lang="en-CA" sz="1800" spc="-15" dirty="0">
                <a:latin typeface="Arial MT"/>
                <a:cs typeface="Arial MT"/>
              </a:rPr>
              <a:t>Wood</a:t>
            </a:r>
            <a:r>
              <a:rPr lang="en-CA" sz="1800" spc="15" dirty="0">
                <a:latin typeface="Arial MT"/>
                <a:cs typeface="Arial MT"/>
              </a:rPr>
              <a:t> </a:t>
            </a:r>
            <a:r>
              <a:rPr lang="en-CA" sz="1800" spc="-5" dirty="0">
                <a:latin typeface="Arial MT"/>
                <a:cs typeface="Arial MT"/>
              </a:rPr>
              <a:t>Products</a:t>
            </a:r>
            <a:r>
              <a:rPr lang="en-CA" sz="1800" spc="10" dirty="0">
                <a:latin typeface="Arial MT"/>
                <a:cs typeface="Arial MT"/>
              </a:rPr>
              <a:t> </a:t>
            </a:r>
            <a:r>
              <a:rPr lang="en-CA" sz="1800" spc="-5" dirty="0">
                <a:latin typeface="Arial MT"/>
                <a:cs typeface="Arial MT"/>
              </a:rPr>
              <a:t>Ltd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11308715" cy="307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Source: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CPA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Intermediate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Accounting</a:t>
            </a:r>
            <a:r>
              <a:rPr sz="18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Primer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>
              <a:latin typeface="Arial"/>
              <a:cs typeface="Arial"/>
            </a:endParaRPr>
          </a:p>
          <a:p>
            <a:pPr marL="469900" marR="5080" indent="-457834">
              <a:lnSpc>
                <a:spcPct val="100000"/>
              </a:lnSpc>
              <a:buSzPct val="79545"/>
              <a:buChar char="•"/>
              <a:tabLst>
                <a:tab pos="469900" algn="l"/>
                <a:tab pos="470534" algn="l"/>
              </a:tabLst>
            </a:pPr>
            <a:r>
              <a:rPr sz="2200" spc="-5" dirty="0">
                <a:latin typeface="Arial MT"/>
                <a:cs typeface="Arial MT"/>
              </a:rPr>
              <a:t>Renaissance </a:t>
            </a:r>
            <a:r>
              <a:rPr sz="2200" spc="-15" dirty="0">
                <a:latin typeface="Arial MT"/>
                <a:cs typeface="Arial MT"/>
              </a:rPr>
              <a:t>Wood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Products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Ltd.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manufactures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wooden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knife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blocks.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marketing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manager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wants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selling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price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these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blocks.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There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two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distinct designs.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simpler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design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curve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block,</a:t>
            </a:r>
            <a:r>
              <a:rPr sz="2200" spc="-5" dirty="0">
                <a:latin typeface="Arial MT"/>
                <a:cs typeface="Arial MT"/>
              </a:rPr>
              <a:t> which</a:t>
            </a:r>
            <a:r>
              <a:rPr sz="2200" dirty="0">
                <a:latin typeface="Arial MT"/>
                <a:cs typeface="Arial MT"/>
              </a:rPr>
              <a:t> holds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four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knives.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more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complicated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design</a:t>
            </a:r>
            <a:r>
              <a:rPr sz="2200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square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block,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which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holds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eight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knives.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production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manager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has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just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completed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production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run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350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curve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blocks.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following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data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pertain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run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 curve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blocks: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Direct</a:t>
            </a:r>
            <a:r>
              <a:rPr sz="22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Materials:</a:t>
            </a:r>
            <a:endParaRPr sz="22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2344" y="647729"/>
            <a:ext cx="2325827" cy="76504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43496" y="4387596"/>
          <a:ext cx="8128000" cy="14833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Opening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Inventory,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DM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Purchases of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materials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$1,000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Ending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inventory,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materials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$625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2266" y="3945595"/>
            <a:ext cx="1218983" cy="176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58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C71ECFF-3E0C-8F2A-F750-8DEC5A663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971" y="123831"/>
            <a:ext cx="9601067" cy="506016"/>
          </a:xfrm>
        </p:spPr>
        <p:txBody>
          <a:bodyPr/>
          <a:lstStyle/>
          <a:p>
            <a:r>
              <a:rPr lang="en-CA" dirty="0"/>
              <a:t>Renaissance Wood Products Ltd. (cont’d)</a:t>
            </a:r>
          </a:p>
          <a:p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355340" y="610571"/>
            <a:ext cx="8157209" cy="13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Direct</a:t>
            </a:r>
            <a:r>
              <a:rPr sz="22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Labour:</a:t>
            </a:r>
            <a:endParaRPr sz="22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469900" algn="l"/>
                <a:tab pos="470534" algn="l"/>
              </a:tabLst>
            </a:pPr>
            <a:r>
              <a:rPr sz="2200" spc="-5" dirty="0">
                <a:latin typeface="Arial MT"/>
                <a:cs typeface="Arial MT"/>
              </a:rPr>
              <a:t>Direct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labour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make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blocks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was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52.50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hours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$25/hour.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Budgeted</a:t>
            </a:r>
            <a:r>
              <a:rPr sz="2200" b="1" u="heavy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indirect</a:t>
            </a:r>
            <a:r>
              <a:rPr sz="2200" b="1" u="heavy" spc="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costs</a:t>
            </a:r>
            <a:r>
              <a:rPr sz="2200" b="1" u="heavy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2200" b="1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200" b="1" u="heavy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year</a:t>
            </a:r>
            <a:r>
              <a:rPr sz="2200" b="1" u="heavy" spc="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(for</a:t>
            </a:r>
            <a:r>
              <a:rPr sz="2200" b="1" u="heavy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jobs):</a:t>
            </a:r>
            <a:endParaRPr sz="22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4953" y="656117"/>
            <a:ext cx="2325827" cy="76504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37882"/>
              </p:ext>
            </p:extLst>
          </p:nvPr>
        </p:nvGraphicFramePr>
        <p:xfrm>
          <a:off x="483018" y="2473034"/>
          <a:ext cx="5086144" cy="28511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8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0">
                        <a:lnSpc>
                          <a:spcPts val="2090"/>
                        </a:lnSpc>
                        <a:spcBef>
                          <a:spcPts val="73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Supplies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such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as glue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stain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2090"/>
                        </a:lnSpc>
                        <a:spcBef>
                          <a:spcPts val="7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$840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">
                        <a:lnSpc>
                          <a:spcPts val="2090"/>
                        </a:lnSpc>
                        <a:spcBef>
                          <a:spcPts val="7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Hydro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90"/>
                        </a:lnSpc>
                        <a:spcBef>
                          <a:spcPts val="73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1,230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0">
                        <a:lnSpc>
                          <a:spcPts val="2085"/>
                        </a:lnSpc>
                        <a:spcBef>
                          <a:spcPts val="73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Machine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maintenance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85"/>
                        </a:lnSpc>
                        <a:spcBef>
                          <a:spcPts val="73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1,250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0">
                        <a:lnSpc>
                          <a:spcPts val="2085"/>
                        </a:lnSpc>
                        <a:spcBef>
                          <a:spcPts val="73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Machine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depreciation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85"/>
                        </a:lnSpc>
                        <a:spcBef>
                          <a:spcPts val="73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3,000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Indirect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labour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16,630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0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spc="-4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budgeted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indirect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costs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$22,950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807710" y="2532223"/>
            <a:ext cx="576580" cy="2696977"/>
          </a:xfrm>
          <a:custGeom>
            <a:avLst/>
            <a:gdLst/>
            <a:ahLst/>
            <a:cxnLst/>
            <a:rect l="l" t="t" r="r" b="b"/>
            <a:pathLst>
              <a:path w="576579" h="2304415">
                <a:moveTo>
                  <a:pt x="0" y="0"/>
                </a:moveTo>
                <a:lnTo>
                  <a:pt x="76589" y="1712"/>
                </a:lnTo>
                <a:lnTo>
                  <a:pt x="145400" y="6547"/>
                </a:lnTo>
                <a:lnTo>
                  <a:pt x="203692" y="14049"/>
                </a:lnTo>
                <a:lnTo>
                  <a:pt x="248722" y="23763"/>
                </a:lnTo>
                <a:lnTo>
                  <a:pt x="288036" y="48006"/>
                </a:lnTo>
                <a:lnTo>
                  <a:pt x="288036" y="1104138"/>
                </a:lnTo>
                <a:lnTo>
                  <a:pt x="298321" y="1116910"/>
                </a:lnTo>
                <a:lnTo>
                  <a:pt x="372379" y="1138094"/>
                </a:lnTo>
                <a:lnTo>
                  <a:pt x="430671" y="1145596"/>
                </a:lnTo>
                <a:lnTo>
                  <a:pt x="499482" y="1150431"/>
                </a:lnTo>
                <a:lnTo>
                  <a:pt x="576072" y="1152144"/>
                </a:lnTo>
                <a:lnTo>
                  <a:pt x="499482" y="1153856"/>
                </a:lnTo>
                <a:lnTo>
                  <a:pt x="430671" y="1158691"/>
                </a:lnTo>
                <a:lnTo>
                  <a:pt x="372379" y="1166193"/>
                </a:lnTo>
                <a:lnTo>
                  <a:pt x="327349" y="1175907"/>
                </a:lnTo>
                <a:lnTo>
                  <a:pt x="288036" y="1200150"/>
                </a:lnTo>
                <a:lnTo>
                  <a:pt x="288036" y="2256282"/>
                </a:lnTo>
                <a:lnTo>
                  <a:pt x="277750" y="2269054"/>
                </a:lnTo>
                <a:lnTo>
                  <a:pt x="248722" y="2280524"/>
                </a:lnTo>
                <a:lnTo>
                  <a:pt x="203692" y="2290238"/>
                </a:lnTo>
                <a:lnTo>
                  <a:pt x="145400" y="2297740"/>
                </a:lnTo>
                <a:lnTo>
                  <a:pt x="76589" y="2302575"/>
                </a:lnTo>
                <a:lnTo>
                  <a:pt x="0" y="2304288"/>
                </a:lnTo>
              </a:path>
            </a:pathLst>
          </a:custGeom>
          <a:ln w="381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22838" y="2589514"/>
            <a:ext cx="5262880" cy="255460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23189" marR="118110" indent="2540" algn="ctr">
              <a:lnSpc>
                <a:spcPct val="100000"/>
              </a:lnSpc>
              <a:spcBef>
                <a:spcPts val="295"/>
              </a:spcBef>
            </a:pP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Machine hours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 cost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driver </a:t>
            </a:r>
            <a:r>
              <a:rPr sz="2000" dirty="0">
                <a:latin typeface="Arial MT"/>
                <a:cs typeface="Arial MT"/>
              </a:rPr>
              <a:t>for the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indirect costs. The budgeted machine hours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 the year are based on the production of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4,200 curve blocks at 0.30 hours each and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3,600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square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0.50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hours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each.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 hours used to produce the 350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curve blocks are the same as the budgeted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level.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0906" y="5935217"/>
            <a:ext cx="1150366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≠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Applied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OH?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575464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6EF52AE-5DF0-F7D0-A680-B99020E93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Renaissance</a:t>
            </a:r>
            <a:r>
              <a:rPr lang="en-CA" sz="1800" spc="-50" dirty="0"/>
              <a:t> </a:t>
            </a:r>
            <a:r>
              <a:rPr lang="en-CA" sz="1800" spc="-10" dirty="0"/>
              <a:t>Wood</a:t>
            </a:r>
            <a:r>
              <a:rPr lang="en-CA" sz="1800" spc="-15" dirty="0"/>
              <a:t> </a:t>
            </a:r>
            <a:r>
              <a:rPr lang="en-CA" sz="1800" dirty="0"/>
              <a:t>Products</a:t>
            </a:r>
            <a:r>
              <a:rPr lang="en-CA" sz="1800" spc="-25" dirty="0"/>
              <a:t> </a:t>
            </a:r>
            <a:r>
              <a:rPr lang="en-CA" sz="1800" dirty="0"/>
              <a:t>Ltd.</a:t>
            </a:r>
            <a:r>
              <a:rPr lang="en-CA" sz="1800" spc="-25" dirty="0"/>
              <a:t> </a:t>
            </a:r>
            <a:r>
              <a:rPr lang="en-CA" sz="1800" dirty="0"/>
              <a:t>(cont’d)</a:t>
            </a:r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6377305" cy="188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Source: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CPA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Intermediate</a:t>
            </a:r>
            <a:r>
              <a:rPr sz="18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Accounting</a:t>
            </a:r>
            <a:r>
              <a:rPr sz="18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Primer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Required:</a:t>
            </a:r>
            <a:endParaRPr sz="22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SzPct val="79545"/>
              <a:buAutoNum type="arabicPeriod"/>
              <a:tabLst>
                <a:tab pos="469900" algn="l"/>
                <a:tab pos="470534" algn="l"/>
              </a:tabLst>
            </a:pPr>
            <a:r>
              <a:rPr sz="2200" spc="-5" dirty="0">
                <a:latin typeface="Arial MT"/>
                <a:cs typeface="Arial MT"/>
              </a:rPr>
              <a:t>Calculate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total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cost for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350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curve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blocks.</a:t>
            </a:r>
            <a:endParaRPr sz="2200" dirty="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1130"/>
              </a:spcBef>
              <a:buSzPct val="79545"/>
              <a:buAutoNum type="arabicPeriod"/>
              <a:tabLst>
                <a:tab pos="469900" algn="l"/>
                <a:tab pos="470534" algn="l"/>
              </a:tabLst>
            </a:pPr>
            <a:r>
              <a:rPr sz="2200" spc="-5" dirty="0">
                <a:latin typeface="Arial MT"/>
                <a:cs typeface="Arial MT"/>
              </a:rPr>
              <a:t>Calculate a unit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block.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2110" y="819247"/>
            <a:ext cx="2325827" cy="7650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0822" y="3934205"/>
            <a:ext cx="1150366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300"/>
              </a:spcBef>
            </a:pPr>
            <a:r>
              <a:rPr sz="2400" spc="-10" dirty="0">
                <a:latin typeface="Arial MT"/>
                <a:cs typeface="Arial MT"/>
              </a:rPr>
              <a:t>Renaissance’s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pricing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policy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to mark </a:t>
            </a:r>
            <a:r>
              <a:rPr sz="2400" spc="-5" dirty="0">
                <a:latin typeface="Arial MT"/>
                <a:cs typeface="Arial MT"/>
              </a:rPr>
              <a:t>up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its products by 50%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product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13497" y="5037582"/>
            <a:ext cx="4537075" cy="424180"/>
          </a:xfrm>
          <a:prstGeom prst="rect">
            <a:avLst/>
          </a:prstGeom>
          <a:ln w="38100">
            <a:solidFill>
              <a:srgbClr val="ED037C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65"/>
              </a:spcBef>
            </a:pPr>
            <a:r>
              <a:rPr sz="2400" spc="-5" dirty="0">
                <a:latin typeface="Arial MT"/>
                <a:cs typeface="Arial MT"/>
              </a:rPr>
              <a:t>Knowing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Costs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important…</a:t>
            </a:r>
          </a:p>
        </p:txBody>
      </p:sp>
    </p:spTree>
    <p:extLst>
      <p:ext uri="{BB962C8B-B14F-4D97-AF65-F5344CB8AC3E}">
        <p14:creationId xmlns:p14="http://schemas.microsoft.com/office/powerpoint/2010/main" val="17249190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89AB058-C002-C015-4AEB-4ACC0576D4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Renaissance</a:t>
            </a:r>
            <a:r>
              <a:rPr lang="en-CA" sz="1800" spc="-50" dirty="0"/>
              <a:t> </a:t>
            </a:r>
            <a:r>
              <a:rPr lang="en-CA" sz="1800" spc="-10" dirty="0"/>
              <a:t>Wood</a:t>
            </a:r>
            <a:r>
              <a:rPr lang="en-CA" sz="1800" spc="-15" dirty="0"/>
              <a:t> </a:t>
            </a:r>
            <a:r>
              <a:rPr lang="en-CA" sz="1800" dirty="0"/>
              <a:t>Products</a:t>
            </a:r>
            <a:r>
              <a:rPr lang="en-CA" sz="1800" spc="-25" dirty="0"/>
              <a:t> </a:t>
            </a:r>
            <a:r>
              <a:rPr lang="en-CA" sz="1800" dirty="0"/>
              <a:t>Ltd.</a:t>
            </a:r>
            <a:r>
              <a:rPr lang="en-CA" sz="1800" spc="-25" dirty="0"/>
              <a:t> </a:t>
            </a:r>
            <a:r>
              <a:rPr lang="en-CA" sz="1800" dirty="0"/>
              <a:t>(cont’d)</a:t>
            </a:r>
            <a:endParaRPr lang="en-CA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31304" y="1673190"/>
          <a:ext cx="7409180" cy="3657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Step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1)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Identify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object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2)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Identify and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 track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3)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Identify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indirect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4)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Select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 allocation</a:t>
                      </a:r>
                      <a:r>
                        <a:rPr sz="24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basis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indirect</a:t>
                      </a:r>
                      <a:r>
                        <a:rPr sz="2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5)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Compute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rate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indirect</a:t>
                      </a:r>
                      <a:r>
                        <a:rPr sz="2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 allocation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6)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Allocate</a:t>
                      </a:r>
                      <a:r>
                        <a:rPr sz="2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indirect</a:t>
                      </a:r>
                      <a:r>
                        <a:rPr sz="2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object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7)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Compute</a:t>
                      </a:r>
                      <a:r>
                        <a:rPr sz="2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the cost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object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8368" y="702454"/>
            <a:ext cx="2325827" cy="76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559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D444181-C607-175C-8664-6E0BB79672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Renaissance</a:t>
            </a:r>
            <a:r>
              <a:rPr lang="en-CA" sz="1800" spc="-50" dirty="0"/>
              <a:t> </a:t>
            </a:r>
            <a:r>
              <a:rPr lang="en-CA" sz="1800" spc="-10" dirty="0"/>
              <a:t>Wood</a:t>
            </a:r>
            <a:r>
              <a:rPr lang="en-CA" sz="1800" spc="-15" dirty="0"/>
              <a:t> </a:t>
            </a:r>
            <a:r>
              <a:rPr lang="en-CA" sz="1800" dirty="0"/>
              <a:t>Products</a:t>
            </a:r>
            <a:r>
              <a:rPr lang="en-CA" sz="1800" spc="-25" dirty="0"/>
              <a:t> </a:t>
            </a:r>
            <a:r>
              <a:rPr lang="en-CA" sz="1800" dirty="0"/>
              <a:t>Ltd.</a:t>
            </a:r>
            <a:r>
              <a:rPr lang="en-CA" sz="1800" spc="-25" dirty="0"/>
              <a:t> </a:t>
            </a:r>
            <a:r>
              <a:rPr lang="en-CA" sz="1800" dirty="0"/>
              <a:t>(cont’d)</a:t>
            </a:r>
            <a:endParaRPr lang="en-CA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8368" y="596266"/>
            <a:ext cx="2325827" cy="7650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1216" y="836712"/>
            <a:ext cx="7681008" cy="5672707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469900" algn="l"/>
                <a:tab pos="470534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</a:t>
            </a:r>
            <a:r>
              <a:rPr sz="2400" b="1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Object</a:t>
            </a:r>
            <a:endParaRPr sz="2400" dirty="0">
              <a:latin typeface="Arial"/>
              <a:cs typeface="Arial"/>
            </a:endParaRPr>
          </a:p>
          <a:p>
            <a:pPr marL="919480" lvl="1" indent="-457834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  <a:tab pos="920115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350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curve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5620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Direct</a:t>
            </a:r>
            <a:r>
              <a:rPr sz="2400" b="1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Costs</a:t>
            </a:r>
            <a:endParaRPr lang="en-CA" sz="2400" b="1" u="heavy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065">
              <a:lnSpc>
                <a:spcPct val="100000"/>
              </a:lnSpc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r>
              <a:rPr lang="en-CA" sz="2400" u="sng" spc="-5" dirty="0">
                <a:latin typeface="Arial" panose="020B0604020202020204" pitchFamily="34" charset="0"/>
                <a:cs typeface="Arial" panose="020B0604020202020204" pitchFamily="34" charset="0"/>
              </a:rPr>
              <a:t>Direct Materials </a:t>
            </a:r>
          </a:p>
          <a:p>
            <a:pPr marL="12065">
              <a:lnSpc>
                <a:spcPct val="100000"/>
              </a:lnSpc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r>
              <a:rPr lang="en-CA" sz="2400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Opening Balance     $500</a:t>
            </a:r>
          </a:p>
          <a:p>
            <a:pPr marL="12065">
              <a:lnSpc>
                <a:spcPct val="100000"/>
              </a:lnSpc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r>
              <a:rPr lang="en-CA" sz="2400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Purchases   	        $1,000</a:t>
            </a:r>
          </a:p>
          <a:p>
            <a:pPr marL="12065">
              <a:lnSpc>
                <a:spcPct val="100000"/>
              </a:lnSpc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r>
              <a:rPr lang="en-CA" sz="2400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Less Ending             </a:t>
            </a:r>
            <a:r>
              <a:rPr lang="en-CA" sz="2400" u="sng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(625)</a:t>
            </a:r>
          </a:p>
          <a:p>
            <a:pPr marL="12065">
              <a:lnSpc>
                <a:spcPct val="100000"/>
              </a:lnSpc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r>
              <a:rPr lang="en-CA" sz="2400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$875</a:t>
            </a:r>
          </a:p>
          <a:p>
            <a:pPr marL="12065"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r>
              <a:rPr lang="en-US" sz="2400" u="sng" spc="-5" dirty="0">
                <a:latin typeface="Arial" panose="020B0604020202020204" pitchFamily="34" charset="0"/>
                <a:cs typeface="Arial" panose="020B0604020202020204" pitchFamily="34" charset="0"/>
              </a:rPr>
              <a:t>Direct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u="sng" spc="-5" dirty="0" err="1">
                <a:latin typeface="Arial" panose="020B0604020202020204" pitchFamily="34" charset="0"/>
                <a:cs typeface="Arial" panose="020B0604020202020204" pitchFamily="34" charset="0"/>
              </a:rPr>
              <a:t>Labour</a:t>
            </a:r>
            <a:r>
              <a:rPr lang="en-US" sz="2400" spc="-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2065"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r>
              <a:rPr lang="en-US" sz="2400" spc="-5" dirty="0">
                <a:latin typeface="Arial" panose="020B0604020202020204" pitchFamily="34" charset="0"/>
                <a:cs typeface="Arial" panose="020B0604020202020204" pitchFamily="34" charset="0"/>
              </a:rPr>
              <a:t>52.50</a:t>
            </a:r>
            <a:r>
              <a:rPr lang="en-US" sz="2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 dirty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  <a:r>
              <a:rPr lang="en-US" sz="24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 dirty="0">
                <a:latin typeface="Arial" panose="020B0604020202020204" pitchFamily="34" charset="0"/>
                <a:cs typeface="Arial" panose="020B0604020202020204" pitchFamily="34" charset="0"/>
              </a:rPr>
              <a:t>$25/hour</a:t>
            </a:r>
            <a:r>
              <a:rPr lang="en-US" sz="2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 dirty="0">
                <a:latin typeface="Arial" panose="020B0604020202020204" pitchFamily="34" charset="0"/>
                <a:cs typeface="Arial" panose="020B0604020202020204" pitchFamily="34" charset="0"/>
              </a:rPr>
              <a:t>$1,312.50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>
              <a:lnSpc>
                <a:spcPct val="100000"/>
              </a:lnSpc>
              <a:spcBef>
                <a:spcPts val="1180"/>
              </a:spcBef>
              <a:buSzPct val="79166"/>
              <a:tabLst>
                <a:tab pos="527685" algn="l"/>
                <a:tab pos="528320" algn="l"/>
              </a:tabLst>
            </a:pPr>
            <a:endParaRPr lang="en-CA" u="sng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96402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6423691-BD0E-207F-401C-81B0B8E86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sz="1800" dirty="0"/>
              <a:t>Renaissance</a:t>
            </a:r>
            <a:r>
              <a:rPr lang="en-CA" sz="1800" spc="-50" dirty="0"/>
              <a:t> </a:t>
            </a:r>
            <a:r>
              <a:rPr lang="en-CA" sz="1800" spc="-10" dirty="0"/>
              <a:t>Wood</a:t>
            </a:r>
            <a:r>
              <a:rPr lang="en-CA" sz="1800" spc="-15" dirty="0"/>
              <a:t> </a:t>
            </a:r>
            <a:r>
              <a:rPr lang="en-CA" sz="1800" dirty="0"/>
              <a:t>Products</a:t>
            </a:r>
            <a:r>
              <a:rPr lang="en-CA" sz="1800" spc="-25" dirty="0"/>
              <a:t> </a:t>
            </a:r>
            <a:r>
              <a:rPr lang="en-CA" sz="1800" dirty="0"/>
              <a:t>Ltd.</a:t>
            </a:r>
            <a:r>
              <a:rPr lang="en-CA" sz="1800" spc="-25" dirty="0"/>
              <a:t> </a:t>
            </a:r>
            <a:r>
              <a:rPr lang="en-CA" sz="1800" dirty="0"/>
              <a:t>(cont’d)</a:t>
            </a:r>
            <a:endParaRPr lang="en-CA" spc="-5" dirty="0">
              <a:latin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8368" y="608788"/>
            <a:ext cx="2325827" cy="7650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4019" y="1361313"/>
            <a:ext cx="10778490" cy="4041491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75"/>
              </a:spcBef>
              <a:buSzPct val="79166"/>
              <a:buAutoNum type="arabicPeriod" startAt="3"/>
              <a:tabLst>
                <a:tab pos="469900" algn="l"/>
                <a:tab pos="470534" algn="l"/>
              </a:tabLst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Indirect</a:t>
            </a:r>
            <a:r>
              <a:rPr sz="2400" b="1" u="heavy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Costs</a:t>
            </a:r>
            <a:endParaRPr sz="2400" dirty="0">
              <a:latin typeface="Arial"/>
              <a:cs typeface="Arial"/>
            </a:endParaRPr>
          </a:p>
          <a:p>
            <a:pPr marL="919480" lvl="1" indent="-457834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  <a:tab pos="920115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$22,950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5620">
              <a:lnSpc>
                <a:spcPct val="100000"/>
              </a:lnSpc>
              <a:spcBef>
                <a:spcPts val="1180"/>
              </a:spcBef>
              <a:buSzPct val="79166"/>
              <a:buAutoNum type="arabicPeriod" startAt="3"/>
              <a:tabLst>
                <a:tab pos="527685" algn="l"/>
                <a:tab pos="528320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</a:t>
            </a:r>
            <a:r>
              <a:rPr sz="2400" b="1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Allocation</a:t>
            </a:r>
            <a:r>
              <a:rPr sz="2400" b="1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Basis</a:t>
            </a:r>
            <a:endParaRPr sz="2400" dirty="0">
              <a:latin typeface="Arial"/>
              <a:cs typeface="Arial"/>
            </a:endParaRPr>
          </a:p>
          <a:p>
            <a:pPr marL="977265" lvl="1" indent="-51562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77265" algn="l"/>
                <a:tab pos="977900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  <a:r>
              <a:rPr sz="2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(4,200</a:t>
            </a:r>
            <a:r>
              <a:rPr sz="24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curve</a:t>
            </a:r>
            <a:r>
              <a:rPr sz="24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0.30</a:t>
            </a:r>
            <a:r>
              <a:rPr sz="24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24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3,600</a:t>
            </a:r>
            <a:r>
              <a:rPr sz="24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r>
              <a:rPr sz="2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r>
              <a:rPr sz="24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7265">
              <a:lnSpc>
                <a:spcPct val="100000"/>
              </a:lnSpc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0.50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3670" indent="-51435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1423670" algn="l"/>
                <a:tab pos="1424305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3,060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5620">
              <a:lnSpc>
                <a:spcPct val="100000"/>
              </a:lnSpc>
              <a:spcBef>
                <a:spcPts val="1175"/>
              </a:spcBef>
              <a:buSzPct val="79166"/>
              <a:buAutoNum type="arabicPeriod" startAt="5"/>
              <a:tabLst>
                <a:tab pos="527685" algn="l"/>
                <a:tab pos="528320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Compute rate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of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indirect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allocation</a:t>
            </a:r>
            <a:endParaRPr sz="2400" dirty="0">
              <a:latin typeface="Arial"/>
              <a:cs typeface="Arial"/>
            </a:endParaRPr>
          </a:p>
          <a:p>
            <a:pPr marL="977265" lvl="1" indent="-51562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77265" algn="l"/>
                <a:tab pos="977900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for</a:t>
            </a:r>
            <a:r>
              <a:rPr sz="24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DMH: $22,950</a:t>
            </a:r>
            <a:r>
              <a:rPr sz="24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3,060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$7.5/hr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89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28F7AF8A-5C0A-95BD-B7B0-8E645F759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Renaissance</a:t>
            </a:r>
            <a:r>
              <a:rPr lang="en-CA" sz="1800" spc="-50" dirty="0"/>
              <a:t> </a:t>
            </a:r>
            <a:r>
              <a:rPr lang="en-CA" sz="1800" spc="-10" dirty="0"/>
              <a:t>Wood</a:t>
            </a:r>
            <a:r>
              <a:rPr lang="en-CA" sz="1800" spc="-15" dirty="0"/>
              <a:t> </a:t>
            </a:r>
            <a:r>
              <a:rPr lang="en-CA" sz="1800" dirty="0"/>
              <a:t>Products</a:t>
            </a:r>
            <a:r>
              <a:rPr lang="en-CA" sz="1800" spc="-25" dirty="0"/>
              <a:t> </a:t>
            </a:r>
            <a:r>
              <a:rPr lang="en-CA" sz="1800" dirty="0"/>
              <a:t>Ltd.</a:t>
            </a:r>
            <a:r>
              <a:rPr lang="en-CA" sz="1800" spc="-25" dirty="0"/>
              <a:t> </a:t>
            </a:r>
            <a:r>
              <a:rPr lang="en-CA" sz="1800" dirty="0"/>
              <a:t>(cont’d)</a:t>
            </a:r>
            <a:endParaRPr lang="en-CA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0292" y="646235"/>
            <a:ext cx="2325827" cy="7650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4019" y="1361313"/>
            <a:ext cx="5798185" cy="207454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75"/>
              </a:spcBef>
              <a:buSzPct val="79166"/>
              <a:buAutoNum type="arabicPeriod" startAt="6"/>
              <a:tabLst>
                <a:tab pos="469900" algn="l"/>
                <a:tab pos="470534" algn="l"/>
              </a:tabLst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Allocate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indirect</a:t>
            </a:r>
            <a:r>
              <a:rPr sz="2400" b="1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costs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to</a:t>
            </a:r>
            <a:r>
              <a:rPr sz="2400" b="1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object</a:t>
            </a:r>
            <a:endParaRPr sz="2400" dirty="0">
              <a:latin typeface="Arial"/>
              <a:cs typeface="Arial"/>
            </a:endParaRPr>
          </a:p>
          <a:p>
            <a:pPr marL="919480" lvl="1" indent="-457834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  <a:tab pos="920115" algn="l"/>
              </a:tabLst>
            </a:pPr>
            <a:r>
              <a:rPr sz="2400" spc="-5" dirty="0">
                <a:latin typeface="Arial MT"/>
                <a:cs typeface="Arial MT"/>
              </a:rPr>
              <a:t>$7.50/hr * 350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* </a:t>
            </a:r>
            <a:r>
              <a:rPr sz="2400" dirty="0">
                <a:latin typeface="Arial MT"/>
                <a:cs typeface="Arial MT"/>
              </a:rPr>
              <a:t>.3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hours</a:t>
            </a:r>
            <a:endParaRPr sz="2400" dirty="0">
              <a:latin typeface="Arial MT"/>
              <a:cs typeface="Arial MT"/>
            </a:endParaRPr>
          </a:p>
          <a:p>
            <a:pPr marL="1367790" lvl="2" indent="-457834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1367155" algn="l"/>
                <a:tab pos="1367790" algn="l"/>
              </a:tabLst>
            </a:pPr>
            <a:r>
              <a:rPr sz="2400" spc="-5" dirty="0">
                <a:latin typeface="Arial MT"/>
                <a:cs typeface="Arial MT"/>
              </a:rPr>
              <a:t>$787.50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900" b="1" spc="5" dirty="0">
                <a:latin typeface="Arial"/>
                <a:cs typeface="Arial"/>
              </a:rPr>
              <a:t>7.</a:t>
            </a:r>
            <a:endParaRPr sz="19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0758" y="3134614"/>
          <a:ext cx="5687911" cy="2743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3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5"/>
                        </a:lnSpc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Compute</a:t>
                      </a:r>
                      <a:r>
                        <a:rPr sz="24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40" dirty="0">
                          <a:latin typeface="Arial"/>
                          <a:cs typeface="Arial"/>
                        </a:rPr>
                        <a:t>Total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105"/>
                        </a:lnSpc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lang="en-CA" sz="2400" b="1" dirty="0">
                          <a:latin typeface="Arial"/>
                          <a:cs typeface="Arial"/>
                        </a:rPr>
                        <a:t>t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Materials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$875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Labour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$1,312.50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MOH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$787.50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5" dirty="0">
                          <a:latin typeface="Arial MT"/>
                          <a:cs typeface="Arial MT"/>
                        </a:rPr>
                        <a:t>Total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$2,975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" dirty="0">
                          <a:latin typeface="Arial MT"/>
                          <a:cs typeface="Arial MT"/>
                        </a:rPr>
                        <a:t>(350)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$8.50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368669" y="3573398"/>
            <a:ext cx="576580" cy="2304415"/>
          </a:xfrm>
          <a:custGeom>
            <a:avLst/>
            <a:gdLst/>
            <a:ahLst/>
            <a:cxnLst/>
            <a:rect l="l" t="t" r="r" b="b"/>
            <a:pathLst>
              <a:path w="576579" h="2304415">
                <a:moveTo>
                  <a:pt x="0" y="0"/>
                </a:moveTo>
                <a:lnTo>
                  <a:pt x="76589" y="1712"/>
                </a:lnTo>
                <a:lnTo>
                  <a:pt x="145400" y="6547"/>
                </a:lnTo>
                <a:lnTo>
                  <a:pt x="203692" y="14049"/>
                </a:lnTo>
                <a:lnTo>
                  <a:pt x="248722" y="23763"/>
                </a:lnTo>
                <a:lnTo>
                  <a:pt x="288036" y="48006"/>
                </a:lnTo>
                <a:lnTo>
                  <a:pt x="288036" y="1104138"/>
                </a:lnTo>
                <a:lnTo>
                  <a:pt x="298321" y="1116910"/>
                </a:lnTo>
                <a:lnTo>
                  <a:pt x="372379" y="1138094"/>
                </a:lnTo>
                <a:lnTo>
                  <a:pt x="430671" y="1145596"/>
                </a:lnTo>
                <a:lnTo>
                  <a:pt x="499482" y="1150431"/>
                </a:lnTo>
                <a:lnTo>
                  <a:pt x="576072" y="1152144"/>
                </a:lnTo>
                <a:lnTo>
                  <a:pt x="499482" y="1153856"/>
                </a:lnTo>
                <a:lnTo>
                  <a:pt x="430671" y="1158691"/>
                </a:lnTo>
                <a:lnTo>
                  <a:pt x="372379" y="1166193"/>
                </a:lnTo>
                <a:lnTo>
                  <a:pt x="327349" y="1175907"/>
                </a:lnTo>
                <a:lnTo>
                  <a:pt x="288036" y="1200150"/>
                </a:lnTo>
                <a:lnTo>
                  <a:pt x="288036" y="2256282"/>
                </a:lnTo>
                <a:lnTo>
                  <a:pt x="277750" y="2269045"/>
                </a:lnTo>
                <a:lnTo>
                  <a:pt x="248722" y="2280513"/>
                </a:lnTo>
                <a:lnTo>
                  <a:pt x="203692" y="2290229"/>
                </a:lnTo>
                <a:lnTo>
                  <a:pt x="145400" y="2297734"/>
                </a:lnTo>
                <a:lnTo>
                  <a:pt x="76589" y="2302573"/>
                </a:lnTo>
                <a:lnTo>
                  <a:pt x="0" y="2304288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28866" y="4437126"/>
            <a:ext cx="4424680" cy="83248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Issue: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Machine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Hours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driver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indirect</a:t>
            </a:r>
            <a:r>
              <a:rPr sz="2400" dirty="0">
                <a:latin typeface="Arial MT"/>
                <a:cs typeface="Arial MT"/>
              </a:rPr>
              <a:t> costs?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079725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C3E0-7D45-AB90-C276-DD5A0095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64085498-12E6-5213-439F-E8E5814DCB8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BFCCDF2-6264-5344-68CB-4C52EA253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Let’s apply</a:t>
            </a:r>
            <a:endParaRPr lang="en-CA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2F801C9-8857-01AE-9C1C-F2F2D75C23F1}"/>
              </a:ext>
            </a:extLst>
          </p:cNvPr>
          <p:cNvSpPr txBox="1"/>
          <p:nvPr/>
        </p:nvSpPr>
        <p:spPr>
          <a:xfrm>
            <a:off x="455686" y="1052736"/>
            <a:ext cx="10464849" cy="455894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066">
              <a:lnSpc>
                <a:spcPct val="100000"/>
              </a:lnSpc>
              <a:spcBef>
                <a:spcPts val="1275"/>
              </a:spcBef>
              <a:buSzPct val="79166"/>
              <a:tabLst>
                <a:tab pos="469900" algn="l"/>
                <a:tab pos="470534" algn="l"/>
              </a:tabLst>
            </a:pPr>
            <a:r>
              <a:rPr lang="en-CA" sz="1900" dirty="0">
                <a:latin typeface="Arial"/>
                <a:cs typeface="Arial"/>
              </a:rPr>
              <a:t>Try to complete the student handout in Class 3 module.</a:t>
            </a:r>
            <a:endParaRPr sz="1900" dirty="0">
              <a:latin typeface="Arial"/>
              <a:cs typeface="Arial"/>
            </a:endParaRPr>
          </a:p>
        </p:txBody>
      </p:sp>
      <p:pic>
        <p:nvPicPr>
          <p:cNvPr id="10" name="Picture 9" descr="A screenshot of a document&#10;&#10;AI-generated content may be incorrect.">
            <a:extLst>
              <a:ext uri="{FF2B5EF4-FFF2-40B4-BE49-F238E27FC236}">
                <a16:creationId xmlns:a16="http://schemas.microsoft.com/office/drawing/2014/main" id="{F2FAAB0F-3228-B3B7-A60C-CB69B2F78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04" y="1723937"/>
            <a:ext cx="5287580" cy="4225343"/>
          </a:xfrm>
          <a:prstGeom prst="rect">
            <a:avLst/>
          </a:prstGeom>
        </p:spPr>
      </p:pic>
      <p:pic>
        <p:nvPicPr>
          <p:cNvPr id="12" name="Picture 11" descr="A table of steps with text&#10;&#10;AI-generated content may be incorrect.">
            <a:extLst>
              <a:ext uri="{FF2B5EF4-FFF2-40B4-BE49-F238E27FC236}">
                <a16:creationId xmlns:a16="http://schemas.microsoft.com/office/drawing/2014/main" id="{B5866BAB-8462-F474-C829-A01431B78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1628800"/>
            <a:ext cx="5112568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29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8B68-D4C1-7D94-C12E-67AC2E3A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5A345532-2772-BBDB-54D6-C0F35C41686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DE864034-C80F-D2C3-EE54-F1F5D3901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sz="1800" dirty="0"/>
              <a:t>Let’s apply</a:t>
            </a:r>
            <a:endParaRPr lang="en-CA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FC59026-3A0A-9BD6-C637-45DDADFEB215}"/>
              </a:ext>
            </a:extLst>
          </p:cNvPr>
          <p:cNvSpPr txBox="1"/>
          <p:nvPr/>
        </p:nvSpPr>
        <p:spPr>
          <a:xfrm>
            <a:off x="248765" y="705834"/>
            <a:ext cx="10464849" cy="455894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066">
              <a:lnSpc>
                <a:spcPct val="100000"/>
              </a:lnSpc>
              <a:spcBef>
                <a:spcPts val="1275"/>
              </a:spcBef>
              <a:buSzPct val="79166"/>
              <a:tabLst>
                <a:tab pos="469900" algn="l"/>
                <a:tab pos="470534" algn="l"/>
              </a:tabLst>
            </a:pPr>
            <a:r>
              <a:rPr lang="en-CA" sz="1900" dirty="0">
                <a:latin typeface="Arial"/>
                <a:cs typeface="Arial"/>
              </a:rPr>
              <a:t>Try to complete the student handout in Class 3 module.</a:t>
            </a:r>
            <a:endParaRPr sz="1900" dirty="0">
              <a:latin typeface="Arial"/>
              <a:cs typeface="Arial"/>
            </a:endParaRPr>
          </a:p>
        </p:txBody>
      </p:sp>
      <p:pic>
        <p:nvPicPr>
          <p:cNvPr id="3" name="Picture 2" descr="A screenshot of a document&#10;&#10;AI-generated content may be incorrect.">
            <a:extLst>
              <a:ext uri="{FF2B5EF4-FFF2-40B4-BE49-F238E27FC236}">
                <a16:creationId xmlns:a16="http://schemas.microsoft.com/office/drawing/2014/main" id="{99327DF6-4A48-2AA7-A088-FE23897A8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65" y="1556792"/>
            <a:ext cx="5343180" cy="4464496"/>
          </a:xfrm>
          <a:prstGeom prst="rect">
            <a:avLst/>
          </a:prstGeom>
        </p:spPr>
      </p:pic>
      <p:pic>
        <p:nvPicPr>
          <p:cNvPr id="6" name="Picture 5" descr="A document with a number of text&#10;&#10;AI-generated content may be incorrect.">
            <a:extLst>
              <a:ext uri="{FF2B5EF4-FFF2-40B4-BE49-F238E27FC236}">
                <a16:creationId xmlns:a16="http://schemas.microsoft.com/office/drawing/2014/main" id="{FBBC6621-AA3B-2CFF-1C28-40FEDF2C7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764704"/>
            <a:ext cx="514130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355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103E23-3D7C-4E39-9DD5-75683B020A9E}">
  <ds:schemaRefs>
    <ds:schemaRef ds:uri="http://schemas.microsoft.com/office/2006/documentManagement/types"/>
    <ds:schemaRef ds:uri="c18c8954-ab2f-4275-a5d7-b9aa33856ba2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purl.org/dc/terms/"/>
    <ds:schemaRef ds:uri="7e677d30-5ff7-4313-a396-6d249a69ab27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10743</TotalTime>
  <Words>4035</Words>
  <Application>Microsoft Office PowerPoint</Application>
  <PresentationFormat>Widescreen</PresentationFormat>
  <Paragraphs>860</Paragraphs>
  <Slides>58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Arial MT</vt:lpstr>
      <vt:lpstr>Times New Roman</vt:lpstr>
      <vt:lpstr>Wingdings</vt:lpstr>
      <vt:lpstr>MS PGothic</vt:lpstr>
      <vt:lpstr>Arial</vt:lpstr>
      <vt:lpstr>Calibri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    RSM222 Management Accounting 1  Class 3: CVP Analysis &amp; Introduction to Costing Systems </vt:lpstr>
      <vt:lpstr>PowerPoint Presentation</vt:lpstr>
      <vt:lpstr>CVP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 even analysis</vt:lpstr>
      <vt:lpstr>IN CLASS EXAMPLE</vt:lpstr>
      <vt:lpstr>PowerPoint Presentation</vt:lpstr>
      <vt:lpstr>PowerPoint Presentation</vt:lpstr>
      <vt:lpstr>Revenues – Variable Costs – Fixed Costs = 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 Costing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Elisa Zuliani</cp:lastModifiedBy>
  <cp:revision>187</cp:revision>
  <cp:lastPrinted>2025-09-11T22:16:33Z</cp:lastPrinted>
  <dcterms:created xsi:type="dcterms:W3CDTF">2013-07-26T14:57:40Z</dcterms:created>
  <dcterms:modified xsi:type="dcterms:W3CDTF">2025-09-16T16:22:45Z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