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5.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6.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92" r:id="rId4"/>
    <p:sldMasterId id="2147483759" r:id="rId5"/>
    <p:sldMasterId id="2147483769" r:id="rId6"/>
    <p:sldMasterId id="2147483779" r:id="rId7"/>
    <p:sldMasterId id="2147483789" r:id="rId8"/>
    <p:sldMasterId id="2147483799" r:id="rId9"/>
    <p:sldMasterId id="2147483827" r:id="rId10"/>
  </p:sldMasterIdLst>
  <p:notesMasterIdLst>
    <p:notesMasterId r:id="rId24"/>
  </p:notesMasterIdLst>
  <p:sldIdLst>
    <p:sldId id="256" r:id="rId11"/>
    <p:sldId id="709" r:id="rId12"/>
    <p:sldId id="272" r:id="rId13"/>
    <p:sldId id="707" r:id="rId14"/>
    <p:sldId id="274" r:id="rId15"/>
    <p:sldId id="275" r:id="rId16"/>
    <p:sldId id="276" r:id="rId17"/>
    <p:sldId id="708" r:id="rId18"/>
    <p:sldId id="278" r:id="rId19"/>
    <p:sldId id="279" r:id="rId20"/>
    <p:sldId id="280" r:id="rId21"/>
    <p:sldId id="281" r:id="rId22"/>
    <p:sldId id="706" r:id="rId23"/>
  </p:sldIdLst>
  <p:sldSz cx="12192000" cy="6858000"/>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940" userDrawn="1">
          <p15:clr>
            <a:srgbClr val="A4A3A4"/>
          </p15:clr>
        </p15:guide>
      </p15:sldGuideLst>
    </p:ext>
    <p:ext uri="{2D200454-40CA-4A62-9FC3-DE9A4176ACB9}">
      <p15:notesGuideLst xmlns:p15="http://schemas.microsoft.com/office/powerpoint/2012/main">
        <p15:guide id="1" orient="horz" pos="2924" userDrawn="1">
          <p15:clr>
            <a:srgbClr val="A4A3A4"/>
          </p15:clr>
        </p15:guide>
        <p15:guide id="2" pos="220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037C"/>
    <a:srgbClr val="CF55A1"/>
    <a:srgbClr val="EACC1B"/>
    <a:srgbClr val="929292"/>
    <a:srgbClr val="FCAF17"/>
    <a:srgbClr val="CE9D00"/>
    <a:srgbClr val="00C2E2"/>
    <a:srgbClr val="7C98AE"/>
    <a:srgbClr val="FF8C3F"/>
    <a:srgbClr val="3989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95B5DE-7539-46D7-BA15-E71D6767135B}" v="11" dt="2025-09-12T19:40:07.0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94" autoAdjust="0"/>
    <p:restoredTop sz="50000" autoAdjust="0"/>
  </p:normalViewPr>
  <p:slideViewPr>
    <p:cSldViewPr>
      <p:cViewPr varScale="1">
        <p:scale>
          <a:sx n="63" d="100"/>
          <a:sy n="63" d="100"/>
        </p:scale>
        <p:origin x="1072" y="56"/>
      </p:cViewPr>
      <p:guideLst>
        <p:guide orient="horz" pos="2160"/>
        <p:guide pos="3840"/>
        <p:guide pos="394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86" d="100"/>
          <a:sy n="86" d="100"/>
        </p:scale>
        <p:origin x="-2664" y="-96"/>
      </p:cViewPr>
      <p:guideLst>
        <p:guide orient="horz" pos="2924"/>
        <p:guide pos="220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1.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9.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US"/>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0A013A6D-A27B-464A-8085-12C2023C33AE}" type="datetimeFigureOut">
              <a:rPr lang="en-US" smtClean="0"/>
              <a:t>9/16/2025</a:t>
            </a:fld>
            <a:endParaRPr lang="en-US"/>
          </a:p>
        </p:txBody>
      </p:sp>
      <p:sp>
        <p:nvSpPr>
          <p:cNvPr id="4" name="Slide Image Placeholder 3"/>
          <p:cNvSpPr>
            <a:spLocks noGrp="1" noRot="1" noChangeAspect="1"/>
          </p:cNvSpPr>
          <p:nvPr>
            <p:ph type="sldImg" idx="2"/>
          </p:nvPr>
        </p:nvSpPr>
        <p:spPr>
          <a:xfrm>
            <a:off x="398463" y="696913"/>
            <a:ext cx="6188075" cy="3481387"/>
          </a:xfrm>
          <a:prstGeom prst="rect">
            <a:avLst/>
          </a:prstGeom>
          <a:noFill/>
          <a:ln w="12700">
            <a:solidFill>
              <a:prstClr val="black"/>
            </a:solidFill>
          </a:ln>
        </p:spPr>
        <p:txBody>
          <a:bodyPr vert="horz" lIns="92958" tIns="46479" rIns="92958" bIns="46479" rtlCol="0" anchor="ctr"/>
          <a:lstStyle/>
          <a:p>
            <a:endParaRPr lang="en-US"/>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US"/>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99B22804-678A-4588-8318-46D4BE492181}" type="slidenum">
              <a:rPr lang="en-US" smtClean="0"/>
              <a:t>‹#›</a:t>
            </a:fld>
            <a:endParaRPr lang="en-US"/>
          </a:p>
        </p:txBody>
      </p:sp>
    </p:spTree>
    <p:extLst>
      <p:ext uri="{BB962C8B-B14F-4D97-AF65-F5344CB8AC3E}">
        <p14:creationId xmlns:p14="http://schemas.microsoft.com/office/powerpoint/2010/main" val="1042719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ink Blank - Logo Righ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A7E160-31FD-C540-B0FF-DC1FB768641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2060" y="506439"/>
            <a:ext cx="1440161" cy="228497"/>
          </a:xfrm>
          <a:prstGeom prst="rect">
            <a:avLst/>
          </a:prstGeom>
        </p:spPr>
      </p:pic>
      <p:sp>
        <p:nvSpPr>
          <p:cNvPr id="2" name="Title 1"/>
          <p:cNvSpPr>
            <a:spLocks noGrp="1"/>
          </p:cNvSpPr>
          <p:nvPr>
            <p:ph type="ctrTitle"/>
          </p:nvPr>
        </p:nvSpPr>
        <p:spPr>
          <a:xfrm>
            <a:off x="335361" y="274638"/>
            <a:ext cx="9601067" cy="563564"/>
          </a:xfrm>
        </p:spPr>
        <p:txBody>
          <a:bodyPr anchor="b"/>
          <a:lstStyle>
            <a:lvl1pPr>
              <a:defRPr>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540808B1-F63A-459A-967B-8DFF0485F571}"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1770600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nk Title Bar - Top Righ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0ED6BF8-7C6F-6F4F-967B-BD627575E3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413014"/>
            <a:ext cx="1440161" cy="228497"/>
          </a:xfrm>
          <a:prstGeom prst="rect">
            <a:avLst/>
          </a:prstGeom>
        </p:spPr>
      </p:pic>
      <p:sp>
        <p:nvSpPr>
          <p:cNvPr id="15" name="Rectangle 14"/>
          <p:cNvSpPr/>
          <p:nvPr userDrawn="1"/>
        </p:nvSpPr>
        <p:spPr>
          <a:xfrm>
            <a:off x="0" y="838201"/>
            <a:ext cx="12192000" cy="533400"/>
          </a:xfrm>
          <a:prstGeom prst="rect">
            <a:avLst/>
          </a:prstGeom>
          <a:solidFill>
            <a:srgbClr val="ED03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CF302469-71F7-4EB7-9ADA-C10FEDD8CAC6}" type="datetime1">
              <a:rPr lang="en-US" smtClean="0"/>
              <a:pPr/>
              <a:t>9/16/2025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3071208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nk Title Bar - Logo Bottom Right">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8315FBE-0FCD-7A43-A51F-8D7A70A8E2E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
        <p:nvSpPr>
          <p:cNvPr id="15" name="Rectangle 14"/>
          <p:cNvSpPr/>
          <p:nvPr userDrawn="1"/>
        </p:nvSpPr>
        <p:spPr>
          <a:xfrm>
            <a:off x="0" y="838201"/>
            <a:ext cx="12192000" cy="533400"/>
          </a:xfrm>
          <a:prstGeom prst="rect">
            <a:avLst/>
          </a:prstGeom>
          <a:solidFill>
            <a:srgbClr val="ED03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EC8B1D39-4CFA-4E27-9537-9D120A8CD547}" type="datetime1">
              <a:rPr lang="en-US" smtClean="0"/>
              <a:pPr/>
              <a:t>9/16/2025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3372730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ink Half Horizontal">
    <p:spTree>
      <p:nvGrpSpPr>
        <p:cNvPr id="1" name=""/>
        <p:cNvGrpSpPr/>
        <p:nvPr/>
      </p:nvGrpSpPr>
      <p:grpSpPr>
        <a:xfrm>
          <a:off x="0" y="0"/>
          <a:ext cx="0" cy="0"/>
          <a:chOff x="0" y="0"/>
          <a:chExt cx="0" cy="0"/>
        </a:xfrm>
      </p:grpSpPr>
      <p:sp>
        <p:nvSpPr>
          <p:cNvPr id="12" name="Content Placeholder 2"/>
          <p:cNvSpPr>
            <a:spLocks noGrp="1"/>
          </p:cNvSpPr>
          <p:nvPr>
            <p:ph idx="14"/>
          </p:nvPr>
        </p:nvSpPr>
        <p:spPr>
          <a:xfrm>
            <a:off x="0" y="0"/>
            <a:ext cx="12192000" cy="321297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3212976"/>
            <a:ext cx="12192000" cy="3645024"/>
          </a:xfrm>
          <a:prstGeom prst="rect">
            <a:avLst/>
          </a:prstGeom>
          <a:solidFill>
            <a:srgbClr val="ED03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3717032"/>
            <a:ext cx="9601067"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4279106"/>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540094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nk Half Vertical">
    <p:spTree>
      <p:nvGrpSpPr>
        <p:cNvPr id="1" name=""/>
        <p:cNvGrpSpPr/>
        <p:nvPr/>
      </p:nvGrpSpPr>
      <p:grpSpPr>
        <a:xfrm>
          <a:off x="0" y="0"/>
          <a:ext cx="0" cy="0"/>
          <a:chOff x="0" y="0"/>
          <a:chExt cx="0" cy="0"/>
        </a:xfrm>
      </p:grpSpPr>
      <p:sp>
        <p:nvSpPr>
          <p:cNvPr id="12" name="Content Placeholder 2"/>
          <p:cNvSpPr>
            <a:spLocks noGrp="1"/>
          </p:cNvSpPr>
          <p:nvPr>
            <p:ph idx="14"/>
          </p:nvPr>
        </p:nvSpPr>
        <p:spPr>
          <a:xfrm>
            <a:off x="6096000" y="0"/>
            <a:ext cx="6096000" cy="6858000"/>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0"/>
            <a:ext cx="6096000" cy="6858000"/>
          </a:xfrm>
          <a:prstGeom prst="rect">
            <a:avLst/>
          </a:prstGeom>
          <a:solidFill>
            <a:srgbClr val="ED03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1124744"/>
            <a:ext cx="5256583"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1844824"/>
            <a:ext cx="5256583"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3250437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nk Basic - Logo Bottom Righ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B9783AF-9CA9-F643-9710-CDABBD628CA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
        <p:nvSpPr>
          <p:cNvPr id="2" name="Title 1"/>
          <p:cNvSpPr>
            <a:spLocks noGrp="1"/>
          </p:cNvSpPr>
          <p:nvPr>
            <p:ph type="ctrTitle"/>
          </p:nvPr>
        </p:nvSpPr>
        <p:spPr>
          <a:xfrm>
            <a:off x="335361" y="274638"/>
            <a:ext cx="9601067" cy="563564"/>
          </a:xfrm>
        </p:spPr>
        <p:txBody>
          <a:bodyPr>
            <a:normAutofit/>
          </a:bodyPr>
          <a:lstStyle>
            <a:lvl1pPr>
              <a:defRPr sz="2400">
                <a:solidFill>
                  <a:srgbClr val="ED037C"/>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3D57862B-7FA3-4EE4-8473-CF6C67EBCB39}"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1783698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nk Top Bar - Logo Bottom Righ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C0562C7-A6C2-594B-86B1-EC3B8C2D7C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
        <p:nvSpPr>
          <p:cNvPr id="15" name="Rectangle 14"/>
          <p:cNvSpPr/>
          <p:nvPr userDrawn="1"/>
        </p:nvSpPr>
        <p:spPr>
          <a:xfrm>
            <a:off x="0" y="0"/>
            <a:ext cx="12192000" cy="506016"/>
          </a:xfrm>
          <a:prstGeom prst="rect">
            <a:avLst/>
          </a:prstGeom>
          <a:solidFill>
            <a:srgbClr val="ED03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172AAFC7-B302-4CCF-9558-8AB367440633}"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27384"/>
            <a:ext cx="9601067" cy="506016"/>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1" y="620688"/>
            <a:ext cx="11617291" cy="590465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2" name="Title 1"/>
          <p:cNvSpPr>
            <a:spLocks noGrp="1"/>
          </p:cNvSpPr>
          <p:nvPr>
            <p:ph type="title"/>
          </p:nvPr>
        </p:nvSpPr>
        <p:spPr>
          <a:xfrm>
            <a:off x="335360" y="5961487"/>
            <a:ext cx="9601067" cy="563563"/>
          </a:xfrm>
        </p:spPr>
        <p:txBody>
          <a:bodyPr>
            <a:normAutofit/>
          </a:bodyPr>
          <a:lstStyle>
            <a:lvl1pPr algn="l">
              <a:defRPr sz="1200">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3423181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nk Title - With Formal Logo ">
    <p:spTree>
      <p:nvGrpSpPr>
        <p:cNvPr id="1" name=""/>
        <p:cNvGrpSpPr/>
        <p:nvPr/>
      </p:nvGrpSpPr>
      <p:grpSpPr>
        <a:xfrm>
          <a:off x="0" y="0"/>
          <a:ext cx="0" cy="0"/>
          <a:chOff x="0" y="0"/>
          <a:chExt cx="0" cy="0"/>
        </a:xfrm>
      </p:grpSpPr>
      <p:sp>
        <p:nvSpPr>
          <p:cNvPr id="9" name="Rectangle 8"/>
          <p:cNvSpPr/>
          <p:nvPr userDrawn="1"/>
        </p:nvSpPr>
        <p:spPr>
          <a:xfrm>
            <a:off x="0" y="2348880"/>
            <a:ext cx="12192000" cy="4509120"/>
          </a:xfrm>
          <a:prstGeom prst="rect">
            <a:avLst/>
          </a:prstGeom>
          <a:solidFill>
            <a:srgbClr val="ED03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all">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56ED6557-8EC6-45FC-B359-5D206E9600ED}"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35357" y="5756569"/>
            <a:ext cx="2933251" cy="652150"/>
          </a:xfrm>
          <a:prstGeom prst="rect">
            <a:avLst/>
          </a:prstGeom>
        </p:spPr>
      </p:pic>
      <p:pic>
        <p:nvPicPr>
          <p:cNvPr id="12" name="Picture 11">
            <a:extLst>
              <a:ext uri="{FF2B5EF4-FFF2-40B4-BE49-F238E27FC236}">
                <a16:creationId xmlns:a16="http://schemas.microsoft.com/office/drawing/2014/main" id="{77DD24ED-7FEE-BC40-8BEB-EFDEB1B510B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Tree>
    <p:extLst>
      <p:ext uri="{BB962C8B-B14F-4D97-AF65-F5344CB8AC3E}">
        <p14:creationId xmlns:p14="http://schemas.microsoft.com/office/powerpoint/2010/main" val="814036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nk Title with HWIC">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46EC379-6D58-A14A-BEBA-44C77DE616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ED03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none">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56ED6557-8EC6-45FC-B359-5D206E9600ED}"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5" name="Picture 4">
            <a:extLst>
              <a:ext uri="{FF2B5EF4-FFF2-40B4-BE49-F238E27FC236}">
                <a16:creationId xmlns:a16="http://schemas.microsoft.com/office/drawing/2014/main" id="{37DDFF89-8F57-AE40-A965-8A5344176B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80159" y="4583089"/>
            <a:ext cx="2938408" cy="2178820"/>
          </a:xfrm>
          <a:prstGeom prst="rect">
            <a:avLst/>
          </a:prstGeom>
        </p:spPr>
      </p:pic>
    </p:spTree>
    <p:extLst>
      <p:ext uri="{BB962C8B-B14F-4D97-AF65-F5344CB8AC3E}">
        <p14:creationId xmlns:p14="http://schemas.microsoft.com/office/powerpoint/2010/main" val="5127811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asic Title with formal logo">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113D517-41DE-5D40-A368-5FB76062B40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2" name="Title 1"/>
          <p:cNvSpPr>
            <a:spLocks noGrp="1"/>
          </p:cNvSpPr>
          <p:nvPr>
            <p:ph type="title"/>
          </p:nvPr>
        </p:nvSpPr>
        <p:spPr>
          <a:xfrm>
            <a:off x="551384" y="1916832"/>
            <a:ext cx="10363200" cy="2592288"/>
          </a:xfrm>
        </p:spPr>
        <p:txBody>
          <a:bodyPr anchor="ctr">
            <a:noAutofit/>
          </a:bodyPr>
          <a:lstStyle>
            <a:lvl1pPr algn="l">
              <a:lnSpc>
                <a:spcPts val="4800"/>
              </a:lnSpc>
              <a:defRPr sz="4800" b="0" cap="all">
                <a:solidFill>
                  <a:schemeClr val="tx1"/>
                </a:solidFill>
                <a:effectLst/>
                <a:latin typeface="Arial" panose="020B0604020202020204" pitchFamily="34" charset="0"/>
                <a:cs typeface="Arial" panose="020B0604020202020204" pitchFamily="34" charset="0"/>
              </a:defRPr>
            </a:lvl1pPr>
          </a:lstStyle>
          <a:p>
            <a:endParaRPr lang="en-US" dirty="0"/>
          </a:p>
        </p:txBody>
      </p:sp>
      <p:sp>
        <p:nvSpPr>
          <p:cNvPr id="16" name="Date Placeholder 15"/>
          <p:cNvSpPr>
            <a:spLocks noGrp="1"/>
          </p:cNvSpPr>
          <p:nvPr>
            <p:ph type="dt" sz="half" idx="10"/>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B0FB82FD-5AD9-4A54-BFB2-DA41CA3BE211}"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
        <p:nvSpPr>
          <p:cNvPr id="11" name="Text Placeholder 2"/>
          <p:cNvSpPr>
            <a:spLocks noGrp="1"/>
          </p:cNvSpPr>
          <p:nvPr>
            <p:ph type="body" idx="1"/>
          </p:nvPr>
        </p:nvSpPr>
        <p:spPr>
          <a:xfrm>
            <a:off x="551384" y="3506986"/>
            <a:ext cx="10369152" cy="1002134"/>
          </a:xfrm>
        </p:spPr>
        <p:txBody>
          <a:bodyPr anchor="t">
            <a:normAutofit/>
          </a:bodyPr>
          <a:lstStyle>
            <a:lvl1pPr marL="0" indent="0">
              <a:buNone/>
              <a:defRPr sz="2400" b="0">
                <a:solidFill>
                  <a:srgbClr val="ED037C"/>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pic>
        <p:nvPicPr>
          <p:cNvPr id="12" name="Picture 11">
            <a:extLst>
              <a:ext uri="{FF2B5EF4-FFF2-40B4-BE49-F238E27FC236}">
                <a16:creationId xmlns:a16="http://schemas.microsoft.com/office/drawing/2014/main" id="{4171D495-C219-A746-8610-2F0C9838351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726409" y="5651500"/>
            <a:ext cx="2842199" cy="757219"/>
          </a:xfrm>
          <a:prstGeom prst="rect">
            <a:avLst/>
          </a:prstGeom>
        </p:spPr>
      </p:pic>
    </p:spTree>
    <p:extLst>
      <p:ext uri="{BB962C8B-B14F-4D97-AF65-F5344CB8AC3E}">
        <p14:creationId xmlns:p14="http://schemas.microsoft.com/office/powerpoint/2010/main" val="1715123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001E5242-C8DB-4802-BA0C-926516A62445}" type="datetimeFigureOut">
              <a:rPr lang="en-CA" smtClean="0"/>
              <a:t>2025-09-16</a:t>
            </a:fld>
            <a:endParaRPr lang="en-CA"/>
          </a:p>
        </p:txBody>
      </p:sp>
      <p:sp>
        <p:nvSpPr>
          <p:cNvPr id="5" name="Footer Placeholder 4"/>
          <p:cNvSpPr>
            <a:spLocks noGrp="1"/>
          </p:cNvSpPr>
          <p:nvPr>
            <p:ph type="ftr" sz="quarter" idx="11"/>
          </p:nvPr>
        </p:nvSpPr>
        <p:spPr/>
        <p:txBody>
          <a:bodyPr/>
          <a:lstStyle/>
          <a:p>
            <a:endParaRPr lang="en-CA"/>
          </a:p>
        </p:txBody>
      </p:sp>
      <p:pic>
        <p:nvPicPr>
          <p:cNvPr id="9" name="Picture 8">
            <a:extLst>
              <a:ext uri="{FF2B5EF4-FFF2-40B4-BE49-F238E27FC236}">
                <a16:creationId xmlns:a16="http://schemas.microsoft.com/office/drawing/2014/main" id="{37DDFF89-8F57-AE40-A965-8A5344176B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884792" y="4542655"/>
            <a:ext cx="2938408" cy="2178820"/>
          </a:xfrm>
          <a:prstGeom prst="rect">
            <a:avLst/>
          </a:prstGeom>
        </p:spPr>
      </p:pic>
    </p:spTree>
    <p:extLst>
      <p:ext uri="{BB962C8B-B14F-4D97-AF65-F5344CB8AC3E}">
        <p14:creationId xmlns:p14="http://schemas.microsoft.com/office/powerpoint/2010/main" val="1586175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22859" y="210769"/>
            <a:ext cx="11346281" cy="46863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9/16/2025</a:t>
            </a:fld>
            <a:endParaRPr lang="en-US"/>
          </a:p>
        </p:txBody>
      </p:sp>
      <p:sp>
        <p:nvSpPr>
          <p:cNvPr id="6" name="Holder 6"/>
          <p:cNvSpPr>
            <a:spLocks noGrp="1"/>
          </p:cNvSpPr>
          <p:nvPr>
            <p:ph type="sldNum" sz="quarter" idx="7"/>
          </p:nvPr>
        </p:nvSpPr>
        <p:spPr/>
        <p:txBody>
          <a:bodyPr lIns="0" tIns="0" rIns="0" bIns="0"/>
          <a:lstStyle>
            <a:lvl1pPr>
              <a:defRPr sz="900" b="0" i="0">
                <a:solidFill>
                  <a:srgbClr val="888888"/>
                </a:solidFill>
                <a:latin typeface="Arial MT"/>
                <a:cs typeface="Arial MT"/>
              </a:defRPr>
            </a:lvl1pPr>
          </a:lstStyle>
          <a:p>
            <a:pPr marL="38100">
              <a:lnSpc>
                <a:spcPct val="100000"/>
              </a:lnSpc>
              <a:spcBef>
                <a:spcPts val="65"/>
              </a:spcBef>
            </a:pPr>
            <a:fld id="{81D60167-4931-47E6-BA6A-407CBD079E47}" type="slidenum">
              <a:rPr spc="-5" dirty="0"/>
              <a:t>‹#›</a:t>
            </a:fld>
            <a:endParaRPr spc="-5" dirty="0"/>
          </a:p>
        </p:txBody>
      </p:sp>
    </p:spTree>
    <p:extLst>
      <p:ext uri="{BB962C8B-B14F-4D97-AF65-F5344CB8AC3E}">
        <p14:creationId xmlns:p14="http://schemas.microsoft.com/office/powerpoint/2010/main" val="1825044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001E5242-C8DB-4802-BA0C-926516A62445}" type="datetimeFigureOut">
              <a:rPr lang="en-CA" smtClean="0"/>
              <a:t>2025-09-16</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1F34D44D-4EBB-4F8B-899F-0377CDBB3C70}" type="slidenum">
              <a:rPr lang="en-CA" smtClean="0"/>
              <a:t>‹#›</a:t>
            </a:fld>
            <a:endParaRPr lang="en-CA"/>
          </a:p>
        </p:txBody>
      </p:sp>
    </p:spTree>
    <p:extLst>
      <p:ext uri="{BB962C8B-B14F-4D97-AF65-F5344CB8AC3E}">
        <p14:creationId xmlns:p14="http://schemas.microsoft.com/office/powerpoint/2010/main" val="1342880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chor="b"/>
          <a:lstStyle>
            <a:lvl1pPr>
              <a:defRPr>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56D93878-B235-46F8-9B0D-4981A02E34AD}"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10320617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yan - Blank">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chor="b"/>
          <a:lstStyle>
            <a:lvl1pPr>
              <a:defRPr>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540808B1-F63A-459A-967B-8DFF0485F571}"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pic>
        <p:nvPicPr>
          <p:cNvPr id="8" name="Picture 7">
            <a:extLst>
              <a:ext uri="{FF2B5EF4-FFF2-40B4-BE49-F238E27FC236}">
                <a16:creationId xmlns:a16="http://schemas.microsoft.com/office/drawing/2014/main" id="{3FEC20C1-EED5-9F44-9014-775D277A0C3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2060" y="506439"/>
            <a:ext cx="1440161" cy="228497"/>
          </a:xfrm>
          <a:prstGeom prst="rect">
            <a:avLst/>
          </a:prstGeom>
        </p:spPr>
      </p:pic>
      <p:sp>
        <p:nvSpPr>
          <p:cNvPr id="9" name="Rectangle 8">
            <a:extLst>
              <a:ext uri="{FF2B5EF4-FFF2-40B4-BE49-F238E27FC236}">
                <a16:creationId xmlns:a16="http://schemas.microsoft.com/office/drawing/2014/main" id="{3E5174B0-7AB5-F542-A5F8-596151682DE7}"/>
              </a:ext>
            </a:extLst>
          </p:cNvPr>
          <p:cNvSpPr/>
          <p:nvPr userDrawn="1"/>
        </p:nvSpPr>
        <p:spPr>
          <a:xfrm>
            <a:off x="10293069" y="6381328"/>
            <a:ext cx="1616364" cy="3600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1999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yan Title Bar -  Logo Top Right">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D29DE60-3DCA-4247-9B9A-9CF7F29EAB2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413014"/>
            <a:ext cx="1440161" cy="228497"/>
          </a:xfrm>
          <a:prstGeom prst="rect">
            <a:avLst/>
          </a:prstGeom>
        </p:spPr>
      </p:pic>
      <p:sp>
        <p:nvSpPr>
          <p:cNvPr id="15" name="Rectangle 14"/>
          <p:cNvSpPr/>
          <p:nvPr userDrawn="1"/>
        </p:nvSpPr>
        <p:spPr>
          <a:xfrm>
            <a:off x="0" y="838201"/>
            <a:ext cx="12192000" cy="533400"/>
          </a:xfrm>
          <a:prstGeom prst="rect">
            <a:avLst/>
          </a:prstGeom>
          <a:solidFill>
            <a:srgbClr val="00C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solidFill>
                  <a:schemeClr val="tx1"/>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CF302469-71F7-4EB7-9ADA-C10FEDD8CAC6}" type="datetime1">
              <a:rPr lang="en-US" smtClean="0"/>
              <a:pPr/>
              <a:t>9/16/2025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0" name="Rectangle 9">
            <a:extLst>
              <a:ext uri="{FF2B5EF4-FFF2-40B4-BE49-F238E27FC236}">
                <a16:creationId xmlns:a16="http://schemas.microsoft.com/office/drawing/2014/main" id="{E10D783E-D406-104A-8E62-287FB56CA2E9}"/>
              </a:ext>
            </a:extLst>
          </p:cNvPr>
          <p:cNvSpPr/>
          <p:nvPr userDrawn="1"/>
        </p:nvSpPr>
        <p:spPr>
          <a:xfrm>
            <a:off x="10293069" y="6381328"/>
            <a:ext cx="1616364" cy="3600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54021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yan Title Bar -Logo Bottom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00C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solidFill>
                  <a:schemeClr val="tx1"/>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EC8B1D39-4CFA-4E27-9537-9D120A8CD547}" type="datetime1">
              <a:rPr lang="en-US" smtClean="0"/>
              <a:pPr/>
              <a:t>9/16/2025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3512996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yan Half Horizontal">
    <p:spTree>
      <p:nvGrpSpPr>
        <p:cNvPr id="1" name=""/>
        <p:cNvGrpSpPr/>
        <p:nvPr/>
      </p:nvGrpSpPr>
      <p:grpSpPr>
        <a:xfrm>
          <a:off x="0" y="0"/>
          <a:ext cx="0" cy="0"/>
          <a:chOff x="0" y="0"/>
          <a:chExt cx="0" cy="0"/>
        </a:xfrm>
      </p:grpSpPr>
      <p:sp>
        <p:nvSpPr>
          <p:cNvPr id="12" name="Content Placeholder 2"/>
          <p:cNvSpPr>
            <a:spLocks noGrp="1"/>
          </p:cNvSpPr>
          <p:nvPr>
            <p:ph idx="14"/>
          </p:nvPr>
        </p:nvSpPr>
        <p:spPr>
          <a:xfrm>
            <a:off x="0" y="0"/>
            <a:ext cx="12192000" cy="321297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3212976"/>
            <a:ext cx="12192000" cy="3645024"/>
          </a:xfrm>
          <a:prstGeom prst="rect">
            <a:avLst/>
          </a:prstGeom>
          <a:solidFill>
            <a:srgbClr val="00C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3717032"/>
            <a:ext cx="9601067"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4279106"/>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39597601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yan Half Vertic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62ED89-E857-F342-8101-D01552358E88}"/>
              </a:ext>
            </a:extLst>
          </p:cNvPr>
          <p:cNvSpPr/>
          <p:nvPr userDrawn="1"/>
        </p:nvSpPr>
        <p:spPr>
          <a:xfrm>
            <a:off x="10200456" y="6381328"/>
            <a:ext cx="1656184" cy="4766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p:cNvSpPr>
            <a:spLocks noGrp="1"/>
          </p:cNvSpPr>
          <p:nvPr>
            <p:ph idx="14"/>
          </p:nvPr>
        </p:nvSpPr>
        <p:spPr>
          <a:xfrm>
            <a:off x="6096000" y="0"/>
            <a:ext cx="6096000" cy="6858000"/>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0"/>
            <a:ext cx="6096000" cy="6858000"/>
          </a:xfrm>
          <a:prstGeom prst="rect">
            <a:avLst/>
          </a:prstGeom>
          <a:solidFill>
            <a:srgbClr val="00C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1124744"/>
            <a:ext cx="5256583"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1844824"/>
            <a:ext cx="5256583"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15893903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yan Blank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ormAutofit/>
          </a:bodyPr>
          <a:lstStyle>
            <a:lvl1pPr>
              <a:defRPr sz="2400">
                <a:solidFill>
                  <a:srgbClr val="00C2E2"/>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3D57862B-7FA3-4EE4-8473-CF6C67EBCB39}"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19121320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yan Top Bar - Logo Bottom Right">
    <p:spTree>
      <p:nvGrpSpPr>
        <p:cNvPr id="1" name=""/>
        <p:cNvGrpSpPr/>
        <p:nvPr/>
      </p:nvGrpSpPr>
      <p:grpSpPr>
        <a:xfrm>
          <a:off x="0" y="0"/>
          <a:ext cx="0" cy="0"/>
          <a:chOff x="0" y="0"/>
          <a:chExt cx="0" cy="0"/>
        </a:xfrm>
      </p:grpSpPr>
      <p:sp>
        <p:nvSpPr>
          <p:cNvPr id="10" name="Rectangle 9"/>
          <p:cNvSpPr/>
          <p:nvPr userDrawn="1"/>
        </p:nvSpPr>
        <p:spPr>
          <a:xfrm>
            <a:off x="0" y="0"/>
            <a:ext cx="12192000" cy="506016"/>
          </a:xfrm>
          <a:prstGeom prst="rect">
            <a:avLst/>
          </a:prstGeom>
          <a:solidFill>
            <a:srgbClr val="00C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D28819C8-5172-4B4D-8B47-09E995D22C4F}"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27384"/>
            <a:ext cx="9601067" cy="506016"/>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1" y="620688"/>
            <a:ext cx="11617291" cy="590465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7" name="Title 6"/>
          <p:cNvSpPr>
            <a:spLocks noGrp="1"/>
          </p:cNvSpPr>
          <p:nvPr>
            <p:ph type="title"/>
          </p:nvPr>
        </p:nvSpPr>
        <p:spPr>
          <a:xfrm>
            <a:off x="335360" y="5961784"/>
            <a:ext cx="11713301" cy="563563"/>
          </a:xfrm>
        </p:spPr>
        <p:txBody>
          <a:bodyPr anchor="b">
            <a:normAutofit/>
          </a:bodyPr>
          <a:lstStyle>
            <a:lvl1pPr algn="l">
              <a:defRPr sz="1200">
                <a:solidFill>
                  <a:schemeClr val="tx1"/>
                </a:solidFill>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32158771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yan Title with formal log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61E413C-54E0-0E47-9173-86A258A0A7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00C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all">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56ED6557-8EC6-45FC-B359-5D206E9600ED}"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635357" y="5756569"/>
            <a:ext cx="2933251" cy="652150"/>
          </a:xfrm>
          <a:prstGeom prst="rect">
            <a:avLst/>
          </a:prstGeom>
        </p:spPr>
      </p:pic>
    </p:spTree>
    <p:extLst>
      <p:ext uri="{BB962C8B-B14F-4D97-AF65-F5344CB8AC3E}">
        <p14:creationId xmlns:p14="http://schemas.microsoft.com/office/powerpoint/2010/main" val="35973361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yan Title with HWIC">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FC9C2BC-0E48-6041-8B55-69563B3D233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00C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none">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56ED6557-8EC6-45FC-B359-5D206E9600ED}"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5" name="Picture 4">
            <a:extLst>
              <a:ext uri="{FF2B5EF4-FFF2-40B4-BE49-F238E27FC236}">
                <a16:creationId xmlns:a16="http://schemas.microsoft.com/office/drawing/2014/main" id="{37DDFF89-8F57-AE40-A965-8A5344176B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16876" y="4581128"/>
            <a:ext cx="2938408" cy="2178820"/>
          </a:xfrm>
          <a:prstGeom prst="rect">
            <a:avLst/>
          </a:prstGeom>
        </p:spPr>
      </p:pic>
    </p:spTree>
    <p:extLst>
      <p:ext uri="{BB962C8B-B14F-4D97-AF65-F5344CB8AC3E}">
        <p14:creationId xmlns:p14="http://schemas.microsoft.com/office/powerpoint/2010/main" val="24876363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asic Cyan Title with formal log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79D93F3-E9DF-6A47-A3B6-27C4DC28D33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2" name="Title 1"/>
          <p:cNvSpPr>
            <a:spLocks noGrp="1"/>
          </p:cNvSpPr>
          <p:nvPr>
            <p:ph type="title"/>
          </p:nvPr>
        </p:nvSpPr>
        <p:spPr>
          <a:xfrm>
            <a:off x="551384" y="1916832"/>
            <a:ext cx="10363200" cy="2592288"/>
          </a:xfrm>
        </p:spPr>
        <p:txBody>
          <a:bodyPr anchor="ctr">
            <a:noAutofit/>
          </a:bodyPr>
          <a:lstStyle>
            <a:lvl1pPr algn="l">
              <a:lnSpc>
                <a:spcPts val="4800"/>
              </a:lnSpc>
              <a:defRPr sz="4800" b="0" cap="all">
                <a:solidFill>
                  <a:srgbClr val="00C2E2"/>
                </a:solidFill>
                <a:effectLst/>
                <a:latin typeface="Arial" panose="020B0604020202020204" pitchFamily="34" charset="0"/>
                <a:cs typeface="Arial" panose="020B0604020202020204" pitchFamily="34" charset="0"/>
              </a:defRPr>
            </a:lvl1pPr>
          </a:lstStyle>
          <a:p>
            <a:endParaRPr lang="en-US" dirty="0"/>
          </a:p>
        </p:txBody>
      </p:sp>
      <p:sp>
        <p:nvSpPr>
          <p:cNvPr id="16" name="Date Placeholder 15"/>
          <p:cNvSpPr>
            <a:spLocks noGrp="1"/>
          </p:cNvSpPr>
          <p:nvPr>
            <p:ph type="dt" sz="half" idx="10"/>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B0FB82FD-5AD9-4A54-BFB2-DA41CA3BE211}"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
        <p:nvSpPr>
          <p:cNvPr id="11" name="Text Placeholder 2"/>
          <p:cNvSpPr>
            <a:spLocks noGrp="1"/>
          </p:cNvSpPr>
          <p:nvPr>
            <p:ph type="body" idx="1"/>
          </p:nvPr>
        </p:nvSpPr>
        <p:spPr>
          <a:xfrm>
            <a:off x="551384" y="3506986"/>
            <a:ext cx="10369152" cy="1002134"/>
          </a:xfrm>
        </p:spPr>
        <p:txBody>
          <a:bodyPr anchor="t">
            <a:normAutofit/>
          </a:bodyPr>
          <a:lstStyle>
            <a:lvl1pPr marL="0" indent="0">
              <a:buNone/>
              <a:defRPr sz="2400" b="0">
                <a:solidFill>
                  <a:srgbClr val="00C2E2"/>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22" name="Rectangle 21"/>
          <p:cNvSpPr/>
          <p:nvPr userDrawn="1"/>
        </p:nvSpPr>
        <p:spPr>
          <a:xfrm>
            <a:off x="8688288" y="5733256"/>
            <a:ext cx="2880320" cy="684665"/>
          </a:xfrm>
          <a:prstGeom prst="rect">
            <a:avLst/>
          </a:prstGeom>
          <a:blipFill dpi="0" rotWithShape="1">
            <a:blip r:embed="rId3">
              <a:alphaModFix amt="9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en-US"/>
          </a:p>
        </p:txBody>
      </p:sp>
      <p:sp>
        <p:nvSpPr>
          <p:cNvPr id="3" name="Rectangle 2">
            <a:extLst>
              <a:ext uri="{FF2B5EF4-FFF2-40B4-BE49-F238E27FC236}">
                <a16:creationId xmlns:a16="http://schemas.microsoft.com/office/drawing/2014/main" id="{AFD61C1D-0A55-2249-AE5E-EBFB47DADBC4}"/>
              </a:ext>
            </a:extLst>
          </p:cNvPr>
          <p:cNvSpPr/>
          <p:nvPr userDrawn="1"/>
        </p:nvSpPr>
        <p:spPr>
          <a:xfrm>
            <a:off x="10200456" y="6417921"/>
            <a:ext cx="1872208" cy="440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86423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al Blank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chor="b"/>
          <a:lstStyle>
            <a:lvl1pPr>
              <a:defRPr>
                <a:solidFill>
                  <a:srgbClr val="0AAD88"/>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540808B1-F63A-459A-967B-8DFF0485F571}"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pic>
        <p:nvPicPr>
          <p:cNvPr id="8" name="Picture 7">
            <a:extLst>
              <a:ext uri="{FF2B5EF4-FFF2-40B4-BE49-F238E27FC236}">
                <a16:creationId xmlns:a16="http://schemas.microsoft.com/office/drawing/2014/main" id="{74684829-7E9C-F64F-9C1B-54FA176E0A8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2060" y="506439"/>
            <a:ext cx="1440161" cy="228497"/>
          </a:xfrm>
          <a:prstGeom prst="rect">
            <a:avLst/>
          </a:prstGeom>
        </p:spPr>
      </p:pic>
      <p:sp>
        <p:nvSpPr>
          <p:cNvPr id="9" name="Rectangle 8">
            <a:extLst>
              <a:ext uri="{FF2B5EF4-FFF2-40B4-BE49-F238E27FC236}">
                <a16:creationId xmlns:a16="http://schemas.microsoft.com/office/drawing/2014/main" id="{40DFE46C-76B7-0F41-A5F3-963324091D7F}"/>
              </a:ext>
            </a:extLst>
          </p:cNvPr>
          <p:cNvSpPr/>
          <p:nvPr userDrawn="1"/>
        </p:nvSpPr>
        <p:spPr>
          <a:xfrm>
            <a:off x="10293069" y="6381328"/>
            <a:ext cx="1616364" cy="3600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27600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al Title Bar -  Logo Top Righ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D32BE11-4D8F-1740-BE19-BE288FB716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413014"/>
            <a:ext cx="1440161" cy="228497"/>
          </a:xfrm>
          <a:prstGeom prst="rect">
            <a:avLst/>
          </a:prstGeom>
        </p:spPr>
      </p:pic>
      <p:sp>
        <p:nvSpPr>
          <p:cNvPr id="15" name="Rectangle 14"/>
          <p:cNvSpPr/>
          <p:nvPr userDrawn="1"/>
        </p:nvSpPr>
        <p:spPr>
          <a:xfrm>
            <a:off x="0" y="838201"/>
            <a:ext cx="12192000" cy="533400"/>
          </a:xfrm>
          <a:prstGeom prst="rect">
            <a:avLst/>
          </a:prstGeom>
          <a:solidFill>
            <a:srgbClr val="0AA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solidFill>
                  <a:schemeClr val="tx1">
                    <a:lumMod val="85000"/>
                    <a:lumOff val="15000"/>
                  </a:schemeClr>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CF302469-71F7-4EB7-9ADA-C10FEDD8CAC6}" type="datetime1">
              <a:rPr lang="en-US" smtClean="0"/>
              <a:pPr/>
              <a:t>9/16/2025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7" name="Rectangle 6">
            <a:extLst>
              <a:ext uri="{FF2B5EF4-FFF2-40B4-BE49-F238E27FC236}">
                <a16:creationId xmlns:a16="http://schemas.microsoft.com/office/drawing/2014/main" id="{338248FB-0E2E-BA44-BA49-725257B11DF0}"/>
              </a:ext>
            </a:extLst>
          </p:cNvPr>
          <p:cNvSpPr/>
          <p:nvPr userDrawn="1"/>
        </p:nvSpPr>
        <p:spPr>
          <a:xfrm>
            <a:off x="10293069" y="6381328"/>
            <a:ext cx="1616364" cy="3600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07457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al Title Bar - Logo Bottom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0AA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solidFill>
                  <a:schemeClr val="tx1">
                    <a:lumMod val="85000"/>
                    <a:lumOff val="15000"/>
                  </a:schemeClr>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EC8B1D39-4CFA-4E27-9537-9D120A8CD547}" type="datetime1">
              <a:rPr lang="en-US" smtClean="0"/>
              <a:pPr/>
              <a:t>9/16/2025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20924610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al Half Horizontal">
    <p:spTree>
      <p:nvGrpSpPr>
        <p:cNvPr id="1" name=""/>
        <p:cNvGrpSpPr/>
        <p:nvPr/>
      </p:nvGrpSpPr>
      <p:grpSpPr>
        <a:xfrm>
          <a:off x="0" y="0"/>
          <a:ext cx="0" cy="0"/>
          <a:chOff x="0" y="0"/>
          <a:chExt cx="0" cy="0"/>
        </a:xfrm>
      </p:grpSpPr>
      <p:sp>
        <p:nvSpPr>
          <p:cNvPr id="12" name="Content Placeholder 2"/>
          <p:cNvSpPr>
            <a:spLocks noGrp="1"/>
          </p:cNvSpPr>
          <p:nvPr>
            <p:ph idx="14"/>
          </p:nvPr>
        </p:nvSpPr>
        <p:spPr>
          <a:xfrm>
            <a:off x="0" y="0"/>
            <a:ext cx="12192000" cy="321297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3212976"/>
            <a:ext cx="12192000" cy="3645024"/>
          </a:xfrm>
          <a:prstGeom prst="rect">
            <a:avLst/>
          </a:prstGeom>
          <a:solidFill>
            <a:srgbClr val="0AA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3717032"/>
            <a:ext cx="9601067"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4279106"/>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4826421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l Half Vertic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62ED89-E857-F342-8101-D01552358E88}"/>
              </a:ext>
            </a:extLst>
          </p:cNvPr>
          <p:cNvSpPr/>
          <p:nvPr userDrawn="1"/>
        </p:nvSpPr>
        <p:spPr>
          <a:xfrm>
            <a:off x="10200456" y="6381328"/>
            <a:ext cx="1656184" cy="4766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p:cNvSpPr>
            <a:spLocks noGrp="1"/>
          </p:cNvSpPr>
          <p:nvPr>
            <p:ph idx="14"/>
          </p:nvPr>
        </p:nvSpPr>
        <p:spPr>
          <a:xfrm>
            <a:off x="6096000" y="0"/>
            <a:ext cx="6096000" cy="6858000"/>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0"/>
            <a:ext cx="6096000" cy="6858000"/>
          </a:xfrm>
          <a:prstGeom prst="rect">
            <a:avLst/>
          </a:prstGeom>
          <a:solidFill>
            <a:srgbClr val="0AA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1124744"/>
            <a:ext cx="5256583"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1844824"/>
            <a:ext cx="5256583"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11670977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l Title No Bar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ormAutofit/>
          </a:bodyPr>
          <a:lstStyle>
            <a:lvl1pPr>
              <a:defRPr sz="2400">
                <a:solidFill>
                  <a:srgbClr val="0AAD88"/>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3D57862B-7FA3-4EE4-8473-CF6C67EBCB39}"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38551213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l Top Bar -  Logo Bottom Right">
    <p:spTree>
      <p:nvGrpSpPr>
        <p:cNvPr id="1" name=""/>
        <p:cNvGrpSpPr/>
        <p:nvPr/>
      </p:nvGrpSpPr>
      <p:grpSpPr>
        <a:xfrm>
          <a:off x="0" y="0"/>
          <a:ext cx="0" cy="0"/>
          <a:chOff x="0" y="0"/>
          <a:chExt cx="0" cy="0"/>
        </a:xfrm>
      </p:grpSpPr>
      <p:sp>
        <p:nvSpPr>
          <p:cNvPr id="15" name="Rectangle 14"/>
          <p:cNvSpPr/>
          <p:nvPr userDrawn="1"/>
        </p:nvSpPr>
        <p:spPr>
          <a:xfrm>
            <a:off x="0" y="0"/>
            <a:ext cx="12192000" cy="506016"/>
          </a:xfrm>
          <a:prstGeom prst="rect">
            <a:avLst/>
          </a:prstGeom>
          <a:solidFill>
            <a:srgbClr val="0AA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172AAFC7-B302-4CCF-9558-8AB367440633}"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27384"/>
            <a:ext cx="9601067" cy="506016"/>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1" y="620688"/>
            <a:ext cx="11617291" cy="590465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2" name="Title 1"/>
          <p:cNvSpPr>
            <a:spLocks noGrp="1"/>
          </p:cNvSpPr>
          <p:nvPr>
            <p:ph type="title"/>
          </p:nvPr>
        </p:nvSpPr>
        <p:spPr>
          <a:xfrm>
            <a:off x="335360" y="5961487"/>
            <a:ext cx="9601067" cy="563563"/>
          </a:xfrm>
        </p:spPr>
        <p:txBody>
          <a:bodyPr>
            <a:normAutofit/>
          </a:bodyPr>
          <a:lstStyle>
            <a:lvl1pPr algn="l">
              <a:defRPr sz="1200">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40001544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l Title with formal log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2B606A2-C5BE-8347-AC2D-E16F02D330F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0AA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all">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56ED6557-8EC6-45FC-B359-5D206E9600ED}"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635357" y="5756569"/>
            <a:ext cx="2933251" cy="652150"/>
          </a:xfrm>
          <a:prstGeom prst="rect">
            <a:avLst/>
          </a:prstGeom>
        </p:spPr>
      </p:pic>
    </p:spTree>
    <p:extLst>
      <p:ext uri="{BB962C8B-B14F-4D97-AF65-F5344CB8AC3E}">
        <p14:creationId xmlns:p14="http://schemas.microsoft.com/office/powerpoint/2010/main" val="40766530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al Title with HWIC">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F74C05C-EDD5-DE4E-A665-68D9CD302E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0AA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none">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56ED6557-8EC6-45FC-B359-5D206E9600ED}"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5" name="Picture 4">
            <a:extLst>
              <a:ext uri="{FF2B5EF4-FFF2-40B4-BE49-F238E27FC236}">
                <a16:creationId xmlns:a16="http://schemas.microsoft.com/office/drawing/2014/main" id="{37DDFF89-8F57-AE40-A965-8A5344176B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16876" y="4581128"/>
            <a:ext cx="2938408" cy="2178820"/>
          </a:xfrm>
          <a:prstGeom prst="rect">
            <a:avLst/>
          </a:prstGeom>
        </p:spPr>
      </p:pic>
    </p:spTree>
    <p:extLst>
      <p:ext uri="{BB962C8B-B14F-4D97-AF65-F5344CB8AC3E}">
        <p14:creationId xmlns:p14="http://schemas.microsoft.com/office/powerpoint/2010/main" val="10279463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al Title Basic with formal logo">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7EB1F70B-7F65-7D47-95E6-F3E523AD0D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2" name="Title 1"/>
          <p:cNvSpPr>
            <a:spLocks noGrp="1"/>
          </p:cNvSpPr>
          <p:nvPr>
            <p:ph type="title"/>
          </p:nvPr>
        </p:nvSpPr>
        <p:spPr>
          <a:xfrm>
            <a:off x="551384" y="1916832"/>
            <a:ext cx="10363200" cy="2592288"/>
          </a:xfrm>
        </p:spPr>
        <p:txBody>
          <a:bodyPr anchor="ctr">
            <a:noAutofit/>
          </a:bodyPr>
          <a:lstStyle>
            <a:lvl1pPr algn="l">
              <a:lnSpc>
                <a:spcPts val="4800"/>
              </a:lnSpc>
              <a:defRPr sz="4800" b="0" cap="all">
                <a:solidFill>
                  <a:srgbClr val="0AAD88"/>
                </a:solidFill>
                <a:effectLst/>
                <a:latin typeface="Arial" panose="020B0604020202020204" pitchFamily="34" charset="0"/>
                <a:cs typeface="Arial" panose="020B0604020202020204" pitchFamily="34" charset="0"/>
              </a:defRPr>
            </a:lvl1pPr>
          </a:lstStyle>
          <a:p>
            <a:endParaRPr lang="en-US" dirty="0"/>
          </a:p>
        </p:txBody>
      </p:sp>
      <p:sp>
        <p:nvSpPr>
          <p:cNvPr id="16" name="Date Placeholder 15"/>
          <p:cNvSpPr>
            <a:spLocks noGrp="1"/>
          </p:cNvSpPr>
          <p:nvPr>
            <p:ph type="dt" sz="half" idx="10"/>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B0FB82FD-5AD9-4A54-BFB2-DA41CA3BE211}"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
        <p:nvSpPr>
          <p:cNvPr id="11" name="Text Placeholder 2"/>
          <p:cNvSpPr>
            <a:spLocks noGrp="1"/>
          </p:cNvSpPr>
          <p:nvPr>
            <p:ph type="body" idx="1"/>
          </p:nvPr>
        </p:nvSpPr>
        <p:spPr>
          <a:xfrm>
            <a:off x="551384" y="3506986"/>
            <a:ext cx="10369152" cy="1002134"/>
          </a:xfrm>
        </p:spPr>
        <p:txBody>
          <a:bodyPr anchor="t">
            <a:normAutofit/>
          </a:bodyPr>
          <a:lstStyle>
            <a:lvl1pPr marL="0" indent="0">
              <a:buNone/>
              <a:defRPr sz="2400" b="0">
                <a:solidFill>
                  <a:srgbClr val="0AAD88"/>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2" name="Rectangle 11">
            <a:extLst>
              <a:ext uri="{FF2B5EF4-FFF2-40B4-BE49-F238E27FC236}">
                <a16:creationId xmlns:a16="http://schemas.microsoft.com/office/drawing/2014/main" id="{719B4413-1374-5B4E-B988-72DF93ECD468}"/>
              </a:ext>
            </a:extLst>
          </p:cNvPr>
          <p:cNvSpPr/>
          <p:nvPr userDrawn="1"/>
        </p:nvSpPr>
        <p:spPr>
          <a:xfrm>
            <a:off x="8688288" y="5733256"/>
            <a:ext cx="2880320" cy="684665"/>
          </a:xfrm>
          <a:prstGeom prst="rect">
            <a:avLst/>
          </a:prstGeom>
          <a:blipFill dpi="0" rotWithShape="1">
            <a:blip r:embed="rId3">
              <a:alphaModFix amt="9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en-US"/>
          </a:p>
        </p:txBody>
      </p:sp>
      <p:sp>
        <p:nvSpPr>
          <p:cNvPr id="13" name="Rectangle 12">
            <a:extLst>
              <a:ext uri="{FF2B5EF4-FFF2-40B4-BE49-F238E27FC236}">
                <a16:creationId xmlns:a16="http://schemas.microsoft.com/office/drawing/2014/main" id="{DE20C128-7ABB-1B44-A68F-ECCC4C7A0E18}"/>
              </a:ext>
            </a:extLst>
          </p:cNvPr>
          <p:cNvSpPr/>
          <p:nvPr userDrawn="1"/>
        </p:nvSpPr>
        <p:spPr>
          <a:xfrm>
            <a:off x="10200456" y="6417921"/>
            <a:ext cx="1872208" cy="440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54074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ue Blank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chor="b"/>
          <a:lstStyle>
            <a:lvl1pPr>
              <a:defRPr>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540808B1-F63A-459A-967B-8DFF0485F571}"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5863" y="476672"/>
            <a:ext cx="1510777" cy="240425"/>
          </a:xfrm>
          <a:prstGeom prst="rect">
            <a:avLst/>
          </a:prstGeom>
        </p:spPr>
      </p:pic>
      <p:pic>
        <p:nvPicPr>
          <p:cNvPr id="9" name="Picture 8">
            <a:extLst>
              <a:ext uri="{FF2B5EF4-FFF2-40B4-BE49-F238E27FC236}">
                <a16:creationId xmlns:a16="http://schemas.microsoft.com/office/drawing/2014/main" id="{ED7ADDDE-045B-E44F-BDEA-08AE7E6AC42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93069" y="318420"/>
            <a:ext cx="1616364" cy="417686"/>
          </a:xfrm>
          <a:prstGeom prst="rect">
            <a:avLst/>
          </a:prstGeom>
          <a:solidFill>
            <a:schemeClr val="bg1"/>
          </a:solidFill>
        </p:spPr>
      </p:pic>
      <p:sp>
        <p:nvSpPr>
          <p:cNvPr id="14" name="Rectangle 13">
            <a:extLst>
              <a:ext uri="{FF2B5EF4-FFF2-40B4-BE49-F238E27FC236}">
                <a16:creationId xmlns:a16="http://schemas.microsoft.com/office/drawing/2014/main" id="{AA9C1ECB-7705-6B42-B534-5DF04A5F771B}"/>
              </a:ext>
            </a:extLst>
          </p:cNvPr>
          <p:cNvSpPr/>
          <p:nvPr userDrawn="1"/>
        </p:nvSpPr>
        <p:spPr>
          <a:xfrm>
            <a:off x="10345863" y="347241"/>
            <a:ext cx="1616364" cy="3600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2247767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ue Title Bar - Logo Bottom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398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solidFill>
                  <a:schemeClr val="tx1"/>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CF302469-71F7-4EB7-9ADA-C10FEDD8CAC6}" type="datetime1">
              <a:rPr lang="en-US" smtClean="0"/>
              <a:pPr/>
              <a:t>9/16/2025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pic>
        <p:nvPicPr>
          <p:cNvPr id="11" name="Picture 10">
            <a:extLst>
              <a:ext uri="{FF2B5EF4-FFF2-40B4-BE49-F238E27FC236}">
                <a16:creationId xmlns:a16="http://schemas.microsoft.com/office/drawing/2014/main" id="{2FD90012-C036-0F41-B75F-09A3674CE13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413014"/>
            <a:ext cx="1440161" cy="228497"/>
          </a:xfrm>
          <a:prstGeom prst="rect">
            <a:avLst/>
          </a:prstGeom>
        </p:spPr>
      </p:pic>
      <p:sp>
        <p:nvSpPr>
          <p:cNvPr id="13" name="Rectangle 12">
            <a:extLst>
              <a:ext uri="{FF2B5EF4-FFF2-40B4-BE49-F238E27FC236}">
                <a16:creationId xmlns:a16="http://schemas.microsoft.com/office/drawing/2014/main" id="{AD9EC9B9-43AC-CB49-8487-347669B75B16}"/>
              </a:ext>
            </a:extLst>
          </p:cNvPr>
          <p:cNvSpPr/>
          <p:nvPr userDrawn="1"/>
        </p:nvSpPr>
        <p:spPr>
          <a:xfrm>
            <a:off x="10293069" y="6381328"/>
            <a:ext cx="1616364" cy="3600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02668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ue Title Bar - Logo Bottom Right 2">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398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EC8B1D39-4CFA-4E27-9537-9D120A8CD547}" type="datetime1">
              <a:rPr lang="en-US" smtClean="0"/>
              <a:pPr/>
              <a:t>9/16/2025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17485572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ue Half Horizontal">
    <p:spTree>
      <p:nvGrpSpPr>
        <p:cNvPr id="1" name=""/>
        <p:cNvGrpSpPr/>
        <p:nvPr/>
      </p:nvGrpSpPr>
      <p:grpSpPr>
        <a:xfrm>
          <a:off x="0" y="0"/>
          <a:ext cx="0" cy="0"/>
          <a:chOff x="0" y="0"/>
          <a:chExt cx="0" cy="0"/>
        </a:xfrm>
      </p:grpSpPr>
      <p:sp>
        <p:nvSpPr>
          <p:cNvPr id="12" name="Content Placeholder 2"/>
          <p:cNvSpPr>
            <a:spLocks noGrp="1"/>
          </p:cNvSpPr>
          <p:nvPr>
            <p:ph idx="14"/>
          </p:nvPr>
        </p:nvSpPr>
        <p:spPr>
          <a:xfrm>
            <a:off x="0" y="0"/>
            <a:ext cx="12192000" cy="321297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3212976"/>
            <a:ext cx="12192000" cy="3645024"/>
          </a:xfrm>
          <a:prstGeom prst="rect">
            <a:avLst/>
          </a:prstGeom>
          <a:solidFill>
            <a:srgbClr val="398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3717032"/>
            <a:ext cx="9601067"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4279106"/>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6149733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ue Half Vertic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62ED89-E857-F342-8101-D01552358E88}"/>
              </a:ext>
            </a:extLst>
          </p:cNvPr>
          <p:cNvSpPr/>
          <p:nvPr userDrawn="1"/>
        </p:nvSpPr>
        <p:spPr>
          <a:xfrm>
            <a:off x="10200456" y="6381328"/>
            <a:ext cx="1656184" cy="4766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p:cNvSpPr>
            <a:spLocks noGrp="1"/>
          </p:cNvSpPr>
          <p:nvPr>
            <p:ph idx="14"/>
          </p:nvPr>
        </p:nvSpPr>
        <p:spPr>
          <a:xfrm>
            <a:off x="6096000" y="0"/>
            <a:ext cx="6096000" cy="6858000"/>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0"/>
            <a:ext cx="6096000" cy="6858000"/>
          </a:xfrm>
          <a:prstGeom prst="rect">
            <a:avLst/>
          </a:prstGeom>
          <a:solidFill>
            <a:srgbClr val="398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1124744"/>
            <a:ext cx="5256583"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1844824"/>
            <a:ext cx="5256583"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2206225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ue Title No Bar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3D57862B-7FA3-4EE4-8473-CF6C67EBCB39}"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59520594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ue Top Bar - Logo Bottom Right">
    <p:spTree>
      <p:nvGrpSpPr>
        <p:cNvPr id="1" name=""/>
        <p:cNvGrpSpPr/>
        <p:nvPr/>
      </p:nvGrpSpPr>
      <p:grpSpPr>
        <a:xfrm>
          <a:off x="0" y="0"/>
          <a:ext cx="0" cy="0"/>
          <a:chOff x="0" y="0"/>
          <a:chExt cx="0" cy="0"/>
        </a:xfrm>
      </p:grpSpPr>
      <p:sp>
        <p:nvSpPr>
          <p:cNvPr id="10" name="Rectangle 9"/>
          <p:cNvSpPr/>
          <p:nvPr userDrawn="1"/>
        </p:nvSpPr>
        <p:spPr>
          <a:xfrm>
            <a:off x="0" y="0"/>
            <a:ext cx="12192000" cy="506016"/>
          </a:xfrm>
          <a:prstGeom prst="rect">
            <a:avLst/>
          </a:prstGeom>
          <a:solidFill>
            <a:srgbClr val="398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D28819C8-5172-4B4D-8B47-09E995D22C4F}"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27384"/>
            <a:ext cx="9601067" cy="506016"/>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1" y="620688"/>
            <a:ext cx="11617291" cy="590465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7" name="Title 6"/>
          <p:cNvSpPr>
            <a:spLocks noGrp="1"/>
          </p:cNvSpPr>
          <p:nvPr>
            <p:ph type="title"/>
          </p:nvPr>
        </p:nvSpPr>
        <p:spPr>
          <a:xfrm>
            <a:off x="335360" y="5961784"/>
            <a:ext cx="11713301" cy="563563"/>
          </a:xfrm>
        </p:spPr>
        <p:txBody>
          <a:bodyPr anchor="b">
            <a:normAutofit/>
          </a:bodyPr>
          <a:lstStyle>
            <a:lvl1pPr algn="l">
              <a:defRPr sz="1200">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21090750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ue Title with Formal log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50FE744-3BC4-0C41-A71D-DB17FDE4A6B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398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all">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56ED6557-8EC6-45FC-B359-5D206E9600ED}"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635357" y="5756569"/>
            <a:ext cx="2933251" cy="652150"/>
          </a:xfrm>
          <a:prstGeom prst="rect">
            <a:avLst/>
          </a:prstGeom>
        </p:spPr>
      </p:pic>
    </p:spTree>
    <p:extLst>
      <p:ext uri="{BB962C8B-B14F-4D97-AF65-F5344CB8AC3E}">
        <p14:creationId xmlns:p14="http://schemas.microsoft.com/office/powerpoint/2010/main" val="18065530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ue Title with HWIC">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EF07A5D-A511-024A-BFBF-792F92A4D9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398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none">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56ED6557-8EC6-45FC-B359-5D206E9600ED}"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5" name="Picture 4">
            <a:extLst>
              <a:ext uri="{FF2B5EF4-FFF2-40B4-BE49-F238E27FC236}">
                <a16:creationId xmlns:a16="http://schemas.microsoft.com/office/drawing/2014/main" id="{37DDFF89-8F57-AE40-A965-8A5344176B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16876" y="4581128"/>
            <a:ext cx="2938408" cy="2178820"/>
          </a:xfrm>
          <a:prstGeom prst="rect">
            <a:avLst/>
          </a:prstGeom>
        </p:spPr>
      </p:pic>
    </p:spTree>
    <p:extLst>
      <p:ext uri="{BB962C8B-B14F-4D97-AF65-F5344CB8AC3E}">
        <p14:creationId xmlns:p14="http://schemas.microsoft.com/office/powerpoint/2010/main" val="16416689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ue Title Blank with formal log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E40A3BE-0884-9A40-9729-B4511D39048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2" name="Title 1"/>
          <p:cNvSpPr>
            <a:spLocks noGrp="1"/>
          </p:cNvSpPr>
          <p:nvPr>
            <p:ph type="title"/>
          </p:nvPr>
        </p:nvSpPr>
        <p:spPr>
          <a:xfrm>
            <a:off x="551384" y="1916832"/>
            <a:ext cx="10363200" cy="2592288"/>
          </a:xfrm>
        </p:spPr>
        <p:txBody>
          <a:bodyPr anchor="ctr">
            <a:noAutofit/>
          </a:bodyPr>
          <a:lstStyle>
            <a:lvl1pPr algn="l">
              <a:lnSpc>
                <a:spcPts val="4800"/>
              </a:lnSpc>
              <a:defRPr sz="4800" b="0" cap="all">
                <a:solidFill>
                  <a:srgbClr val="3989C9"/>
                </a:solidFill>
                <a:effectLst/>
                <a:latin typeface="Arial" panose="020B0604020202020204" pitchFamily="34" charset="0"/>
                <a:cs typeface="Arial" panose="020B0604020202020204" pitchFamily="34" charset="0"/>
              </a:defRPr>
            </a:lvl1pPr>
          </a:lstStyle>
          <a:p>
            <a:endParaRPr lang="en-US" dirty="0"/>
          </a:p>
        </p:txBody>
      </p:sp>
      <p:sp>
        <p:nvSpPr>
          <p:cNvPr id="16" name="Date Placeholder 15"/>
          <p:cNvSpPr>
            <a:spLocks noGrp="1"/>
          </p:cNvSpPr>
          <p:nvPr>
            <p:ph type="dt" sz="half" idx="10"/>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B0FB82FD-5AD9-4A54-BFB2-DA41CA3BE211}"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
        <p:nvSpPr>
          <p:cNvPr id="11" name="Text Placeholder 2"/>
          <p:cNvSpPr>
            <a:spLocks noGrp="1"/>
          </p:cNvSpPr>
          <p:nvPr>
            <p:ph type="body" idx="1"/>
          </p:nvPr>
        </p:nvSpPr>
        <p:spPr>
          <a:xfrm>
            <a:off x="551384" y="3506986"/>
            <a:ext cx="10369152" cy="1002134"/>
          </a:xfrm>
        </p:spPr>
        <p:txBody>
          <a:bodyPr anchor="t">
            <a:normAutofit/>
          </a:bodyPr>
          <a:lstStyle>
            <a:lvl1pPr marL="0" indent="0">
              <a:buNone/>
              <a:defRPr sz="2400" b="0">
                <a:solidFill>
                  <a:srgbClr val="3989C9"/>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22" name="Rectangle 21"/>
          <p:cNvSpPr/>
          <p:nvPr userDrawn="1"/>
        </p:nvSpPr>
        <p:spPr>
          <a:xfrm>
            <a:off x="8688288" y="5733256"/>
            <a:ext cx="2880320" cy="684665"/>
          </a:xfrm>
          <a:prstGeom prst="rect">
            <a:avLst/>
          </a:prstGeom>
          <a:blipFill dpi="0" rotWithShape="1">
            <a:blip r:embed="rId3">
              <a:alphaModFix amt="9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en-US"/>
          </a:p>
        </p:txBody>
      </p:sp>
      <p:sp>
        <p:nvSpPr>
          <p:cNvPr id="3" name="Rectangle 2">
            <a:extLst>
              <a:ext uri="{FF2B5EF4-FFF2-40B4-BE49-F238E27FC236}">
                <a16:creationId xmlns:a16="http://schemas.microsoft.com/office/drawing/2014/main" id="{EFA79E1E-4059-6D4C-B2DA-D243E675219E}"/>
              </a:ext>
            </a:extLst>
          </p:cNvPr>
          <p:cNvSpPr/>
          <p:nvPr userDrawn="1"/>
        </p:nvSpPr>
        <p:spPr>
          <a:xfrm>
            <a:off x="10200456" y="6417921"/>
            <a:ext cx="1728192" cy="3234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76619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Orange Blank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chor="b"/>
          <a:lstStyle>
            <a:lvl1pPr>
              <a:defRPr>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540808B1-F63A-459A-967B-8DFF0485F571}"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425228924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Orange Title Bar -  Logo Top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CF302469-71F7-4EB7-9ADA-C10FEDD8CAC6}" type="datetime1">
              <a:rPr lang="en-US" smtClean="0"/>
              <a:pPr/>
              <a:t>9/16/2025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7" name="Rectangle 6">
            <a:extLst>
              <a:ext uri="{FF2B5EF4-FFF2-40B4-BE49-F238E27FC236}">
                <a16:creationId xmlns:a16="http://schemas.microsoft.com/office/drawing/2014/main" id="{61CC098A-9E4A-0E46-9529-FEABB0D27F62}"/>
              </a:ext>
            </a:extLst>
          </p:cNvPr>
          <p:cNvSpPr/>
          <p:nvPr userDrawn="1"/>
        </p:nvSpPr>
        <p:spPr>
          <a:xfrm>
            <a:off x="10293069" y="6453336"/>
            <a:ext cx="1616364" cy="288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D58CCDB9-4EA1-EB48-A095-88664431E2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413014"/>
            <a:ext cx="1440161" cy="228497"/>
          </a:xfrm>
          <a:prstGeom prst="rect">
            <a:avLst/>
          </a:prstGeom>
        </p:spPr>
      </p:pic>
    </p:spTree>
    <p:extLst>
      <p:ext uri="{BB962C8B-B14F-4D97-AF65-F5344CB8AC3E}">
        <p14:creationId xmlns:p14="http://schemas.microsoft.com/office/powerpoint/2010/main" val="7506141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Orange Title Bar - Logo Bottom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EC8B1D39-4CFA-4E27-9537-9D120A8CD547}" type="datetime1">
              <a:rPr lang="en-US" smtClean="0"/>
              <a:pPr/>
              <a:t>9/16/2025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31029518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range Half Horizontal">
    <p:spTree>
      <p:nvGrpSpPr>
        <p:cNvPr id="1" name=""/>
        <p:cNvGrpSpPr/>
        <p:nvPr/>
      </p:nvGrpSpPr>
      <p:grpSpPr>
        <a:xfrm>
          <a:off x="0" y="0"/>
          <a:ext cx="0" cy="0"/>
          <a:chOff x="0" y="0"/>
          <a:chExt cx="0" cy="0"/>
        </a:xfrm>
      </p:grpSpPr>
      <p:sp>
        <p:nvSpPr>
          <p:cNvPr id="12" name="Content Placeholder 2"/>
          <p:cNvSpPr>
            <a:spLocks noGrp="1"/>
          </p:cNvSpPr>
          <p:nvPr>
            <p:ph idx="14"/>
          </p:nvPr>
        </p:nvSpPr>
        <p:spPr>
          <a:xfrm>
            <a:off x="0" y="0"/>
            <a:ext cx="12192000" cy="321297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3212976"/>
            <a:ext cx="12192000" cy="3645024"/>
          </a:xfrm>
          <a:prstGeom prst="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3717032"/>
            <a:ext cx="9601067"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4279106"/>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310726821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Orange Half Vertic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62ED89-E857-F342-8101-D01552358E88}"/>
              </a:ext>
            </a:extLst>
          </p:cNvPr>
          <p:cNvSpPr/>
          <p:nvPr userDrawn="1"/>
        </p:nvSpPr>
        <p:spPr>
          <a:xfrm>
            <a:off x="10200456" y="6381328"/>
            <a:ext cx="1656184" cy="4766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p:cNvSpPr>
            <a:spLocks noGrp="1"/>
          </p:cNvSpPr>
          <p:nvPr>
            <p:ph idx="14"/>
          </p:nvPr>
        </p:nvSpPr>
        <p:spPr>
          <a:xfrm>
            <a:off x="6096000" y="0"/>
            <a:ext cx="6096000" cy="6858000"/>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0"/>
            <a:ext cx="6096000" cy="6858000"/>
          </a:xfrm>
          <a:prstGeom prst="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1124744"/>
            <a:ext cx="5256583"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1844824"/>
            <a:ext cx="5256583"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15272211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Orange Title No Bar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3D57862B-7FA3-4EE4-8473-CF6C67EBCB39}"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27836613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Orange Top Bar - Logo Bottom Right">
    <p:spTree>
      <p:nvGrpSpPr>
        <p:cNvPr id="1" name=""/>
        <p:cNvGrpSpPr/>
        <p:nvPr/>
      </p:nvGrpSpPr>
      <p:grpSpPr>
        <a:xfrm>
          <a:off x="0" y="0"/>
          <a:ext cx="0" cy="0"/>
          <a:chOff x="0" y="0"/>
          <a:chExt cx="0" cy="0"/>
        </a:xfrm>
      </p:grpSpPr>
      <p:sp>
        <p:nvSpPr>
          <p:cNvPr id="15" name="Rectangle 14"/>
          <p:cNvSpPr/>
          <p:nvPr userDrawn="1"/>
        </p:nvSpPr>
        <p:spPr>
          <a:xfrm>
            <a:off x="0" y="0"/>
            <a:ext cx="12192000" cy="506016"/>
          </a:xfrm>
          <a:prstGeom prst="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172AAFC7-B302-4CCF-9558-8AB367440633}"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27384"/>
            <a:ext cx="9601067" cy="506016"/>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1" y="620688"/>
            <a:ext cx="11617291" cy="590465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2" name="Title 1"/>
          <p:cNvSpPr>
            <a:spLocks noGrp="1"/>
          </p:cNvSpPr>
          <p:nvPr>
            <p:ph type="title"/>
          </p:nvPr>
        </p:nvSpPr>
        <p:spPr>
          <a:xfrm>
            <a:off x="335360" y="5961487"/>
            <a:ext cx="9601067" cy="563563"/>
          </a:xfrm>
        </p:spPr>
        <p:txBody>
          <a:bodyPr>
            <a:normAutofit/>
          </a:bodyPr>
          <a:lstStyle>
            <a:lvl1pPr algn="l">
              <a:defRPr sz="1200">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317929197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range Title with Formal Log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0D5F9C7-9FF4-F941-8C81-F3197D2D03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all">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56ED6557-8EC6-45FC-B359-5D206E9600ED}"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635357" y="5756569"/>
            <a:ext cx="2933251" cy="652150"/>
          </a:xfrm>
          <a:prstGeom prst="rect">
            <a:avLst/>
          </a:prstGeom>
        </p:spPr>
      </p:pic>
    </p:spTree>
    <p:extLst>
      <p:ext uri="{BB962C8B-B14F-4D97-AF65-F5344CB8AC3E}">
        <p14:creationId xmlns:p14="http://schemas.microsoft.com/office/powerpoint/2010/main" val="6490424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Orange Title with HWIC">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D3160C0-A6C3-6145-BC13-2FF2038ECF0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none">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56ED6557-8EC6-45FC-B359-5D206E9600ED}"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5" name="Picture 4">
            <a:extLst>
              <a:ext uri="{FF2B5EF4-FFF2-40B4-BE49-F238E27FC236}">
                <a16:creationId xmlns:a16="http://schemas.microsoft.com/office/drawing/2014/main" id="{37DDFF89-8F57-AE40-A965-8A5344176B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16876" y="4581128"/>
            <a:ext cx="2938408" cy="2178820"/>
          </a:xfrm>
          <a:prstGeom prst="rect">
            <a:avLst/>
          </a:prstGeom>
        </p:spPr>
      </p:pic>
    </p:spTree>
    <p:extLst>
      <p:ext uri="{BB962C8B-B14F-4D97-AF65-F5344CB8AC3E}">
        <p14:creationId xmlns:p14="http://schemas.microsoft.com/office/powerpoint/2010/main" val="272443552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Orange Title Blank with Formal logo">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9528109-03A2-E64F-967C-36BC1EFB1F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2" name="Title 1"/>
          <p:cNvSpPr>
            <a:spLocks noGrp="1"/>
          </p:cNvSpPr>
          <p:nvPr>
            <p:ph type="title"/>
          </p:nvPr>
        </p:nvSpPr>
        <p:spPr>
          <a:xfrm>
            <a:off x="551384" y="1916832"/>
            <a:ext cx="10363200" cy="2592288"/>
          </a:xfrm>
        </p:spPr>
        <p:txBody>
          <a:bodyPr anchor="ctr">
            <a:noAutofit/>
          </a:bodyPr>
          <a:lstStyle>
            <a:lvl1pPr algn="l">
              <a:lnSpc>
                <a:spcPts val="4800"/>
              </a:lnSpc>
              <a:defRPr sz="4800" b="0" cap="all">
                <a:solidFill>
                  <a:srgbClr val="FCAF17"/>
                </a:solidFill>
                <a:effectLst/>
                <a:latin typeface="Arial" panose="020B0604020202020204" pitchFamily="34" charset="0"/>
                <a:cs typeface="Arial" panose="020B0604020202020204" pitchFamily="34" charset="0"/>
              </a:defRPr>
            </a:lvl1pPr>
          </a:lstStyle>
          <a:p>
            <a:endParaRPr lang="en-US" dirty="0"/>
          </a:p>
        </p:txBody>
      </p:sp>
      <p:sp>
        <p:nvSpPr>
          <p:cNvPr id="16" name="Date Placeholder 15"/>
          <p:cNvSpPr>
            <a:spLocks noGrp="1"/>
          </p:cNvSpPr>
          <p:nvPr>
            <p:ph type="dt" sz="half" idx="10"/>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B0FB82FD-5AD9-4A54-BFB2-DA41CA3BE211}"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
        <p:nvSpPr>
          <p:cNvPr id="11" name="Text Placeholder 2"/>
          <p:cNvSpPr>
            <a:spLocks noGrp="1"/>
          </p:cNvSpPr>
          <p:nvPr>
            <p:ph type="body" idx="1"/>
          </p:nvPr>
        </p:nvSpPr>
        <p:spPr>
          <a:xfrm>
            <a:off x="551384" y="3506986"/>
            <a:ext cx="10369152" cy="1002134"/>
          </a:xfrm>
        </p:spPr>
        <p:txBody>
          <a:bodyPr anchor="t">
            <a:normAutofit/>
          </a:bodyPr>
          <a:lstStyle>
            <a:lvl1pPr marL="0" indent="0">
              <a:buNone/>
              <a:defRPr sz="2400" b="0">
                <a:solidFill>
                  <a:srgbClr val="FCAF17"/>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2" name="Rectangle 11">
            <a:extLst>
              <a:ext uri="{FF2B5EF4-FFF2-40B4-BE49-F238E27FC236}">
                <a16:creationId xmlns:a16="http://schemas.microsoft.com/office/drawing/2014/main" id="{C1DE75FC-B753-5945-B1F8-09D61C52AB2C}"/>
              </a:ext>
            </a:extLst>
          </p:cNvPr>
          <p:cNvSpPr/>
          <p:nvPr userDrawn="1"/>
        </p:nvSpPr>
        <p:spPr>
          <a:xfrm>
            <a:off x="8688288" y="5733256"/>
            <a:ext cx="2880320" cy="684665"/>
          </a:xfrm>
          <a:prstGeom prst="rect">
            <a:avLst/>
          </a:prstGeom>
          <a:blipFill dpi="0" rotWithShape="1">
            <a:blip r:embed="rId3">
              <a:alphaModFix amt="9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en-US"/>
          </a:p>
        </p:txBody>
      </p:sp>
      <p:sp>
        <p:nvSpPr>
          <p:cNvPr id="9" name="Rectangle 8">
            <a:extLst>
              <a:ext uri="{FF2B5EF4-FFF2-40B4-BE49-F238E27FC236}">
                <a16:creationId xmlns:a16="http://schemas.microsoft.com/office/drawing/2014/main" id="{27F8600E-CCBB-3648-941C-B98583C319F9}"/>
              </a:ext>
            </a:extLst>
          </p:cNvPr>
          <p:cNvSpPr/>
          <p:nvPr userDrawn="1"/>
        </p:nvSpPr>
        <p:spPr>
          <a:xfrm>
            <a:off x="10200456" y="6417921"/>
            <a:ext cx="1728192" cy="3234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818899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Grey Blank with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chor="b"/>
          <a:lstStyle>
            <a:lvl1pPr>
              <a:defRPr>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56D93878-B235-46F8-9B0D-4981A02E34AD}"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75209170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Grey Blank - Logo Top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chor="b"/>
          <a:lstStyle>
            <a:lvl1pPr>
              <a:defRPr>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540808B1-F63A-459A-967B-8DFF0485F571}"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7233545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Grey Title Bar - Logo Top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CF302469-71F7-4EB7-9ADA-C10FEDD8CAC6}" type="datetime1">
              <a:rPr lang="en-US" smtClean="0"/>
              <a:pPr/>
              <a:t>9/16/2025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pic>
        <p:nvPicPr>
          <p:cNvPr id="11" name="Picture 10">
            <a:extLst>
              <a:ext uri="{FF2B5EF4-FFF2-40B4-BE49-F238E27FC236}">
                <a16:creationId xmlns:a16="http://schemas.microsoft.com/office/drawing/2014/main" id="{E7A9C6CD-C211-CD45-AF14-B91B0C3675C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413014"/>
            <a:ext cx="1440161" cy="228497"/>
          </a:xfrm>
          <a:prstGeom prst="rect">
            <a:avLst/>
          </a:prstGeom>
        </p:spPr>
      </p:pic>
      <p:sp>
        <p:nvSpPr>
          <p:cNvPr id="13" name="Rectangle 12">
            <a:extLst>
              <a:ext uri="{FF2B5EF4-FFF2-40B4-BE49-F238E27FC236}">
                <a16:creationId xmlns:a16="http://schemas.microsoft.com/office/drawing/2014/main" id="{8A5C0DB1-217D-D84F-BCFF-D85D9250277D}"/>
              </a:ext>
            </a:extLst>
          </p:cNvPr>
          <p:cNvSpPr/>
          <p:nvPr userDrawn="1"/>
        </p:nvSpPr>
        <p:spPr>
          <a:xfrm>
            <a:off x="10293069" y="6453336"/>
            <a:ext cx="1616364" cy="288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293656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Grey Title Bar - Logo Bottom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EC8B1D39-4CFA-4E27-9537-9D120A8CD547}" type="datetime1">
              <a:rPr lang="en-US" smtClean="0"/>
              <a:pPr/>
              <a:t>9/16/2025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pic>
        <p:nvPicPr>
          <p:cNvPr id="10" name="Picture 9">
            <a:extLst>
              <a:ext uri="{FF2B5EF4-FFF2-40B4-BE49-F238E27FC236}">
                <a16:creationId xmlns:a16="http://schemas.microsoft.com/office/drawing/2014/main" id="{E2AFE199-E756-F240-9DD5-700C15C111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Tree>
    <p:extLst>
      <p:ext uri="{BB962C8B-B14F-4D97-AF65-F5344CB8AC3E}">
        <p14:creationId xmlns:p14="http://schemas.microsoft.com/office/powerpoint/2010/main" val="427641424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Grey Half Horizontal">
    <p:spTree>
      <p:nvGrpSpPr>
        <p:cNvPr id="1" name=""/>
        <p:cNvGrpSpPr/>
        <p:nvPr/>
      </p:nvGrpSpPr>
      <p:grpSpPr>
        <a:xfrm>
          <a:off x="0" y="0"/>
          <a:ext cx="0" cy="0"/>
          <a:chOff x="0" y="0"/>
          <a:chExt cx="0" cy="0"/>
        </a:xfrm>
      </p:grpSpPr>
      <p:sp>
        <p:nvSpPr>
          <p:cNvPr id="12" name="Content Placeholder 2"/>
          <p:cNvSpPr>
            <a:spLocks noGrp="1"/>
          </p:cNvSpPr>
          <p:nvPr>
            <p:ph idx="14"/>
          </p:nvPr>
        </p:nvSpPr>
        <p:spPr>
          <a:xfrm>
            <a:off x="0" y="0"/>
            <a:ext cx="12192000" cy="321297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3212976"/>
            <a:ext cx="12192000" cy="3645024"/>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3717032"/>
            <a:ext cx="9601067"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4279106"/>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40220158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Grey Half Vertic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62ED89-E857-F342-8101-D01552358E88}"/>
              </a:ext>
            </a:extLst>
          </p:cNvPr>
          <p:cNvSpPr/>
          <p:nvPr userDrawn="1"/>
        </p:nvSpPr>
        <p:spPr>
          <a:xfrm>
            <a:off x="10200456" y="6381328"/>
            <a:ext cx="1656184" cy="4766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p:cNvSpPr>
            <a:spLocks noGrp="1"/>
          </p:cNvSpPr>
          <p:nvPr>
            <p:ph idx="14"/>
          </p:nvPr>
        </p:nvSpPr>
        <p:spPr>
          <a:xfrm>
            <a:off x="6096000" y="0"/>
            <a:ext cx="6096000" cy="6858000"/>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0"/>
            <a:ext cx="6096000" cy="6858000"/>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1124744"/>
            <a:ext cx="5256583"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1844824"/>
            <a:ext cx="5256583"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42749053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Grety Title No Bar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3D57862B-7FA3-4EE4-8473-CF6C67EBCB39}"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187648160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Grey Top Bar - Logo Bottom Right">
    <p:spTree>
      <p:nvGrpSpPr>
        <p:cNvPr id="1" name=""/>
        <p:cNvGrpSpPr/>
        <p:nvPr/>
      </p:nvGrpSpPr>
      <p:grpSpPr>
        <a:xfrm>
          <a:off x="0" y="0"/>
          <a:ext cx="0" cy="0"/>
          <a:chOff x="0" y="0"/>
          <a:chExt cx="0" cy="0"/>
        </a:xfrm>
      </p:grpSpPr>
      <p:sp>
        <p:nvSpPr>
          <p:cNvPr id="15" name="Rectangle 14"/>
          <p:cNvSpPr/>
          <p:nvPr userDrawn="1"/>
        </p:nvSpPr>
        <p:spPr>
          <a:xfrm>
            <a:off x="0" y="0"/>
            <a:ext cx="12192000" cy="506016"/>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172AAFC7-B302-4CCF-9558-8AB367440633}"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27384"/>
            <a:ext cx="9601067" cy="506016"/>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1" y="620688"/>
            <a:ext cx="11617291" cy="590465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2" name="Title 1"/>
          <p:cNvSpPr>
            <a:spLocks noGrp="1"/>
          </p:cNvSpPr>
          <p:nvPr>
            <p:ph type="title"/>
          </p:nvPr>
        </p:nvSpPr>
        <p:spPr>
          <a:xfrm>
            <a:off x="335360" y="5961487"/>
            <a:ext cx="9601067" cy="563563"/>
          </a:xfrm>
        </p:spPr>
        <p:txBody>
          <a:bodyPr>
            <a:normAutofit/>
          </a:bodyPr>
          <a:lstStyle>
            <a:lvl1pPr algn="l">
              <a:defRPr sz="1200">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232955956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Grey Title with Formal Log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D85D5B3-F476-1948-B9C5-A6FAFD8D81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all">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56ED6557-8EC6-45FC-B359-5D206E9600ED}"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635357" y="5756569"/>
            <a:ext cx="2933251" cy="652150"/>
          </a:xfrm>
          <a:prstGeom prst="rect">
            <a:avLst/>
          </a:prstGeom>
        </p:spPr>
      </p:pic>
    </p:spTree>
    <p:extLst>
      <p:ext uri="{BB962C8B-B14F-4D97-AF65-F5344CB8AC3E}">
        <p14:creationId xmlns:p14="http://schemas.microsoft.com/office/powerpoint/2010/main" val="249910576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Grey Title with HWIC">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A19CBFF-5DA8-C341-A194-572FB5991EB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none">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56ED6557-8EC6-45FC-B359-5D206E9600ED}"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5" name="Picture 4">
            <a:extLst>
              <a:ext uri="{FF2B5EF4-FFF2-40B4-BE49-F238E27FC236}">
                <a16:creationId xmlns:a16="http://schemas.microsoft.com/office/drawing/2014/main" id="{37DDFF89-8F57-AE40-A965-8A5344176B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16876" y="4581128"/>
            <a:ext cx="2938408" cy="2178820"/>
          </a:xfrm>
          <a:prstGeom prst="rect">
            <a:avLst/>
          </a:prstGeom>
        </p:spPr>
      </p:pic>
    </p:spTree>
    <p:extLst>
      <p:ext uri="{BB962C8B-B14F-4D97-AF65-F5344CB8AC3E}">
        <p14:creationId xmlns:p14="http://schemas.microsoft.com/office/powerpoint/2010/main" val="42519467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Grety Title Blank with Formal Logo">
    <p:spTree>
      <p:nvGrpSpPr>
        <p:cNvPr id="1" name=""/>
        <p:cNvGrpSpPr/>
        <p:nvPr/>
      </p:nvGrpSpPr>
      <p:grpSpPr>
        <a:xfrm>
          <a:off x="0" y="0"/>
          <a:ext cx="0" cy="0"/>
          <a:chOff x="0" y="0"/>
          <a:chExt cx="0" cy="0"/>
        </a:xfrm>
      </p:grpSpPr>
      <p:sp>
        <p:nvSpPr>
          <p:cNvPr id="2" name="Title 1"/>
          <p:cNvSpPr>
            <a:spLocks noGrp="1"/>
          </p:cNvSpPr>
          <p:nvPr>
            <p:ph type="title"/>
          </p:nvPr>
        </p:nvSpPr>
        <p:spPr>
          <a:xfrm>
            <a:off x="551384" y="1916832"/>
            <a:ext cx="10363200" cy="2592288"/>
          </a:xfrm>
        </p:spPr>
        <p:txBody>
          <a:bodyPr anchor="ctr">
            <a:noAutofit/>
          </a:bodyPr>
          <a:lstStyle>
            <a:lvl1pPr algn="l">
              <a:lnSpc>
                <a:spcPts val="4800"/>
              </a:lnSpc>
              <a:defRPr sz="4800" b="0" cap="all">
                <a:solidFill>
                  <a:srgbClr val="929292"/>
                </a:solidFill>
                <a:effectLst/>
                <a:latin typeface="Arial" panose="020B0604020202020204" pitchFamily="34" charset="0"/>
                <a:cs typeface="Arial" panose="020B0604020202020204" pitchFamily="34" charset="0"/>
              </a:defRPr>
            </a:lvl1pPr>
          </a:lstStyle>
          <a:p>
            <a:endParaRPr lang="en-US" dirty="0"/>
          </a:p>
        </p:txBody>
      </p:sp>
      <p:sp>
        <p:nvSpPr>
          <p:cNvPr id="16" name="Date Placeholder 15"/>
          <p:cNvSpPr>
            <a:spLocks noGrp="1"/>
          </p:cNvSpPr>
          <p:nvPr>
            <p:ph type="dt" sz="half" idx="10"/>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B0FB82FD-5AD9-4A54-BFB2-DA41CA3BE211}"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
        <p:nvSpPr>
          <p:cNvPr id="11" name="Text Placeholder 2"/>
          <p:cNvSpPr>
            <a:spLocks noGrp="1"/>
          </p:cNvSpPr>
          <p:nvPr>
            <p:ph type="body" idx="1"/>
          </p:nvPr>
        </p:nvSpPr>
        <p:spPr>
          <a:xfrm>
            <a:off x="551384" y="3506986"/>
            <a:ext cx="10369152" cy="1002134"/>
          </a:xfrm>
        </p:spPr>
        <p:txBody>
          <a:bodyPr anchor="t">
            <a:normAutofit/>
          </a:bodyPr>
          <a:lstStyle>
            <a:lvl1pPr marL="0" indent="0">
              <a:buNone/>
              <a:defRPr sz="2400" b="0">
                <a:solidFill>
                  <a:srgbClr val="929292"/>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22" name="Rectangle 21"/>
          <p:cNvSpPr/>
          <p:nvPr userDrawn="1"/>
        </p:nvSpPr>
        <p:spPr>
          <a:xfrm>
            <a:off x="8688288" y="5733256"/>
            <a:ext cx="2880320" cy="684665"/>
          </a:xfrm>
          <a:prstGeom prst="rect">
            <a:avLst/>
          </a:prstGeom>
          <a:blipFill dpi="0" rotWithShape="1">
            <a:blip r:embed="rId2">
              <a:alphaModFix amt="9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en-US"/>
          </a:p>
        </p:txBody>
      </p:sp>
      <p:pic>
        <p:nvPicPr>
          <p:cNvPr id="9" name="Picture 8">
            <a:extLst>
              <a:ext uri="{FF2B5EF4-FFF2-40B4-BE49-F238E27FC236}">
                <a16:creationId xmlns:a16="http://schemas.microsoft.com/office/drawing/2014/main" id="{7AB46D33-AEE0-4B44-96C5-9DF44DA9F4C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12" name="Rectangle 11">
            <a:extLst>
              <a:ext uri="{FF2B5EF4-FFF2-40B4-BE49-F238E27FC236}">
                <a16:creationId xmlns:a16="http://schemas.microsoft.com/office/drawing/2014/main" id="{DFBFAEFA-7989-2D4E-B407-C70594E59033}"/>
              </a:ext>
            </a:extLst>
          </p:cNvPr>
          <p:cNvSpPr/>
          <p:nvPr userDrawn="1"/>
        </p:nvSpPr>
        <p:spPr>
          <a:xfrm>
            <a:off x="10293069" y="6453336"/>
            <a:ext cx="1616364" cy="288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092546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Gold Blank - Logo Top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chor="b"/>
          <a:lstStyle>
            <a:lvl1pPr>
              <a:defRPr>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540808B1-F63A-459A-967B-8DFF0485F571}"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pic>
        <p:nvPicPr>
          <p:cNvPr id="10" name="Picture 9">
            <a:extLst>
              <a:ext uri="{FF2B5EF4-FFF2-40B4-BE49-F238E27FC236}">
                <a16:creationId xmlns:a16="http://schemas.microsoft.com/office/drawing/2014/main" id="{E69EBD09-9E6C-EA45-8A15-D292326849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454153"/>
            <a:ext cx="1440161" cy="228497"/>
          </a:xfrm>
          <a:prstGeom prst="rect">
            <a:avLst/>
          </a:prstGeom>
        </p:spPr>
      </p:pic>
      <p:sp>
        <p:nvSpPr>
          <p:cNvPr id="11" name="Rectangle 10">
            <a:extLst>
              <a:ext uri="{FF2B5EF4-FFF2-40B4-BE49-F238E27FC236}">
                <a16:creationId xmlns:a16="http://schemas.microsoft.com/office/drawing/2014/main" id="{D4B6B18B-AB28-AA4D-83BD-446B5D203650}"/>
              </a:ext>
            </a:extLst>
          </p:cNvPr>
          <p:cNvSpPr/>
          <p:nvPr userDrawn="1"/>
        </p:nvSpPr>
        <p:spPr>
          <a:xfrm>
            <a:off x="10293069" y="6453336"/>
            <a:ext cx="1616364" cy="288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710111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Gold Title Bar - Logo Top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EAC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CF302469-71F7-4EB7-9ADA-C10FEDD8CAC6}" type="datetime1">
              <a:rPr lang="en-US" smtClean="0"/>
              <a:pPr/>
              <a:t>9/16/2025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pic>
        <p:nvPicPr>
          <p:cNvPr id="11" name="Picture 10">
            <a:extLst>
              <a:ext uri="{FF2B5EF4-FFF2-40B4-BE49-F238E27FC236}">
                <a16:creationId xmlns:a16="http://schemas.microsoft.com/office/drawing/2014/main" id="{C0C5FD76-5D1E-DD46-92C4-84879FCD4A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413014"/>
            <a:ext cx="1440161" cy="228497"/>
          </a:xfrm>
          <a:prstGeom prst="rect">
            <a:avLst/>
          </a:prstGeom>
        </p:spPr>
      </p:pic>
      <p:sp>
        <p:nvSpPr>
          <p:cNvPr id="13" name="Rectangle 12">
            <a:extLst>
              <a:ext uri="{FF2B5EF4-FFF2-40B4-BE49-F238E27FC236}">
                <a16:creationId xmlns:a16="http://schemas.microsoft.com/office/drawing/2014/main" id="{8AD2CD78-9605-124A-BD79-E9E50314E2B9}"/>
              </a:ext>
            </a:extLst>
          </p:cNvPr>
          <p:cNvSpPr/>
          <p:nvPr userDrawn="1"/>
        </p:nvSpPr>
        <p:spPr>
          <a:xfrm>
            <a:off x="10293069" y="6453336"/>
            <a:ext cx="1616364" cy="288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886719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Gold Title Bar - Logo Bottom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EAC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EC8B1D39-4CFA-4E27-9537-9D120A8CD547}" type="datetime1">
              <a:rPr lang="en-US" smtClean="0"/>
              <a:pPr/>
              <a:t>9/16/2025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276662799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Gold Half Horizontal">
    <p:spTree>
      <p:nvGrpSpPr>
        <p:cNvPr id="1" name=""/>
        <p:cNvGrpSpPr/>
        <p:nvPr/>
      </p:nvGrpSpPr>
      <p:grpSpPr>
        <a:xfrm>
          <a:off x="0" y="0"/>
          <a:ext cx="0" cy="0"/>
          <a:chOff x="0" y="0"/>
          <a:chExt cx="0" cy="0"/>
        </a:xfrm>
      </p:grpSpPr>
      <p:sp>
        <p:nvSpPr>
          <p:cNvPr id="12" name="Content Placeholder 2"/>
          <p:cNvSpPr>
            <a:spLocks noGrp="1"/>
          </p:cNvSpPr>
          <p:nvPr>
            <p:ph idx="14"/>
          </p:nvPr>
        </p:nvSpPr>
        <p:spPr>
          <a:xfrm>
            <a:off x="0" y="0"/>
            <a:ext cx="12192000" cy="321297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3212976"/>
            <a:ext cx="12192000" cy="3645024"/>
          </a:xfrm>
          <a:prstGeom prst="rect">
            <a:avLst/>
          </a:prstGeom>
          <a:solidFill>
            <a:srgbClr val="EAC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3717032"/>
            <a:ext cx="9601067"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4279106"/>
            <a:ext cx="9601067" cy="533400"/>
          </a:xfrm>
        </p:spPr>
        <p:txBody>
          <a:bodyPr anchor="ctr">
            <a:normAutofit/>
          </a:bodyPr>
          <a:lstStyle>
            <a:lvl1pPr marL="0" indent="0" algn="l">
              <a:buNone/>
              <a:defRPr sz="1800" b="1">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97142764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old Half Vertic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67BBE12-5279-134C-8C5C-B521F5578401}"/>
              </a:ext>
            </a:extLst>
          </p:cNvPr>
          <p:cNvSpPr/>
          <p:nvPr userDrawn="1"/>
        </p:nvSpPr>
        <p:spPr>
          <a:xfrm>
            <a:off x="10272464" y="6309320"/>
            <a:ext cx="1584175"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p:cNvSpPr>
            <a:spLocks noGrp="1"/>
          </p:cNvSpPr>
          <p:nvPr>
            <p:ph idx="14"/>
          </p:nvPr>
        </p:nvSpPr>
        <p:spPr>
          <a:xfrm>
            <a:off x="6096000" y="0"/>
            <a:ext cx="6096000" cy="6858000"/>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0"/>
            <a:ext cx="6096000" cy="6858000"/>
          </a:xfrm>
          <a:prstGeom prst="rect">
            <a:avLst/>
          </a:prstGeom>
          <a:solidFill>
            <a:srgbClr val="EAC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1124744"/>
            <a:ext cx="5256583"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1844824"/>
            <a:ext cx="5256583" cy="533400"/>
          </a:xfrm>
        </p:spPr>
        <p:txBody>
          <a:bodyPr anchor="ctr">
            <a:normAutofit/>
          </a:bodyPr>
          <a:lstStyle>
            <a:lvl1pPr marL="0" indent="0" algn="l">
              <a:buNone/>
              <a:defRPr sz="1800" b="1">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277437898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Gold Title No Bar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ormAutofit/>
          </a:bodyPr>
          <a:lstStyle>
            <a:lvl1pPr>
              <a:defRPr sz="2400">
                <a:solidFill>
                  <a:srgbClr val="EACC1B"/>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3D57862B-7FA3-4EE4-8473-CF6C67EBCB39}"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19318654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old Top Bar - Logo Bottom Right">
    <p:spTree>
      <p:nvGrpSpPr>
        <p:cNvPr id="1" name=""/>
        <p:cNvGrpSpPr/>
        <p:nvPr/>
      </p:nvGrpSpPr>
      <p:grpSpPr>
        <a:xfrm>
          <a:off x="0" y="0"/>
          <a:ext cx="0" cy="0"/>
          <a:chOff x="0" y="0"/>
          <a:chExt cx="0" cy="0"/>
        </a:xfrm>
      </p:grpSpPr>
      <p:sp>
        <p:nvSpPr>
          <p:cNvPr id="15" name="Rectangle 14"/>
          <p:cNvSpPr/>
          <p:nvPr userDrawn="1"/>
        </p:nvSpPr>
        <p:spPr>
          <a:xfrm>
            <a:off x="0" y="0"/>
            <a:ext cx="12192000" cy="506016"/>
          </a:xfrm>
          <a:prstGeom prst="rect">
            <a:avLst/>
          </a:prstGeom>
          <a:solidFill>
            <a:srgbClr val="EAC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172AAFC7-B302-4CCF-9558-8AB367440633}" type="datetime1">
              <a:rPr lang="en-US" smtClean="0"/>
              <a:pPr/>
              <a:t>9/16/2025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27384"/>
            <a:ext cx="9601067" cy="506016"/>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1" y="620688"/>
            <a:ext cx="11617291" cy="590465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2" name="Title 1"/>
          <p:cNvSpPr>
            <a:spLocks noGrp="1"/>
          </p:cNvSpPr>
          <p:nvPr>
            <p:ph type="title"/>
          </p:nvPr>
        </p:nvSpPr>
        <p:spPr>
          <a:xfrm>
            <a:off x="335360" y="5961487"/>
            <a:ext cx="9601067" cy="563563"/>
          </a:xfrm>
        </p:spPr>
        <p:txBody>
          <a:bodyPr>
            <a:normAutofit/>
          </a:bodyPr>
          <a:lstStyle>
            <a:lvl1pPr algn="l">
              <a:defRPr sz="1200">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72220158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Gold Title with Formal Logo">
    <p:spTree>
      <p:nvGrpSpPr>
        <p:cNvPr id="1" name=""/>
        <p:cNvGrpSpPr/>
        <p:nvPr/>
      </p:nvGrpSpPr>
      <p:grpSpPr>
        <a:xfrm>
          <a:off x="0" y="0"/>
          <a:ext cx="0" cy="0"/>
          <a:chOff x="0" y="0"/>
          <a:chExt cx="0" cy="0"/>
        </a:xfrm>
      </p:grpSpPr>
      <p:sp>
        <p:nvSpPr>
          <p:cNvPr id="9" name="Rectangle 8"/>
          <p:cNvSpPr/>
          <p:nvPr userDrawn="1"/>
        </p:nvSpPr>
        <p:spPr>
          <a:xfrm>
            <a:off x="0" y="2348880"/>
            <a:ext cx="12192000" cy="4509120"/>
          </a:xfrm>
          <a:prstGeom prst="rect">
            <a:avLst/>
          </a:prstGeom>
          <a:solidFill>
            <a:srgbClr val="EAC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all">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tx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56ED6557-8EC6-45FC-B359-5D206E9600ED}"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35357" y="5756569"/>
            <a:ext cx="2933251" cy="652150"/>
          </a:xfrm>
          <a:prstGeom prst="rect">
            <a:avLst/>
          </a:prstGeom>
        </p:spPr>
      </p:pic>
      <p:pic>
        <p:nvPicPr>
          <p:cNvPr id="12" name="Picture 11">
            <a:extLst>
              <a:ext uri="{FF2B5EF4-FFF2-40B4-BE49-F238E27FC236}">
                <a16:creationId xmlns:a16="http://schemas.microsoft.com/office/drawing/2014/main" id="{C9A26479-5203-0C49-B7D7-8080A14B660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Tree>
    <p:extLst>
      <p:ext uri="{BB962C8B-B14F-4D97-AF65-F5344CB8AC3E}">
        <p14:creationId xmlns:p14="http://schemas.microsoft.com/office/powerpoint/2010/main" val="56219676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old Title with HWIC">
    <p:spTree>
      <p:nvGrpSpPr>
        <p:cNvPr id="1" name=""/>
        <p:cNvGrpSpPr/>
        <p:nvPr/>
      </p:nvGrpSpPr>
      <p:grpSpPr>
        <a:xfrm>
          <a:off x="0" y="0"/>
          <a:ext cx="0" cy="0"/>
          <a:chOff x="0" y="0"/>
          <a:chExt cx="0" cy="0"/>
        </a:xfrm>
      </p:grpSpPr>
      <p:sp>
        <p:nvSpPr>
          <p:cNvPr id="9" name="Rectangle 8"/>
          <p:cNvSpPr/>
          <p:nvPr userDrawn="1"/>
        </p:nvSpPr>
        <p:spPr>
          <a:xfrm>
            <a:off x="0" y="2348880"/>
            <a:ext cx="12192000" cy="4509120"/>
          </a:xfrm>
          <a:prstGeom prst="rect">
            <a:avLst/>
          </a:prstGeom>
          <a:solidFill>
            <a:srgbClr val="EAC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none">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tx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56ED6557-8EC6-45FC-B359-5D206E9600ED}"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5" name="Picture 4">
            <a:extLst>
              <a:ext uri="{FF2B5EF4-FFF2-40B4-BE49-F238E27FC236}">
                <a16:creationId xmlns:a16="http://schemas.microsoft.com/office/drawing/2014/main" id="{37DDFF89-8F57-AE40-A965-8A5344176B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16876" y="4581128"/>
            <a:ext cx="2938408" cy="2178820"/>
          </a:xfrm>
          <a:prstGeom prst="rect">
            <a:avLst/>
          </a:prstGeom>
        </p:spPr>
      </p:pic>
      <p:pic>
        <p:nvPicPr>
          <p:cNvPr id="11" name="Picture 10">
            <a:extLst>
              <a:ext uri="{FF2B5EF4-FFF2-40B4-BE49-F238E27FC236}">
                <a16:creationId xmlns:a16="http://schemas.microsoft.com/office/drawing/2014/main" id="{8E1CA3E9-B6E4-8A4B-8871-5A4E67F3336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Tree>
    <p:extLst>
      <p:ext uri="{BB962C8B-B14F-4D97-AF65-F5344CB8AC3E}">
        <p14:creationId xmlns:p14="http://schemas.microsoft.com/office/powerpoint/2010/main" val="197604037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Gold Title Blank with Formal Logo">
    <p:spTree>
      <p:nvGrpSpPr>
        <p:cNvPr id="1" name=""/>
        <p:cNvGrpSpPr/>
        <p:nvPr/>
      </p:nvGrpSpPr>
      <p:grpSpPr>
        <a:xfrm>
          <a:off x="0" y="0"/>
          <a:ext cx="0" cy="0"/>
          <a:chOff x="0" y="0"/>
          <a:chExt cx="0" cy="0"/>
        </a:xfrm>
      </p:grpSpPr>
      <p:sp>
        <p:nvSpPr>
          <p:cNvPr id="2" name="Title 1"/>
          <p:cNvSpPr>
            <a:spLocks noGrp="1"/>
          </p:cNvSpPr>
          <p:nvPr>
            <p:ph type="title"/>
          </p:nvPr>
        </p:nvSpPr>
        <p:spPr>
          <a:xfrm>
            <a:off x="551384" y="1916832"/>
            <a:ext cx="10363200" cy="2592288"/>
          </a:xfrm>
        </p:spPr>
        <p:txBody>
          <a:bodyPr anchor="ctr">
            <a:noAutofit/>
          </a:bodyPr>
          <a:lstStyle>
            <a:lvl1pPr algn="l">
              <a:lnSpc>
                <a:spcPts val="4800"/>
              </a:lnSpc>
              <a:defRPr sz="4800" b="0" cap="all">
                <a:solidFill>
                  <a:schemeClr val="tx1"/>
                </a:solidFill>
                <a:effectLst/>
                <a:latin typeface="Arial" panose="020B0604020202020204" pitchFamily="34" charset="0"/>
                <a:cs typeface="Arial" panose="020B0604020202020204" pitchFamily="34" charset="0"/>
              </a:defRPr>
            </a:lvl1pPr>
          </a:lstStyle>
          <a:p>
            <a:endParaRPr lang="en-US" dirty="0"/>
          </a:p>
        </p:txBody>
      </p:sp>
      <p:sp>
        <p:nvSpPr>
          <p:cNvPr id="16" name="Date Placeholder 15"/>
          <p:cNvSpPr>
            <a:spLocks noGrp="1"/>
          </p:cNvSpPr>
          <p:nvPr>
            <p:ph type="dt" sz="half" idx="10"/>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B0FB82FD-5AD9-4A54-BFB2-DA41CA3BE211}" type="datetime1">
              <a:rPr lang="en-US" smtClean="0"/>
              <a:pPr/>
              <a:t>9/16/2025</a:t>
            </a:fld>
            <a:endParaRPr lang="en-US" dirty="0"/>
          </a:p>
        </p:txBody>
      </p:sp>
      <p:sp>
        <p:nvSpPr>
          <p:cNvPr id="17" name="Footer Placeholder 16"/>
          <p:cNvSpPr>
            <a:spLocks noGrp="1"/>
          </p:cNvSpPr>
          <p:nvPr>
            <p:ph type="ftr" sz="quarter" idx="11"/>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
        <p:nvSpPr>
          <p:cNvPr id="11" name="Text Placeholder 2"/>
          <p:cNvSpPr>
            <a:spLocks noGrp="1"/>
          </p:cNvSpPr>
          <p:nvPr>
            <p:ph type="body" idx="1"/>
          </p:nvPr>
        </p:nvSpPr>
        <p:spPr>
          <a:xfrm>
            <a:off x="551384" y="3506986"/>
            <a:ext cx="10369152" cy="1002134"/>
          </a:xfrm>
        </p:spPr>
        <p:txBody>
          <a:bodyPr anchor="t">
            <a:normAutofit/>
          </a:bodyPr>
          <a:lstStyle>
            <a:lvl1pPr marL="0" indent="0">
              <a:buNone/>
              <a:defRPr sz="2400" b="0">
                <a:solidFill>
                  <a:srgbClr val="EACC1B"/>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pic>
        <p:nvPicPr>
          <p:cNvPr id="12" name="Picture 11">
            <a:extLst>
              <a:ext uri="{FF2B5EF4-FFF2-40B4-BE49-F238E27FC236}">
                <a16:creationId xmlns:a16="http://schemas.microsoft.com/office/drawing/2014/main" id="{4171D495-C219-A746-8610-2F0C9838351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6409" y="5651500"/>
            <a:ext cx="2842199" cy="757219"/>
          </a:xfrm>
          <a:prstGeom prst="rect">
            <a:avLst/>
          </a:prstGeom>
        </p:spPr>
      </p:pic>
      <p:pic>
        <p:nvPicPr>
          <p:cNvPr id="9" name="Picture 8">
            <a:extLst>
              <a:ext uri="{FF2B5EF4-FFF2-40B4-BE49-F238E27FC236}">
                <a16:creationId xmlns:a16="http://schemas.microsoft.com/office/drawing/2014/main" id="{7BEAC545-525B-E24B-883C-56D60E4E600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13" name="Rectangle 12">
            <a:extLst>
              <a:ext uri="{FF2B5EF4-FFF2-40B4-BE49-F238E27FC236}">
                <a16:creationId xmlns:a16="http://schemas.microsoft.com/office/drawing/2014/main" id="{8348241C-3B0A-7749-B7A2-6AD8F3FB35F6}"/>
              </a:ext>
            </a:extLst>
          </p:cNvPr>
          <p:cNvSpPr/>
          <p:nvPr userDrawn="1"/>
        </p:nvSpPr>
        <p:spPr>
          <a:xfrm>
            <a:off x="10293069" y="6453336"/>
            <a:ext cx="1616364" cy="288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9344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image" Target="../media/image1.png"/><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theme" Target="../theme/theme3.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image" Target="../media/image1.png"/><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theme" Target="../theme/theme4.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image" Target="../media/image1.png"/><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theme" Target="../theme/theme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image" Target="../media/image1.png"/><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theme" Target="../theme/theme6.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3.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image" Target="../media/image1.png"/><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theme" Target="../theme/theme7.xml"/><Relationship Id="rId5" Type="http://schemas.openxmlformats.org/officeDocument/2006/relationships/slideLayout" Target="../slideLayouts/slideLayout70.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5361" y="274641"/>
            <a:ext cx="9601067" cy="563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35360" y="1484784"/>
            <a:ext cx="11516853" cy="4641380"/>
          </a:xfrm>
          <a:prstGeom prst="rect">
            <a:avLst/>
          </a:prstGeom>
        </p:spPr>
        <p:txBody>
          <a:bodyPr vert="horz" lIns="91440" tIns="45720" rIns="91440" bIns="45720" numCol="1"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a:p>
            <a:pPr lvl="8"/>
            <a:endParaRPr lang="en-US" dirty="0"/>
          </a:p>
        </p:txBody>
      </p:sp>
      <p:sp>
        <p:nvSpPr>
          <p:cNvPr id="4" name="Date Placeholder 3"/>
          <p:cNvSpPr>
            <a:spLocks noGrp="1"/>
          </p:cNvSpPr>
          <p:nvPr>
            <p:ph type="dt" sz="half" idx="2"/>
          </p:nvPr>
        </p:nvSpPr>
        <p:spPr>
          <a:xfrm>
            <a:off x="719403" y="6525348"/>
            <a:ext cx="912101"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ABD509AA-7421-49E8-A5AD-4A9AED92AF4F}" type="datetime1">
              <a:rPr lang="en-US" smtClean="0"/>
              <a:pPr/>
              <a:t>9/16/2025</a:t>
            </a:fld>
            <a:endParaRPr lang="en-US" dirty="0"/>
          </a:p>
        </p:txBody>
      </p:sp>
      <p:sp>
        <p:nvSpPr>
          <p:cNvPr id="5" name="Footer Placeholder 4"/>
          <p:cNvSpPr>
            <a:spLocks noGrp="1"/>
          </p:cNvSpPr>
          <p:nvPr>
            <p:ph type="ftr" sz="quarter" idx="3"/>
          </p:nvPr>
        </p:nvSpPr>
        <p:spPr>
          <a:xfrm>
            <a:off x="1547561" y="6525348"/>
            <a:ext cx="8220847"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4"/>
          </p:nvPr>
        </p:nvSpPr>
        <p:spPr>
          <a:xfrm>
            <a:off x="239351" y="6525348"/>
            <a:ext cx="480053" cy="216023"/>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Tree>
    <p:extLst>
      <p:ext uri="{BB962C8B-B14F-4D97-AF65-F5344CB8AC3E}">
        <p14:creationId xmlns:p14="http://schemas.microsoft.com/office/powerpoint/2010/main" val="2374070772"/>
      </p:ext>
    </p:extLst>
  </p:cSld>
  <p:clrMap bg1="lt1" tx1="dk1" bg2="lt2" tx2="dk2" accent1="accent1" accent2="accent2" accent3="accent3" accent4="accent4" accent5="accent5" accent6="accent6" hlink="hlink" folHlink="folHlink"/>
  <p:sldLayoutIdLst>
    <p:sldLayoutId id="2147483756" r:id="rId1"/>
    <p:sldLayoutId id="2147483694" r:id="rId2"/>
    <p:sldLayoutId id="2147483757" r:id="rId3"/>
    <p:sldLayoutId id="2147483815" r:id="rId4"/>
    <p:sldLayoutId id="2147483816" r:id="rId5"/>
    <p:sldLayoutId id="2147483695" r:id="rId6"/>
    <p:sldLayoutId id="2147483697" r:id="rId7"/>
    <p:sldLayoutId id="2147483700" r:id="rId8"/>
    <p:sldLayoutId id="2147483809" r:id="rId9"/>
    <p:sldLayoutId id="2147483758" r:id="rId10"/>
    <p:sldLayoutId id="2147483839" r:id="rId11"/>
    <p:sldLayoutId id="2147483841" r:id="rId12"/>
    <p:sldLayoutId id="2147483842" r:id="rId13"/>
  </p:sldLayoutIdLst>
  <p:hf hdr="0"/>
  <p:txStyles>
    <p:titleStyle>
      <a:lvl1pPr algn="l" defTabSz="914400" rtl="0" eaLnBrk="1" latinLnBrk="0" hangingPunct="1">
        <a:spcBef>
          <a:spcPct val="0"/>
        </a:spcBef>
        <a:buNone/>
        <a:defRPr sz="2400" b="1" kern="1200">
          <a:solidFill>
            <a:srgbClr val="ED037C"/>
          </a:solidFill>
          <a:latin typeface="Arial" panose="020B0604020202020204" pitchFamily="34" charset="0"/>
          <a:ea typeface="+mj-ea"/>
          <a:cs typeface="Arial" panose="020B0604020202020204" pitchFamily="34" charset="0"/>
        </a:defRPr>
      </a:lvl1pPr>
    </p:titleStyle>
    <p:bodyStyle>
      <a:lvl1pPr marL="177800" indent="-177800" algn="l" defTabSz="914400" rtl="0" eaLnBrk="1" latinLnBrk="0" hangingPunct="1">
        <a:spcBef>
          <a:spcPct val="20000"/>
        </a:spcBef>
        <a:spcAft>
          <a:spcPts val="600"/>
        </a:spcAft>
        <a:buSzPct val="80000"/>
        <a:buFont typeface="Arial" pitchFamily="34" charset="0"/>
        <a:buChar char="•"/>
        <a:defRPr sz="1500" kern="1200">
          <a:solidFill>
            <a:schemeClr val="tx1">
              <a:lumMod val="85000"/>
              <a:lumOff val="15000"/>
            </a:schemeClr>
          </a:solidFill>
          <a:latin typeface="Arial" panose="020B0604020202020204" pitchFamily="34" charset="0"/>
          <a:ea typeface="+mn-ea"/>
          <a:cs typeface="Arial" panose="020B0604020202020204" pitchFamily="34" charset="0"/>
        </a:defRPr>
      </a:lvl1pPr>
      <a:lvl2pPr marL="627063" indent="-1698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2pPr>
      <a:lvl3pPr marL="1074738" indent="-160338"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3pPr>
      <a:lvl4pPr marL="1524000" indent="-152400"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4pPr>
      <a:lvl5pPr marL="1973263" indent="-1444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5pPr>
      <a:lvl6pPr marL="24209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6pPr>
      <a:lvl7pPr marL="2870200" indent="-127000" algn="l" defTabSz="914400" rtl="0" eaLnBrk="1" latinLnBrk="0" hangingPunct="1">
        <a:spcBef>
          <a:spcPct val="20000"/>
        </a:spcBef>
        <a:spcAft>
          <a:spcPts val="600"/>
        </a:spcAft>
        <a:buSzPct val="80000"/>
        <a:buFont typeface="Arial" pitchFamily="34" charset="0"/>
        <a:buChar char="•"/>
        <a:tabLst/>
        <a:defRPr sz="1300" kern="1200">
          <a:solidFill>
            <a:schemeClr val="tx1"/>
          </a:solidFill>
          <a:latin typeface="Arial" panose="020B0604020202020204" pitchFamily="34" charset="0"/>
          <a:ea typeface="+mn-ea"/>
          <a:cs typeface="Arial" panose="020B0604020202020204" pitchFamily="34" charset="0"/>
        </a:defRPr>
      </a:lvl7pPr>
      <a:lvl8pPr marL="3319463" indent="-119063" algn="l" defTabSz="914400" rtl="0" eaLnBrk="1" latinLnBrk="0" hangingPunct="1">
        <a:spcBef>
          <a:spcPct val="20000"/>
        </a:spcBef>
        <a:spcAft>
          <a:spcPts val="600"/>
        </a:spcAft>
        <a:buSzPct val="80000"/>
        <a:buFont typeface="Arial" pitchFamily="34" charset="0"/>
        <a:buChar char="•"/>
        <a:defRPr sz="1300" kern="1200" baseline="0">
          <a:solidFill>
            <a:schemeClr val="tx1"/>
          </a:solidFill>
          <a:latin typeface="Arial" panose="020B0604020202020204" pitchFamily="34" charset="0"/>
          <a:ea typeface="+mn-ea"/>
          <a:cs typeface="Arial" panose="020B0604020202020204" pitchFamily="34" charset="0"/>
        </a:defRPr>
      </a:lvl8pPr>
      <a:lvl9pPr marL="37925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E61E5-4F51-5244-AF22-7E7830F60133}"/>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
        <p:nvSpPr>
          <p:cNvPr id="2" name="Title Placeholder 1"/>
          <p:cNvSpPr>
            <a:spLocks noGrp="1"/>
          </p:cNvSpPr>
          <p:nvPr>
            <p:ph type="title"/>
          </p:nvPr>
        </p:nvSpPr>
        <p:spPr>
          <a:xfrm>
            <a:off x="335361" y="274641"/>
            <a:ext cx="9601067" cy="563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35360" y="1484784"/>
            <a:ext cx="11516853" cy="4641380"/>
          </a:xfrm>
          <a:prstGeom prst="rect">
            <a:avLst/>
          </a:prstGeom>
        </p:spPr>
        <p:txBody>
          <a:bodyPr vert="horz" lIns="91440" tIns="45720" rIns="91440" bIns="45720" numCol="1"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a:p>
            <a:pPr lvl="8"/>
            <a:endParaRPr lang="en-US" dirty="0"/>
          </a:p>
        </p:txBody>
      </p:sp>
      <p:sp>
        <p:nvSpPr>
          <p:cNvPr id="4" name="Date Placeholder 3"/>
          <p:cNvSpPr>
            <a:spLocks noGrp="1"/>
          </p:cNvSpPr>
          <p:nvPr>
            <p:ph type="dt" sz="half" idx="2"/>
          </p:nvPr>
        </p:nvSpPr>
        <p:spPr>
          <a:xfrm>
            <a:off x="719403" y="6525348"/>
            <a:ext cx="912101"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ABD509AA-7421-49E8-A5AD-4A9AED92AF4F}" type="datetime1">
              <a:rPr lang="en-US" smtClean="0"/>
              <a:pPr/>
              <a:t>9/16/2025</a:t>
            </a:fld>
            <a:endParaRPr lang="en-US" dirty="0"/>
          </a:p>
        </p:txBody>
      </p:sp>
      <p:sp>
        <p:nvSpPr>
          <p:cNvPr id="5" name="Footer Placeholder 4"/>
          <p:cNvSpPr>
            <a:spLocks noGrp="1"/>
          </p:cNvSpPr>
          <p:nvPr>
            <p:ph type="ftr" sz="quarter" idx="3"/>
          </p:nvPr>
        </p:nvSpPr>
        <p:spPr>
          <a:xfrm>
            <a:off x="1547561" y="6525348"/>
            <a:ext cx="8220847"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4"/>
          </p:nvPr>
        </p:nvSpPr>
        <p:spPr>
          <a:xfrm>
            <a:off x="239351" y="6525348"/>
            <a:ext cx="480053" cy="216023"/>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Tree>
    <p:extLst>
      <p:ext uri="{BB962C8B-B14F-4D97-AF65-F5344CB8AC3E}">
        <p14:creationId xmlns:p14="http://schemas.microsoft.com/office/powerpoint/2010/main" val="4158461917"/>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817" r:id="rId5"/>
    <p:sldLayoutId id="2147483818" r:id="rId6"/>
    <p:sldLayoutId id="2147483764" r:id="rId7"/>
    <p:sldLayoutId id="2147483765" r:id="rId8"/>
    <p:sldLayoutId id="2147483767" r:id="rId9"/>
    <p:sldLayoutId id="2147483810" r:id="rId10"/>
    <p:sldLayoutId id="2147483768" r:id="rId11"/>
  </p:sldLayoutIdLst>
  <p:hf hdr="0"/>
  <p:txStyles>
    <p:titleStyle>
      <a:lvl1pPr algn="l" defTabSz="914400" rtl="0" eaLnBrk="1" latinLnBrk="0" hangingPunct="1">
        <a:spcBef>
          <a:spcPct val="0"/>
        </a:spcBef>
        <a:buNone/>
        <a:defRPr sz="2400" b="1" kern="1200">
          <a:solidFill>
            <a:srgbClr val="00C2E2"/>
          </a:solidFill>
          <a:latin typeface="Arial" panose="020B0604020202020204" pitchFamily="34" charset="0"/>
          <a:ea typeface="+mj-ea"/>
          <a:cs typeface="Arial" panose="020B0604020202020204" pitchFamily="34" charset="0"/>
        </a:defRPr>
      </a:lvl1pPr>
    </p:titleStyle>
    <p:bodyStyle>
      <a:lvl1pPr marL="177800" indent="-177800" algn="l" defTabSz="914400" rtl="0" eaLnBrk="1" latinLnBrk="0" hangingPunct="1">
        <a:spcBef>
          <a:spcPct val="20000"/>
        </a:spcBef>
        <a:spcAft>
          <a:spcPts val="600"/>
        </a:spcAft>
        <a:buSzPct val="80000"/>
        <a:buFont typeface="Arial" pitchFamily="34" charset="0"/>
        <a:buChar char="•"/>
        <a:defRPr sz="1500" kern="1200">
          <a:solidFill>
            <a:schemeClr val="tx1">
              <a:lumMod val="85000"/>
              <a:lumOff val="15000"/>
            </a:schemeClr>
          </a:solidFill>
          <a:latin typeface="Arial" panose="020B0604020202020204" pitchFamily="34" charset="0"/>
          <a:ea typeface="+mn-ea"/>
          <a:cs typeface="Arial" panose="020B0604020202020204" pitchFamily="34" charset="0"/>
        </a:defRPr>
      </a:lvl1pPr>
      <a:lvl2pPr marL="627063" indent="-1698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2pPr>
      <a:lvl3pPr marL="1074738" indent="-160338"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3pPr>
      <a:lvl4pPr marL="1524000" indent="-152400"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4pPr>
      <a:lvl5pPr marL="1973263" indent="-1444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5pPr>
      <a:lvl6pPr marL="24209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6pPr>
      <a:lvl7pPr marL="2870200" indent="-127000" algn="l" defTabSz="914400" rtl="0" eaLnBrk="1" latinLnBrk="0" hangingPunct="1">
        <a:spcBef>
          <a:spcPct val="20000"/>
        </a:spcBef>
        <a:spcAft>
          <a:spcPts val="600"/>
        </a:spcAft>
        <a:buSzPct val="80000"/>
        <a:buFont typeface="Arial" pitchFamily="34" charset="0"/>
        <a:buChar char="•"/>
        <a:tabLst/>
        <a:defRPr sz="1300" kern="1200">
          <a:solidFill>
            <a:schemeClr val="tx1"/>
          </a:solidFill>
          <a:latin typeface="Arial" panose="020B0604020202020204" pitchFamily="34" charset="0"/>
          <a:ea typeface="+mn-ea"/>
          <a:cs typeface="Arial" panose="020B0604020202020204" pitchFamily="34" charset="0"/>
        </a:defRPr>
      </a:lvl7pPr>
      <a:lvl8pPr marL="3319463" indent="-119063" algn="l" defTabSz="914400" rtl="0" eaLnBrk="1" latinLnBrk="0" hangingPunct="1">
        <a:spcBef>
          <a:spcPct val="20000"/>
        </a:spcBef>
        <a:spcAft>
          <a:spcPts val="600"/>
        </a:spcAft>
        <a:buSzPct val="80000"/>
        <a:buFont typeface="Arial" pitchFamily="34" charset="0"/>
        <a:buChar char="•"/>
        <a:defRPr sz="1300" kern="1200" baseline="0">
          <a:solidFill>
            <a:schemeClr val="tx1"/>
          </a:solidFill>
          <a:latin typeface="Arial" panose="020B0604020202020204" pitchFamily="34" charset="0"/>
          <a:ea typeface="+mn-ea"/>
          <a:cs typeface="Arial" panose="020B0604020202020204" pitchFamily="34" charset="0"/>
        </a:defRPr>
      </a:lvl8pPr>
      <a:lvl9pPr marL="37925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8506057-B2D2-8D43-A4F7-12D8B3B0A82F}"/>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
        <p:nvSpPr>
          <p:cNvPr id="2" name="Title Placeholder 1"/>
          <p:cNvSpPr>
            <a:spLocks noGrp="1"/>
          </p:cNvSpPr>
          <p:nvPr>
            <p:ph type="title"/>
          </p:nvPr>
        </p:nvSpPr>
        <p:spPr>
          <a:xfrm>
            <a:off x="335361" y="274641"/>
            <a:ext cx="9601067" cy="563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35360" y="1484784"/>
            <a:ext cx="11516853" cy="4641380"/>
          </a:xfrm>
          <a:prstGeom prst="rect">
            <a:avLst/>
          </a:prstGeom>
        </p:spPr>
        <p:txBody>
          <a:bodyPr vert="horz" lIns="91440" tIns="45720" rIns="91440" bIns="45720" numCol="1"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a:p>
            <a:pPr lvl="8"/>
            <a:endParaRPr lang="en-US" dirty="0"/>
          </a:p>
        </p:txBody>
      </p:sp>
      <p:sp>
        <p:nvSpPr>
          <p:cNvPr id="4" name="Date Placeholder 3"/>
          <p:cNvSpPr>
            <a:spLocks noGrp="1"/>
          </p:cNvSpPr>
          <p:nvPr>
            <p:ph type="dt" sz="half" idx="2"/>
          </p:nvPr>
        </p:nvSpPr>
        <p:spPr>
          <a:xfrm>
            <a:off x="719403" y="6525348"/>
            <a:ext cx="912101"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ABD509AA-7421-49E8-A5AD-4A9AED92AF4F}" type="datetime1">
              <a:rPr lang="en-US" smtClean="0"/>
              <a:pPr/>
              <a:t>9/16/2025</a:t>
            </a:fld>
            <a:endParaRPr lang="en-US" dirty="0"/>
          </a:p>
        </p:txBody>
      </p:sp>
      <p:sp>
        <p:nvSpPr>
          <p:cNvPr id="5" name="Footer Placeholder 4"/>
          <p:cNvSpPr>
            <a:spLocks noGrp="1"/>
          </p:cNvSpPr>
          <p:nvPr>
            <p:ph type="ftr" sz="quarter" idx="3"/>
          </p:nvPr>
        </p:nvSpPr>
        <p:spPr>
          <a:xfrm>
            <a:off x="1547561" y="6525348"/>
            <a:ext cx="8220847"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4"/>
          </p:nvPr>
        </p:nvSpPr>
        <p:spPr>
          <a:xfrm>
            <a:off x="239351" y="6525348"/>
            <a:ext cx="480053" cy="216023"/>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Tree>
    <p:extLst>
      <p:ext uri="{BB962C8B-B14F-4D97-AF65-F5344CB8AC3E}">
        <p14:creationId xmlns:p14="http://schemas.microsoft.com/office/powerpoint/2010/main" val="1654826252"/>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819" r:id="rId4"/>
    <p:sldLayoutId id="2147483820" r:id="rId5"/>
    <p:sldLayoutId id="2147483774" r:id="rId6"/>
    <p:sldLayoutId id="2147483776" r:id="rId7"/>
    <p:sldLayoutId id="2147483777" r:id="rId8"/>
    <p:sldLayoutId id="2147483811" r:id="rId9"/>
    <p:sldLayoutId id="2147483778" r:id="rId10"/>
  </p:sldLayoutIdLst>
  <p:hf hdr="0"/>
  <p:txStyles>
    <p:titleStyle>
      <a:lvl1pPr algn="l" defTabSz="914400" rtl="0" eaLnBrk="1" latinLnBrk="0" hangingPunct="1">
        <a:spcBef>
          <a:spcPct val="0"/>
        </a:spcBef>
        <a:buNone/>
        <a:defRPr sz="2400" b="1" kern="1200">
          <a:solidFill>
            <a:srgbClr val="0AAD88"/>
          </a:solidFill>
          <a:latin typeface="Arial" panose="020B0604020202020204" pitchFamily="34" charset="0"/>
          <a:ea typeface="+mj-ea"/>
          <a:cs typeface="Arial" panose="020B0604020202020204" pitchFamily="34" charset="0"/>
        </a:defRPr>
      </a:lvl1pPr>
    </p:titleStyle>
    <p:bodyStyle>
      <a:lvl1pPr marL="177800" indent="-177800" algn="l" defTabSz="914400" rtl="0" eaLnBrk="1" latinLnBrk="0" hangingPunct="1">
        <a:spcBef>
          <a:spcPct val="20000"/>
        </a:spcBef>
        <a:spcAft>
          <a:spcPts val="600"/>
        </a:spcAft>
        <a:buSzPct val="80000"/>
        <a:buFont typeface="Arial" pitchFamily="34" charset="0"/>
        <a:buChar char="•"/>
        <a:defRPr sz="1500" kern="1200">
          <a:solidFill>
            <a:schemeClr val="tx1">
              <a:lumMod val="85000"/>
              <a:lumOff val="15000"/>
            </a:schemeClr>
          </a:solidFill>
          <a:latin typeface="Arial" panose="020B0604020202020204" pitchFamily="34" charset="0"/>
          <a:ea typeface="+mn-ea"/>
          <a:cs typeface="Arial" panose="020B0604020202020204" pitchFamily="34" charset="0"/>
        </a:defRPr>
      </a:lvl1pPr>
      <a:lvl2pPr marL="627063" indent="-1698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2pPr>
      <a:lvl3pPr marL="1074738" indent="-160338"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3pPr>
      <a:lvl4pPr marL="1524000" indent="-152400"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4pPr>
      <a:lvl5pPr marL="1973263" indent="-1444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5pPr>
      <a:lvl6pPr marL="24209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6pPr>
      <a:lvl7pPr marL="2870200" indent="-127000" algn="l" defTabSz="914400" rtl="0" eaLnBrk="1" latinLnBrk="0" hangingPunct="1">
        <a:spcBef>
          <a:spcPct val="20000"/>
        </a:spcBef>
        <a:spcAft>
          <a:spcPts val="600"/>
        </a:spcAft>
        <a:buSzPct val="80000"/>
        <a:buFont typeface="Arial" pitchFamily="34" charset="0"/>
        <a:buChar char="•"/>
        <a:tabLst/>
        <a:defRPr sz="1300" kern="1200">
          <a:solidFill>
            <a:schemeClr val="tx1"/>
          </a:solidFill>
          <a:latin typeface="Arial" panose="020B0604020202020204" pitchFamily="34" charset="0"/>
          <a:ea typeface="+mn-ea"/>
          <a:cs typeface="Arial" panose="020B0604020202020204" pitchFamily="34" charset="0"/>
        </a:defRPr>
      </a:lvl7pPr>
      <a:lvl8pPr marL="3319463" indent="-119063" algn="l" defTabSz="914400" rtl="0" eaLnBrk="1" latinLnBrk="0" hangingPunct="1">
        <a:spcBef>
          <a:spcPct val="20000"/>
        </a:spcBef>
        <a:spcAft>
          <a:spcPts val="600"/>
        </a:spcAft>
        <a:buSzPct val="80000"/>
        <a:buFont typeface="Arial" pitchFamily="34" charset="0"/>
        <a:buChar char="•"/>
        <a:defRPr sz="1300" kern="1200" baseline="0">
          <a:solidFill>
            <a:schemeClr val="tx1"/>
          </a:solidFill>
          <a:latin typeface="Arial" panose="020B0604020202020204" pitchFamily="34" charset="0"/>
          <a:ea typeface="+mn-ea"/>
          <a:cs typeface="Arial" panose="020B0604020202020204" pitchFamily="34" charset="0"/>
        </a:defRPr>
      </a:lvl8pPr>
      <a:lvl9pPr marL="37925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C19A9C5-52BF-F84D-A94B-A728BCB51A2B}"/>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
        <p:nvSpPr>
          <p:cNvPr id="2" name="Title Placeholder 1"/>
          <p:cNvSpPr>
            <a:spLocks noGrp="1"/>
          </p:cNvSpPr>
          <p:nvPr>
            <p:ph type="title"/>
          </p:nvPr>
        </p:nvSpPr>
        <p:spPr>
          <a:xfrm>
            <a:off x="335361" y="274641"/>
            <a:ext cx="9601067" cy="563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35360" y="1484784"/>
            <a:ext cx="11516853" cy="4641380"/>
          </a:xfrm>
          <a:prstGeom prst="rect">
            <a:avLst/>
          </a:prstGeom>
        </p:spPr>
        <p:txBody>
          <a:bodyPr vert="horz" lIns="91440" tIns="45720" rIns="91440" bIns="45720" numCol="1"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a:p>
            <a:pPr lvl="8"/>
            <a:endParaRPr lang="en-US" dirty="0"/>
          </a:p>
        </p:txBody>
      </p:sp>
      <p:sp>
        <p:nvSpPr>
          <p:cNvPr id="4" name="Date Placeholder 3"/>
          <p:cNvSpPr>
            <a:spLocks noGrp="1"/>
          </p:cNvSpPr>
          <p:nvPr>
            <p:ph type="dt" sz="half" idx="2"/>
          </p:nvPr>
        </p:nvSpPr>
        <p:spPr>
          <a:xfrm>
            <a:off x="719403" y="6525348"/>
            <a:ext cx="912101"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ABD509AA-7421-49E8-A5AD-4A9AED92AF4F}" type="datetime1">
              <a:rPr lang="en-US" smtClean="0"/>
              <a:pPr/>
              <a:t>9/16/2025</a:t>
            </a:fld>
            <a:endParaRPr lang="en-US" dirty="0"/>
          </a:p>
        </p:txBody>
      </p:sp>
      <p:sp>
        <p:nvSpPr>
          <p:cNvPr id="5" name="Footer Placeholder 4"/>
          <p:cNvSpPr>
            <a:spLocks noGrp="1"/>
          </p:cNvSpPr>
          <p:nvPr>
            <p:ph type="ftr" sz="quarter" idx="3"/>
          </p:nvPr>
        </p:nvSpPr>
        <p:spPr>
          <a:xfrm>
            <a:off x="1547561" y="6525348"/>
            <a:ext cx="8220847"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4"/>
          </p:nvPr>
        </p:nvSpPr>
        <p:spPr>
          <a:xfrm>
            <a:off x="239351" y="6525348"/>
            <a:ext cx="480053" cy="216023"/>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Tree>
    <p:extLst>
      <p:ext uri="{BB962C8B-B14F-4D97-AF65-F5344CB8AC3E}">
        <p14:creationId xmlns:p14="http://schemas.microsoft.com/office/powerpoint/2010/main" val="2616035853"/>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821" r:id="rId4"/>
    <p:sldLayoutId id="2147483822" r:id="rId5"/>
    <p:sldLayoutId id="2147483784" r:id="rId6"/>
    <p:sldLayoutId id="2147483785" r:id="rId7"/>
    <p:sldLayoutId id="2147483787" r:id="rId8"/>
    <p:sldLayoutId id="2147483812" r:id="rId9"/>
    <p:sldLayoutId id="2147483788" r:id="rId10"/>
  </p:sldLayoutIdLst>
  <p:hf hdr="0"/>
  <p:txStyles>
    <p:titleStyle>
      <a:lvl1pPr algn="l" defTabSz="914400" rtl="0" eaLnBrk="1" latinLnBrk="0" hangingPunct="1">
        <a:spcBef>
          <a:spcPct val="0"/>
        </a:spcBef>
        <a:buNone/>
        <a:defRPr sz="2400" b="1" kern="1200">
          <a:solidFill>
            <a:srgbClr val="3989C9"/>
          </a:solidFill>
          <a:latin typeface="Arial" panose="020B0604020202020204" pitchFamily="34" charset="0"/>
          <a:ea typeface="+mj-ea"/>
          <a:cs typeface="Arial" panose="020B0604020202020204" pitchFamily="34" charset="0"/>
        </a:defRPr>
      </a:lvl1pPr>
    </p:titleStyle>
    <p:bodyStyle>
      <a:lvl1pPr marL="177800" indent="-177800" algn="l" defTabSz="914400" rtl="0" eaLnBrk="1" latinLnBrk="0" hangingPunct="1">
        <a:spcBef>
          <a:spcPct val="20000"/>
        </a:spcBef>
        <a:spcAft>
          <a:spcPts val="600"/>
        </a:spcAft>
        <a:buSzPct val="80000"/>
        <a:buFont typeface="Arial" pitchFamily="34" charset="0"/>
        <a:buChar char="•"/>
        <a:defRPr sz="1500" kern="1200">
          <a:solidFill>
            <a:schemeClr val="tx1">
              <a:lumMod val="85000"/>
              <a:lumOff val="15000"/>
            </a:schemeClr>
          </a:solidFill>
          <a:latin typeface="Arial" panose="020B0604020202020204" pitchFamily="34" charset="0"/>
          <a:ea typeface="+mn-ea"/>
          <a:cs typeface="Arial" panose="020B0604020202020204" pitchFamily="34" charset="0"/>
        </a:defRPr>
      </a:lvl1pPr>
      <a:lvl2pPr marL="627063" indent="-1698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2pPr>
      <a:lvl3pPr marL="1074738" indent="-160338"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3pPr>
      <a:lvl4pPr marL="1524000" indent="-152400"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4pPr>
      <a:lvl5pPr marL="1973263" indent="-1444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5pPr>
      <a:lvl6pPr marL="24209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6pPr>
      <a:lvl7pPr marL="2870200" indent="-127000" algn="l" defTabSz="914400" rtl="0" eaLnBrk="1" latinLnBrk="0" hangingPunct="1">
        <a:spcBef>
          <a:spcPct val="20000"/>
        </a:spcBef>
        <a:spcAft>
          <a:spcPts val="600"/>
        </a:spcAft>
        <a:buSzPct val="80000"/>
        <a:buFont typeface="Arial" pitchFamily="34" charset="0"/>
        <a:buChar char="•"/>
        <a:tabLst/>
        <a:defRPr sz="1300" kern="1200">
          <a:solidFill>
            <a:schemeClr val="tx1"/>
          </a:solidFill>
          <a:latin typeface="Arial" panose="020B0604020202020204" pitchFamily="34" charset="0"/>
          <a:ea typeface="+mn-ea"/>
          <a:cs typeface="Arial" panose="020B0604020202020204" pitchFamily="34" charset="0"/>
        </a:defRPr>
      </a:lvl7pPr>
      <a:lvl8pPr marL="3319463" indent="-119063" algn="l" defTabSz="914400" rtl="0" eaLnBrk="1" latinLnBrk="0" hangingPunct="1">
        <a:spcBef>
          <a:spcPct val="20000"/>
        </a:spcBef>
        <a:spcAft>
          <a:spcPts val="600"/>
        </a:spcAft>
        <a:buSzPct val="80000"/>
        <a:buFont typeface="Arial" pitchFamily="34" charset="0"/>
        <a:buChar char="•"/>
        <a:defRPr sz="1300" kern="1200" baseline="0">
          <a:solidFill>
            <a:schemeClr val="tx1"/>
          </a:solidFill>
          <a:latin typeface="Arial" panose="020B0604020202020204" pitchFamily="34" charset="0"/>
          <a:ea typeface="+mn-ea"/>
          <a:cs typeface="Arial" panose="020B0604020202020204" pitchFamily="34" charset="0"/>
        </a:defRPr>
      </a:lvl8pPr>
      <a:lvl9pPr marL="37925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2DC6D27-6BC2-DC43-9B42-6982FEEBBA2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
        <p:nvSpPr>
          <p:cNvPr id="2" name="Title Placeholder 1"/>
          <p:cNvSpPr>
            <a:spLocks noGrp="1"/>
          </p:cNvSpPr>
          <p:nvPr>
            <p:ph type="title"/>
          </p:nvPr>
        </p:nvSpPr>
        <p:spPr>
          <a:xfrm>
            <a:off x="335361" y="274641"/>
            <a:ext cx="9601067" cy="563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35360" y="1484784"/>
            <a:ext cx="11516853" cy="4641380"/>
          </a:xfrm>
          <a:prstGeom prst="rect">
            <a:avLst/>
          </a:prstGeom>
        </p:spPr>
        <p:txBody>
          <a:bodyPr vert="horz" lIns="91440" tIns="45720" rIns="91440" bIns="45720" numCol="1"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a:p>
            <a:pPr lvl="8"/>
            <a:endParaRPr lang="en-US" dirty="0"/>
          </a:p>
        </p:txBody>
      </p:sp>
      <p:sp>
        <p:nvSpPr>
          <p:cNvPr id="4" name="Date Placeholder 3"/>
          <p:cNvSpPr>
            <a:spLocks noGrp="1"/>
          </p:cNvSpPr>
          <p:nvPr>
            <p:ph type="dt" sz="half" idx="2"/>
          </p:nvPr>
        </p:nvSpPr>
        <p:spPr>
          <a:xfrm>
            <a:off x="719403" y="6525348"/>
            <a:ext cx="912101"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ABD509AA-7421-49E8-A5AD-4A9AED92AF4F}" type="datetime1">
              <a:rPr lang="en-US" smtClean="0"/>
              <a:pPr/>
              <a:t>9/16/2025</a:t>
            </a:fld>
            <a:endParaRPr lang="en-US" dirty="0"/>
          </a:p>
        </p:txBody>
      </p:sp>
      <p:sp>
        <p:nvSpPr>
          <p:cNvPr id="5" name="Footer Placeholder 4"/>
          <p:cNvSpPr>
            <a:spLocks noGrp="1"/>
          </p:cNvSpPr>
          <p:nvPr>
            <p:ph type="ftr" sz="quarter" idx="3"/>
          </p:nvPr>
        </p:nvSpPr>
        <p:spPr>
          <a:xfrm>
            <a:off x="1547561" y="6525348"/>
            <a:ext cx="8220847"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4"/>
          </p:nvPr>
        </p:nvSpPr>
        <p:spPr>
          <a:xfrm>
            <a:off x="239351" y="6525348"/>
            <a:ext cx="480053" cy="216023"/>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Tree>
    <p:extLst>
      <p:ext uri="{BB962C8B-B14F-4D97-AF65-F5344CB8AC3E}">
        <p14:creationId xmlns:p14="http://schemas.microsoft.com/office/powerpoint/2010/main" val="2464309952"/>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823" r:id="rId4"/>
    <p:sldLayoutId id="2147483824" r:id="rId5"/>
    <p:sldLayoutId id="2147483794" r:id="rId6"/>
    <p:sldLayoutId id="2147483796" r:id="rId7"/>
    <p:sldLayoutId id="2147483797" r:id="rId8"/>
    <p:sldLayoutId id="2147483813" r:id="rId9"/>
    <p:sldLayoutId id="2147483798" r:id="rId10"/>
  </p:sldLayoutIdLst>
  <p:hf hdr="0"/>
  <p:txStyles>
    <p:titleStyle>
      <a:lvl1pPr algn="l" defTabSz="914400" rtl="0" eaLnBrk="1" latinLnBrk="0" hangingPunct="1">
        <a:spcBef>
          <a:spcPct val="0"/>
        </a:spcBef>
        <a:buNone/>
        <a:defRPr sz="2400" b="1" kern="1200">
          <a:solidFill>
            <a:srgbClr val="FCAF17"/>
          </a:solidFill>
          <a:latin typeface="Arial" panose="020B0604020202020204" pitchFamily="34" charset="0"/>
          <a:ea typeface="+mj-ea"/>
          <a:cs typeface="Arial" panose="020B0604020202020204" pitchFamily="34" charset="0"/>
        </a:defRPr>
      </a:lvl1pPr>
    </p:titleStyle>
    <p:bodyStyle>
      <a:lvl1pPr marL="177800" indent="-177800" algn="l" defTabSz="914400" rtl="0" eaLnBrk="1" latinLnBrk="0" hangingPunct="1">
        <a:spcBef>
          <a:spcPct val="20000"/>
        </a:spcBef>
        <a:spcAft>
          <a:spcPts val="600"/>
        </a:spcAft>
        <a:buSzPct val="80000"/>
        <a:buFont typeface="Arial" pitchFamily="34" charset="0"/>
        <a:buChar char="•"/>
        <a:defRPr sz="1500" kern="1200">
          <a:solidFill>
            <a:schemeClr val="tx1">
              <a:lumMod val="85000"/>
              <a:lumOff val="15000"/>
            </a:schemeClr>
          </a:solidFill>
          <a:latin typeface="Arial" panose="020B0604020202020204" pitchFamily="34" charset="0"/>
          <a:ea typeface="+mn-ea"/>
          <a:cs typeface="Arial" panose="020B0604020202020204" pitchFamily="34" charset="0"/>
        </a:defRPr>
      </a:lvl1pPr>
      <a:lvl2pPr marL="627063" indent="-1698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2pPr>
      <a:lvl3pPr marL="1074738" indent="-160338"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3pPr>
      <a:lvl4pPr marL="1524000" indent="-152400"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4pPr>
      <a:lvl5pPr marL="1973263" indent="-1444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5pPr>
      <a:lvl6pPr marL="24209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6pPr>
      <a:lvl7pPr marL="2870200" indent="-127000" algn="l" defTabSz="914400" rtl="0" eaLnBrk="1" latinLnBrk="0" hangingPunct="1">
        <a:spcBef>
          <a:spcPct val="20000"/>
        </a:spcBef>
        <a:spcAft>
          <a:spcPts val="600"/>
        </a:spcAft>
        <a:buSzPct val="80000"/>
        <a:buFont typeface="Arial" pitchFamily="34" charset="0"/>
        <a:buChar char="•"/>
        <a:tabLst/>
        <a:defRPr sz="1300" kern="1200">
          <a:solidFill>
            <a:schemeClr val="tx1"/>
          </a:solidFill>
          <a:latin typeface="Arial" panose="020B0604020202020204" pitchFamily="34" charset="0"/>
          <a:ea typeface="+mn-ea"/>
          <a:cs typeface="Arial" panose="020B0604020202020204" pitchFamily="34" charset="0"/>
        </a:defRPr>
      </a:lvl7pPr>
      <a:lvl8pPr marL="3319463" indent="-119063" algn="l" defTabSz="914400" rtl="0" eaLnBrk="1" latinLnBrk="0" hangingPunct="1">
        <a:spcBef>
          <a:spcPct val="20000"/>
        </a:spcBef>
        <a:spcAft>
          <a:spcPts val="600"/>
        </a:spcAft>
        <a:buSzPct val="80000"/>
        <a:buFont typeface="Arial" pitchFamily="34" charset="0"/>
        <a:buChar char="•"/>
        <a:defRPr sz="1300" kern="1200" baseline="0">
          <a:solidFill>
            <a:schemeClr val="tx1"/>
          </a:solidFill>
          <a:latin typeface="Arial" panose="020B0604020202020204" pitchFamily="34" charset="0"/>
          <a:ea typeface="+mn-ea"/>
          <a:cs typeface="Arial" panose="020B0604020202020204" pitchFamily="34" charset="0"/>
        </a:defRPr>
      </a:lvl8pPr>
      <a:lvl9pPr marL="37925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5361" y="274641"/>
            <a:ext cx="9601067" cy="563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35360" y="1484784"/>
            <a:ext cx="11516853" cy="4641380"/>
          </a:xfrm>
          <a:prstGeom prst="rect">
            <a:avLst/>
          </a:prstGeom>
        </p:spPr>
        <p:txBody>
          <a:bodyPr vert="horz" lIns="91440" tIns="45720" rIns="91440" bIns="45720" numCol="1"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a:p>
            <a:pPr lvl="8"/>
            <a:endParaRPr lang="en-US" dirty="0"/>
          </a:p>
        </p:txBody>
      </p:sp>
      <p:sp>
        <p:nvSpPr>
          <p:cNvPr id="4" name="Date Placeholder 3"/>
          <p:cNvSpPr>
            <a:spLocks noGrp="1"/>
          </p:cNvSpPr>
          <p:nvPr>
            <p:ph type="dt" sz="half" idx="2"/>
          </p:nvPr>
        </p:nvSpPr>
        <p:spPr>
          <a:xfrm>
            <a:off x="719403" y="6525348"/>
            <a:ext cx="912101"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ABD509AA-7421-49E8-A5AD-4A9AED92AF4F}" type="datetime1">
              <a:rPr lang="en-US" smtClean="0"/>
              <a:pPr/>
              <a:t>9/16/2025</a:t>
            </a:fld>
            <a:endParaRPr lang="en-US" dirty="0"/>
          </a:p>
        </p:txBody>
      </p:sp>
      <p:sp>
        <p:nvSpPr>
          <p:cNvPr id="5" name="Footer Placeholder 4"/>
          <p:cNvSpPr>
            <a:spLocks noGrp="1"/>
          </p:cNvSpPr>
          <p:nvPr>
            <p:ph type="ftr" sz="quarter" idx="3"/>
          </p:nvPr>
        </p:nvSpPr>
        <p:spPr>
          <a:xfrm>
            <a:off x="1547561" y="6525348"/>
            <a:ext cx="8220847"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4"/>
          </p:nvPr>
        </p:nvSpPr>
        <p:spPr>
          <a:xfrm>
            <a:off x="239351" y="6525348"/>
            <a:ext cx="480053" cy="216023"/>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7" name="Picture 6">
            <a:extLst>
              <a:ext uri="{FF2B5EF4-FFF2-40B4-BE49-F238E27FC236}">
                <a16:creationId xmlns:a16="http://schemas.microsoft.com/office/drawing/2014/main" id="{C91E2860-83AC-7A4B-943A-076630A98A81}"/>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Tree>
    <p:extLst>
      <p:ext uri="{BB962C8B-B14F-4D97-AF65-F5344CB8AC3E}">
        <p14:creationId xmlns:p14="http://schemas.microsoft.com/office/powerpoint/2010/main" val="2336893022"/>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25" r:id="rId5"/>
    <p:sldLayoutId id="2147483826" r:id="rId6"/>
    <p:sldLayoutId id="2147483804" r:id="rId7"/>
    <p:sldLayoutId id="2147483806" r:id="rId8"/>
    <p:sldLayoutId id="2147483807" r:id="rId9"/>
    <p:sldLayoutId id="2147483814" r:id="rId10"/>
    <p:sldLayoutId id="2147483808" r:id="rId11"/>
  </p:sldLayoutIdLst>
  <p:hf hdr="0"/>
  <p:txStyles>
    <p:titleStyle>
      <a:lvl1pPr algn="l" defTabSz="914400" rtl="0" eaLnBrk="1" latinLnBrk="0" hangingPunct="1">
        <a:spcBef>
          <a:spcPct val="0"/>
        </a:spcBef>
        <a:buNone/>
        <a:defRPr sz="2400" b="1" kern="1200">
          <a:solidFill>
            <a:srgbClr val="929292"/>
          </a:solidFill>
          <a:latin typeface="Arial" panose="020B0604020202020204" pitchFamily="34" charset="0"/>
          <a:ea typeface="+mj-ea"/>
          <a:cs typeface="Arial" panose="020B0604020202020204" pitchFamily="34" charset="0"/>
        </a:defRPr>
      </a:lvl1pPr>
    </p:titleStyle>
    <p:bodyStyle>
      <a:lvl1pPr marL="177800" indent="-177800" algn="l" defTabSz="914400" rtl="0" eaLnBrk="1" latinLnBrk="0" hangingPunct="1">
        <a:spcBef>
          <a:spcPct val="20000"/>
        </a:spcBef>
        <a:spcAft>
          <a:spcPts val="600"/>
        </a:spcAft>
        <a:buSzPct val="80000"/>
        <a:buFont typeface="Arial" pitchFamily="34" charset="0"/>
        <a:buChar char="•"/>
        <a:defRPr sz="1500" kern="1200">
          <a:solidFill>
            <a:schemeClr val="tx1">
              <a:lumMod val="85000"/>
              <a:lumOff val="15000"/>
            </a:schemeClr>
          </a:solidFill>
          <a:latin typeface="Arial" panose="020B0604020202020204" pitchFamily="34" charset="0"/>
          <a:ea typeface="+mn-ea"/>
          <a:cs typeface="Arial" panose="020B0604020202020204" pitchFamily="34" charset="0"/>
        </a:defRPr>
      </a:lvl1pPr>
      <a:lvl2pPr marL="627063" indent="-1698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2pPr>
      <a:lvl3pPr marL="1074738" indent="-160338"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3pPr>
      <a:lvl4pPr marL="1524000" indent="-152400"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4pPr>
      <a:lvl5pPr marL="1973263" indent="-1444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5pPr>
      <a:lvl6pPr marL="24209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6pPr>
      <a:lvl7pPr marL="2870200" indent="-127000" algn="l" defTabSz="914400" rtl="0" eaLnBrk="1" latinLnBrk="0" hangingPunct="1">
        <a:spcBef>
          <a:spcPct val="20000"/>
        </a:spcBef>
        <a:spcAft>
          <a:spcPts val="600"/>
        </a:spcAft>
        <a:buSzPct val="80000"/>
        <a:buFont typeface="Arial" pitchFamily="34" charset="0"/>
        <a:buChar char="•"/>
        <a:tabLst/>
        <a:defRPr sz="1300" kern="1200">
          <a:solidFill>
            <a:schemeClr val="tx1"/>
          </a:solidFill>
          <a:latin typeface="Arial" panose="020B0604020202020204" pitchFamily="34" charset="0"/>
          <a:ea typeface="+mn-ea"/>
          <a:cs typeface="Arial" panose="020B0604020202020204" pitchFamily="34" charset="0"/>
        </a:defRPr>
      </a:lvl7pPr>
      <a:lvl8pPr marL="3319463" indent="-119063" algn="l" defTabSz="914400" rtl="0" eaLnBrk="1" latinLnBrk="0" hangingPunct="1">
        <a:spcBef>
          <a:spcPct val="20000"/>
        </a:spcBef>
        <a:spcAft>
          <a:spcPts val="600"/>
        </a:spcAft>
        <a:buSzPct val="80000"/>
        <a:buFont typeface="Arial" pitchFamily="34" charset="0"/>
        <a:buChar char="•"/>
        <a:defRPr sz="1300" kern="1200" baseline="0">
          <a:solidFill>
            <a:schemeClr val="tx1"/>
          </a:solidFill>
          <a:latin typeface="Arial" panose="020B0604020202020204" pitchFamily="34" charset="0"/>
          <a:ea typeface="+mn-ea"/>
          <a:cs typeface="Arial" panose="020B0604020202020204" pitchFamily="34" charset="0"/>
        </a:defRPr>
      </a:lvl8pPr>
      <a:lvl9pPr marL="37925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5361" y="274641"/>
            <a:ext cx="9601067" cy="563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35360" y="1484784"/>
            <a:ext cx="11516853" cy="4641380"/>
          </a:xfrm>
          <a:prstGeom prst="rect">
            <a:avLst/>
          </a:prstGeom>
        </p:spPr>
        <p:txBody>
          <a:bodyPr vert="horz" lIns="91440" tIns="45720" rIns="91440" bIns="45720" numCol="1"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a:p>
            <a:pPr lvl="8"/>
            <a:endParaRPr lang="en-US" dirty="0"/>
          </a:p>
        </p:txBody>
      </p:sp>
      <p:sp>
        <p:nvSpPr>
          <p:cNvPr id="4" name="Date Placeholder 3"/>
          <p:cNvSpPr>
            <a:spLocks noGrp="1"/>
          </p:cNvSpPr>
          <p:nvPr>
            <p:ph type="dt" sz="half" idx="2"/>
          </p:nvPr>
        </p:nvSpPr>
        <p:spPr>
          <a:xfrm>
            <a:off x="719403" y="6525348"/>
            <a:ext cx="912101"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ABD509AA-7421-49E8-A5AD-4A9AED92AF4F}" type="datetime1">
              <a:rPr lang="en-US" smtClean="0"/>
              <a:pPr/>
              <a:t>9/16/2025</a:t>
            </a:fld>
            <a:endParaRPr lang="en-US" dirty="0"/>
          </a:p>
        </p:txBody>
      </p:sp>
      <p:sp>
        <p:nvSpPr>
          <p:cNvPr id="5" name="Footer Placeholder 4"/>
          <p:cNvSpPr>
            <a:spLocks noGrp="1"/>
          </p:cNvSpPr>
          <p:nvPr>
            <p:ph type="ftr" sz="quarter" idx="3"/>
          </p:nvPr>
        </p:nvSpPr>
        <p:spPr>
          <a:xfrm>
            <a:off x="1547561" y="6525348"/>
            <a:ext cx="8220847"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4"/>
          </p:nvPr>
        </p:nvSpPr>
        <p:spPr>
          <a:xfrm>
            <a:off x="239351" y="6525348"/>
            <a:ext cx="480053" cy="216023"/>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7" name="Picture 6">
            <a:extLst>
              <a:ext uri="{FF2B5EF4-FFF2-40B4-BE49-F238E27FC236}">
                <a16:creationId xmlns:a16="http://schemas.microsoft.com/office/drawing/2014/main" id="{A9BA3B90-0677-3D47-A75A-7CA89423C637}"/>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Tree>
    <p:extLst>
      <p:ext uri="{BB962C8B-B14F-4D97-AF65-F5344CB8AC3E}">
        <p14:creationId xmlns:p14="http://schemas.microsoft.com/office/powerpoint/2010/main" val="1562372141"/>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5" r:id="rId7"/>
    <p:sldLayoutId id="2147483836" r:id="rId8"/>
    <p:sldLayoutId id="2147483837" r:id="rId9"/>
    <p:sldLayoutId id="2147483838" r:id="rId10"/>
  </p:sldLayoutIdLst>
  <p:hf hdr="0"/>
  <p:txStyles>
    <p:titleStyle>
      <a:lvl1pPr algn="l" defTabSz="914400" rtl="0" eaLnBrk="1" latinLnBrk="0" hangingPunct="1">
        <a:spcBef>
          <a:spcPct val="0"/>
        </a:spcBef>
        <a:buNone/>
        <a:defRPr sz="2400" b="1" kern="1200">
          <a:solidFill>
            <a:srgbClr val="EACC1B"/>
          </a:solidFill>
          <a:latin typeface="Arial" panose="020B0604020202020204" pitchFamily="34" charset="0"/>
          <a:ea typeface="+mj-ea"/>
          <a:cs typeface="Arial" panose="020B0604020202020204" pitchFamily="34" charset="0"/>
        </a:defRPr>
      </a:lvl1pPr>
    </p:titleStyle>
    <p:bodyStyle>
      <a:lvl1pPr marL="177800" indent="-177800" algn="l" defTabSz="914400" rtl="0" eaLnBrk="1" latinLnBrk="0" hangingPunct="1">
        <a:spcBef>
          <a:spcPct val="20000"/>
        </a:spcBef>
        <a:spcAft>
          <a:spcPts val="600"/>
        </a:spcAft>
        <a:buSzPct val="80000"/>
        <a:buFont typeface="Arial" pitchFamily="34" charset="0"/>
        <a:buChar char="•"/>
        <a:defRPr sz="1500" kern="1200">
          <a:solidFill>
            <a:schemeClr val="tx1">
              <a:lumMod val="85000"/>
              <a:lumOff val="15000"/>
            </a:schemeClr>
          </a:solidFill>
          <a:latin typeface="Arial" panose="020B0604020202020204" pitchFamily="34" charset="0"/>
          <a:ea typeface="+mn-ea"/>
          <a:cs typeface="Arial" panose="020B0604020202020204" pitchFamily="34" charset="0"/>
        </a:defRPr>
      </a:lvl1pPr>
      <a:lvl2pPr marL="627063" indent="-1698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2pPr>
      <a:lvl3pPr marL="1074738" indent="-160338"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3pPr>
      <a:lvl4pPr marL="1524000" indent="-152400"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4pPr>
      <a:lvl5pPr marL="1973263" indent="-1444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5pPr>
      <a:lvl6pPr marL="24209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6pPr>
      <a:lvl7pPr marL="2870200" indent="-127000" algn="l" defTabSz="914400" rtl="0" eaLnBrk="1" latinLnBrk="0" hangingPunct="1">
        <a:spcBef>
          <a:spcPct val="20000"/>
        </a:spcBef>
        <a:spcAft>
          <a:spcPts val="600"/>
        </a:spcAft>
        <a:buSzPct val="80000"/>
        <a:buFont typeface="Arial" pitchFamily="34" charset="0"/>
        <a:buChar char="•"/>
        <a:tabLst/>
        <a:defRPr sz="1300" kern="1200">
          <a:solidFill>
            <a:schemeClr val="tx1"/>
          </a:solidFill>
          <a:latin typeface="Arial" panose="020B0604020202020204" pitchFamily="34" charset="0"/>
          <a:ea typeface="+mn-ea"/>
          <a:cs typeface="Arial" panose="020B0604020202020204" pitchFamily="34" charset="0"/>
        </a:defRPr>
      </a:lvl7pPr>
      <a:lvl8pPr marL="3319463" indent="-119063" algn="l" defTabSz="914400" rtl="0" eaLnBrk="1" latinLnBrk="0" hangingPunct="1">
        <a:spcBef>
          <a:spcPct val="20000"/>
        </a:spcBef>
        <a:spcAft>
          <a:spcPts val="600"/>
        </a:spcAft>
        <a:buSzPct val="80000"/>
        <a:buFont typeface="Arial" pitchFamily="34" charset="0"/>
        <a:buChar char="•"/>
        <a:defRPr sz="1300" kern="1200" baseline="0">
          <a:solidFill>
            <a:schemeClr val="tx1"/>
          </a:solidFill>
          <a:latin typeface="Arial" panose="020B0604020202020204" pitchFamily="34" charset="0"/>
          <a:ea typeface="+mn-ea"/>
          <a:cs typeface="Arial" panose="020B0604020202020204" pitchFamily="34" charset="0"/>
        </a:defRPr>
      </a:lvl8pPr>
      <a:lvl9pPr marL="37925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5.xml"/><Relationship Id="rId4"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073" y="2924944"/>
            <a:ext cx="10363200" cy="2010147"/>
          </a:xfrm>
        </p:spPr>
        <p:txBody>
          <a:bodyPr>
            <a:normAutofit fontScale="90000"/>
          </a:bodyPr>
          <a:lstStyle/>
          <a:p>
            <a:br>
              <a:rPr lang="en-CA" dirty="0"/>
            </a:br>
            <a:br>
              <a:rPr lang="en-CA" dirty="0"/>
            </a:br>
            <a:r>
              <a:rPr lang="en-CA" dirty="0"/>
              <a:t>RSM222</a:t>
            </a:r>
            <a:br>
              <a:rPr lang="en-CA" dirty="0"/>
            </a:br>
            <a:r>
              <a:rPr lang="en-CA" sz="3900" dirty="0"/>
              <a:t>Management Accounting 1</a:t>
            </a:r>
            <a:br>
              <a:rPr lang="en-CA" sz="3900" dirty="0"/>
            </a:br>
            <a:br>
              <a:rPr lang="en-CA" sz="3900" dirty="0"/>
            </a:br>
            <a:r>
              <a:rPr lang="en-CA" sz="3100" dirty="0"/>
              <a:t>Class 3: Student Handout</a:t>
            </a:r>
            <a:endParaRPr lang="en-CA" sz="3900" dirty="0"/>
          </a:p>
        </p:txBody>
      </p:sp>
      <p:sp>
        <p:nvSpPr>
          <p:cNvPr id="3" name="Subtitle 2"/>
          <p:cNvSpPr>
            <a:spLocks noGrp="1"/>
          </p:cNvSpPr>
          <p:nvPr>
            <p:ph type="body" idx="1"/>
          </p:nvPr>
        </p:nvSpPr>
        <p:spPr>
          <a:xfrm>
            <a:off x="261764" y="6093296"/>
            <a:ext cx="10363200" cy="504056"/>
          </a:xfrm>
        </p:spPr>
        <p:txBody>
          <a:bodyPr>
            <a:normAutofit/>
          </a:bodyPr>
          <a:lstStyle/>
          <a:p>
            <a:r>
              <a:rPr lang="en-CA" dirty="0"/>
              <a:t>Elisa Zuliani</a:t>
            </a:r>
          </a:p>
        </p:txBody>
      </p:sp>
    </p:spTree>
    <p:extLst>
      <p:ext uri="{BB962C8B-B14F-4D97-AF65-F5344CB8AC3E}">
        <p14:creationId xmlns:p14="http://schemas.microsoft.com/office/powerpoint/2010/main" val="3869622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A4F4BEA8-80E6-0FC3-1DCB-0DBA296EEFEC}"/>
              </a:ext>
            </a:extLst>
          </p:cNvPr>
          <p:cNvSpPr>
            <a:spLocks noGrp="1"/>
          </p:cNvSpPr>
          <p:nvPr>
            <p:ph type="dt" sz="half" idx="4294967295"/>
          </p:nvPr>
        </p:nvSpPr>
        <p:spPr>
          <a:xfrm>
            <a:off x="0" y="6524625"/>
            <a:ext cx="912813" cy="217488"/>
          </a:xfrm>
        </p:spPr>
        <p:txBody>
          <a:bodyPr/>
          <a:lstStyle/>
          <a:p>
            <a:fld id="{24152D7D-82F2-4A37-B2F5-19B5077FAE3F}" type="datetime1">
              <a:rPr lang="en-US" smtClean="0"/>
              <a:t>9/16/2025</a:t>
            </a:fld>
            <a:endParaRPr lang="en-US"/>
          </a:p>
        </p:txBody>
      </p:sp>
      <p:sp>
        <p:nvSpPr>
          <p:cNvPr id="6" name="Slide Number Placeholder 5">
            <a:extLst>
              <a:ext uri="{FF2B5EF4-FFF2-40B4-BE49-F238E27FC236}">
                <a16:creationId xmlns:a16="http://schemas.microsoft.com/office/drawing/2014/main" id="{CB19FF65-309A-0EB0-6E3A-51A7941055D9}"/>
              </a:ext>
            </a:extLst>
          </p:cNvPr>
          <p:cNvSpPr>
            <a:spLocks noGrp="1"/>
          </p:cNvSpPr>
          <p:nvPr>
            <p:ph type="sldNum" sz="quarter" idx="4294967295"/>
          </p:nvPr>
        </p:nvSpPr>
        <p:spPr>
          <a:xfrm>
            <a:off x="0" y="6524625"/>
            <a:ext cx="479425" cy="217488"/>
          </a:xfrm>
        </p:spPr>
        <p:txBody>
          <a:bodyPr/>
          <a:lstStyle/>
          <a:p>
            <a:pPr marL="69850">
              <a:lnSpc>
                <a:spcPct val="100000"/>
              </a:lnSpc>
              <a:spcBef>
                <a:spcPts val="15"/>
              </a:spcBef>
            </a:pPr>
            <a:fld id="{81D60167-4931-47E6-BA6A-407CBD079E47}" type="slidenum">
              <a:rPr lang="en-CA" spc="-50" smtClean="0"/>
              <a:t>2</a:t>
            </a:fld>
            <a:endParaRPr lang="en-CA" spc="-50" dirty="0"/>
          </a:p>
        </p:txBody>
      </p:sp>
      <p:sp>
        <p:nvSpPr>
          <p:cNvPr id="10" name="object 4">
            <a:extLst>
              <a:ext uri="{FF2B5EF4-FFF2-40B4-BE49-F238E27FC236}">
                <a16:creationId xmlns:a16="http://schemas.microsoft.com/office/drawing/2014/main" id="{A6A2146B-0560-CF9A-B0DE-5B38B124DA53}"/>
              </a:ext>
            </a:extLst>
          </p:cNvPr>
          <p:cNvSpPr txBox="1">
            <a:spLocks/>
          </p:cNvSpPr>
          <p:nvPr/>
        </p:nvSpPr>
        <p:spPr>
          <a:xfrm>
            <a:off x="540816" y="603630"/>
            <a:ext cx="4497705" cy="574040"/>
          </a:xfrm>
          <a:prstGeom prst="rect">
            <a:avLst/>
          </a:prstGeom>
        </p:spPr>
        <p:txBody>
          <a:bodyPr vert="horz" wrap="square" lIns="0" tIns="12700" rIns="0" bIns="0" rtlCol="0" anchor="ctr">
            <a:spAutoFit/>
          </a:bodyPr>
          <a:lstStyle>
            <a:lvl1pPr algn="l" defTabSz="914400" rtl="0" eaLnBrk="1" latinLnBrk="0" hangingPunct="1">
              <a:spcBef>
                <a:spcPct val="0"/>
              </a:spcBef>
              <a:buNone/>
              <a:defRPr sz="5000" b="1" kern="1200">
                <a:solidFill>
                  <a:schemeClr val="bg1"/>
                </a:solidFill>
                <a:latin typeface="Arial" panose="020B0604020202020204" pitchFamily="34" charset="0"/>
                <a:ea typeface="+mj-ea"/>
                <a:cs typeface="Arial" panose="020B0604020202020204" pitchFamily="34" charset="0"/>
              </a:defRPr>
            </a:lvl1pPr>
          </a:lstStyle>
          <a:p>
            <a:pPr marL="12700">
              <a:spcBef>
                <a:spcPts val="100"/>
              </a:spcBef>
            </a:pPr>
            <a:r>
              <a:rPr lang="en-CA" sz="3600">
                <a:solidFill>
                  <a:srgbClr val="FFFFFF"/>
                </a:solidFill>
              </a:rPr>
              <a:t>IN</a:t>
            </a:r>
            <a:r>
              <a:rPr lang="en-CA" sz="3600" spc="-15">
                <a:solidFill>
                  <a:srgbClr val="FFFFFF"/>
                </a:solidFill>
              </a:rPr>
              <a:t> </a:t>
            </a:r>
            <a:r>
              <a:rPr lang="en-CA" sz="3600">
                <a:solidFill>
                  <a:srgbClr val="FFFFFF"/>
                </a:solidFill>
              </a:rPr>
              <a:t>CLASS</a:t>
            </a:r>
            <a:r>
              <a:rPr lang="en-CA" sz="3600" spc="-10">
                <a:solidFill>
                  <a:srgbClr val="FFFFFF"/>
                </a:solidFill>
              </a:rPr>
              <a:t> EXAMPLE</a:t>
            </a:r>
            <a:endParaRPr lang="en-CA" sz="3600" dirty="0"/>
          </a:p>
        </p:txBody>
      </p:sp>
      <p:sp>
        <p:nvSpPr>
          <p:cNvPr id="12" name="object 7">
            <a:extLst>
              <a:ext uri="{FF2B5EF4-FFF2-40B4-BE49-F238E27FC236}">
                <a16:creationId xmlns:a16="http://schemas.microsoft.com/office/drawing/2014/main" id="{4890DA1E-0597-7EA5-D916-05D6B7EC2CDF}"/>
              </a:ext>
            </a:extLst>
          </p:cNvPr>
          <p:cNvSpPr txBox="1"/>
          <p:nvPr/>
        </p:nvSpPr>
        <p:spPr>
          <a:xfrm>
            <a:off x="558190" y="1429892"/>
            <a:ext cx="4591050" cy="1576070"/>
          </a:xfrm>
          <a:prstGeom prst="rect">
            <a:avLst/>
          </a:prstGeom>
        </p:spPr>
        <p:txBody>
          <a:bodyPr vert="horz" wrap="square" lIns="0" tIns="12065" rIns="0" bIns="0" rtlCol="0">
            <a:spAutoFit/>
          </a:bodyPr>
          <a:lstStyle/>
          <a:p>
            <a:pPr marL="12700">
              <a:lnSpc>
                <a:spcPct val="100000"/>
              </a:lnSpc>
              <a:spcBef>
                <a:spcPts val="95"/>
              </a:spcBef>
            </a:pPr>
            <a:r>
              <a:rPr sz="2800" b="1" spc="-10" dirty="0">
                <a:solidFill>
                  <a:srgbClr val="FFFFFF"/>
                </a:solidFill>
                <a:latin typeface="Arial"/>
                <a:cs typeface="Arial"/>
              </a:rPr>
              <a:t>Yacht</a:t>
            </a:r>
            <a:r>
              <a:rPr sz="2800" b="1" spc="-125" dirty="0">
                <a:solidFill>
                  <a:srgbClr val="FFFFFF"/>
                </a:solidFill>
                <a:latin typeface="Arial"/>
                <a:cs typeface="Arial"/>
              </a:rPr>
              <a:t> </a:t>
            </a:r>
            <a:r>
              <a:rPr sz="2800" b="1" dirty="0">
                <a:solidFill>
                  <a:srgbClr val="FFFFFF"/>
                </a:solidFill>
                <a:latin typeface="Arial"/>
                <a:cs typeface="Arial"/>
              </a:rPr>
              <a:t>International</a:t>
            </a:r>
            <a:r>
              <a:rPr sz="2800" b="1" spc="-110" dirty="0">
                <a:solidFill>
                  <a:srgbClr val="FFFFFF"/>
                </a:solidFill>
                <a:latin typeface="Arial"/>
                <a:cs typeface="Arial"/>
              </a:rPr>
              <a:t> </a:t>
            </a:r>
            <a:r>
              <a:rPr sz="2800" b="1" dirty="0">
                <a:solidFill>
                  <a:srgbClr val="FFFFFF"/>
                </a:solidFill>
                <a:latin typeface="Arial"/>
                <a:cs typeface="Arial"/>
              </a:rPr>
              <a:t>Inc</a:t>
            </a:r>
            <a:r>
              <a:rPr sz="2800" b="1" spc="-135" dirty="0">
                <a:solidFill>
                  <a:srgbClr val="FFFFFF"/>
                </a:solidFill>
                <a:latin typeface="Arial"/>
                <a:cs typeface="Arial"/>
              </a:rPr>
              <a:t> </a:t>
            </a:r>
            <a:r>
              <a:rPr sz="2800" b="1" spc="-10" dirty="0">
                <a:solidFill>
                  <a:srgbClr val="FFFFFF"/>
                </a:solidFill>
                <a:latin typeface="Arial"/>
                <a:cs typeface="Arial"/>
              </a:rPr>
              <a:t>(YII)</a:t>
            </a:r>
            <a:endParaRPr sz="2800" dirty="0">
              <a:latin typeface="Arial"/>
              <a:cs typeface="Arial"/>
            </a:endParaRPr>
          </a:p>
          <a:p>
            <a:pPr>
              <a:lnSpc>
                <a:spcPct val="100000"/>
              </a:lnSpc>
              <a:spcBef>
                <a:spcPts val="2275"/>
              </a:spcBef>
            </a:pPr>
            <a:endParaRPr sz="2800" dirty="0">
              <a:latin typeface="Arial"/>
              <a:cs typeface="Arial"/>
            </a:endParaRPr>
          </a:p>
          <a:p>
            <a:pPr marL="12700">
              <a:lnSpc>
                <a:spcPct val="100000"/>
              </a:lnSpc>
            </a:pPr>
            <a:r>
              <a:rPr sz="2800" b="1" dirty="0">
                <a:solidFill>
                  <a:srgbClr val="FFFFFF"/>
                </a:solidFill>
                <a:latin typeface="Arial"/>
                <a:cs typeface="Arial"/>
              </a:rPr>
              <a:t>Fun</a:t>
            </a:r>
            <a:r>
              <a:rPr sz="2800" b="1" spc="-35" dirty="0">
                <a:solidFill>
                  <a:srgbClr val="FFFFFF"/>
                </a:solidFill>
                <a:latin typeface="Arial"/>
                <a:cs typeface="Arial"/>
              </a:rPr>
              <a:t> </a:t>
            </a:r>
            <a:r>
              <a:rPr sz="2800" b="1" dirty="0">
                <a:solidFill>
                  <a:srgbClr val="FFFFFF"/>
                </a:solidFill>
                <a:latin typeface="Arial"/>
                <a:cs typeface="Arial"/>
              </a:rPr>
              <a:t>Fact</a:t>
            </a:r>
            <a:r>
              <a:rPr sz="2800" b="1" spc="-35" dirty="0">
                <a:solidFill>
                  <a:srgbClr val="FFFFFF"/>
                </a:solidFill>
                <a:latin typeface="Arial"/>
                <a:cs typeface="Arial"/>
              </a:rPr>
              <a:t> </a:t>
            </a:r>
            <a:r>
              <a:rPr sz="2800" b="1" dirty="0">
                <a:solidFill>
                  <a:srgbClr val="FFFFFF"/>
                </a:solidFill>
                <a:latin typeface="Arial"/>
                <a:cs typeface="Arial"/>
              </a:rPr>
              <a:t>of</a:t>
            </a:r>
            <a:r>
              <a:rPr sz="2800" b="1" spc="-55" dirty="0">
                <a:solidFill>
                  <a:srgbClr val="FFFFFF"/>
                </a:solidFill>
                <a:latin typeface="Arial"/>
                <a:cs typeface="Arial"/>
              </a:rPr>
              <a:t> </a:t>
            </a:r>
            <a:r>
              <a:rPr sz="2800" b="1" dirty="0">
                <a:solidFill>
                  <a:srgbClr val="FFFFFF"/>
                </a:solidFill>
                <a:latin typeface="Arial"/>
                <a:cs typeface="Arial"/>
              </a:rPr>
              <a:t>the</a:t>
            </a:r>
            <a:r>
              <a:rPr sz="2800" b="1" spc="-35" dirty="0">
                <a:solidFill>
                  <a:srgbClr val="FFFFFF"/>
                </a:solidFill>
                <a:latin typeface="Arial"/>
                <a:cs typeface="Arial"/>
              </a:rPr>
              <a:t> </a:t>
            </a:r>
            <a:r>
              <a:rPr sz="2800" b="1" spc="-20" dirty="0">
                <a:solidFill>
                  <a:srgbClr val="FFFFFF"/>
                </a:solidFill>
                <a:latin typeface="Arial"/>
                <a:cs typeface="Arial"/>
              </a:rPr>
              <a:t>Day:</a:t>
            </a:r>
            <a:endParaRPr sz="2800" dirty="0">
              <a:latin typeface="Arial"/>
              <a:cs typeface="Arial"/>
            </a:endParaRPr>
          </a:p>
        </p:txBody>
      </p:sp>
      <p:pic>
        <p:nvPicPr>
          <p:cNvPr id="13" name="object 6">
            <a:extLst>
              <a:ext uri="{FF2B5EF4-FFF2-40B4-BE49-F238E27FC236}">
                <a16:creationId xmlns:a16="http://schemas.microsoft.com/office/drawing/2014/main" id="{B739E77B-6D2B-8E0F-514B-DB05C4C0D394}"/>
              </a:ext>
            </a:extLst>
          </p:cNvPr>
          <p:cNvPicPr/>
          <p:nvPr/>
        </p:nvPicPr>
        <p:blipFill>
          <a:blip r:embed="rId2" cstate="print"/>
          <a:stretch>
            <a:fillRect/>
          </a:stretch>
        </p:blipFill>
        <p:spPr>
          <a:xfrm>
            <a:off x="583973" y="3284984"/>
            <a:ext cx="5132832" cy="2685288"/>
          </a:xfrm>
          <a:prstGeom prst="rect">
            <a:avLst/>
          </a:prstGeom>
        </p:spPr>
      </p:pic>
      <p:pic>
        <p:nvPicPr>
          <p:cNvPr id="14" name="object 5">
            <a:extLst>
              <a:ext uri="{FF2B5EF4-FFF2-40B4-BE49-F238E27FC236}">
                <a16:creationId xmlns:a16="http://schemas.microsoft.com/office/drawing/2014/main" id="{3E688E5D-C913-1459-92D3-8AC8A4D64EF5}"/>
              </a:ext>
            </a:extLst>
          </p:cNvPr>
          <p:cNvPicPr/>
          <p:nvPr/>
        </p:nvPicPr>
        <p:blipFill>
          <a:blip r:embed="rId3" cstate="print"/>
          <a:stretch>
            <a:fillRect/>
          </a:stretch>
        </p:blipFill>
        <p:spPr>
          <a:xfrm>
            <a:off x="6960107" y="405384"/>
            <a:ext cx="4482084" cy="2519172"/>
          </a:xfrm>
          <a:prstGeom prst="rect">
            <a:avLst/>
          </a:prstGeom>
        </p:spPr>
      </p:pic>
      <p:pic>
        <p:nvPicPr>
          <p:cNvPr id="15" name="object 8">
            <a:extLst>
              <a:ext uri="{FF2B5EF4-FFF2-40B4-BE49-F238E27FC236}">
                <a16:creationId xmlns:a16="http://schemas.microsoft.com/office/drawing/2014/main" id="{9A1DE65B-B0E0-CDCB-DA9D-93AAC9F2B771}"/>
              </a:ext>
            </a:extLst>
          </p:cNvPr>
          <p:cNvPicPr/>
          <p:nvPr/>
        </p:nvPicPr>
        <p:blipFill>
          <a:blip r:embed="rId4" cstate="print"/>
          <a:stretch>
            <a:fillRect/>
          </a:stretch>
        </p:blipFill>
        <p:spPr>
          <a:xfrm>
            <a:off x="7378854" y="3158896"/>
            <a:ext cx="4072104" cy="2925637"/>
          </a:xfrm>
          <a:prstGeom prst="rect">
            <a:avLst/>
          </a:prstGeom>
        </p:spPr>
      </p:pic>
    </p:spTree>
    <p:extLst>
      <p:ext uri="{BB962C8B-B14F-4D97-AF65-F5344CB8AC3E}">
        <p14:creationId xmlns:p14="http://schemas.microsoft.com/office/powerpoint/2010/main" val="1121736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8965" y="1106805"/>
            <a:ext cx="10974070" cy="4644390"/>
          </a:xfrm>
          <a:prstGeom prst="rect">
            <a:avLst/>
          </a:prstGeom>
        </p:spPr>
        <p:txBody>
          <a:bodyPr vert="horz" wrap="square" lIns="0" tIns="13335" rIns="0" bIns="0" rtlCol="0">
            <a:spAutoFit/>
          </a:bodyPr>
          <a:lstStyle/>
          <a:p>
            <a:pPr marL="12700" marR="5080">
              <a:lnSpc>
                <a:spcPct val="100000"/>
              </a:lnSpc>
              <a:spcBef>
                <a:spcPts val="105"/>
              </a:spcBef>
              <a:tabLst>
                <a:tab pos="9364980" algn="l"/>
              </a:tabLst>
            </a:pPr>
            <a:r>
              <a:rPr sz="2000" spc="-20" dirty="0">
                <a:latin typeface="Arial MT"/>
                <a:cs typeface="Arial MT"/>
              </a:rPr>
              <a:t>Yacht</a:t>
            </a:r>
            <a:r>
              <a:rPr sz="2000" spc="-50" dirty="0">
                <a:latin typeface="Arial MT"/>
                <a:cs typeface="Arial MT"/>
              </a:rPr>
              <a:t> </a:t>
            </a:r>
            <a:r>
              <a:rPr sz="2000" dirty="0">
                <a:latin typeface="Arial MT"/>
                <a:cs typeface="Arial MT"/>
              </a:rPr>
              <a:t>international</a:t>
            </a:r>
            <a:r>
              <a:rPr sz="2000" spc="-30" dirty="0">
                <a:latin typeface="Arial MT"/>
                <a:cs typeface="Arial MT"/>
              </a:rPr>
              <a:t> </a:t>
            </a:r>
            <a:r>
              <a:rPr sz="2000" dirty="0">
                <a:latin typeface="Arial MT"/>
                <a:cs typeface="Arial MT"/>
              </a:rPr>
              <a:t>Inc</a:t>
            </a:r>
            <a:r>
              <a:rPr sz="2000" spc="-40" dirty="0">
                <a:latin typeface="Arial MT"/>
                <a:cs typeface="Arial MT"/>
              </a:rPr>
              <a:t> </a:t>
            </a:r>
            <a:r>
              <a:rPr sz="2000" dirty="0">
                <a:latin typeface="Arial MT"/>
                <a:cs typeface="Arial MT"/>
              </a:rPr>
              <a:t>(YII)</a:t>
            </a:r>
            <a:r>
              <a:rPr sz="2000" spc="-30" dirty="0">
                <a:latin typeface="Arial MT"/>
                <a:cs typeface="Arial MT"/>
              </a:rPr>
              <a:t> </a:t>
            </a:r>
            <a:r>
              <a:rPr sz="2000" dirty="0">
                <a:latin typeface="Arial MT"/>
                <a:cs typeface="Arial MT"/>
              </a:rPr>
              <a:t>is</a:t>
            </a:r>
            <a:r>
              <a:rPr sz="2000" spc="-30" dirty="0">
                <a:latin typeface="Arial MT"/>
                <a:cs typeface="Arial MT"/>
              </a:rPr>
              <a:t> </a:t>
            </a:r>
            <a:r>
              <a:rPr sz="2000" dirty="0">
                <a:latin typeface="Arial MT"/>
                <a:cs typeface="Arial MT"/>
              </a:rPr>
              <a:t>a</a:t>
            </a:r>
            <a:r>
              <a:rPr sz="2000" spc="-15" dirty="0">
                <a:latin typeface="Arial MT"/>
                <a:cs typeface="Arial MT"/>
              </a:rPr>
              <a:t> </a:t>
            </a:r>
            <a:r>
              <a:rPr sz="2000" dirty="0">
                <a:latin typeface="Arial MT"/>
                <a:cs typeface="Arial MT"/>
              </a:rPr>
              <a:t>private</a:t>
            </a:r>
            <a:r>
              <a:rPr sz="2000" spc="-30" dirty="0">
                <a:latin typeface="Arial MT"/>
                <a:cs typeface="Arial MT"/>
              </a:rPr>
              <a:t> </a:t>
            </a:r>
            <a:r>
              <a:rPr sz="2000" dirty="0">
                <a:latin typeface="Arial MT"/>
                <a:cs typeface="Arial MT"/>
              </a:rPr>
              <a:t>company</a:t>
            </a:r>
            <a:r>
              <a:rPr sz="2000" spc="-50" dirty="0">
                <a:latin typeface="Arial MT"/>
                <a:cs typeface="Arial MT"/>
              </a:rPr>
              <a:t> </a:t>
            </a:r>
            <a:r>
              <a:rPr sz="2000" dirty="0">
                <a:latin typeface="Arial MT"/>
                <a:cs typeface="Arial MT"/>
              </a:rPr>
              <a:t>that</a:t>
            </a:r>
            <a:r>
              <a:rPr sz="2000" spc="-40" dirty="0">
                <a:latin typeface="Arial MT"/>
                <a:cs typeface="Arial MT"/>
              </a:rPr>
              <a:t> </a:t>
            </a:r>
            <a:r>
              <a:rPr sz="2000" dirty="0">
                <a:latin typeface="Arial MT"/>
                <a:cs typeface="Arial MT"/>
              </a:rPr>
              <a:t>manufactures</a:t>
            </a:r>
            <a:r>
              <a:rPr sz="2000" spc="-60" dirty="0">
                <a:latin typeface="Arial MT"/>
                <a:cs typeface="Arial MT"/>
              </a:rPr>
              <a:t> </a:t>
            </a:r>
            <a:r>
              <a:rPr sz="2000" dirty="0">
                <a:latin typeface="Arial MT"/>
                <a:cs typeface="Arial MT"/>
              </a:rPr>
              <a:t>luxury</a:t>
            </a:r>
            <a:r>
              <a:rPr sz="2000" spc="-40" dirty="0">
                <a:latin typeface="Arial MT"/>
                <a:cs typeface="Arial MT"/>
              </a:rPr>
              <a:t> </a:t>
            </a:r>
            <a:r>
              <a:rPr sz="2000" spc="-10" dirty="0">
                <a:latin typeface="Arial MT"/>
                <a:cs typeface="Arial MT"/>
              </a:rPr>
              <a:t>yachts.</a:t>
            </a:r>
            <a:r>
              <a:rPr sz="2000" dirty="0">
                <a:latin typeface="Arial MT"/>
                <a:cs typeface="Arial MT"/>
              </a:rPr>
              <a:t>	As</a:t>
            </a:r>
            <a:r>
              <a:rPr sz="2000" spc="-15" dirty="0">
                <a:latin typeface="Arial MT"/>
                <a:cs typeface="Arial MT"/>
              </a:rPr>
              <a:t> </a:t>
            </a:r>
            <a:r>
              <a:rPr sz="2000" dirty="0">
                <a:latin typeface="Arial MT"/>
                <a:cs typeface="Arial MT"/>
              </a:rPr>
              <a:t>each</a:t>
            </a:r>
            <a:r>
              <a:rPr sz="2000" spc="-10" dirty="0">
                <a:latin typeface="Arial MT"/>
                <a:cs typeface="Arial MT"/>
              </a:rPr>
              <a:t> yacht </a:t>
            </a:r>
            <a:r>
              <a:rPr sz="2000" dirty="0">
                <a:latin typeface="Arial MT"/>
                <a:cs typeface="Arial MT"/>
              </a:rPr>
              <a:t>is</a:t>
            </a:r>
            <a:r>
              <a:rPr sz="2000" spc="-15" dirty="0">
                <a:latin typeface="Arial MT"/>
                <a:cs typeface="Arial MT"/>
              </a:rPr>
              <a:t> </a:t>
            </a:r>
            <a:r>
              <a:rPr sz="2000" dirty="0">
                <a:latin typeface="Arial MT"/>
                <a:cs typeface="Arial MT"/>
              </a:rPr>
              <a:t>highly</a:t>
            </a:r>
            <a:r>
              <a:rPr sz="2000" spc="-20" dirty="0">
                <a:latin typeface="Arial MT"/>
                <a:cs typeface="Arial MT"/>
              </a:rPr>
              <a:t> </a:t>
            </a:r>
            <a:r>
              <a:rPr sz="2000" dirty="0">
                <a:latin typeface="Arial MT"/>
                <a:cs typeface="Arial MT"/>
              </a:rPr>
              <a:t>customized</a:t>
            </a:r>
            <a:r>
              <a:rPr sz="2000" spc="-50" dirty="0">
                <a:latin typeface="Arial MT"/>
                <a:cs typeface="Arial MT"/>
              </a:rPr>
              <a:t> </a:t>
            </a:r>
            <a:r>
              <a:rPr sz="2000" dirty="0">
                <a:latin typeface="Arial MT"/>
                <a:cs typeface="Arial MT"/>
              </a:rPr>
              <a:t>and</a:t>
            </a:r>
            <a:r>
              <a:rPr sz="2000" spc="-35" dirty="0">
                <a:latin typeface="Arial MT"/>
                <a:cs typeface="Arial MT"/>
              </a:rPr>
              <a:t> </a:t>
            </a:r>
            <a:r>
              <a:rPr sz="2000" dirty="0">
                <a:latin typeface="Arial MT"/>
                <a:cs typeface="Arial MT"/>
              </a:rPr>
              <a:t>requires</a:t>
            </a:r>
            <a:r>
              <a:rPr sz="2000" spc="-45" dirty="0">
                <a:latin typeface="Arial MT"/>
                <a:cs typeface="Arial MT"/>
              </a:rPr>
              <a:t> </a:t>
            </a:r>
            <a:r>
              <a:rPr sz="2000" dirty="0">
                <a:latin typeface="Arial MT"/>
                <a:cs typeface="Arial MT"/>
              </a:rPr>
              <a:t>specific</a:t>
            </a:r>
            <a:r>
              <a:rPr sz="2000" spc="-40" dirty="0">
                <a:latin typeface="Arial MT"/>
                <a:cs typeface="Arial MT"/>
              </a:rPr>
              <a:t> </a:t>
            </a:r>
            <a:r>
              <a:rPr sz="2000" dirty="0">
                <a:latin typeface="Arial MT"/>
                <a:cs typeface="Arial MT"/>
              </a:rPr>
              <a:t>materials</a:t>
            </a:r>
            <a:r>
              <a:rPr sz="2000" spc="-35" dirty="0">
                <a:latin typeface="Arial MT"/>
                <a:cs typeface="Arial MT"/>
              </a:rPr>
              <a:t> </a:t>
            </a:r>
            <a:r>
              <a:rPr sz="2000" dirty="0">
                <a:latin typeface="Arial MT"/>
                <a:cs typeface="Arial MT"/>
              </a:rPr>
              <a:t>and</a:t>
            </a:r>
            <a:r>
              <a:rPr sz="2000" spc="-25" dirty="0">
                <a:latin typeface="Arial MT"/>
                <a:cs typeface="Arial MT"/>
              </a:rPr>
              <a:t> </a:t>
            </a:r>
            <a:r>
              <a:rPr sz="2000" dirty="0">
                <a:latin typeface="Arial MT"/>
                <a:cs typeface="Arial MT"/>
              </a:rPr>
              <a:t>labour</a:t>
            </a:r>
            <a:r>
              <a:rPr sz="2000" spc="-25" dirty="0">
                <a:latin typeface="Arial MT"/>
                <a:cs typeface="Arial MT"/>
              </a:rPr>
              <a:t> </a:t>
            </a:r>
            <a:r>
              <a:rPr sz="2000" dirty="0">
                <a:latin typeface="Arial MT"/>
                <a:cs typeface="Arial MT"/>
              </a:rPr>
              <a:t>expertise,</a:t>
            </a:r>
            <a:r>
              <a:rPr sz="2000" spc="-85" dirty="0">
                <a:latin typeface="Arial MT"/>
                <a:cs typeface="Arial MT"/>
              </a:rPr>
              <a:t> </a:t>
            </a:r>
            <a:r>
              <a:rPr sz="2000" dirty="0">
                <a:latin typeface="Arial MT"/>
                <a:cs typeface="Arial MT"/>
              </a:rPr>
              <a:t>YII</a:t>
            </a:r>
            <a:r>
              <a:rPr sz="2000" spc="-20" dirty="0">
                <a:latin typeface="Arial MT"/>
                <a:cs typeface="Arial MT"/>
              </a:rPr>
              <a:t> </a:t>
            </a:r>
            <a:r>
              <a:rPr sz="2000" dirty="0">
                <a:latin typeface="Arial MT"/>
                <a:cs typeface="Arial MT"/>
              </a:rPr>
              <a:t>tracks</a:t>
            </a:r>
            <a:r>
              <a:rPr sz="2000" spc="-45" dirty="0">
                <a:latin typeface="Arial MT"/>
                <a:cs typeface="Arial MT"/>
              </a:rPr>
              <a:t> </a:t>
            </a:r>
            <a:r>
              <a:rPr sz="2000" dirty="0">
                <a:latin typeface="Arial MT"/>
                <a:cs typeface="Arial MT"/>
              </a:rPr>
              <a:t>the</a:t>
            </a:r>
            <a:r>
              <a:rPr sz="2000" spc="-35" dirty="0">
                <a:latin typeface="Arial MT"/>
                <a:cs typeface="Arial MT"/>
              </a:rPr>
              <a:t> </a:t>
            </a:r>
            <a:r>
              <a:rPr sz="2000" dirty="0">
                <a:latin typeface="Arial MT"/>
                <a:cs typeface="Arial MT"/>
              </a:rPr>
              <a:t>costs</a:t>
            </a:r>
            <a:r>
              <a:rPr sz="2000" spc="-50" dirty="0">
                <a:latin typeface="Arial MT"/>
                <a:cs typeface="Arial MT"/>
              </a:rPr>
              <a:t> </a:t>
            </a:r>
            <a:r>
              <a:rPr sz="2000" spc="-25" dirty="0">
                <a:latin typeface="Arial MT"/>
                <a:cs typeface="Arial MT"/>
              </a:rPr>
              <a:t>of </a:t>
            </a:r>
            <a:r>
              <a:rPr sz="2000" dirty="0">
                <a:latin typeface="Arial MT"/>
                <a:cs typeface="Arial MT"/>
              </a:rPr>
              <a:t>each</a:t>
            </a:r>
            <a:r>
              <a:rPr sz="2000" spc="-35" dirty="0">
                <a:latin typeface="Arial MT"/>
                <a:cs typeface="Arial MT"/>
              </a:rPr>
              <a:t> </a:t>
            </a:r>
            <a:r>
              <a:rPr sz="2000" dirty="0">
                <a:latin typeface="Arial MT"/>
                <a:cs typeface="Arial MT"/>
              </a:rPr>
              <a:t>unit</a:t>
            </a:r>
            <a:r>
              <a:rPr sz="2000" spc="-15" dirty="0">
                <a:latin typeface="Arial MT"/>
                <a:cs typeface="Arial MT"/>
              </a:rPr>
              <a:t> </a:t>
            </a:r>
            <a:r>
              <a:rPr sz="2000" spc="-20" dirty="0">
                <a:latin typeface="Arial MT"/>
                <a:cs typeface="Arial MT"/>
              </a:rPr>
              <a:t>individually.</a:t>
            </a:r>
            <a:r>
              <a:rPr sz="2000" spc="-35" dirty="0">
                <a:latin typeface="Arial MT"/>
                <a:cs typeface="Arial MT"/>
              </a:rPr>
              <a:t> </a:t>
            </a:r>
            <a:r>
              <a:rPr sz="2000" dirty="0">
                <a:latin typeface="Arial MT"/>
                <a:cs typeface="Arial MT"/>
              </a:rPr>
              <a:t>They</a:t>
            </a:r>
            <a:r>
              <a:rPr sz="2000" spc="-15" dirty="0">
                <a:latin typeface="Arial MT"/>
                <a:cs typeface="Arial MT"/>
              </a:rPr>
              <a:t> </a:t>
            </a:r>
            <a:r>
              <a:rPr sz="2000" dirty="0">
                <a:latin typeface="Arial MT"/>
                <a:cs typeface="Arial MT"/>
              </a:rPr>
              <a:t>recently</a:t>
            </a:r>
            <a:r>
              <a:rPr sz="2000" spc="-40" dirty="0">
                <a:latin typeface="Arial MT"/>
                <a:cs typeface="Arial MT"/>
              </a:rPr>
              <a:t> </a:t>
            </a:r>
            <a:r>
              <a:rPr sz="2000" dirty="0">
                <a:latin typeface="Arial MT"/>
                <a:cs typeface="Arial MT"/>
              </a:rPr>
              <a:t>completed</a:t>
            </a:r>
            <a:r>
              <a:rPr sz="2000" spc="-50" dirty="0">
                <a:latin typeface="Arial MT"/>
                <a:cs typeface="Arial MT"/>
              </a:rPr>
              <a:t> </a:t>
            </a:r>
            <a:r>
              <a:rPr sz="2000" dirty="0">
                <a:latin typeface="Arial MT"/>
                <a:cs typeface="Arial MT"/>
              </a:rPr>
              <a:t>the</a:t>
            </a:r>
            <a:r>
              <a:rPr sz="2000" spc="-25" dirty="0">
                <a:latin typeface="Arial MT"/>
                <a:cs typeface="Arial MT"/>
              </a:rPr>
              <a:t> </a:t>
            </a:r>
            <a:r>
              <a:rPr sz="2000" dirty="0">
                <a:latin typeface="Arial MT"/>
                <a:cs typeface="Arial MT"/>
              </a:rPr>
              <a:t>production</a:t>
            </a:r>
            <a:r>
              <a:rPr sz="2000" spc="-45" dirty="0">
                <a:latin typeface="Arial MT"/>
                <a:cs typeface="Arial MT"/>
              </a:rPr>
              <a:t> </a:t>
            </a:r>
            <a:r>
              <a:rPr sz="2000" dirty="0">
                <a:latin typeface="Arial MT"/>
                <a:cs typeface="Arial MT"/>
              </a:rPr>
              <a:t>of</a:t>
            </a:r>
            <a:r>
              <a:rPr sz="2000" spc="-15" dirty="0">
                <a:latin typeface="Arial MT"/>
                <a:cs typeface="Arial MT"/>
              </a:rPr>
              <a:t> </a:t>
            </a:r>
            <a:r>
              <a:rPr sz="2000" dirty="0">
                <a:latin typeface="Arial MT"/>
                <a:cs typeface="Arial MT"/>
              </a:rPr>
              <a:t>a</a:t>
            </a:r>
            <a:r>
              <a:rPr sz="2000" spc="-15" dirty="0">
                <a:latin typeface="Arial MT"/>
                <a:cs typeface="Arial MT"/>
              </a:rPr>
              <a:t> </a:t>
            </a:r>
            <a:r>
              <a:rPr sz="2000" dirty="0">
                <a:latin typeface="Arial MT"/>
                <a:cs typeface="Arial MT"/>
              </a:rPr>
              <a:t>customized</a:t>
            </a:r>
            <a:r>
              <a:rPr sz="2000" spc="-45" dirty="0">
                <a:latin typeface="Arial MT"/>
                <a:cs typeface="Arial MT"/>
              </a:rPr>
              <a:t> </a:t>
            </a:r>
            <a:r>
              <a:rPr sz="2000" dirty="0">
                <a:latin typeface="Arial MT"/>
                <a:cs typeface="Arial MT"/>
              </a:rPr>
              <a:t>yacht</a:t>
            </a:r>
            <a:r>
              <a:rPr sz="2000" spc="-20" dirty="0">
                <a:latin typeface="Arial MT"/>
                <a:cs typeface="Arial MT"/>
              </a:rPr>
              <a:t> </a:t>
            </a:r>
            <a:r>
              <a:rPr sz="2000" dirty="0">
                <a:latin typeface="Arial MT"/>
                <a:cs typeface="Arial MT"/>
              </a:rPr>
              <a:t>and</a:t>
            </a:r>
            <a:r>
              <a:rPr sz="2000" spc="-20" dirty="0">
                <a:latin typeface="Arial MT"/>
                <a:cs typeface="Arial MT"/>
              </a:rPr>
              <a:t> they </a:t>
            </a:r>
            <a:r>
              <a:rPr sz="2000" dirty="0">
                <a:latin typeface="Arial MT"/>
                <a:cs typeface="Arial MT"/>
              </a:rPr>
              <a:t>provided</a:t>
            </a:r>
            <a:r>
              <a:rPr sz="2000" spc="-65" dirty="0">
                <a:latin typeface="Arial MT"/>
                <a:cs typeface="Arial MT"/>
              </a:rPr>
              <a:t> </a:t>
            </a:r>
            <a:r>
              <a:rPr sz="2000" dirty="0">
                <a:latin typeface="Arial MT"/>
                <a:cs typeface="Arial MT"/>
              </a:rPr>
              <a:t>you</a:t>
            </a:r>
            <a:r>
              <a:rPr sz="2000" spc="-45" dirty="0">
                <a:latin typeface="Arial MT"/>
                <a:cs typeface="Arial MT"/>
              </a:rPr>
              <a:t> </a:t>
            </a:r>
            <a:r>
              <a:rPr sz="2000" dirty="0">
                <a:latin typeface="Arial MT"/>
                <a:cs typeface="Arial MT"/>
              </a:rPr>
              <a:t>with</a:t>
            </a:r>
            <a:r>
              <a:rPr sz="2000" spc="-40" dirty="0">
                <a:latin typeface="Arial MT"/>
                <a:cs typeface="Arial MT"/>
              </a:rPr>
              <a:t> </a:t>
            </a:r>
            <a:r>
              <a:rPr sz="2000" dirty="0">
                <a:latin typeface="Arial MT"/>
                <a:cs typeface="Arial MT"/>
              </a:rPr>
              <a:t>the</a:t>
            </a:r>
            <a:r>
              <a:rPr sz="2000" spc="-50" dirty="0">
                <a:latin typeface="Arial MT"/>
                <a:cs typeface="Arial MT"/>
              </a:rPr>
              <a:t> </a:t>
            </a:r>
            <a:r>
              <a:rPr sz="2000" dirty="0">
                <a:latin typeface="Arial MT"/>
                <a:cs typeface="Arial MT"/>
              </a:rPr>
              <a:t>following</a:t>
            </a:r>
            <a:r>
              <a:rPr sz="2000" spc="-35" dirty="0">
                <a:latin typeface="Arial MT"/>
                <a:cs typeface="Arial MT"/>
              </a:rPr>
              <a:t> </a:t>
            </a:r>
            <a:r>
              <a:rPr sz="2000" spc="-10" dirty="0">
                <a:latin typeface="Arial MT"/>
                <a:cs typeface="Arial MT"/>
              </a:rPr>
              <a:t>information.</a:t>
            </a:r>
            <a:endParaRPr sz="2000" dirty="0">
              <a:latin typeface="Arial MT"/>
              <a:cs typeface="Arial MT"/>
            </a:endParaRPr>
          </a:p>
          <a:p>
            <a:pPr marL="469265" indent="-456565">
              <a:lnSpc>
                <a:spcPct val="100000"/>
              </a:lnSpc>
              <a:spcBef>
                <a:spcPts val="1080"/>
              </a:spcBef>
              <a:buSzPct val="80000"/>
              <a:buChar char="•"/>
              <a:tabLst>
                <a:tab pos="469265" algn="l"/>
              </a:tabLst>
            </a:pPr>
            <a:r>
              <a:rPr sz="2000" dirty="0">
                <a:latin typeface="Arial MT"/>
                <a:cs typeface="Arial MT"/>
              </a:rPr>
              <a:t>The</a:t>
            </a:r>
            <a:r>
              <a:rPr sz="2000" spc="-30" dirty="0">
                <a:latin typeface="Arial MT"/>
                <a:cs typeface="Arial MT"/>
              </a:rPr>
              <a:t> </a:t>
            </a:r>
            <a:r>
              <a:rPr sz="2000" dirty="0">
                <a:latin typeface="Arial MT"/>
                <a:cs typeface="Arial MT"/>
              </a:rPr>
              <a:t>time</a:t>
            </a:r>
            <a:r>
              <a:rPr sz="2000" spc="-15" dirty="0">
                <a:latin typeface="Arial MT"/>
                <a:cs typeface="Arial MT"/>
              </a:rPr>
              <a:t> </a:t>
            </a:r>
            <a:r>
              <a:rPr sz="2000" dirty="0">
                <a:latin typeface="Arial MT"/>
                <a:cs typeface="Arial MT"/>
              </a:rPr>
              <a:t>sheets</a:t>
            </a:r>
            <a:r>
              <a:rPr sz="2000" spc="-50" dirty="0">
                <a:latin typeface="Arial MT"/>
                <a:cs typeface="Arial MT"/>
              </a:rPr>
              <a:t> </a:t>
            </a:r>
            <a:r>
              <a:rPr sz="2000" dirty="0">
                <a:latin typeface="Arial MT"/>
                <a:cs typeface="Arial MT"/>
              </a:rPr>
              <a:t>for</a:t>
            </a:r>
            <a:r>
              <a:rPr sz="2000" spc="-30" dirty="0">
                <a:latin typeface="Arial MT"/>
                <a:cs typeface="Arial MT"/>
              </a:rPr>
              <a:t> </a:t>
            </a:r>
            <a:r>
              <a:rPr sz="2000" dirty="0">
                <a:latin typeface="Arial MT"/>
                <a:cs typeface="Arial MT"/>
              </a:rPr>
              <a:t>all</a:t>
            </a:r>
            <a:r>
              <a:rPr sz="2000" spc="-25" dirty="0">
                <a:latin typeface="Arial MT"/>
                <a:cs typeface="Arial MT"/>
              </a:rPr>
              <a:t> </a:t>
            </a:r>
            <a:r>
              <a:rPr sz="2000" dirty="0">
                <a:latin typeface="Arial MT"/>
                <a:cs typeface="Arial MT"/>
              </a:rPr>
              <a:t>the</a:t>
            </a:r>
            <a:r>
              <a:rPr sz="2000" spc="-35" dirty="0">
                <a:latin typeface="Arial MT"/>
                <a:cs typeface="Arial MT"/>
              </a:rPr>
              <a:t> </a:t>
            </a:r>
            <a:r>
              <a:rPr sz="2000" dirty="0">
                <a:latin typeface="Arial MT"/>
                <a:cs typeface="Arial MT"/>
              </a:rPr>
              <a:t>employees</a:t>
            </a:r>
            <a:r>
              <a:rPr sz="2000" spc="-20" dirty="0">
                <a:latin typeface="Arial MT"/>
                <a:cs typeface="Arial MT"/>
              </a:rPr>
              <a:t> </a:t>
            </a:r>
            <a:r>
              <a:rPr sz="2000" dirty="0">
                <a:latin typeface="Arial MT"/>
                <a:cs typeface="Arial MT"/>
              </a:rPr>
              <a:t>that</a:t>
            </a:r>
            <a:r>
              <a:rPr sz="2000" spc="-50" dirty="0">
                <a:latin typeface="Arial MT"/>
                <a:cs typeface="Arial MT"/>
              </a:rPr>
              <a:t> </a:t>
            </a:r>
            <a:r>
              <a:rPr sz="2000" dirty="0">
                <a:latin typeface="Arial MT"/>
                <a:cs typeface="Arial MT"/>
              </a:rPr>
              <a:t>worked</a:t>
            </a:r>
            <a:r>
              <a:rPr sz="2000" spc="-45" dirty="0">
                <a:latin typeface="Arial MT"/>
                <a:cs typeface="Arial MT"/>
              </a:rPr>
              <a:t> </a:t>
            </a:r>
            <a:r>
              <a:rPr sz="2000" dirty="0">
                <a:latin typeface="Arial MT"/>
                <a:cs typeface="Arial MT"/>
              </a:rPr>
              <a:t>on</a:t>
            </a:r>
            <a:r>
              <a:rPr sz="2000" spc="-25" dirty="0">
                <a:latin typeface="Arial MT"/>
                <a:cs typeface="Arial MT"/>
              </a:rPr>
              <a:t> </a:t>
            </a:r>
            <a:r>
              <a:rPr sz="2000" dirty="0">
                <a:latin typeface="Arial MT"/>
                <a:cs typeface="Arial MT"/>
              </a:rPr>
              <a:t>the</a:t>
            </a:r>
            <a:r>
              <a:rPr sz="2000" spc="-35" dirty="0">
                <a:latin typeface="Arial MT"/>
                <a:cs typeface="Arial MT"/>
              </a:rPr>
              <a:t> </a:t>
            </a:r>
            <a:r>
              <a:rPr sz="2000" dirty="0">
                <a:latin typeface="Arial MT"/>
                <a:cs typeface="Arial MT"/>
              </a:rPr>
              <a:t>yacht</a:t>
            </a:r>
            <a:r>
              <a:rPr sz="2000" spc="-30" dirty="0">
                <a:latin typeface="Arial MT"/>
                <a:cs typeface="Arial MT"/>
              </a:rPr>
              <a:t> </a:t>
            </a:r>
            <a:r>
              <a:rPr sz="2000" dirty="0">
                <a:latin typeface="Arial MT"/>
                <a:cs typeface="Arial MT"/>
              </a:rPr>
              <a:t>indicated</a:t>
            </a:r>
            <a:r>
              <a:rPr sz="2000" spc="-45" dirty="0">
                <a:latin typeface="Arial MT"/>
                <a:cs typeface="Arial MT"/>
              </a:rPr>
              <a:t> </a:t>
            </a:r>
            <a:r>
              <a:rPr sz="2000" dirty="0">
                <a:latin typeface="Arial MT"/>
                <a:cs typeface="Arial MT"/>
              </a:rPr>
              <a:t>a</a:t>
            </a:r>
            <a:r>
              <a:rPr sz="2000" spc="-15" dirty="0">
                <a:latin typeface="Arial MT"/>
                <a:cs typeface="Arial MT"/>
              </a:rPr>
              <a:t> </a:t>
            </a:r>
            <a:r>
              <a:rPr sz="2000" dirty="0">
                <a:latin typeface="Arial MT"/>
                <a:cs typeface="Arial MT"/>
              </a:rPr>
              <a:t>total</a:t>
            </a:r>
            <a:r>
              <a:rPr sz="2000" spc="-35" dirty="0">
                <a:latin typeface="Arial MT"/>
                <a:cs typeface="Arial MT"/>
              </a:rPr>
              <a:t> </a:t>
            </a:r>
            <a:r>
              <a:rPr sz="2000" dirty="0">
                <a:latin typeface="Arial MT"/>
                <a:cs typeface="Arial MT"/>
              </a:rPr>
              <a:t>of</a:t>
            </a:r>
            <a:r>
              <a:rPr sz="2000" spc="-20" dirty="0">
                <a:latin typeface="Arial MT"/>
                <a:cs typeface="Arial MT"/>
              </a:rPr>
              <a:t> </a:t>
            </a:r>
            <a:r>
              <a:rPr sz="2000" dirty="0">
                <a:latin typeface="Arial MT"/>
                <a:cs typeface="Arial MT"/>
              </a:rPr>
              <a:t>320</a:t>
            </a:r>
            <a:r>
              <a:rPr sz="2000" spc="-25" dirty="0">
                <a:latin typeface="Arial MT"/>
                <a:cs typeface="Arial MT"/>
              </a:rPr>
              <a:t> </a:t>
            </a:r>
            <a:r>
              <a:rPr sz="2000" spc="-10" dirty="0">
                <a:latin typeface="Arial MT"/>
                <a:cs typeface="Arial MT"/>
              </a:rPr>
              <a:t>hours</a:t>
            </a:r>
            <a:endParaRPr sz="2000" dirty="0">
              <a:latin typeface="Arial MT"/>
              <a:cs typeface="Arial MT"/>
            </a:endParaRPr>
          </a:p>
          <a:p>
            <a:pPr marL="469900">
              <a:lnSpc>
                <a:spcPct val="100000"/>
              </a:lnSpc>
            </a:pPr>
            <a:r>
              <a:rPr sz="2000" dirty="0">
                <a:latin typeface="Arial MT"/>
                <a:cs typeface="Arial MT"/>
              </a:rPr>
              <a:t>and</a:t>
            </a:r>
            <a:r>
              <a:rPr sz="2000" spc="-25" dirty="0">
                <a:latin typeface="Arial MT"/>
                <a:cs typeface="Arial MT"/>
              </a:rPr>
              <a:t> </a:t>
            </a:r>
            <a:r>
              <a:rPr sz="2000" dirty="0">
                <a:latin typeface="Arial MT"/>
                <a:cs typeface="Arial MT"/>
              </a:rPr>
              <a:t>a</a:t>
            </a:r>
            <a:r>
              <a:rPr sz="2000" spc="-20" dirty="0">
                <a:latin typeface="Arial MT"/>
                <a:cs typeface="Arial MT"/>
              </a:rPr>
              <a:t> </a:t>
            </a:r>
            <a:r>
              <a:rPr sz="2000" dirty="0">
                <a:latin typeface="Arial MT"/>
                <a:cs typeface="Arial MT"/>
              </a:rPr>
              <a:t>total</a:t>
            </a:r>
            <a:r>
              <a:rPr sz="2000" spc="-5" dirty="0">
                <a:latin typeface="Arial MT"/>
                <a:cs typeface="Arial MT"/>
              </a:rPr>
              <a:t> </a:t>
            </a:r>
            <a:r>
              <a:rPr sz="2000" dirty="0">
                <a:latin typeface="Arial MT"/>
                <a:cs typeface="Arial MT"/>
              </a:rPr>
              <a:t>cost</a:t>
            </a:r>
            <a:r>
              <a:rPr sz="2000" spc="-40" dirty="0">
                <a:latin typeface="Arial MT"/>
                <a:cs typeface="Arial MT"/>
              </a:rPr>
              <a:t> </a:t>
            </a:r>
            <a:r>
              <a:rPr sz="2000" dirty="0">
                <a:latin typeface="Arial MT"/>
                <a:cs typeface="Arial MT"/>
              </a:rPr>
              <a:t>of</a:t>
            </a:r>
            <a:r>
              <a:rPr sz="2000" spc="-30" dirty="0">
                <a:latin typeface="Arial MT"/>
                <a:cs typeface="Arial MT"/>
              </a:rPr>
              <a:t> </a:t>
            </a:r>
            <a:r>
              <a:rPr sz="2000" spc="-10" dirty="0">
                <a:latin typeface="Arial MT"/>
                <a:cs typeface="Arial MT"/>
              </a:rPr>
              <a:t>$</a:t>
            </a:r>
            <a:r>
              <a:rPr sz="2000" u="sng" spc="-10" dirty="0">
                <a:uFill>
                  <a:solidFill>
                    <a:srgbClr val="000000"/>
                  </a:solidFill>
                </a:uFill>
                <a:latin typeface="Arial MT"/>
                <a:cs typeface="Arial MT"/>
              </a:rPr>
              <a:t>45,000</a:t>
            </a:r>
            <a:r>
              <a:rPr sz="2000" spc="-10" dirty="0">
                <a:latin typeface="Arial MT"/>
                <a:cs typeface="Arial MT"/>
              </a:rPr>
              <a:t>.</a:t>
            </a:r>
            <a:endParaRPr sz="2000" dirty="0">
              <a:latin typeface="Arial MT"/>
              <a:cs typeface="Arial MT"/>
            </a:endParaRPr>
          </a:p>
          <a:p>
            <a:pPr marL="469265" indent="-456565">
              <a:lnSpc>
                <a:spcPct val="100000"/>
              </a:lnSpc>
              <a:spcBef>
                <a:spcPts val="1080"/>
              </a:spcBef>
              <a:buSzPct val="80000"/>
              <a:buChar char="•"/>
              <a:tabLst>
                <a:tab pos="469265" algn="l"/>
              </a:tabLst>
            </a:pPr>
            <a:r>
              <a:rPr sz="2000" dirty="0">
                <a:latin typeface="Arial MT"/>
                <a:cs typeface="Arial MT"/>
              </a:rPr>
              <a:t>The</a:t>
            </a:r>
            <a:r>
              <a:rPr sz="2000" spc="-25" dirty="0">
                <a:latin typeface="Arial MT"/>
                <a:cs typeface="Arial MT"/>
              </a:rPr>
              <a:t> </a:t>
            </a:r>
            <a:r>
              <a:rPr sz="2000" dirty="0">
                <a:latin typeface="Arial MT"/>
                <a:cs typeface="Arial MT"/>
              </a:rPr>
              <a:t>Job</a:t>
            </a:r>
            <a:r>
              <a:rPr sz="2000" spc="-25" dirty="0">
                <a:latin typeface="Arial MT"/>
                <a:cs typeface="Arial MT"/>
              </a:rPr>
              <a:t> </a:t>
            </a:r>
            <a:r>
              <a:rPr sz="2000" dirty="0">
                <a:latin typeface="Arial MT"/>
                <a:cs typeface="Arial MT"/>
              </a:rPr>
              <a:t>Cost</a:t>
            </a:r>
            <a:r>
              <a:rPr sz="2000" spc="-45" dirty="0">
                <a:latin typeface="Arial MT"/>
                <a:cs typeface="Arial MT"/>
              </a:rPr>
              <a:t> </a:t>
            </a:r>
            <a:r>
              <a:rPr sz="2000" dirty="0">
                <a:latin typeface="Arial MT"/>
                <a:cs typeface="Arial MT"/>
              </a:rPr>
              <a:t>sheet</a:t>
            </a:r>
            <a:r>
              <a:rPr sz="2000" spc="-30" dirty="0">
                <a:latin typeface="Arial MT"/>
                <a:cs typeface="Arial MT"/>
              </a:rPr>
              <a:t> </a:t>
            </a:r>
            <a:r>
              <a:rPr sz="2000" dirty="0">
                <a:latin typeface="Arial MT"/>
                <a:cs typeface="Arial MT"/>
              </a:rPr>
              <a:t>for</a:t>
            </a:r>
            <a:r>
              <a:rPr sz="2000" spc="-35" dirty="0">
                <a:latin typeface="Arial MT"/>
                <a:cs typeface="Arial MT"/>
              </a:rPr>
              <a:t> </a:t>
            </a:r>
            <a:r>
              <a:rPr sz="2000" dirty="0">
                <a:latin typeface="Arial MT"/>
                <a:cs typeface="Arial MT"/>
              </a:rPr>
              <a:t>the</a:t>
            </a:r>
            <a:r>
              <a:rPr sz="2000" spc="-30" dirty="0">
                <a:latin typeface="Arial MT"/>
                <a:cs typeface="Arial MT"/>
              </a:rPr>
              <a:t> </a:t>
            </a:r>
            <a:r>
              <a:rPr sz="2000" dirty="0">
                <a:latin typeface="Arial MT"/>
                <a:cs typeface="Arial MT"/>
              </a:rPr>
              <a:t>materials</a:t>
            </a:r>
            <a:r>
              <a:rPr sz="2000" spc="-35" dirty="0">
                <a:latin typeface="Arial MT"/>
                <a:cs typeface="Arial MT"/>
              </a:rPr>
              <a:t> </a:t>
            </a:r>
            <a:r>
              <a:rPr sz="2000" dirty="0">
                <a:latin typeface="Arial MT"/>
                <a:cs typeface="Arial MT"/>
              </a:rPr>
              <a:t>used</a:t>
            </a:r>
            <a:r>
              <a:rPr sz="2000" spc="-35" dirty="0">
                <a:latin typeface="Arial MT"/>
                <a:cs typeface="Arial MT"/>
              </a:rPr>
              <a:t> </a:t>
            </a:r>
            <a:r>
              <a:rPr sz="2000" dirty="0">
                <a:latin typeface="Arial MT"/>
                <a:cs typeface="Arial MT"/>
              </a:rPr>
              <a:t>on</a:t>
            </a:r>
            <a:r>
              <a:rPr sz="2000" spc="-5" dirty="0">
                <a:latin typeface="Arial MT"/>
                <a:cs typeface="Arial MT"/>
              </a:rPr>
              <a:t> </a:t>
            </a:r>
            <a:r>
              <a:rPr sz="2000" dirty="0">
                <a:latin typeface="Arial MT"/>
                <a:cs typeface="Arial MT"/>
              </a:rPr>
              <a:t>the</a:t>
            </a:r>
            <a:r>
              <a:rPr sz="2000" spc="-25" dirty="0">
                <a:latin typeface="Arial MT"/>
                <a:cs typeface="Arial MT"/>
              </a:rPr>
              <a:t> </a:t>
            </a:r>
            <a:r>
              <a:rPr sz="2000" dirty="0">
                <a:latin typeface="Arial MT"/>
                <a:cs typeface="Arial MT"/>
              </a:rPr>
              <a:t>yacht</a:t>
            </a:r>
            <a:r>
              <a:rPr sz="2000" spc="-30" dirty="0">
                <a:latin typeface="Arial MT"/>
                <a:cs typeface="Arial MT"/>
              </a:rPr>
              <a:t> </a:t>
            </a:r>
            <a:r>
              <a:rPr sz="2000" dirty="0">
                <a:latin typeface="Arial MT"/>
                <a:cs typeface="Arial MT"/>
              </a:rPr>
              <a:t>totalled</a:t>
            </a:r>
            <a:r>
              <a:rPr sz="2000" spc="-25" dirty="0">
                <a:latin typeface="Arial MT"/>
                <a:cs typeface="Arial MT"/>
              </a:rPr>
              <a:t> </a:t>
            </a:r>
            <a:r>
              <a:rPr sz="2000" spc="-10" dirty="0">
                <a:latin typeface="Arial MT"/>
                <a:cs typeface="Arial MT"/>
              </a:rPr>
              <a:t>$</a:t>
            </a:r>
            <a:r>
              <a:rPr sz="2000" u="sng" spc="-10" dirty="0">
                <a:uFill>
                  <a:solidFill>
                    <a:srgbClr val="000000"/>
                  </a:solidFill>
                </a:uFill>
                <a:latin typeface="Arial MT"/>
                <a:cs typeface="Arial MT"/>
              </a:rPr>
              <a:t>225,000</a:t>
            </a:r>
            <a:r>
              <a:rPr sz="2000" spc="-10" dirty="0">
                <a:latin typeface="Arial MT"/>
                <a:cs typeface="Arial MT"/>
              </a:rPr>
              <a:t>.</a:t>
            </a:r>
            <a:endParaRPr sz="2000" dirty="0">
              <a:latin typeface="Arial MT"/>
              <a:cs typeface="Arial MT"/>
            </a:endParaRPr>
          </a:p>
          <a:p>
            <a:pPr marL="469265" indent="-456565">
              <a:lnSpc>
                <a:spcPct val="100000"/>
              </a:lnSpc>
              <a:spcBef>
                <a:spcPts val="1080"/>
              </a:spcBef>
              <a:buSzPct val="80000"/>
              <a:buChar char="•"/>
              <a:tabLst>
                <a:tab pos="469265" algn="l"/>
              </a:tabLst>
            </a:pPr>
            <a:r>
              <a:rPr sz="2000" dirty="0">
                <a:latin typeface="Arial MT"/>
                <a:cs typeface="Arial MT"/>
              </a:rPr>
              <a:t>The</a:t>
            </a:r>
            <a:r>
              <a:rPr sz="2000" spc="-25" dirty="0">
                <a:latin typeface="Arial MT"/>
                <a:cs typeface="Arial MT"/>
              </a:rPr>
              <a:t> </a:t>
            </a:r>
            <a:r>
              <a:rPr sz="2000" dirty="0">
                <a:latin typeface="Arial MT"/>
                <a:cs typeface="Arial MT"/>
              </a:rPr>
              <a:t>estimated</a:t>
            </a:r>
            <a:r>
              <a:rPr sz="2000" spc="-35" dirty="0">
                <a:latin typeface="Arial MT"/>
                <a:cs typeface="Arial MT"/>
              </a:rPr>
              <a:t> </a:t>
            </a:r>
            <a:r>
              <a:rPr sz="2000" dirty="0">
                <a:latin typeface="Arial MT"/>
                <a:cs typeface="Arial MT"/>
              </a:rPr>
              <a:t>indirect</a:t>
            </a:r>
            <a:r>
              <a:rPr sz="2000" spc="-40" dirty="0">
                <a:latin typeface="Arial MT"/>
                <a:cs typeface="Arial MT"/>
              </a:rPr>
              <a:t> </a:t>
            </a:r>
            <a:r>
              <a:rPr sz="2000" dirty="0">
                <a:latin typeface="Arial MT"/>
                <a:cs typeface="Arial MT"/>
              </a:rPr>
              <a:t>costs</a:t>
            </a:r>
            <a:r>
              <a:rPr sz="2000" spc="-35" dirty="0">
                <a:latin typeface="Arial MT"/>
                <a:cs typeface="Arial MT"/>
              </a:rPr>
              <a:t> </a:t>
            </a:r>
            <a:r>
              <a:rPr sz="2000" dirty="0">
                <a:latin typeface="Arial MT"/>
                <a:cs typeface="Arial MT"/>
              </a:rPr>
              <a:t>that</a:t>
            </a:r>
            <a:r>
              <a:rPr sz="2000" spc="-30" dirty="0">
                <a:latin typeface="Arial MT"/>
                <a:cs typeface="Arial MT"/>
              </a:rPr>
              <a:t> </a:t>
            </a:r>
            <a:r>
              <a:rPr sz="2000" dirty="0">
                <a:latin typeface="Arial MT"/>
                <a:cs typeface="Arial MT"/>
              </a:rPr>
              <a:t>relate</a:t>
            </a:r>
            <a:r>
              <a:rPr sz="2000" spc="-45" dirty="0">
                <a:latin typeface="Arial MT"/>
                <a:cs typeface="Arial MT"/>
              </a:rPr>
              <a:t> </a:t>
            </a:r>
            <a:r>
              <a:rPr sz="2000" dirty="0">
                <a:latin typeface="Arial MT"/>
                <a:cs typeface="Arial MT"/>
              </a:rPr>
              <a:t>to</a:t>
            </a:r>
            <a:r>
              <a:rPr sz="2000" spc="-20" dirty="0">
                <a:latin typeface="Arial MT"/>
                <a:cs typeface="Arial MT"/>
              </a:rPr>
              <a:t> </a:t>
            </a:r>
            <a:r>
              <a:rPr sz="2000" dirty="0">
                <a:latin typeface="Arial MT"/>
                <a:cs typeface="Arial MT"/>
              </a:rPr>
              <a:t>the</a:t>
            </a:r>
            <a:r>
              <a:rPr sz="2000" spc="-25" dirty="0">
                <a:latin typeface="Arial MT"/>
                <a:cs typeface="Arial MT"/>
              </a:rPr>
              <a:t> </a:t>
            </a:r>
            <a:r>
              <a:rPr sz="2000" dirty="0">
                <a:latin typeface="Arial MT"/>
                <a:cs typeface="Arial MT"/>
              </a:rPr>
              <a:t>production</a:t>
            </a:r>
            <a:r>
              <a:rPr sz="2000" spc="-55" dirty="0">
                <a:latin typeface="Arial MT"/>
                <a:cs typeface="Arial MT"/>
              </a:rPr>
              <a:t> </a:t>
            </a:r>
            <a:r>
              <a:rPr sz="2000" dirty="0">
                <a:latin typeface="Arial MT"/>
                <a:cs typeface="Arial MT"/>
              </a:rPr>
              <a:t>of</a:t>
            </a:r>
            <a:r>
              <a:rPr sz="2000" spc="-25" dirty="0">
                <a:latin typeface="Arial MT"/>
                <a:cs typeface="Arial MT"/>
              </a:rPr>
              <a:t> </a:t>
            </a:r>
            <a:r>
              <a:rPr sz="2000" dirty="0">
                <a:latin typeface="Arial MT"/>
                <a:cs typeface="Arial MT"/>
              </a:rPr>
              <a:t>yachts</a:t>
            </a:r>
            <a:r>
              <a:rPr sz="2000" spc="-35" dirty="0">
                <a:latin typeface="Arial MT"/>
                <a:cs typeface="Arial MT"/>
              </a:rPr>
              <a:t> </a:t>
            </a:r>
            <a:r>
              <a:rPr sz="2000" spc="-20" dirty="0">
                <a:latin typeface="Arial MT"/>
                <a:cs typeface="Arial MT"/>
              </a:rPr>
              <a:t>are:</a:t>
            </a:r>
            <a:endParaRPr sz="2000" dirty="0">
              <a:latin typeface="Arial MT"/>
              <a:cs typeface="Arial MT"/>
            </a:endParaRPr>
          </a:p>
          <a:p>
            <a:pPr marL="919480" lvl="1" indent="-457200">
              <a:lnSpc>
                <a:spcPct val="100000"/>
              </a:lnSpc>
              <a:spcBef>
                <a:spcPts val="1080"/>
              </a:spcBef>
              <a:buSzPct val="80000"/>
              <a:buChar char="•"/>
              <a:tabLst>
                <a:tab pos="919480" algn="l"/>
              </a:tabLst>
            </a:pPr>
            <a:r>
              <a:rPr sz="2000" dirty="0">
                <a:latin typeface="Arial MT"/>
                <a:cs typeface="Arial MT"/>
              </a:rPr>
              <a:t>Management</a:t>
            </a:r>
            <a:r>
              <a:rPr sz="2000" spc="-65" dirty="0">
                <a:latin typeface="Arial MT"/>
                <a:cs typeface="Arial MT"/>
              </a:rPr>
              <a:t> </a:t>
            </a:r>
            <a:r>
              <a:rPr sz="2000" dirty="0">
                <a:latin typeface="Arial MT"/>
                <a:cs typeface="Arial MT"/>
              </a:rPr>
              <a:t>Salary:</a:t>
            </a:r>
            <a:r>
              <a:rPr sz="2000" spc="-35" dirty="0">
                <a:latin typeface="Arial MT"/>
                <a:cs typeface="Arial MT"/>
              </a:rPr>
              <a:t> </a:t>
            </a:r>
            <a:r>
              <a:rPr sz="2000" dirty="0">
                <a:latin typeface="Arial MT"/>
                <a:cs typeface="Arial MT"/>
              </a:rPr>
              <a:t>$1,500,000</a:t>
            </a:r>
            <a:r>
              <a:rPr sz="2000" spc="-45" dirty="0">
                <a:latin typeface="Arial MT"/>
                <a:cs typeface="Arial MT"/>
              </a:rPr>
              <a:t> </a:t>
            </a:r>
            <a:r>
              <a:rPr sz="2000" dirty="0">
                <a:latin typeface="Arial MT"/>
                <a:cs typeface="Arial MT"/>
              </a:rPr>
              <a:t>per</a:t>
            </a:r>
            <a:r>
              <a:rPr sz="2000" spc="-15" dirty="0">
                <a:latin typeface="Arial MT"/>
                <a:cs typeface="Arial MT"/>
              </a:rPr>
              <a:t> </a:t>
            </a:r>
            <a:r>
              <a:rPr sz="2000" spc="-20" dirty="0">
                <a:latin typeface="Arial MT"/>
                <a:cs typeface="Arial MT"/>
              </a:rPr>
              <a:t>year</a:t>
            </a:r>
            <a:endParaRPr sz="2000" dirty="0">
              <a:latin typeface="Arial MT"/>
              <a:cs typeface="Arial MT"/>
            </a:endParaRPr>
          </a:p>
          <a:p>
            <a:pPr marL="919480" lvl="1" indent="-457200">
              <a:lnSpc>
                <a:spcPct val="100000"/>
              </a:lnSpc>
              <a:spcBef>
                <a:spcPts val="1085"/>
              </a:spcBef>
              <a:buSzPct val="80000"/>
              <a:buChar char="•"/>
              <a:tabLst>
                <a:tab pos="919480" algn="l"/>
              </a:tabLst>
            </a:pPr>
            <a:r>
              <a:rPr sz="2000" dirty="0">
                <a:latin typeface="Arial MT"/>
                <a:cs typeface="Arial MT"/>
              </a:rPr>
              <a:t>Equipment</a:t>
            </a:r>
            <a:r>
              <a:rPr sz="2000" spc="-30" dirty="0">
                <a:latin typeface="Arial MT"/>
                <a:cs typeface="Arial MT"/>
              </a:rPr>
              <a:t> </a:t>
            </a:r>
            <a:r>
              <a:rPr sz="2000" dirty="0">
                <a:latin typeface="Arial MT"/>
                <a:cs typeface="Arial MT"/>
              </a:rPr>
              <a:t>Depreciation:</a:t>
            </a:r>
            <a:r>
              <a:rPr sz="2000" spc="-55" dirty="0">
                <a:latin typeface="Arial MT"/>
                <a:cs typeface="Arial MT"/>
              </a:rPr>
              <a:t> </a:t>
            </a:r>
            <a:r>
              <a:rPr sz="2000" dirty="0">
                <a:latin typeface="Arial MT"/>
                <a:cs typeface="Arial MT"/>
              </a:rPr>
              <a:t>$375,000</a:t>
            </a:r>
            <a:r>
              <a:rPr sz="2000" spc="-45" dirty="0">
                <a:latin typeface="Arial MT"/>
                <a:cs typeface="Arial MT"/>
              </a:rPr>
              <a:t> </a:t>
            </a:r>
            <a:r>
              <a:rPr sz="2000" dirty="0">
                <a:latin typeface="Arial MT"/>
                <a:cs typeface="Arial MT"/>
              </a:rPr>
              <a:t>per</a:t>
            </a:r>
            <a:r>
              <a:rPr sz="2000" spc="-20" dirty="0">
                <a:latin typeface="Arial MT"/>
                <a:cs typeface="Arial MT"/>
              </a:rPr>
              <a:t> year</a:t>
            </a:r>
            <a:endParaRPr sz="2000" dirty="0">
              <a:latin typeface="Arial MT"/>
              <a:cs typeface="Arial MT"/>
            </a:endParaRPr>
          </a:p>
          <a:p>
            <a:pPr marL="919480" lvl="1" indent="-457200">
              <a:lnSpc>
                <a:spcPct val="100000"/>
              </a:lnSpc>
              <a:spcBef>
                <a:spcPts val="1080"/>
              </a:spcBef>
              <a:buSzPct val="80000"/>
              <a:buChar char="•"/>
              <a:tabLst>
                <a:tab pos="919480" algn="l"/>
              </a:tabLst>
            </a:pPr>
            <a:r>
              <a:rPr sz="2000" dirty="0">
                <a:latin typeface="Arial MT"/>
                <a:cs typeface="Arial MT"/>
              </a:rPr>
              <a:t>Plant</a:t>
            </a:r>
            <a:r>
              <a:rPr sz="2000" spc="-20" dirty="0">
                <a:latin typeface="Arial MT"/>
                <a:cs typeface="Arial MT"/>
              </a:rPr>
              <a:t> </a:t>
            </a:r>
            <a:r>
              <a:rPr sz="2000" dirty="0">
                <a:latin typeface="Arial MT"/>
                <a:cs typeface="Arial MT"/>
              </a:rPr>
              <a:t>Depreciation:</a:t>
            </a:r>
            <a:r>
              <a:rPr sz="2000" spc="-45" dirty="0">
                <a:latin typeface="Arial MT"/>
                <a:cs typeface="Arial MT"/>
              </a:rPr>
              <a:t> </a:t>
            </a:r>
            <a:r>
              <a:rPr sz="2000" dirty="0">
                <a:latin typeface="Arial MT"/>
                <a:cs typeface="Arial MT"/>
              </a:rPr>
              <a:t>$225,000</a:t>
            </a:r>
            <a:r>
              <a:rPr sz="2000" spc="-25" dirty="0">
                <a:latin typeface="Arial MT"/>
                <a:cs typeface="Arial MT"/>
              </a:rPr>
              <a:t> </a:t>
            </a:r>
            <a:r>
              <a:rPr sz="2000" dirty="0">
                <a:latin typeface="Arial MT"/>
                <a:cs typeface="Arial MT"/>
              </a:rPr>
              <a:t>per</a:t>
            </a:r>
            <a:r>
              <a:rPr sz="2000" spc="-20" dirty="0">
                <a:latin typeface="Arial MT"/>
                <a:cs typeface="Arial MT"/>
              </a:rPr>
              <a:t> year</a:t>
            </a:r>
            <a:endParaRPr sz="2000" dirty="0">
              <a:latin typeface="Arial MT"/>
              <a:cs typeface="Arial MT"/>
            </a:endParaRPr>
          </a:p>
          <a:p>
            <a:pPr marL="919480" lvl="1" indent="-457200">
              <a:lnSpc>
                <a:spcPct val="100000"/>
              </a:lnSpc>
              <a:spcBef>
                <a:spcPts val="1080"/>
              </a:spcBef>
              <a:buSzPct val="80000"/>
              <a:buChar char="•"/>
              <a:tabLst>
                <a:tab pos="919480" algn="l"/>
              </a:tabLst>
            </a:pPr>
            <a:r>
              <a:rPr sz="2000" dirty="0">
                <a:latin typeface="Arial MT"/>
                <a:cs typeface="Arial MT"/>
              </a:rPr>
              <a:t>Utilities:</a:t>
            </a:r>
            <a:r>
              <a:rPr sz="2000" spc="-35" dirty="0">
                <a:latin typeface="Arial MT"/>
                <a:cs typeface="Arial MT"/>
              </a:rPr>
              <a:t> </a:t>
            </a:r>
            <a:r>
              <a:rPr sz="2000" dirty="0">
                <a:latin typeface="Arial MT"/>
                <a:cs typeface="Arial MT"/>
              </a:rPr>
              <a:t>$300,000</a:t>
            </a:r>
            <a:r>
              <a:rPr sz="2000" spc="-50" dirty="0">
                <a:latin typeface="Arial MT"/>
                <a:cs typeface="Arial MT"/>
              </a:rPr>
              <a:t> </a:t>
            </a:r>
            <a:r>
              <a:rPr sz="2000" dirty="0">
                <a:latin typeface="Arial MT"/>
                <a:cs typeface="Arial MT"/>
              </a:rPr>
              <a:t>per</a:t>
            </a:r>
            <a:r>
              <a:rPr sz="2000" spc="-45" dirty="0">
                <a:latin typeface="Arial MT"/>
                <a:cs typeface="Arial MT"/>
              </a:rPr>
              <a:t> </a:t>
            </a:r>
            <a:r>
              <a:rPr sz="2000" spc="-20" dirty="0">
                <a:latin typeface="Arial MT"/>
                <a:cs typeface="Arial MT"/>
              </a:rPr>
              <a:t>year</a:t>
            </a:r>
            <a:endParaRPr sz="2000" dirty="0">
              <a:latin typeface="Arial MT"/>
              <a:cs typeface="Arial MT"/>
            </a:endParaRPr>
          </a:p>
        </p:txBody>
      </p:sp>
      <p:sp>
        <p:nvSpPr>
          <p:cNvPr id="4" name="object 4"/>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3</a:t>
            </a:fld>
            <a:endParaRPr spc="-25" dirty="0"/>
          </a:p>
        </p:txBody>
      </p:sp>
      <p:sp>
        <p:nvSpPr>
          <p:cNvPr id="5" name="Subtitle 4">
            <a:extLst>
              <a:ext uri="{FF2B5EF4-FFF2-40B4-BE49-F238E27FC236}">
                <a16:creationId xmlns:a16="http://schemas.microsoft.com/office/drawing/2014/main" id="{080F8143-F88D-BC48-D5BC-E7D398284E26}"/>
              </a:ext>
            </a:extLst>
          </p:cNvPr>
          <p:cNvSpPr>
            <a:spLocks noGrp="1"/>
          </p:cNvSpPr>
          <p:nvPr>
            <p:ph type="subTitle" idx="1"/>
          </p:nvPr>
        </p:nvSpPr>
        <p:spPr/>
        <p:txBody>
          <a:bodyPr/>
          <a:lstStyle/>
          <a:p>
            <a:r>
              <a:rPr lang="en-CA" dirty="0"/>
              <a:t>Yacht International Inc. (YII) Part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4633C-E217-9CA5-6363-A955227FC53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A535ADA-3357-EB0A-974E-F795A7689C37}"/>
              </a:ext>
            </a:extLst>
          </p:cNvPr>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4</a:t>
            </a:fld>
            <a:endParaRPr spc="-25" dirty="0"/>
          </a:p>
        </p:txBody>
      </p:sp>
      <p:sp>
        <p:nvSpPr>
          <p:cNvPr id="5" name="Subtitle 4">
            <a:extLst>
              <a:ext uri="{FF2B5EF4-FFF2-40B4-BE49-F238E27FC236}">
                <a16:creationId xmlns:a16="http://schemas.microsoft.com/office/drawing/2014/main" id="{9DC45CC6-D76C-2814-E0E4-FBDCA54C892A}"/>
              </a:ext>
            </a:extLst>
          </p:cNvPr>
          <p:cNvSpPr>
            <a:spLocks noGrp="1"/>
          </p:cNvSpPr>
          <p:nvPr>
            <p:ph type="subTitle" idx="1"/>
          </p:nvPr>
        </p:nvSpPr>
        <p:spPr/>
        <p:txBody>
          <a:bodyPr/>
          <a:lstStyle/>
          <a:p>
            <a:r>
              <a:rPr lang="en-CA" dirty="0"/>
              <a:t>Yacht International Inc. (YII) Part 1</a:t>
            </a:r>
          </a:p>
        </p:txBody>
      </p:sp>
      <p:sp>
        <p:nvSpPr>
          <p:cNvPr id="6" name="TextBox 5">
            <a:extLst>
              <a:ext uri="{FF2B5EF4-FFF2-40B4-BE49-F238E27FC236}">
                <a16:creationId xmlns:a16="http://schemas.microsoft.com/office/drawing/2014/main" id="{A5A9CA48-BD87-64C1-2EB4-9D8B4FB72EAA}"/>
              </a:ext>
            </a:extLst>
          </p:cNvPr>
          <p:cNvSpPr txBox="1"/>
          <p:nvPr/>
        </p:nvSpPr>
        <p:spPr>
          <a:xfrm>
            <a:off x="1847528" y="1268760"/>
            <a:ext cx="8280920" cy="3724096"/>
          </a:xfrm>
          <a:prstGeom prst="rect">
            <a:avLst/>
          </a:prstGeom>
          <a:noFill/>
        </p:spPr>
        <p:txBody>
          <a:bodyPr wrap="square">
            <a:spAutoFit/>
          </a:bodyPr>
          <a:lstStyle/>
          <a:p>
            <a:pPr marL="469900" marR="5080" indent="-457200">
              <a:lnSpc>
                <a:spcPct val="100000"/>
              </a:lnSpc>
              <a:spcBef>
                <a:spcPts val="100"/>
              </a:spcBef>
              <a:buSzPct val="79166"/>
              <a:buChar char="•"/>
              <a:tabLst>
                <a:tab pos="469900" algn="l"/>
              </a:tabLst>
            </a:pPr>
            <a:r>
              <a:rPr lang="en-CA" sz="2400" spc="-20" dirty="0">
                <a:latin typeface="Arial MT"/>
              </a:rPr>
              <a:t>Management normally allocates all overhead costs based on labour hours with the exception of the equipment depreciation which is allocated on a machine hour basis.</a:t>
            </a:r>
          </a:p>
          <a:p>
            <a:pPr marL="469265" indent="-456565">
              <a:lnSpc>
                <a:spcPct val="100000"/>
              </a:lnSpc>
              <a:spcBef>
                <a:spcPts val="1175"/>
              </a:spcBef>
              <a:buSzPct val="79166"/>
              <a:buChar char="•"/>
              <a:tabLst>
                <a:tab pos="469265" algn="l"/>
              </a:tabLst>
            </a:pPr>
            <a:r>
              <a:rPr lang="en-CA" sz="2400" spc="-20" dirty="0">
                <a:latin typeface="Arial MT"/>
              </a:rPr>
              <a:t>The estimated total labour hours were 25,000 while the estimated total</a:t>
            </a:r>
          </a:p>
          <a:p>
            <a:pPr marL="469900">
              <a:lnSpc>
                <a:spcPct val="100000"/>
              </a:lnSpc>
            </a:pPr>
            <a:r>
              <a:rPr lang="en-CA" sz="2400" spc="-20" dirty="0">
                <a:latin typeface="Arial MT"/>
              </a:rPr>
              <a:t>machine hours for 2017 were 50,000.</a:t>
            </a:r>
          </a:p>
          <a:p>
            <a:pPr marL="469265" indent="-456565">
              <a:lnSpc>
                <a:spcPct val="100000"/>
              </a:lnSpc>
              <a:spcBef>
                <a:spcPts val="1180"/>
              </a:spcBef>
              <a:buSzPct val="79166"/>
              <a:buChar char="•"/>
              <a:tabLst>
                <a:tab pos="469265" algn="l"/>
              </a:tabLst>
            </a:pPr>
            <a:r>
              <a:rPr lang="en-CA" sz="2400" spc="-20" dirty="0">
                <a:latin typeface="Arial MT"/>
              </a:rPr>
              <a:t>The number of machine hours used for this yacht was 500 hours.</a:t>
            </a:r>
          </a:p>
        </p:txBody>
      </p:sp>
    </p:spTree>
    <p:extLst>
      <p:ext uri="{BB962C8B-B14F-4D97-AF65-F5344CB8AC3E}">
        <p14:creationId xmlns:p14="http://schemas.microsoft.com/office/powerpoint/2010/main" val="3268340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5</a:t>
            </a:fld>
            <a:endParaRPr spc="-25" dirty="0"/>
          </a:p>
        </p:txBody>
      </p:sp>
      <p:sp>
        <p:nvSpPr>
          <p:cNvPr id="5" name="Subtitle 4">
            <a:extLst>
              <a:ext uri="{FF2B5EF4-FFF2-40B4-BE49-F238E27FC236}">
                <a16:creationId xmlns:a16="http://schemas.microsoft.com/office/drawing/2014/main" id="{B8ED6A46-ADEE-B610-8FA4-2B3E268BDB8C}"/>
              </a:ext>
            </a:extLst>
          </p:cNvPr>
          <p:cNvSpPr>
            <a:spLocks noGrp="1"/>
          </p:cNvSpPr>
          <p:nvPr>
            <p:ph type="subTitle" idx="1"/>
          </p:nvPr>
        </p:nvSpPr>
        <p:spPr/>
        <p:txBody>
          <a:bodyPr/>
          <a:lstStyle/>
          <a:p>
            <a:r>
              <a:rPr lang="en-CA" dirty="0"/>
              <a:t>Yacht International Inc. (YII) Part 1</a:t>
            </a:r>
          </a:p>
        </p:txBody>
      </p:sp>
      <p:graphicFrame>
        <p:nvGraphicFramePr>
          <p:cNvPr id="3" name="object 3"/>
          <p:cNvGraphicFramePr>
            <a:graphicFrameLocks noGrp="1"/>
          </p:cNvGraphicFramePr>
          <p:nvPr>
            <p:extLst>
              <p:ext uri="{D42A27DB-BD31-4B8C-83A1-F6EECF244321}">
                <p14:modId xmlns:p14="http://schemas.microsoft.com/office/powerpoint/2010/main" val="2653779144"/>
              </p:ext>
            </p:extLst>
          </p:nvPr>
        </p:nvGraphicFramePr>
        <p:xfrm>
          <a:off x="337090" y="1556792"/>
          <a:ext cx="11075668" cy="3471545"/>
        </p:xfrm>
        <a:graphic>
          <a:graphicData uri="http://schemas.openxmlformats.org/drawingml/2006/table">
            <a:tbl>
              <a:tblPr firstRow="1" bandRow="1">
                <a:tableStyleId>{2D5ABB26-0587-4C30-8999-92F81FD0307C}</a:tableStyleId>
              </a:tblPr>
              <a:tblGrid>
                <a:gridCol w="1268095">
                  <a:extLst>
                    <a:ext uri="{9D8B030D-6E8A-4147-A177-3AD203B41FA5}">
                      <a16:colId xmlns:a16="http://schemas.microsoft.com/office/drawing/2014/main" val="20000"/>
                    </a:ext>
                  </a:extLst>
                </a:gridCol>
                <a:gridCol w="4695189">
                  <a:extLst>
                    <a:ext uri="{9D8B030D-6E8A-4147-A177-3AD203B41FA5}">
                      <a16:colId xmlns:a16="http://schemas.microsoft.com/office/drawing/2014/main" val="20001"/>
                    </a:ext>
                  </a:extLst>
                </a:gridCol>
                <a:gridCol w="5112384">
                  <a:extLst>
                    <a:ext uri="{9D8B030D-6E8A-4147-A177-3AD203B41FA5}">
                      <a16:colId xmlns:a16="http://schemas.microsoft.com/office/drawing/2014/main" val="20002"/>
                    </a:ext>
                  </a:extLst>
                </a:gridCol>
              </a:tblGrid>
              <a:tr h="395605">
                <a:tc>
                  <a:txBody>
                    <a:bodyPr/>
                    <a:lstStyle/>
                    <a:p>
                      <a:pPr marL="91440">
                        <a:lnSpc>
                          <a:spcPct val="100000"/>
                        </a:lnSpc>
                        <a:spcBef>
                          <a:spcPts val="309"/>
                        </a:spcBef>
                      </a:pPr>
                      <a:r>
                        <a:rPr sz="2000" b="1" spc="-20" dirty="0">
                          <a:solidFill>
                            <a:srgbClr val="FFFFFF"/>
                          </a:solidFill>
                          <a:latin typeface="Arial"/>
                          <a:cs typeface="Arial"/>
                        </a:rPr>
                        <a:t>Step</a:t>
                      </a:r>
                      <a:endParaRPr sz="2000">
                        <a:latin typeface="Arial"/>
                        <a:cs typeface="Arial"/>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marL="91440">
                        <a:lnSpc>
                          <a:spcPct val="100000"/>
                        </a:lnSpc>
                        <a:spcBef>
                          <a:spcPts val="309"/>
                        </a:spcBef>
                      </a:pPr>
                      <a:r>
                        <a:rPr sz="2000" b="1" spc="-10" dirty="0">
                          <a:solidFill>
                            <a:srgbClr val="FFFFFF"/>
                          </a:solidFill>
                          <a:latin typeface="Arial"/>
                          <a:cs typeface="Arial"/>
                        </a:rPr>
                        <a:t>Description</a:t>
                      </a:r>
                      <a:endParaRPr sz="2000">
                        <a:latin typeface="Arial"/>
                        <a:cs typeface="Arial"/>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marL="92075">
                        <a:lnSpc>
                          <a:spcPct val="100000"/>
                        </a:lnSpc>
                        <a:spcBef>
                          <a:spcPts val="309"/>
                        </a:spcBef>
                      </a:pPr>
                      <a:r>
                        <a:rPr sz="2000" b="1" spc="-25" dirty="0">
                          <a:solidFill>
                            <a:srgbClr val="FFFFFF"/>
                          </a:solidFill>
                          <a:latin typeface="Arial"/>
                          <a:cs typeface="Arial"/>
                        </a:rPr>
                        <a:t>How</a:t>
                      </a:r>
                      <a:endParaRPr sz="2000">
                        <a:latin typeface="Arial"/>
                        <a:cs typeface="Arial"/>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extLst>
                  <a:ext uri="{0D108BD9-81ED-4DB2-BD59-A6C34878D82A}">
                    <a16:rowId xmlns:a16="http://schemas.microsoft.com/office/drawing/2014/main" val="10000"/>
                  </a:ext>
                </a:extLst>
              </a:tr>
              <a:tr h="395605">
                <a:tc>
                  <a:txBody>
                    <a:bodyPr/>
                    <a:lstStyle/>
                    <a:p>
                      <a:pPr marL="91440">
                        <a:lnSpc>
                          <a:spcPct val="100000"/>
                        </a:lnSpc>
                        <a:spcBef>
                          <a:spcPts val="309"/>
                        </a:spcBef>
                      </a:pPr>
                      <a:r>
                        <a:rPr sz="2000" spc="-25" dirty="0">
                          <a:latin typeface="Arial MT"/>
                          <a:cs typeface="Arial MT"/>
                        </a:rPr>
                        <a:t>1)</a:t>
                      </a:r>
                      <a:endParaRPr sz="2000">
                        <a:latin typeface="Arial MT"/>
                        <a:cs typeface="Arial MT"/>
                      </a:endParaRPr>
                    </a:p>
                  </a:txBody>
                  <a:tcPr marL="0" marR="0" marT="39369"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309"/>
                        </a:spcBef>
                      </a:pPr>
                      <a:r>
                        <a:rPr sz="2000" dirty="0">
                          <a:latin typeface="Arial MT"/>
                          <a:cs typeface="Arial MT"/>
                        </a:rPr>
                        <a:t>Identify</a:t>
                      </a:r>
                      <a:r>
                        <a:rPr sz="2000" spc="-30" dirty="0">
                          <a:latin typeface="Arial MT"/>
                          <a:cs typeface="Arial MT"/>
                        </a:rPr>
                        <a:t> </a:t>
                      </a:r>
                      <a:r>
                        <a:rPr sz="2000" dirty="0">
                          <a:latin typeface="Arial MT"/>
                          <a:cs typeface="Arial MT"/>
                        </a:rPr>
                        <a:t>cost</a:t>
                      </a:r>
                      <a:r>
                        <a:rPr sz="2000" spc="-35" dirty="0">
                          <a:latin typeface="Arial MT"/>
                          <a:cs typeface="Arial MT"/>
                        </a:rPr>
                        <a:t> </a:t>
                      </a:r>
                      <a:r>
                        <a:rPr sz="2000" spc="-10" dirty="0">
                          <a:latin typeface="Arial MT"/>
                          <a:cs typeface="Arial MT"/>
                        </a:rPr>
                        <a:t>object</a:t>
                      </a:r>
                      <a:endParaRPr sz="2000">
                        <a:latin typeface="Arial MT"/>
                        <a:cs typeface="Arial MT"/>
                      </a:endParaRPr>
                    </a:p>
                  </a:txBody>
                  <a:tcPr marL="0" marR="0" marT="39369"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1"/>
                  </a:ext>
                </a:extLst>
              </a:tr>
              <a:tr h="395605">
                <a:tc>
                  <a:txBody>
                    <a:bodyPr/>
                    <a:lstStyle/>
                    <a:p>
                      <a:pPr marL="91440">
                        <a:lnSpc>
                          <a:spcPct val="100000"/>
                        </a:lnSpc>
                        <a:spcBef>
                          <a:spcPts val="305"/>
                        </a:spcBef>
                      </a:pPr>
                      <a:r>
                        <a:rPr sz="2000" spc="-25" dirty="0">
                          <a:latin typeface="Arial MT"/>
                          <a:cs typeface="Arial MT"/>
                        </a:rPr>
                        <a:t>2)</a:t>
                      </a:r>
                      <a:endParaRPr sz="2000">
                        <a:latin typeface="Arial MT"/>
                        <a:cs typeface="Arial MT"/>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1440">
                        <a:lnSpc>
                          <a:spcPct val="100000"/>
                        </a:lnSpc>
                        <a:spcBef>
                          <a:spcPts val="305"/>
                        </a:spcBef>
                      </a:pPr>
                      <a:r>
                        <a:rPr sz="2000" dirty="0">
                          <a:latin typeface="Arial MT"/>
                          <a:cs typeface="Arial MT"/>
                        </a:rPr>
                        <a:t>Identify</a:t>
                      </a:r>
                      <a:r>
                        <a:rPr sz="2000" spc="-35" dirty="0">
                          <a:latin typeface="Arial MT"/>
                          <a:cs typeface="Arial MT"/>
                        </a:rPr>
                        <a:t> </a:t>
                      </a:r>
                      <a:r>
                        <a:rPr sz="2000" dirty="0">
                          <a:latin typeface="Arial MT"/>
                          <a:cs typeface="Arial MT"/>
                        </a:rPr>
                        <a:t>and</a:t>
                      </a:r>
                      <a:r>
                        <a:rPr sz="2000" spc="-20" dirty="0">
                          <a:latin typeface="Arial MT"/>
                          <a:cs typeface="Arial MT"/>
                        </a:rPr>
                        <a:t> </a:t>
                      </a:r>
                      <a:r>
                        <a:rPr sz="2000" dirty="0">
                          <a:latin typeface="Arial MT"/>
                          <a:cs typeface="Arial MT"/>
                        </a:rPr>
                        <a:t>track</a:t>
                      </a:r>
                      <a:r>
                        <a:rPr sz="2000" spc="-30" dirty="0">
                          <a:latin typeface="Arial MT"/>
                          <a:cs typeface="Arial MT"/>
                        </a:rPr>
                        <a:t> </a:t>
                      </a:r>
                      <a:r>
                        <a:rPr sz="2000" dirty="0">
                          <a:latin typeface="Arial MT"/>
                          <a:cs typeface="Arial MT"/>
                        </a:rPr>
                        <a:t>direct</a:t>
                      </a:r>
                      <a:r>
                        <a:rPr sz="2000" spc="-35" dirty="0">
                          <a:latin typeface="Arial MT"/>
                          <a:cs typeface="Arial MT"/>
                        </a:rPr>
                        <a:t> </a:t>
                      </a:r>
                      <a:r>
                        <a:rPr sz="2000" spc="-20" dirty="0">
                          <a:latin typeface="Arial MT"/>
                          <a:cs typeface="Arial MT"/>
                        </a:rPr>
                        <a:t>costs</a:t>
                      </a:r>
                      <a:endParaRPr sz="2000">
                        <a:latin typeface="Arial MT"/>
                        <a:cs typeface="Arial MT"/>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2"/>
                  </a:ext>
                </a:extLst>
              </a:tr>
              <a:tr h="395605">
                <a:tc>
                  <a:txBody>
                    <a:bodyPr/>
                    <a:lstStyle/>
                    <a:p>
                      <a:pPr marL="91440">
                        <a:lnSpc>
                          <a:spcPct val="100000"/>
                        </a:lnSpc>
                        <a:spcBef>
                          <a:spcPts val="309"/>
                        </a:spcBef>
                      </a:pPr>
                      <a:r>
                        <a:rPr sz="2000" spc="-25" dirty="0">
                          <a:latin typeface="Arial MT"/>
                          <a:cs typeface="Arial MT"/>
                        </a:rPr>
                        <a:t>3)</a:t>
                      </a:r>
                      <a:endParaRPr sz="2000">
                        <a:latin typeface="Arial MT"/>
                        <a:cs typeface="Arial MT"/>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309"/>
                        </a:spcBef>
                      </a:pPr>
                      <a:r>
                        <a:rPr sz="2000" dirty="0">
                          <a:latin typeface="Arial MT"/>
                          <a:cs typeface="Arial MT"/>
                        </a:rPr>
                        <a:t>Identify</a:t>
                      </a:r>
                      <a:r>
                        <a:rPr sz="2000" spc="-45" dirty="0">
                          <a:latin typeface="Arial MT"/>
                          <a:cs typeface="Arial MT"/>
                        </a:rPr>
                        <a:t> </a:t>
                      </a:r>
                      <a:r>
                        <a:rPr sz="2000" dirty="0">
                          <a:latin typeface="Arial MT"/>
                          <a:cs typeface="Arial MT"/>
                        </a:rPr>
                        <a:t>indirect</a:t>
                      </a:r>
                      <a:r>
                        <a:rPr sz="2000" spc="-45" dirty="0">
                          <a:latin typeface="Arial MT"/>
                          <a:cs typeface="Arial MT"/>
                        </a:rPr>
                        <a:t> </a:t>
                      </a:r>
                      <a:r>
                        <a:rPr sz="2000" spc="-20" dirty="0">
                          <a:latin typeface="Arial MT"/>
                          <a:cs typeface="Arial MT"/>
                        </a:rPr>
                        <a:t>costs</a:t>
                      </a:r>
                      <a:endParaRPr sz="2000">
                        <a:latin typeface="Arial MT"/>
                        <a:cs typeface="Arial MT"/>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3"/>
                  </a:ext>
                </a:extLst>
              </a:tr>
              <a:tr h="701040">
                <a:tc>
                  <a:txBody>
                    <a:bodyPr/>
                    <a:lstStyle/>
                    <a:p>
                      <a:pPr marL="91440">
                        <a:lnSpc>
                          <a:spcPct val="100000"/>
                        </a:lnSpc>
                        <a:spcBef>
                          <a:spcPts val="310"/>
                        </a:spcBef>
                      </a:pPr>
                      <a:r>
                        <a:rPr sz="2000" spc="-25" dirty="0">
                          <a:latin typeface="Arial MT"/>
                          <a:cs typeface="Arial MT"/>
                        </a:rPr>
                        <a:t>4)</a:t>
                      </a:r>
                      <a:endParaRPr sz="2000">
                        <a:latin typeface="Arial MT"/>
                        <a:cs typeface="Arial MT"/>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1440" marR="290195">
                        <a:lnSpc>
                          <a:spcPts val="2390"/>
                        </a:lnSpc>
                        <a:spcBef>
                          <a:spcPts val="409"/>
                        </a:spcBef>
                      </a:pPr>
                      <a:r>
                        <a:rPr sz="2000" dirty="0">
                          <a:latin typeface="Arial MT"/>
                          <a:cs typeface="Arial MT"/>
                        </a:rPr>
                        <a:t>Select</a:t>
                      </a:r>
                      <a:r>
                        <a:rPr sz="2000" spc="-35" dirty="0">
                          <a:latin typeface="Arial MT"/>
                          <a:cs typeface="Arial MT"/>
                        </a:rPr>
                        <a:t> </a:t>
                      </a:r>
                      <a:r>
                        <a:rPr sz="2000" dirty="0">
                          <a:latin typeface="Arial MT"/>
                          <a:cs typeface="Arial MT"/>
                        </a:rPr>
                        <a:t>cost</a:t>
                      </a:r>
                      <a:r>
                        <a:rPr sz="2000" spc="-45" dirty="0">
                          <a:latin typeface="Arial MT"/>
                          <a:cs typeface="Arial MT"/>
                        </a:rPr>
                        <a:t> </a:t>
                      </a:r>
                      <a:r>
                        <a:rPr sz="2000" dirty="0">
                          <a:latin typeface="Arial MT"/>
                          <a:cs typeface="Arial MT"/>
                        </a:rPr>
                        <a:t>allocation</a:t>
                      </a:r>
                      <a:r>
                        <a:rPr sz="2000" spc="-30" dirty="0">
                          <a:latin typeface="Arial MT"/>
                          <a:cs typeface="Arial MT"/>
                        </a:rPr>
                        <a:t> </a:t>
                      </a:r>
                      <a:r>
                        <a:rPr sz="2000" dirty="0">
                          <a:latin typeface="Arial MT"/>
                          <a:cs typeface="Arial MT"/>
                        </a:rPr>
                        <a:t>basis</a:t>
                      </a:r>
                      <a:r>
                        <a:rPr sz="2000" spc="-30" dirty="0">
                          <a:latin typeface="Arial MT"/>
                          <a:cs typeface="Arial MT"/>
                        </a:rPr>
                        <a:t> </a:t>
                      </a:r>
                      <a:r>
                        <a:rPr sz="2000" dirty="0">
                          <a:latin typeface="Arial MT"/>
                          <a:cs typeface="Arial MT"/>
                        </a:rPr>
                        <a:t>for</a:t>
                      </a:r>
                      <a:r>
                        <a:rPr sz="2000" spc="-45" dirty="0">
                          <a:latin typeface="Arial MT"/>
                          <a:cs typeface="Arial MT"/>
                        </a:rPr>
                        <a:t> </a:t>
                      </a:r>
                      <a:r>
                        <a:rPr sz="2000" spc="-10" dirty="0">
                          <a:latin typeface="Arial MT"/>
                          <a:cs typeface="Arial MT"/>
                        </a:rPr>
                        <a:t>indirect costs</a:t>
                      </a:r>
                      <a:endParaRPr sz="2000">
                        <a:latin typeface="Arial MT"/>
                        <a:cs typeface="Arial MT"/>
                      </a:endParaRPr>
                    </a:p>
                  </a:txBody>
                  <a:tcPr marL="0" marR="0" marT="520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4"/>
                  </a:ext>
                </a:extLst>
              </a:tr>
              <a:tr h="396240">
                <a:tc>
                  <a:txBody>
                    <a:bodyPr/>
                    <a:lstStyle/>
                    <a:p>
                      <a:pPr marL="91440">
                        <a:lnSpc>
                          <a:spcPct val="100000"/>
                        </a:lnSpc>
                        <a:spcBef>
                          <a:spcPts val="310"/>
                        </a:spcBef>
                      </a:pPr>
                      <a:r>
                        <a:rPr sz="2000" spc="-25" dirty="0">
                          <a:latin typeface="Arial MT"/>
                          <a:cs typeface="Arial MT"/>
                        </a:rPr>
                        <a:t>5)</a:t>
                      </a:r>
                      <a:endParaRPr sz="2000">
                        <a:latin typeface="Arial MT"/>
                        <a:cs typeface="Arial MT"/>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310"/>
                        </a:spcBef>
                      </a:pPr>
                      <a:r>
                        <a:rPr sz="2000" dirty="0">
                          <a:latin typeface="Arial MT"/>
                          <a:cs typeface="Arial MT"/>
                        </a:rPr>
                        <a:t>Compute</a:t>
                      </a:r>
                      <a:r>
                        <a:rPr sz="2000" spc="-50" dirty="0">
                          <a:latin typeface="Arial MT"/>
                          <a:cs typeface="Arial MT"/>
                        </a:rPr>
                        <a:t> </a:t>
                      </a:r>
                      <a:r>
                        <a:rPr sz="2000" dirty="0">
                          <a:latin typeface="Arial MT"/>
                          <a:cs typeface="Arial MT"/>
                        </a:rPr>
                        <a:t>rate</a:t>
                      </a:r>
                      <a:r>
                        <a:rPr sz="2000" spc="-50" dirty="0">
                          <a:latin typeface="Arial MT"/>
                          <a:cs typeface="Arial MT"/>
                        </a:rPr>
                        <a:t> </a:t>
                      </a:r>
                      <a:r>
                        <a:rPr sz="2000" dirty="0">
                          <a:latin typeface="Arial MT"/>
                          <a:cs typeface="Arial MT"/>
                        </a:rPr>
                        <a:t>of</a:t>
                      </a:r>
                      <a:r>
                        <a:rPr sz="2000" spc="-30" dirty="0">
                          <a:latin typeface="Arial MT"/>
                          <a:cs typeface="Arial MT"/>
                        </a:rPr>
                        <a:t> </a:t>
                      </a:r>
                      <a:r>
                        <a:rPr sz="2000" dirty="0">
                          <a:latin typeface="Arial MT"/>
                          <a:cs typeface="Arial MT"/>
                        </a:rPr>
                        <a:t>indirect</a:t>
                      </a:r>
                      <a:r>
                        <a:rPr sz="2000" spc="-55" dirty="0">
                          <a:latin typeface="Arial MT"/>
                          <a:cs typeface="Arial MT"/>
                        </a:rPr>
                        <a:t> </a:t>
                      </a:r>
                      <a:r>
                        <a:rPr sz="2000" dirty="0">
                          <a:latin typeface="Arial MT"/>
                          <a:cs typeface="Arial MT"/>
                        </a:rPr>
                        <a:t>cost</a:t>
                      </a:r>
                      <a:r>
                        <a:rPr sz="2000" spc="-45" dirty="0">
                          <a:latin typeface="Arial MT"/>
                          <a:cs typeface="Arial MT"/>
                        </a:rPr>
                        <a:t> </a:t>
                      </a:r>
                      <a:r>
                        <a:rPr sz="2000" spc="-10" dirty="0">
                          <a:latin typeface="Arial MT"/>
                          <a:cs typeface="Arial MT"/>
                        </a:rPr>
                        <a:t>allocation</a:t>
                      </a:r>
                      <a:endParaRPr sz="2000">
                        <a:latin typeface="Arial MT"/>
                        <a:cs typeface="Arial MT"/>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5"/>
                  </a:ext>
                </a:extLst>
              </a:tr>
              <a:tr h="395605">
                <a:tc>
                  <a:txBody>
                    <a:bodyPr/>
                    <a:lstStyle/>
                    <a:p>
                      <a:pPr marL="91440">
                        <a:lnSpc>
                          <a:spcPct val="100000"/>
                        </a:lnSpc>
                        <a:spcBef>
                          <a:spcPts val="310"/>
                        </a:spcBef>
                      </a:pPr>
                      <a:r>
                        <a:rPr sz="2000" spc="-25" dirty="0">
                          <a:latin typeface="Arial MT"/>
                          <a:cs typeface="Arial MT"/>
                        </a:rPr>
                        <a:t>6)</a:t>
                      </a:r>
                      <a:endParaRPr sz="2000">
                        <a:latin typeface="Arial MT"/>
                        <a:cs typeface="Arial MT"/>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1440">
                        <a:lnSpc>
                          <a:spcPct val="100000"/>
                        </a:lnSpc>
                        <a:spcBef>
                          <a:spcPts val="310"/>
                        </a:spcBef>
                      </a:pPr>
                      <a:r>
                        <a:rPr sz="2000" dirty="0">
                          <a:latin typeface="Arial MT"/>
                          <a:cs typeface="Arial MT"/>
                        </a:rPr>
                        <a:t>Allocate</a:t>
                      </a:r>
                      <a:r>
                        <a:rPr sz="2000" spc="-25" dirty="0">
                          <a:latin typeface="Arial MT"/>
                          <a:cs typeface="Arial MT"/>
                        </a:rPr>
                        <a:t> </a:t>
                      </a:r>
                      <a:r>
                        <a:rPr sz="2000" dirty="0">
                          <a:latin typeface="Arial MT"/>
                          <a:cs typeface="Arial MT"/>
                        </a:rPr>
                        <a:t>indirect</a:t>
                      </a:r>
                      <a:r>
                        <a:rPr sz="2000" spc="-50" dirty="0">
                          <a:latin typeface="Arial MT"/>
                          <a:cs typeface="Arial MT"/>
                        </a:rPr>
                        <a:t> </a:t>
                      </a:r>
                      <a:r>
                        <a:rPr sz="2000" dirty="0">
                          <a:latin typeface="Arial MT"/>
                          <a:cs typeface="Arial MT"/>
                        </a:rPr>
                        <a:t>costs</a:t>
                      </a:r>
                      <a:r>
                        <a:rPr sz="2000" spc="-55" dirty="0">
                          <a:latin typeface="Arial MT"/>
                          <a:cs typeface="Arial MT"/>
                        </a:rPr>
                        <a:t> </a:t>
                      </a:r>
                      <a:r>
                        <a:rPr sz="2000" dirty="0">
                          <a:latin typeface="Arial MT"/>
                          <a:cs typeface="Arial MT"/>
                        </a:rPr>
                        <a:t>to</a:t>
                      </a:r>
                      <a:r>
                        <a:rPr sz="2000" spc="-25" dirty="0">
                          <a:latin typeface="Arial MT"/>
                          <a:cs typeface="Arial MT"/>
                        </a:rPr>
                        <a:t> </a:t>
                      </a:r>
                      <a:r>
                        <a:rPr sz="2000" dirty="0">
                          <a:latin typeface="Arial MT"/>
                          <a:cs typeface="Arial MT"/>
                        </a:rPr>
                        <a:t>cost</a:t>
                      </a:r>
                      <a:r>
                        <a:rPr sz="2000" spc="-45" dirty="0">
                          <a:latin typeface="Arial MT"/>
                          <a:cs typeface="Arial MT"/>
                        </a:rPr>
                        <a:t> </a:t>
                      </a:r>
                      <a:r>
                        <a:rPr sz="2000" spc="-10" dirty="0">
                          <a:latin typeface="Arial MT"/>
                          <a:cs typeface="Arial MT"/>
                        </a:rPr>
                        <a:t>object</a:t>
                      </a:r>
                      <a:endParaRPr sz="2000">
                        <a:latin typeface="Arial MT"/>
                        <a:cs typeface="Arial MT"/>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6"/>
                  </a:ext>
                </a:extLst>
              </a:tr>
              <a:tr h="396240">
                <a:tc>
                  <a:txBody>
                    <a:bodyPr/>
                    <a:lstStyle/>
                    <a:p>
                      <a:pPr marL="91440">
                        <a:lnSpc>
                          <a:spcPct val="100000"/>
                        </a:lnSpc>
                        <a:spcBef>
                          <a:spcPts val="310"/>
                        </a:spcBef>
                      </a:pPr>
                      <a:r>
                        <a:rPr sz="2000" spc="-25" dirty="0">
                          <a:latin typeface="Arial MT"/>
                          <a:cs typeface="Arial MT"/>
                        </a:rPr>
                        <a:t>7)</a:t>
                      </a:r>
                      <a:endParaRPr sz="2000">
                        <a:latin typeface="Arial MT"/>
                        <a:cs typeface="Arial MT"/>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310"/>
                        </a:spcBef>
                      </a:pPr>
                      <a:r>
                        <a:rPr sz="2000" dirty="0">
                          <a:latin typeface="Arial MT"/>
                          <a:cs typeface="Arial MT"/>
                        </a:rPr>
                        <a:t>Compute</a:t>
                      </a:r>
                      <a:r>
                        <a:rPr sz="2000" spc="-50" dirty="0">
                          <a:latin typeface="Arial MT"/>
                          <a:cs typeface="Arial MT"/>
                        </a:rPr>
                        <a:t> </a:t>
                      </a:r>
                      <a:r>
                        <a:rPr sz="2000" dirty="0">
                          <a:latin typeface="Arial MT"/>
                          <a:cs typeface="Arial MT"/>
                        </a:rPr>
                        <a:t>total</a:t>
                      </a:r>
                      <a:r>
                        <a:rPr sz="2000" spc="-30" dirty="0">
                          <a:latin typeface="Arial MT"/>
                          <a:cs typeface="Arial MT"/>
                        </a:rPr>
                        <a:t> </a:t>
                      </a:r>
                      <a:r>
                        <a:rPr sz="2000" dirty="0">
                          <a:latin typeface="Arial MT"/>
                          <a:cs typeface="Arial MT"/>
                        </a:rPr>
                        <a:t>costs</a:t>
                      </a:r>
                      <a:r>
                        <a:rPr sz="2000" spc="-40" dirty="0">
                          <a:latin typeface="Arial MT"/>
                          <a:cs typeface="Arial MT"/>
                        </a:rPr>
                        <a:t> </a:t>
                      </a:r>
                      <a:r>
                        <a:rPr sz="2000" dirty="0">
                          <a:latin typeface="Arial MT"/>
                          <a:cs typeface="Arial MT"/>
                        </a:rPr>
                        <a:t>for</a:t>
                      </a:r>
                      <a:r>
                        <a:rPr sz="2000" spc="-45" dirty="0">
                          <a:latin typeface="Arial MT"/>
                          <a:cs typeface="Arial MT"/>
                        </a:rPr>
                        <a:t> </a:t>
                      </a:r>
                      <a:r>
                        <a:rPr sz="2000" dirty="0">
                          <a:latin typeface="Arial MT"/>
                          <a:cs typeface="Arial MT"/>
                        </a:rPr>
                        <a:t>the</a:t>
                      </a:r>
                      <a:r>
                        <a:rPr sz="2000" spc="-35" dirty="0">
                          <a:latin typeface="Arial MT"/>
                          <a:cs typeface="Arial MT"/>
                        </a:rPr>
                        <a:t> </a:t>
                      </a:r>
                      <a:r>
                        <a:rPr sz="2000" dirty="0">
                          <a:latin typeface="Arial MT"/>
                          <a:cs typeface="Arial MT"/>
                        </a:rPr>
                        <a:t>cost</a:t>
                      </a:r>
                      <a:r>
                        <a:rPr sz="2000" spc="-45" dirty="0">
                          <a:latin typeface="Arial MT"/>
                          <a:cs typeface="Arial MT"/>
                        </a:rPr>
                        <a:t> </a:t>
                      </a:r>
                      <a:r>
                        <a:rPr sz="2000" spc="-10" dirty="0">
                          <a:latin typeface="Arial MT"/>
                          <a:cs typeface="Arial MT"/>
                        </a:rPr>
                        <a:t>object</a:t>
                      </a:r>
                      <a:endParaRPr sz="2000">
                        <a:latin typeface="Arial MT"/>
                        <a:cs typeface="Arial MT"/>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a:lnSpc>
                          <a:spcPct val="100000"/>
                        </a:lnSpc>
                      </a:pPr>
                      <a:endParaRPr sz="2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6</a:t>
            </a:fld>
            <a:endParaRPr spc="-25" dirty="0"/>
          </a:p>
        </p:txBody>
      </p:sp>
      <p:sp>
        <p:nvSpPr>
          <p:cNvPr id="5" name="Subtitle 4">
            <a:extLst>
              <a:ext uri="{FF2B5EF4-FFF2-40B4-BE49-F238E27FC236}">
                <a16:creationId xmlns:a16="http://schemas.microsoft.com/office/drawing/2014/main" id="{39B3BD58-5073-DDFE-59D3-311713A8BFE5}"/>
              </a:ext>
            </a:extLst>
          </p:cNvPr>
          <p:cNvSpPr>
            <a:spLocks noGrp="1"/>
          </p:cNvSpPr>
          <p:nvPr>
            <p:ph type="subTitle" idx="1"/>
          </p:nvPr>
        </p:nvSpPr>
        <p:spPr/>
        <p:txBody>
          <a:bodyPr/>
          <a:lstStyle/>
          <a:p>
            <a:r>
              <a:rPr lang="en-CA" dirty="0"/>
              <a:t>Yacht International Inc. (YII) Part 1</a:t>
            </a:r>
          </a:p>
        </p:txBody>
      </p:sp>
      <p:graphicFrame>
        <p:nvGraphicFramePr>
          <p:cNvPr id="3" name="object 3"/>
          <p:cNvGraphicFramePr>
            <a:graphicFrameLocks noGrp="1"/>
          </p:cNvGraphicFramePr>
          <p:nvPr/>
        </p:nvGraphicFramePr>
        <p:xfrm>
          <a:off x="342518" y="1694433"/>
          <a:ext cx="11075668" cy="4022089"/>
        </p:xfrm>
        <a:graphic>
          <a:graphicData uri="http://schemas.openxmlformats.org/drawingml/2006/table">
            <a:tbl>
              <a:tblPr firstRow="1" bandRow="1">
                <a:tableStyleId>{2D5ABB26-0587-4C30-8999-92F81FD0307C}</a:tableStyleId>
              </a:tblPr>
              <a:tblGrid>
                <a:gridCol w="1268095">
                  <a:extLst>
                    <a:ext uri="{9D8B030D-6E8A-4147-A177-3AD203B41FA5}">
                      <a16:colId xmlns:a16="http://schemas.microsoft.com/office/drawing/2014/main" val="20000"/>
                    </a:ext>
                  </a:extLst>
                </a:gridCol>
                <a:gridCol w="4695189">
                  <a:extLst>
                    <a:ext uri="{9D8B030D-6E8A-4147-A177-3AD203B41FA5}">
                      <a16:colId xmlns:a16="http://schemas.microsoft.com/office/drawing/2014/main" val="20001"/>
                    </a:ext>
                  </a:extLst>
                </a:gridCol>
                <a:gridCol w="5112384">
                  <a:extLst>
                    <a:ext uri="{9D8B030D-6E8A-4147-A177-3AD203B41FA5}">
                      <a16:colId xmlns:a16="http://schemas.microsoft.com/office/drawing/2014/main" val="20002"/>
                    </a:ext>
                  </a:extLst>
                </a:gridCol>
              </a:tblGrid>
              <a:tr h="395605">
                <a:tc>
                  <a:txBody>
                    <a:bodyPr/>
                    <a:lstStyle/>
                    <a:p>
                      <a:pPr marL="91440">
                        <a:lnSpc>
                          <a:spcPct val="100000"/>
                        </a:lnSpc>
                        <a:spcBef>
                          <a:spcPts val="305"/>
                        </a:spcBef>
                      </a:pPr>
                      <a:r>
                        <a:rPr sz="2000" b="1" spc="-20" dirty="0">
                          <a:solidFill>
                            <a:srgbClr val="FFFFFF"/>
                          </a:solidFill>
                          <a:latin typeface="Arial"/>
                          <a:cs typeface="Arial"/>
                        </a:rPr>
                        <a:t>Step</a:t>
                      </a:r>
                      <a:endParaRPr sz="200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marL="91440">
                        <a:lnSpc>
                          <a:spcPct val="100000"/>
                        </a:lnSpc>
                        <a:spcBef>
                          <a:spcPts val="305"/>
                        </a:spcBef>
                      </a:pPr>
                      <a:r>
                        <a:rPr sz="2000" b="1" spc="-10" dirty="0">
                          <a:solidFill>
                            <a:srgbClr val="FFFFFF"/>
                          </a:solidFill>
                          <a:latin typeface="Arial"/>
                          <a:cs typeface="Arial"/>
                        </a:rPr>
                        <a:t>Description</a:t>
                      </a:r>
                      <a:endParaRPr sz="200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marL="92075">
                        <a:lnSpc>
                          <a:spcPct val="100000"/>
                        </a:lnSpc>
                        <a:spcBef>
                          <a:spcPts val="305"/>
                        </a:spcBef>
                      </a:pPr>
                      <a:r>
                        <a:rPr sz="2000" b="1" spc="-25" dirty="0">
                          <a:solidFill>
                            <a:srgbClr val="FFFFFF"/>
                          </a:solidFill>
                          <a:latin typeface="Arial"/>
                          <a:cs typeface="Arial"/>
                        </a:rPr>
                        <a:t>How</a:t>
                      </a:r>
                      <a:endParaRPr sz="200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extLst>
                  <a:ext uri="{0D108BD9-81ED-4DB2-BD59-A6C34878D82A}">
                    <a16:rowId xmlns:a16="http://schemas.microsoft.com/office/drawing/2014/main" val="10000"/>
                  </a:ext>
                </a:extLst>
              </a:tr>
              <a:tr h="395605">
                <a:tc>
                  <a:txBody>
                    <a:bodyPr/>
                    <a:lstStyle/>
                    <a:p>
                      <a:pPr marL="91440">
                        <a:lnSpc>
                          <a:spcPct val="100000"/>
                        </a:lnSpc>
                        <a:spcBef>
                          <a:spcPts val="305"/>
                        </a:spcBef>
                      </a:pPr>
                      <a:r>
                        <a:rPr sz="2000" spc="-25" dirty="0">
                          <a:latin typeface="Arial MT"/>
                          <a:cs typeface="Arial MT"/>
                        </a:rPr>
                        <a:t>1)</a:t>
                      </a:r>
                      <a:endParaRPr sz="2000">
                        <a:latin typeface="Arial MT"/>
                        <a:cs typeface="Arial MT"/>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305"/>
                        </a:spcBef>
                      </a:pPr>
                      <a:r>
                        <a:rPr sz="2000" dirty="0">
                          <a:latin typeface="Arial MT"/>
                          <a:cs typeface="Arial MT"/>
                        </a:rPr>
                        <a:t>Identify</a:t>
                      </a:r>
                      <a:r>
                        <a:rPr sz="2000" spc="-30" dirty="0">
                          <a:latin typeface="Arial MT"/>
                          <a:cs typeface="Arial MT"/>
                        </a:rPr>
                        <a:t> </a:t>
                      </a:r>
                      <a:r>
                        <a:rPr sz="2000" dirty="0">
                          <a:latin typeface="Arial MT"/>
                          <a:cs typeface="Arial MT"/>
                        </a:rPr>
                        <a:t>cost</a:t>
                      </a:r>
                      <a:r>
                        <a:rPr sz="2000" spc="-35" dirty="0">
                          <a:latin typeface="Arial MT"/>
                          <a:cs typeface="Arial MT"/>
                        </a:rPr>
                        <a:t> </a:t>
                      </a:r>
                      <a:r>
                        <a:rPr sz="2000" spc="-10" dirty="0">
                          <a:latin typeface="Arial MT"/>
                          <a:cs typeface="Arial MT"/>
                        </a:rPr>
                        <a:t>object</a:t>
                      </a:r>
                      <a:endParaRPr sz="2000">
                        <a:latin typeface="Arial MT"/>
                        <a:cs typeface="Arial MT"/>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marL="92075">
                        <a:lnSpc>
                          <a:spcPct val="100000"/>
                        </a:lnSpc>
                        <a:spcBef>
                          <a:spcPts val="305"/>
                        </a:spcBef>
                      </a:pPr>
                      <a:r>
                        <a:rPr sz="2000" dirty="0">
                          <a:latin typeface="Arial MT"/>
                          <a:cs typeface="Arial MT"/>
                        </a:rPr>
                        <a:t>The</a:t>
                      </a:r>
                      <a:r>
                        <a:rPr sz="2000" spc="-25" dirty="0">
                          <a:latin typeface="Arial MT"/>
                          <a:cs typeface="Arial MT"/>
                        </a:rPr>
                        <a:t> </a:t>
                      </a:r>
                      <a:r>
                        <a:rPr sz="2000" dirty="0">
                          <a:latin typeface="Arial MT"/>
                          <a:cs typeface="Arial MT"/>
                        </a:rPr>
                        <a:t>customized</a:t>
                      </a:r>
                      <a:r>
                        <a:rPr sz="2000" spc="-75" dirty="0">
                          <a:latin typeface="Arial MT"/>
                          <a:cs typeface="Arial MT"/>
                        </a:rPr>
                        <a:t> </a:t>
                      </a:r>
                      <a:r>
                        <a:rPr sz="2000" spc="-20" dirty="0">
                          <a:latin typeface="Arial MT"/>
                          <a:cs typeface="Arial MT"/>
                        </a:rPr>
                        <a:t>Yacht</a:t>
                      </a:r>
                      <a:endParaRPr sz="2000">
                        <a:latin typeface="Arial MT"/>
                        <a:cs typeface="Arial MT"/>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1"/>
                  </a:ext>
                </a:extLst>
              </a:tr>
              <a:tr h="1310640">
                <a:tc>
                  <a:txBody>
                    <a:bodyPr/>
                    <a:lstStyle/>
                    <a:p>
                      <a:pPr marL="91440">
                        <a:lnSpc>
                          <a:spcPct val="100000"/>
                        </a:lnSpc>
                        <a:spcBef>
                          <a:spcPts val="309"/>
                        </a:spcBef>
                      </a:pPr>
                      <a:r>
                        <a:rPr sz="2000" spc="-25" dirty="0">
                          <a:latin typeface="Arial MT"/>
                          <a:cs typeface="Arial MT"/>
                        </a:rPr>
                        <a:t>2)</a:t>
                      </a:r>
                      <a:endParaRPr sz="2000">
                        <a:latin typeface="Arial MT"/>
                        <a:cs typeface="Arial MT"/>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1440">
                        <a:lnSpc>
                          <a:spcPct val="100000"/>
                        </a:lnSpc>
                        <a:spcBef>
                          <a:spcPts val="309"/>
                        </a:spcBef>
                      </a:pPr>
                      <a:r>
                        <a:rPr sz="2000" dirty="0">
                          <a:latin typeface="Arial MT"/>
                          <a:cs typeface="Arial MT"/>
                        </a:rPr>
                        <a:t>Identify</a:t>
                      </a:r>
                      <a:r>
                        <a:rPr sz="2000" spc="-35" dirty="0">
                          <a:latin typeface="Arial MT"/>
                          <a:cs typeface="Arial MT"/>
                        </a:rPr>
                        <a:t> </a:t>
                      </a:r>
                      <a:r>
                        <a:rPr sz="2000" dirty="0">
                          <a:latin typeface="Arial MT"/>
                          <a:cs typeface="Arial MT"/>
                        </a:rPr>
                        <a:t>and</a:t>
                      </a:r>
                      <a:r>
                        <a:rPr sz="2000" spc="-20" dirty="0">
                          <a:latin typeface="Arial MT"/>
                          <a:cs typeface="Arial MT"/>
                        </a:rPr>
                        <a:t> </a:t>
                      </a:r>
                      <a:r>
                        <a:rPr sz="2000" dirty="0">
                          <a:latin typeface="Arial MT"/>
                          <a:cs typeface="Arial MT"/>
                        </a:rPr>
                        <a:t>track</a:t>
                      </a:r>
                      <a:r>
                        <a:rPr sz="2000" spc="-30" dirty="0">
                          <a:latin typeface="Arial MT"/>
                          <a:cs typeface="Arial MT"/>
                        </a:rPr>
                        <a:t> </a:t>
                      </a:r>
                      <a:r>
                        <a:rPr sz="2000" dirty="0">
                          <a:latin typeface="Arial MT"/>
                          <a:cs typeface="Arial MT"/>
                        </a:rPr>
                        <a:t>direct</a:t>
                      </a:r>
                      <a:r>
                        <a:rPr sz="2000" spc="-35" dirty="0">
                          <a:latin typeface="Arial MT"/>
                          <a:cs typeface="Arial MT"/>
                        </a:rPr>
                        <a:t> </a:t>
                      </a:r>
                      <a:r>
                        <a:rPr sz="2000" spc="-20" dirty="0">
                          <a:latin typeface="Arial MT"/>
                          <a:cs typeface="Arial MT"/>
                        </a:rPr>
                        <a:t>costs</a:t>
                      </a:r>
                      <a:endParaRPr sz="2000">
                        <a:latin typeface="Arial MT"/>
                        <a:cs typeface="Arial MT"/>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2075" marR="2046605">
                        <a:lnSpc>
                          <a:spcPct val="100000"/>
                        </a:lnSpc>
                        <a:spcBef>
                          <a:spcPts val="309"/>
                        </a:spcBef>
                        <a:tabLst>
                          <a:tab pos="1964689" algn="l"/>
                        </a:tabLst>
                      </a:pPr>
                      <a:r>
                        <a:rPr sz="2000" dirty="0">
                          <a:latin typeface="Arial MT"/>
                          <a:cs typeface="Arial MT"/>
                        </a:rPr>
                        <a:t>Direct</a:t>
                      </a:r>
                      <a:r>
                        <a:rPr sz="2000" spc="-30" dirty="0">
                          <a:latin typeface="Arial MT"/>
                          <a:cs typeface="Arial MT"/>
                        </a:rPr>
                        <a:t> </a:t>
                      </a:r>
                      <a:r>
                        <a:rPr sz="2000" dirty="0">
                          <a:latin typeface="Arial MT"/>
                          <a:cs typeface="Arial MT"/>
                        </a:rPr>
                        <a:t>Materials:</a:t>
                      </a:r>
                      <a:r>
                        <a:rPr sz="2000" spc="-25" dirty="0">
                          <a:latin typeface="Arial MT"/>
                          <a:cs typeface="Arial MT"/>
                        </a:rPr>
                        <a:t> </a:t>
                      </a:r>
                      <a:r>
                        <a:rPr sz="2000" spc="-10" dirty="0">
                          <a:latin typeface="Arial MT"/>
                          <a:cs typeface="Arial MT"/>
                        </a:rPr>
                        <a:t>$225,000 </a:t>
                      </a:r>
                      <a:r>
                        <a:rPr sz="2000" dirty="0">
                          <a:latin typeface="Arial MT"/>
                          <a:cs typeface="Arial MT"/>
                        </a:rPr>
                        <a:t>Direct</a:t>
                      </a:r>
                      <a:r>
                        <a:rPr sz="2000" spc="-30" dirty="0">
                          <a:latin typeface="Arial MT"/>
                          <a:cs typeface="Arial MT"/>
                        </a:rPr>
                        <a:t> </a:t>
                      </a:r>
                      <a:r>
                        <a:rPr sz="2000" spc="-10" dirty="0">
                          <a:latin typeface="Arial MT"/>
                          <a:cs typeface="Arial MT"/>
                        </a:rPr>
                        <a:t>Labour:</a:t>
                      </a:r>
                      <a:r>
                        <a:rPr sz="2000" dirty="0">
                          <a:latin typeface="Arial MT"/>
                          <a:cs typeface="Arial MT"/>
                        </a:rPr>
                        <a:t>	</a:t>
                      </a:r>
                      <a:r>
                        <a:rPr sz="2000" spc="-10" dirty="0">
                          <a:latin typeface="Arial MT"/>
                          <a:cs typeface="Arial MT"/>
                        </a:rPr>
                        <a:t>$45,000</a:t>
                      </a:r>
                      <a:endParaRPr sz="2000">
                        <a:latin typeface="Arial MT"/>
                        <a:cs typeface="Arial MT"/>
                      </a:endParaRPr>
                    </a:p>
                    <a:p>
                      <a:pPr>
                        <a:lnSpc>
                          <a:spcPct val="100000"/>
                        </a:lnSpc>
                        <a:spcBef>
                          <a:spcPts val="95"/>
                        </a:spcBef>
                      </a:pPr>
                      <a:endParaRPr sz="2000">
                        <a:latin typeface="Times New Roman"/>
                        <a:cs typeface="Times New Roman"/>
                      </a:endParaRPr>
                    </a:p>
                    <a:p>
                      <a:pPr marL="92075">
                        <a:lnSpc>
                          <a:spcPct val="100000"/>
                        </a:lnSpc>
                        <a:spcBef>
                          <a:spcPts val="5"/>
                        </a:spcBef>
                      </a:pPr>
                      <a:r>
                        <a:rPr sz="2000" spc="-40" dirty="0">
                          <a:latin typeface="Arial MT"/>
                          <a:cs typeface="Arial MT"/>
                        </a:rPr>
                        <a:t>Total</a:t>
                      </a:r>
                      <a:r>
                        <a:rPr sz="2000" spc="-35" dirty="0">
                          <a:latin typeface="Arial MT"/>
                          <a:cs typeface="Arial MT"/>
                        </a:rPr>
                        <a:t> </a:t>
                      </a:r>
                      <a:r>
                        <a:rPr sz="2000" dirty="0">
                          <a:latin typeface="Arial MT"/>
                          <a:cs typeface="Arial MT"/>
                        </a:rPr>
                        <a:t>Direct</a:t>
                      </a:r>
                      <a:r>
                        <a:rPr sz="2000" spc="-35" dirty="0">
                          <a:latin typeface="Arial MT"/>
                          <a:cs typeface="Arial MT"/>
                        </a:rPr>
                        <a:t> </a:t>
                      </a:r>
                      <a:r>
                        <a:rPr sz="2000" dirty="0">
                          <a:latin typeface="Arial MT"/>
                          <a:cs typeface="Arial MT"/>
                        </a:rPr>
                        <a:t>costs</a:t>
                      </a:r>
                      <a:r>
                        <a:rPr sz="2000" spc="-35" dirty="0">
                          <a:latin typeface="Arial MT"/>
                          <a:cs typeface="Arial MT"/>
                        </a:rPr>
                        <a:t> </a:t>
                      </a:r>
                      <a:r>
                        <a:rPr sz="2000" dirty="0">
                          <a:latin typeface="Arial MT"/>
                          <a:cs typeface="Arial MT"/>
                        </a:rPr>
                        <a:t>=</a:t>
                      </a:r>
                      <a:r>
                        <a:rPr sz="2000" spc="-20" dirty="0">
                          <a:latin typeface="Arial MT"/>
                          <a:cs typeface="Arial MT"/>
                        </a:rPr>
                        <a:t> </a:t>
                      </a:r>
                      <a:r>
                        <a:rPr sz="2000" spc="-10" dirty="0">
                          <a:latin typeface="Arial MT"/>
                          <a:cs typeface="Arial MT"/>
                        </a:rPr>
                        <a:t>$270,000</a:t>
                      </a:r>
                      <a:endParaRPr sz="2000">
                        <a:latin typeface="Arial MT"/>
                        <a:cs typeface="Arial MT"/>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2"/>
                  </a:ext>
                </a:extLst>
              </a:tr>
              <a:tr h="1920239">
                <a:tc>
                  <a:txBody>
                    <a:bodyPr/>
                    <a:lstStyle/>
                    <a:p>
                      <a:pPr marL="91440">
                        <a:lnSpc>
                          <a:spcPct val="100000"/>
                        </a:lnSpc>
                        <a:spcBef>
                          <a:spcPts val="310"/>
                        </a:spcBef>
                      </a:pPr>
                      <a:r>
                        <a:rPr sz="2000" spc="-25" dirty="0">
                          <a:latin typeface="Arial MT"/>
                          <a:cs typeface="Arial MT"/>
                        </a:rPr>
                        <a:t>3)</a:t>
                      </a:r>
                      <a:endParaRPr sz="2000">
                        <a:latin typeface="Arial MT"/>
                        <a:cs typeface="Arial MT"/>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310"/>
                        </a:spcBef>
                      </a:pPr>
                      <a:r>
                        <a:rPr sz="2000" dirty="0">
                          <a:latin typeface="Arial MT"/>
                          <a:cs typeface="Arial MT"/>
                        </a:rPr>
                        <a:t>Identify</a:t>
                      </a:r>
                      <a:r>
                        <a:rPr sz="2000" spc="-45" dirty="0">
                          <a:latin typeface="Arial MT"/>
                          <a:cs typeface="Arial MT"/>
                        </a:rPr>
                        <a:t> </a:t>
                      </a:r>
                      <a:r>
                        <a:rPr sz="2000" dirty="0">
                          <a:latin typeface="Arial MT"/>
                          <a:cs typeface="Arial MT"/>
                        </a:rPr>
                        <a:t>indirect</a:t>
                      </a:r>
                      <a:r>
                        <a:rPr sz="2000" spc="-45" dirty="0">
                          <a:latin typeface="Arial MT"/>
                          <a:cs typeface="Arial MT"/>
                        </a:rPr>
                        <a:t> </a:t>
                      </a:r>
                      <a:r>
                        <a:rPr sz="2000" spc="-20" dirty="0">
                          <a:latin typeface="Arial MT"/>
                          <a:cs typeface="Arial MT"/>
                        </a:rPr>
                        <a:t>costs</a:t>
                      </a:r>
                      <a:endParaRPr sz="2000">
                        <a:latin typeface="Arial MT"/>
                        <a:cs typeface="Arial MT"/>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434975" marR="551180" indent="-343535">
                        <a:lnSpc>
                          <a:spcPct val="100000"/>
                        </a:lnSpc>
                        <a:spcBef>
                          <a:spcPts val="310"/>
                        </a:spcBef>
                        <a:buChar char="•"/>
                        <a:tabLst>
                          <a:tab pos="434975" algn="l"/>
                        </a:tabLst>
                      </a:pPr>
                      <a:r>
                        <a:rPr sz="2000" dirty="0">
                          <a:latin typeface="Arial MT"/>
                          <a:cs typeface="Arial MT"/>
                        </a:rPr>
                        <a:t>Management</a:t>
                      </a:r>
                      <a:r>
                        <a:rPr sz="2000" spc="-55" dirty="0">
                          <a:latin typeface="Arial MT"/>
                          <a:cs typeface="Arial MT"/>
                        </a:rPr>
                        <a:t> </a:t>
                      </a:r>
                      <a:r>
                        <a:rPr sz="2000" dirty="0">
                          <a:latin typeface="Arial MT"/>
                          <a:cs typeface="Arial MT"/>
                        </a:rPr>
                        <a:t>Salary:</a:t>
                      </a:r>
                      <a:r>
                        <a:rPr sz="2000" spc="-30" dirty="0">
                          <a:latin typeface="Arial MT"/>
                          <a:cs typeface="Arial MT"/>
                        </a:rPr>
                        <a:t> </a:t>
                      </a:r>
                      <a:r>
                        <a:rPr sz="2000" dirty="0">
                          <a:latin typeface="Arial MT"/>
                          <a:cs typeface="Arial MT"/>
                        </a:rPr>
                        <a:t>$1,500,000</a:t>
                      </a:r>
                      <a:r>
                        <a:rPr sz="2000" spc="-45" dirty="0">
                          <a:latin typeface="Arial MT"/>
                          <a:cs typeface="Arial MT"/>
                        </a:rPr>
                        <a:t> </a:t>
                      </a:r>
                      <a:r>
                        <a:rPr sz="2000" spc="-25" dirty="0">
                          <a:latin typeface="Arial MT"/>
                          <a:cs typeface="Arial MT"/>
                        </a:rPr>
                        <a:t>per </a:t>
                      </a:r>
                      <a:r>
                        <a:rPr sz="2000" spc="-20" dirty="0">
                          <a:latin typeface="Arial MT"/>
                          <a:cs typeface="Arial MT"/>
                        </a:rPr>
                        <a:t>year</a:t>
                      </a:r>
                      <a:endParaRPr sz="2000">
                        <a:latin typeface="Arial MT"/>
                        <a:cs typeface="Arial MT"/>
                      </a:endParaRPr>
                    </a:p>
                    <a:p>
                      <a:pPr marL="434975" marR="322580" indent="-343535">
                        <a:lnSpc>
                          <a:spcPct val="100000"/>
                        </a:lnSpc>
                        <a:buChar char="•"/>
                        <a:tabLst>
                          <a:tab pos="434975" algn="l"/>
                        </a:tabLst>
                      </a:pPr>
                      <a:r>
                        <a:rPr sz="2000" dirty="0">
                          <a:latin typeface="Arial MT"/>
                          <a:cs typeface="Arial MT"/>
                        </a:rPr>
                        <a:t>Equipment</a:t>
                      </a:r>
                      <a:r>
                        <a:rPr sz="2000" spc="-30" dirty="0">
                          <a:latin typeface="Arial MT"/>
                          <a:cs typeface="Arial MT"/>
                        </a:rPr>
                        <a:t> </a:t>
                      </a:r>
                      <a:r>
                        <a:rPr sz="2000" dirty="0">
                          <a:latin typeface="Arial MT"/>
                          <a:cs typeface="Arial MT"/>
                        </a:rPr>
                        <a:t>Depreciation:</a:t>
                      </a:r>
                      <a:r>
                        <a:rPr sz="2000" spc="-55" dirty="0">
                          <a:latin typeface="Arial MT"/>
                          <a:cs typeface="Arial MT"/>
                        </a:rPr>
                        <a:t> </a:t>
                      </a:r>
                      <a:r>
                        <a:rPr sz="2000" dirty="0">
                          <a:latin typeface="Arial MT"/>
                          <a:cs typeface="Arial MT"/>
                        </a:rPr>
                        <a:t>$375,000</a:t>
                      </a:r>
                      <a:r>
                        <a:rPr sz="2000" spc="-50" dirty="0">
                          <a:latin typeface="Arial MT"/>
                          <a:cs typeface="Arial MT"/>
                        </a:rPr>
                        <a:t> </a:t>
                      </a:r>
                      <a:r>
                        <a:rPr sz="2000" spc="-25" dirty="0">
                          <a:latin typeface="Arial MT"/>
                          <a:cs typeface="Arial MT"/>
                        </a:rPr>
                        <a:t>per </a:t>
                      </a:r>
                      <a:r>
                        <a:rPr sz="2000" spc="-20" dirty="0">
                          <a:latin typeface="Arial MT"/>
                          <a:cs typeface="Arial MT"/>
                        </a:rPr>
                        <a:t>year</a:t>
                      </a:r>
                      <a:endParaRPr sz="2000">
                        <a:latin typeface="Arial MT"/>
                        <a:cs typeface="Arial MT"/>
                      </a:endParaRPr>
                    </a:p>
                    <a:p>
                      <a:pPr marL="434975" indent="-342900">
                        <a:lnSpc>
                          <a:spcPct val="100000"/>
                        </a:lnSpc>
                        <a:spcBef>
                          <a:spcPts val="5"/>
                        </a:spcBef>
                        <a:buChar char="•"/>
                        <a:tabLst>
                          <a:tab pos="434975" algn="l"/>
                        </a:tabLst>
                      </a:pPr>
                      <a:r>
                        <a:rPr sz="2000" dirty="0">
                          <a:latin typeface="Arial MT"/>
                          <a:cs typeface="Arial MT"/>
                        </a:rPr>
                        <a:t>Plant</a:t>
                      </a:r>
                      <a:r>
                        <a:rPr sz="2000" spc="-20" dirty="0">
                          <a:latin typeface="Arial MT"/>
                          <a:cs typeface="Arial MT"/>
                        </a:rPr>
                        <a:t> </a:t>
                      </a:r>
                      <a:r>
                        <a:rPr sz="2000" dirty="0">
                          <a:latin typeface="Arial MT"/>
                          <a:cs typeface="Arial MT"/>
                        </a:rPr>
                        <a:t>Depreciation:</a:t>
                      </a:r>
                      <a:r>
                        <a:rPr sz="2000" spc="-45" dirty="0">
                          <a:latin typeface="Arial MT"/>
                          <a:cs typeface="Arial MT"/>
                        </a:rPr>
                        <a:t> </a:t>
                      </a:r>
                      <a:r>
                        <a:rPr sz="2000" dirty="0">
                          <a:latin typeface="Arial MT"/>
                          <a:cs typeface="Arial MT"/>
                        </a:rPr>
                        <a:t>$225,000</a:t>
                      </a:r>
                      <a:r>
                        <a:rPr sz="2000" spc="-25" dirty="0">
                          <a:latin typeface="Arial MT"/>
                          <a:cs typeface="Arial MT"/>
                        </a:rPr>
                        <a:t> </a:t>
                      </a:r>
                      <a:r>
                        <a:rPr sz="2000" dirty="0">
                          <a:latin typeface="Arial MT"/>
                          <a:cs typeface="Arial MT"/>
                        </a:rPr>
                        <a:t>per</a:t>
                      </a:r>
                      <a:r>
                        <a:rPr sz="2000" spc="-20" dirty="0">
                          <a:latin typeface="Arial MT"/>
                          <a:cs typeface="Arial MT"/>
                        </a:rPr>
                        <a:t> year</a:t>
                      </a:r>
                      <a:endParaRPr sz="2000">
                        <a:latin typeface="Arial MT"/>
                        <a:cs typeface="Arial MT"/>
                      </a:endParaRPr>
                    </a:p>
                    <a:p>
                      <a:pPr marL="434975" indent="-342900">
                        <a:lnSpc>
                          <a:spcPct val="100000"/>
                        </a:lnSpc>
                        <a:buChar char="•"/>
                        <a:tabLst>
                          <a:tab pos="434975" algn="l"/>
                        </a:tabLst>
                      </a:pPr>
                      <a:r>
                        <a:rPr sz="2000" dirty="0">
                          <a:latin typeface="Arial MT"/>
                          <a:cs typeface="Arial MT"/>
                        </a:rPr>
                        <a:t>Utilities:</a:t>
                      </a:r>
                      <a:r>
                        <a:rPr sz="2000" spc="-35" dirty="0">
                          <a:latin typeface="Arial MT"/>
                          <a:cs typeface="Arial MT"/>
                        </a:rPr>
                        <a:t> </a:t>
                      </a:r>
                      <a:r>
                        <a:rPr sz="2000" dirty="0">
                          <a:latin typeface="Arial MT"/>
                          <a:cs typeface="Arial MT"/>
                        </a:rPr>
                        <a:t>$300,000</a:t>
                      </a:r>
                      <a:r>
                        <a:rPr sz="2000" spc="-50" dirty="0">
                          <a:latin typeface="Arial MT"/>
                          <a:cs typeface="Arial MT"/>
                        </a:rPr>
                        <a:t> </a:t>
                      </a:r>
                      <a:r>
                        <a:rPr sz="2000" dirty="0">
                          <a:latin typeface="Arial MT"/>
                          <a:cs typeface="Arial MT"/>
                        </a:rPr>
                        <a:t>per</a:t>
                      </a:r>
                      <a:r>
                        <a:rPr sz="2000" spc="-45" dirty="0">
                          <a:latin typeface="Arial MT"/>
                          <a:cs typeface="Arial MT"/>
                        </a:rPr>
                        <a:t> </a:t>
                      </a:r>
                      <a:r>
                        <a:rPr sz="2000" spc="-20" dirty="0">
                          <a:latin typeface="Arial MT"/>
                          <a:cs typeface="Arial MT"/>
                        </a:rPr>
                        <a:t>year</a:t>
                      </a:r>
                      <a:endParaRPr sz="2000">
                        <a:latin typeface="Arial MT"/>
                        <a:cs typeface="Arial MT"/>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7</a:t>
            </a:fld>
            <a:endParaRPr spc="-25" dirty="0"/>
          </a:p>
        </p:txBody>
      </p:sp>
      <p:sp>
        <p:nvSpPr>
          <p:cNvPr id="5" name="Subtitle 4">
            <a:extLst>
              <a:ext uri="{FF2B5EF4-FFF2-40B4-BE49-F238E27FC236}">
                <a16:creationId xmlns:a16="http://schemas.microsoft.com/office/drawing/2014/main" id="{FED05FD0-545C-B358-B245-1B2837A3EB07}"/>
              </a:ext>
            </a:extLst>
          </p:cNvPr>
          <p:cNvSpPr>
            <a:spLocks noGrp="1"/>
          </p:cNvSpPr>
          <p:nvPr>
            <p:ph type="subTitle" idx="1"/>
          </p:nvPr>
        </p:nvSpPr>
        <p:spPr/>
        <p:txBody>
          <a:bodyPr/>
          <a:lstStyle/>
          <a:p>
            <a:r>
              <a:rPr lang="en-CA" dirty="0"/>
              <a:t>Yacht International Inc. (YII) Part 1</a:t>
            </a:r>
          </a:p>
        </p:txBody>
      </p:sp>
      <p:graphicFrame>
        <p:nvGraphicFramePr>
          <p:cNvPr id="3" name="object 3"/>
          <p:cNvGraphicFramePr>
            <a:graphicFrameLocks noGrp="1"/>
          </p:cNvGraphicFramePr>
          <p:nvPr>
            <p:extLst>
              <p:ext uri="{D42A27DB-BD31-4B8C-83A1-F6EECF244321}">
                <p14:modId xmlns:p14="http://schemas.microsoft.com/office/powerpoint/2010/main" val="3093612709"/>
              </p:ext>
            </p:extLst>
          </p:nvPr>
        </p:nvGraphicFramePr>
        <p:xfrm>
          <a:off x="342518" y="1550416"/>
          <a:ext cx="11075668" cy="4357370"/>
        </p:xfrm>
        <a:graphic>
          <a:graphicData uri="http://schemas.openxmlformats.org/drawingml/2006/table">
            <a:tbl>
              <a:tblPr firstRow="1" bandRow="1">
                <a:tableStyleId>{2D5ABB26-0587-4C30-8999-92F81FD0307C}</a:tableStyleId>
              </a:tblPr>
              <a:tblGrid>
                <a:gridCol w="1268095">
                  <a:extLst>
                    <a:ext uri="{9D8B030D-6E8A-4147-A177-3AD203B41FA5}">
                      <a16:colId xmlns:a16="http://schemas.microsoft.com/office/drawing/2014/main" val="20000"/>
                    </a:ext>
                  </a:extLst>
                </a:gridCol>
                <a:gridCol w="4695189">
                  <a:extLst>
                    <a:ext uri="{9D8B030D-6E8A-4147-A177-3AD203B41FA5}">
                      <a16:colId xmlns:a16="http://schemas.microsoft.com/office/drawing/2014/main" val="20001"/>
                    </a:ext>
                  </a:extLst>
                </a:gridCol>
                <a:gridCol w="5112384">
                  <a:extLst>
                    <a:ext uri="{9D8B030D-6E8A-4147-A177-3AD203B41FA5}">
                      <a16:colId xmlns:a16="http://schemas.microsoft.com/office/drawing/2014/main" val="20002"/>
                    </a:ext>
                  </a:extLst>
                </a:gridCol>
              </a:tblGrid>
              <a:tr h="395605">
                <a:tc>
                  <a:txBody>
                    <a:bodyPr/>
                    <a:lstStyle/>
                    <a:p>
                      <a:pPr marL="91440">
                        <a:lnSpc>
                          <a:spcPct val="100000"/>
                        </a:lnSpc>
                        <a:spcBef>
                          <a:spcPts val="305"/>
                        </a:spcBef>
                      </a:pPr>
                      <a:r>
                        <a:rPr sz="2000" b="1" spc="-20" dirty="0">
                          <a:solidFill>
                            <a:srgbClr val="FFFFFF"/>
                          </a:solidFill>
                          <a:latin typeface="Arial"/>
                          <a:cs typeface="Arial"/>
                        </a:rPr>
                        <a:t>Step</a:t>
                      </a:r>
                      <a:endParaRPr sz="200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marL="91440">
                        <a:lnSpc>
                          <a:spcPct val="100000"/>
                        </a:lnSpc>
                        <a:spcBef>
                          <a:spcPts val="305"/>
                        </a:spcBef>
                      </a:pPr>
                      <a:r>
                        <a:rPr sz="2000" b="1" spc="-10" dirty="0">
                          <a:solidFill>
                            <a:srgbClr val="FFFFFF"/>
                          </a:solidFill>
                          <a:latin typeface="Arial"/>
                          <a:cs typeface="Arial"/>
                        </a:rPr>
                        <a:t>Description</a:t>
                      </a:r>
                      <a:endParaRPr sz="200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marL="92075">
                        <a:lnSpc>
                          <a:spcPct val="100000"/>
                        </a:lnSpc>
                        <a:spcBef>
                          <a:spcPts val="305"/>
                        </a:spcBef>
                      </a:pPr>
                      <a:r>
                        <a:rPr sz="2000" b="1" spc="-25" dirty="0">
                          <a:solidFill>
                            <a:srgbClr val="FFFFFF"/>
                          </a:solidFill>
                          <a:latin typeface="Arial"/>
                          <a:cs typeface="Arial"/>
                        </a:rPr>
                        <a:t>How</a:t>
                      </a:r>
                      <a:endParaRPr sz="200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extLst>
                  <a:ext uri="{0D108BD9-81ED-4DB2-BD59-A6C34878D82A}">
                    <a16:rowId xmlns:a16="http://schemas.microsoft.com/office/drawing/2014/main" val="10000"/>
                  </a:ext>
                </a:extLst>
              </a:tr>
              <a:tr h="1188720">
                <a:tc>
                  <a:txBody>
                    <a:bodyPr/>
                    <a:lstStyle/>
                    <a:p>
                      <a:pPr marL="91440">
                        <a:lnSpc>
                          <a:spcPct val="100000"/>
                        </a:lnSpc>
                        <a:spcBef>
                          <a:spcPts val="305"/>
                        </a:spcBef>
                      </a:pPr>
                      <a:r>
                        <a:rPr sz="2000" spc="-25" dirty="0">
                          <a:latin typeface="Arial MT"/>
                          <a:cs typeface="Arial MT"/>
                        </a:rPr>
                        <a:t>4)</a:t>
                      </a:r>
                      <a:endParaRPr sz="2000">
                        <a:latin typeface="Arial MT"/>
                        <a:cs typeface="Arial MT"/>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marL="91440" marR="290195">
                        <a:lnSpc>
                          <a:spcPts val="2390"/>
                        </a:lnSpc>
                        <a:spcBef>
                          <a:spcPts val="405"/>
                        </a:spcBef>
                      </a:pPr>
                      <a:r>
                        <a:rPr sz="2000" dirty="0">
                          <a:latin typeface="Arial MT"/>
                          <a:cs typeface="Arial MT"/>
                        </a:rPr>
                        <a:t>Select</a:t>
                      </a:r>
                      <a:r>
                        <a:rPr sz="2000" spc="-35" dirty="0">
                          <a:latin typeface="Arial MT"/>
                          <a:cs typeface="Arial MT"/>
                        </a:rPr>
                        <a:t> </a:t>
                      </a:r>
                      <a:r>
                        <a:rPr sz="2000" dirty="0">
                          <a:latin typeface="Arial MT"/>
                          <a:cs typeface="Arial MT"/>
                        </a:rPr>
                        <a:t>cost</a:t>
                      </a:r>
                      <a:r>
                        <a:rPr sz="2000" spc="-45" dirty="0">
                          <a:latin typeface="Arial MT"/>
                          <a:cs typeface="Arial MT"/>
                        </a:rPr>
                        <a:t> </a:t>
                      </a:r>
                      <a:r>
                        <a:rPr sz="2000" dirty="0">
                          <a:latin typeface="Arial MT"/>
                          <a:cs typeface="Arial MT"/>
                        </a:rPr>
                        <a:t>allocation</a:t>
                      </a:r>
                      <a:r>
                        <a:rPr sz="2000" spc="-30" dirty="0">
                          <a:latin typeface="Arial MT"/>
                          <a:cs typeface="Arial MT"/>
                        </a:rPr>
                        <a:t> </a:t>
                      </a:r>
                      <a:r>
                        <a:rPr sz="2000" dirty="0">
                          <a:latin typeface="Arial MT"/>
                          <a:cs typeface="Arial MT"/>
                        </a:rPr>
                        <a:t>basis</a:t>
                      </a:r>
                      <a:r>
                        <a:rPr sz="2000" spc="-30" dirty="0">
                          <a:latin typeface="Arial MT"/>
                          <a:cs typeface="Arial MT"/>
                        </a:rPr>
                        <a:t> </a:t>
                      </a:r>
                      <a:r>
                        <a:rPr sz="2000" dirty="0">
                          <a:latin typeface="Arial MT"/>
                          <a:cs typeface="Arial MT"/>
                        </a:rPr>
                        <a:t>for</a:t>
                      </a:r>
                      <a:r>
                        <a:rPr sz="2000" spc="-45" dirty="0">
                          <a:latin typeface="Arial MT"/>
                          <a:cs typeface="Arial MT"/>
                        </a:rPr>
                        <a:t> </a:t>
                      </a:r>
                      <a:r>
                        <a:rPr sz="2000" spc="-10" dirty="0">
                          <a:latin typeface="Arial MT"/>
                          <a:cs typeface="Arial MT"/>
                        </a:rPr>
                        <a:t>indirect costs</a:t>
                      </a:r>
                      <a:endParaRPr sz="2000">
                        <a:latin typeface="Arial MT"/>
                        <a:cs typeface="Arial MT"/>
                      </a:endParaRPr>
                    </a:p>
                  </a:txBody>
                  <a:tcPr marL="0" marR="0" marT="514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marL="92075">
                        <a:lnSpc>
                          <a:spcPct val="100000"/>
                        </a:lnSpc>
                        <a:spcBef>
                          <a:spcPts val="315"/>
                        </a:spcBef>
                      </a:pPr>
                      <a:r>
                        <a:rPr sz="1800" dirty="0">
                          <a:latin typeface="Arial MT"/>
                          <a:cs typeface="Arial MT"/>
                        </a:rPr>
                        <a:t>Equipment</a:t>
                      </a:r>
                      <a:r>
                        <a:rPr sz="1800" spc="-55" dirty="0">
                          <a:latin typeface="Arial MT"/>
                          <a:cs typeface="Arial MT"/>
                        </a:rPr>
                        <a:t> </a:t>
                      </a:r>
                      <a:r>
                        <a:rPr sz="1800" dirty="0">
                          <a:latin typeface="Arial MT"/>
                          <a:cs typeface="Arial MT"/>
                        </a:rPr>
                        <a:t>Depreciation:</a:t>
                      </a:r>
                      <a:r>
                        <a:rPr sz="1800" spc="-35" dirty="0">
                          <a:latin typeface="Arial MT"/>
                          <a:cs typeface="Arial MT"/>
                        </a:rPr>
                        <a:t> </a:t>
                      </a:r>
                      <a:r>
                        <a:rPr sz="1800" dirty="0">
                          <a:latin typeface="Arial MT"/>
                          <a:cs typeface="Arial MT"/>
                        </a:rPr>
                        <a:t>Machine</a:t>
                      </a:r>
                      <a:r>
                        <a:rPr sz="1800" spc="-35" dirty="0">
                          <a:latin typeface="Arial MT"/>
                          <a:cs typeface="Arial MT"/>
                        </a:rPr>
                        <a:t> </a:t>
                      </a:r>
                      <a:r>
                        <a:rPr sz="1800" spc="-10" dirty="0">
                          <a:latin typeface="Arial MT"/>
                          <a:cs typeface="Arial MT"/>
                        </a:rPr>
                        <a:t>Hours</a:t>
                      </a:r>
                      <a:endParaRPr sz="1800">
                        <a:latin typeface="Arial MT"/>
                        <a:cs typeface="Arial MT"/>
                      </a:endParaRPr>
                    </a:p>
                    <a:p>
                      <a:pPr>
                        <a:lnSpc>
                          <a:spcPct val="100000"/>
                        </a:lnSpc>
                        <a:spcBef>
                          <a:spcPts val="90"/>
                        </a:spcBef>
                      </a:pPr>
                      <a:endParaRPr sz="1800">
                        <a:latin typeface="Times New Roman"/>
                        <a:cs typeface="Times New Roman"/>
                      </a:endParaRPr>
                    </a:p>
                    <a:p>
                      <a:pPr marL="92075">
                        <a:lnSpc>
                          <a:spcPct val="100000"/>
                        </a:lnSpc>
                      </a:pPr>
                      <a:r>
                        <a:rPr sz="1800" dirty="0">
                          <a:latin typeface="Arial MT"/>
                          <a:cs typeface="Arial MT"/>
                        </a:rPr>
                        <a:t>Management</a:t>
                      </a:r>
                      <a:r>
                        <a:rPr sz="1800" spc="-55" dirty="0">
                          <a:latin typeface="Arial MT"/>
                          <a:cs typeface="Arial MT"/>
                        </a:rPr>
                        <a:t> </a:t>
                      </a:r>
                      <a:r>
                        <a:rPr sz="1800" spc="-10" dirty="0">
                          <a:latin typeface="Arial MT"/>
                          <a:cs typeface="Arial MT"/>
                        </a:rPr>
                        <a:t>Salary,</a:t>
                      </a:r>
                      <a:r>
                        <a:rPr sz="1800" spc="-55" dirty="0">
                          <a:latin typeface="Arial MT"/>
                          <a:cs typeface="Arial MT"/>
                        </a:rPr>
                        <a:t> </a:t>
                      </a:r>
                      <a:r>
                        <a:rPr sz="1800" dirty="0">
                          <a:latin typeface="Arial MT"/>
                          <a:cs typeface="Arial MT"/>
                        </a:rPr>
                        <a:t>Plant</a:t>
                      </a:r>
                      <a:r>
                        <a:rPr sz="1800" spc="-75" dirty="0">
                          <a:latin typeface="Arial MT"/>
                          <a:cs typeface="Arial MT"/>
                        </a:rPr>
                        <a:t> </a:t>
                      </a:r>
                      <a:r>
                        <a:rPr sz="1800" spc="-10" dirty="0">
                          <a:latin typeface="Arial MT"/>
                          <a:cs typeface="Arial MT"/>
                        </a:rPr>
                        <a:t>Depreciation:</a:t>
                      </a:r>
                      <a:endParaRPr sz="1800">
                        <a:latin typeface="Arial MT"/>
                        <a:cs typeface="Arial MT"/>
                      </a:endParaRPr>
                    </a:p>
                    <a:p>
                      <a:pPr marL="92075">
                        <a:lnSpc>
                          <a:spcPct val="100000"/>
                        </a:lnSpc>
                      </a:pPr>
                      <a:r>
                        <a:rPr sz="1800" dirty="0">
                          <a:latin typeface="Arial MT"/>
                          <a:cs typeface="Arial MT"/>
                        </a:rPr>
                        <a:t>Utilities:</a:t>
                      </a:r>
                      <a:r>
                        <a:rPr sz="1800" spc="-30" dirty="0">
                          <a:latin typeface="Arial MT"/>
                          <a:cs typeface="Arial MT"/>
                        </a:rPr>
                        <a:t> </a:t>
                      </a:r>
                      <a:r>
                        <a:rPr sz="1800" dirty="0">
                          <a:latin typeface="Arial MT"/>
                          <a:cs typeface="Arial MT"/>
                        </a:rPr>
                        <a:t>Direct</a:t>
                      </a:r>
                      <a:r>
                        <a:rPr sz="1800" spc="-35" dirty="0">
                          <a:latin typeface="Arial MT"/>
                          <a:cs typeface="Arial MT"/>
                        </a:rPr>
                        <a:t> </a:t>
                      </a:r>
                      <a:r>
                        <a:rPr sz="1800" dirty="0">
                          <a:latin typeface="Arial MT"/>
                          <a:cs typeface="Arial MT"/>
                        </a:rPr>
                        <a:t>Labour</a:t>
                      </a:r>
                      <a:r>
                        <a:rPr sz="1800" spc="-30" dirty="0">
                          <a:latin typeface="Arial MT"/>
                          <a:cs typeface="Arial MT"/>
                        </a:rPr>
                        <a:t> </a:t>
                      </a:r>
                      <a:r>
                        <a:rPr sz="1800" spc="-10" dirty="0">
                          <a:latin typeface="Arial MT"/>
                          <a:cs typeface="Arial MT"/>
                        </a:rPr>
                        <a:t>Hours</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1"/>
                  </a:ext>
                </a:extLst>
              </a:tr>
              <a:tr h="1463040">
                <a:tc>
                  <a:txBody>
                    <a:bodyPr/>
                    <a:lstStyle/>
                    <a:p>
                      <a:pPr marL="91440">
                        <a:lnSpc>
                          <a:spcPct val="100000"/>
                        </a:lnSpc>
                        <a:spcBef>
                          <a:spcPts val="310"/>
                        </a:spcBef>
                      </a:pPr>
                      <a:r>
                        <a:rPr sz="2000" spc="-25" dirty="0">
                          <a:latin typeface="Arial MT"/>
                          <a:cs typeface="Arial MT"/>
                        </a:rPr>
                        <a:t>5)</a:t>
                      </a:r>
                      <a:endParaRPr sz="2000">
                        <a:latin typeface="Arial MT"/>
                        <a:cs typeface="Arial MT"/>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1440">
                        <a:lnSpc>
                          <a:spcPct val="100000"/>
                        </a:lnSpc>
                        <a:spcBef>
                          <a:spcPts val="310"/>
                        </a:spcBef>
                      </a:pPr>
                      <a:r>
                        <a:rPr sz="2000" dirty="0">
                          <a:latin typeface="Arial MT"/>
                          <a:cs typeface="Arial MT"/>
                        </a:rPr>
                        <a:t>Compute</a:t>
                      </a:r>
                      <a:r>
                        <a:rPr sz="2000" spc="-50" dirty="0">
                          <a:latin typeface="Arial MT"/>
                          <a:cs typeface="Arial MT"/>
                        </a:rPr>
                        <a:t> </a:t>
                      </a:r>
                      <a:r>
                        <a:rPr sz="2000" dirty="0">
                          <a:latin typeface="Arial MT"/>
                          <a:cs typeface="Arial MT"/>
                        </a:rPr>
                        <a:t>rate</a:t>
                      </a:r>
                      <a:r>
                        <a:rPr sz="2000" spc="-50" dirty="0">
                          <a:latin typeface="Arial MT"/>
                          <a:cs typeface="Arial MT"/>
                        </a:rPr>
                        <a:t> </a:t>
                      </a:r>
                      <a:r>
                        <a:rPr sz="2000" dirty="0">
                          <a:latin typeface="Arial MT"/>
                          <a:cs typeface="Arial MT"/>
                        </a:rPr>
                        <a:t>of</a:t>
                      </a:r>
                      <a:r>
                        <a:rPr sz="2000" spc="-30" dirty="0">
                          <a:latin typeface="Arial MT"/>
                          <a:cs typeface="Arial MT"/>
                        </a:rPr>
                        <a:t> </a:t>
                      </a:r>
                      <a:r>
                        <a:rPr sz="2000" dirty="0">
                          <a:latin typeface="Arial MT"/>
                          <a:cs typeface="Arial MT"/>
                        </a:rPr>
                        <a:t>indirect</a:t>
                      </a:r>
                      <a:r>
                        <a:rPr sz="2000" spc="-55" dirty="0">
                          <a:latin typeface="Arial MT"/>
                          <a:cs typeface="Arial MT"/>
                        </a:rPr>
                        <a:t> </a:t>
                      </a:r>
                      <a:r>
                        <a:rPr sz="2000" dirty="0">
                          <a:latin typeface="Arial MT"/>
                          <a:cs typeface="Arial MT"/>
                        </a:rPr>
                        <a:t>cost</a:t>
                      </a:r>
                      <a:r>
                        <a:rPr sz="2000" spc="-45" dirty="0">
                          <a:latin typeface="Arial MT"/>
                          <a:cs typeface="Arial MT"/>
                        </a:rPr>
                        <a:t> </a:t>
                      </a:r>
                      <a:r>
                        <a:rPr sz="2000" spc="-10" dirty="0">
                          <a:latin typeface="Arial MT"/>
                          <a:cs typeface="Arial MT"/>
                        </a:rPr>
                        <a:t>allocation</a:t>
                      </a:r>
                      <a:endParaRPr sz="2000">
                        <a:latin typeface="Arial MT"/>
                        <a:cs typeface="Arial MT"/>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2075">
                        <a:lnSpc>
                          <a:spcPct val="100000"/>
                        </a:lnSpc>
                        <a:spcBef>
                          <a:spcPts val="315"/>
                        </a:spcBef>
                      </a:pPr>
                      <a:r>
                        <a:rPr sz="1800" dirty="0">
                          <a:latin typeface="Arial MT"/>
                          <a:cs typeface="Arial MT"/>
                        </a:rPr>
                        <a:t>Rate</a:t>
                      </a:r>
                      <a:r>
                        <a:rPr sz="1800" spc="-20" dirty="0">
                          <a:latin typeface="Arial MT"/>
                          <a:cs typeface="Arial MT"/>
                        </a:rPr>
                        <a:t> </a:t>
                      </a:r>
                      <a:r>
                        <a:rPr sz="1800" dirty="0">
                          <a:latin typeface="Arial MT"/>
                          <a:cs typeface="Arial MT"/>
                        </a:rPr>
                        <a:t>for</a:t>
                      </a:r>
                      <a:r>
                        <a:rPr sz="1800" spc="-15" dirty="0">
                          <a:latin typeface="Arial MT"/>
                          <a:cs typeface="Arial MT"/>
                        </a:rPr>
                        <a:t> </a:t>
                      </a:r>
                      <a:r>
                        <a:rPr sz="1800" dirty="0">
                          <a:latin typeface="Arial MT"/>
                          <a:cs typeface="Arial MT"/>
                        </a:rPr>
                        <a:t>DMH:</a:t>
                      </a:r>
                      <a:r>
                        <a:rPr sz="1800" spc="-10" dirty="0">
                          <a:latin typeface="Arial MT"/>
                          <a:cs typeface="Arial MT"/>
                        </a:rPr>
                        <a:t> </a:t>
                      </a:r>
                      <a:r>
                        <a:rPr sz="1800" dirty="0">
                          <a:latin typeface="Arial MT"/>
                          <a:cs typeface="Arial MT"/>
                        </a:rPr>
                        <a:t>$375,000 /</a:t>
                      </a:r>
                      <a:r>
                        <a:rPr sz="1800" spc="-15" dirty="0">
                          <a:latin typeface="Arial MT"/>
                          <a:cs typeface="Arial MT"/>
                        </a:rPr>
                        <a:t> </a:t>
                      </a:r>
                      <a:r>
                        <a:rPr sz="1800" dirty="0">
                          <a:latin typeface="Arial MT"/>
                          <a:cs typeface="Arial MT"/>
                        </a:rPr>
                        <a:t>50,000</a:t>
                      </a:r>
                      <a:r>
                        <a:rPr sz="1800" spc="-10" dirty="0">
                          <a:latin typeface="Arial MT"/>
                          <a:cs typeface="Arial MT"/>
                        </a:rPr>
                        <a:t> </a:t>
                      </a:r>
                      <a:r>
                        <a:rPr sz="1800" dirty="0">
                          <a:latin typeface="Arial MT"/>
                          <a:cs typeface="Arial MT"/>
                        </a:rPr>
                        <a:t>=</a:t>
                      </a:r>
                      <a:r>
                        <a:rPr sz="1800" spc="-20" dirty="0">
                          <a:latin typeface="Arial MT"/>
                          <a:cs typeface="Arial MT"/>
                        </a:rPr>
                        <a:t> $7.5</a:t>
                      </a:r>
                      <a:endParaRPr sz="1800">
                        <a:latin typeface="Arial MT"/>
                        <a:cs typeface="Arial MT"/>
                      </a:endParaRPr>
                    </a:p>
                    <a:p>
                      <a:pPr>
                        <a:lnSpc>
                          <a:spcPct val="100000"/>
                        </a:lnSpc>
                        <a:spcBef>
                          <a:spcPts val="90"/>
                        </a:spcBef>
                      </a:pPr>
                      <a:endParaRPr sz="1800">
                        <a:latin typeface="Times New Roman"/>
                        <a:cs typeface="Times New Roman"/>
                      </a:endParaRPr>
                    </a:p>
                    <a:p>
                      <a:pPr marL="92075">
                        <a:lnSpc>
                          <a:spcPct val="100000"/>
                        </a:lnSpc>
                      </a:pPr>
                      <a:r>
                        <a:rPr sz="1800" dirty="0">
                          <a:latin typeface="Arial MT"/>
                          <a:cs typeface="Arial MT"/>
                        </a:rPr>
                        <a:t>Rate</a:t>
                      </a:r>
                      <a:r>
                        <a:rPr sz="1800" spc="-20" dirty="0">
                          <a:latin typeface="Arial MT"/>
                          <a:cs typeface="Arial MT"/>
                        </a:rPr>
                        <a:t> </a:t>
                      </a:r>
                      <a:r>
                        <a:rPr sz="1800" dirty="0">
                          <a:latin typeface="Arial MT"/>
                          <a:cs typeface="Arial MT"/>
                        </a:rPr>
                        <a:t>for</a:t>
                      </a:r>
                      <a:r>
                        <a:rPr sz="1800" spc="-10" dirty="0">
                          <a:latin typeface="Arial MT"/>
                          <a:cs typeface="Arial MT"/>
                        </a:rPr>
                        <a:t> </a:t>
                      </a:r>
                      <a:r>
                        <a:rPr sz="1800" dirty="0">
                          <a:latin typeface="Arial MT"/>
                          <a:cs typeface="Arial MT"/>
                        </a:rPr>
                        <a:t>DLH:</a:t>
                      </a:r>
                      <a:r>
                        <a:rPr sz="1800" spc="-10" dirty="0">
                          <a:latin typeface="Arial MT"/>
                          <a:cs typeface="Arial MT"/>
                        </a:rPr>
                        <a:t> $1,500,000+225,000+300,000</a:t>
                      </a:r>
                      <a:endParaRPr sz="1800">
                        <a:latin typeface="Arial MT"/>
                        <a:cs typeface="Arial MT"/>
                      </a:endParaRPr>
                    </a:p>
                    <a:p>
                      <a:pPr marL="92075">
                        <a:lnSpc>
                          <a:spcPct val="100000"/>
                        </a:lnSpc>
                      </a:pPr>
                      <a:r>
                        <a:rPr sz="1800" dirty="0">
                          <a:latin typeface="Arial MT"/>
                          <a:cs typeface="Arial MT"/>
                        </a:rPr>
                        <a:t>=$2,025,000</a:t>
                      </a:r>
                      <a:r>
                        <a:rPr sz="1800" spc="-15" dirty="0">
                          <a:latin typeface="Arial MT"/>
                          <a:cs typeface="Arial MT"/>
                        </a:rPr>
                        <a:t> </a:t>
                      </a:r>
                      <a:r>
                        <a:rPr sz="1800" dirty="0">
                          <a:latin typeface="Arial MT"/>
                          <a:cs typeface="Arial MT"/>
                        </a:rPr>
                        <a:t>/</a:t>
                      </a:r>
                      <a:r>
                        <a:rPr sz="1800" spc="-10" dirty="0">
                          <a:latin typeface="Arial MT"/>
                          <a:cs typeface="Arial MT"/>
                        </a:rPr>
                        <a:t> 25,000</a:t>
                      </a:r>
                      <a:endParaRPr sz="1800">
                        <a:latin typeface="Arial MT"/>
                        <a:cs typeface="Arial MT"/>
                      </a:endParaRPr>
                    </a:p>
                    <a:p>
                      <a:pPr marL="92075">
                        <a:lnSpc>
                          <a:spcPct val="100000"/>
                        </a:lnSpc>
                        <a:spcBef>
                          <a:spcPts val="5"/>
                        </a:spcBef>
                      </a:pPr>
                      <a:r>
                        <a:rPr sz="1800" dirty="0">
                          <a:latin typeface="Arial MT"/>
                          <a:cs typeface="Arial MT"/>
                        </a:rPr>
                        <a:t>= </a:t>
                      </a:r>
                      <a:r>
                        <a:rPr sz="1800" spc="-25" dirty="0">
                          <a:latin typeface="Arial MT"/>
                          <a:cs typeface="Arial MT"/>
                        </a:rPr>
                        <a:t>$81</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2"/>
                  </a:ext>
                </a:extLst>
              </a:tr>
              <a:tr h="913765">
                <a:tc>
                  <a:txBody>
                    <a:bodyPr/>
                    <a:lstStyle/>
                    <a:p>
                      <a:pPr marL="91440">
                        <a:lnSpc>
                          <a:spcPct val="100000"/>
                        </a:lnSpc>
                        <a:spcBef>
                          <a:spcPts val="310"/>
                        </a:spcBef>
                      </a:pPr>
                      <a:r>
                        <a:rPr sz="2000" spc="-25" dirty="0">
                          <a:latin typeface="Arial MT"/>
                          <a:cs typeface="Arial MT"/>
                        </a:rPr>
                        <a:t>6)</a:t>
                      </a:r>
                      <a:endParaRPr sz="2000">
                        <a:latin typeface="Arial MT"/>
                        <a:cs typeface="Arial MT"/>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310"/>
                        </a:spcBef>
                      </a:pPr>
                      <a:r>
                        <a:rPr sz="2000" dirty="0">
                          <a:latin typeface="Arial MT"/>
                          <a:cs typeface="Arial MT"/>
                        </a:rPr>
                        <a:t>Allocate</a:t>
                      </a:r>
                      <a:r>
                        <a:rPr sz="2000" spc="-25" dirty="0">
                          <a:latin typeface="Arial MT"/>
                          <a:cs typeface="Arial MT"/>
                        </a:rPr>
                        <a:t> </a:t>
                      </a:r>
                      <a:r>
                        <a:rPr sz="2000" dirty="0">
                          <a:latin typeface="Arial MT"/>
                          <a:cs typeface="Arial MT"/>
                        </a:rPr>
                        <a:t>indirect</a:t>
                      </a:r>
                      <a:r>
                        <a:rPr sz="2000" spc="-50" dirty="0">
                          <a:latin typeface="Arial MT"/>
                          <a:cs typeface="Arial MT"/>
                        </a:rPr>
                        <a:t> </a:t>
                      </a:r>
                      <a:r>
                        <a:rPr sz="2000" dirty="0">
                          <a:latin typeface="Arial MT"/>
                          <a:cs typeface="Arial MT"/>
                        </a:rPr>
                        <a:t>costs</a:t>
                      </a:r>
                      <a:r>
                        <a:rPr sz="2000" spc="-55" dirty="0">
                          <a:latin typeface="Arial MT"/>
                          <a:cs typeface="Arial MT"/>
                        </a:rPr>
                        <a:t> </a:t>
                      </a:r>
                      <a:r>
                        <a:rPr sz="2000" dirty="0">
                          <a:latin typeface="Arial MT"/>
                          <a:cs typeface="Arial MT"/>
                        </a:rPr>
                        <a:t>to</a:t>
                      </a:r>
                      <a:r>
                        <a:rPr sz="2000" spc="-25" dirty="0">
                          <a:latin typeface="Arial MT"/>
                          <a:cs typeface="Arial MT"/>
                        </a:rPr>
                        <a:t> </a:t>
                      </a:r>
                      <a:r>
                        <a:rPr sz="2000" dirty="0">
                          <a:latin typeface="Arial MT"/>
                          <a:cs typeface="Arial MT"/>
                        </a:rPr>
                        <a:t>cost</a:t>
                      </a:r>
                      <a:r>
                        <a:rPr sz="2000" spc="-45" dirty="0">
                          <a:latin typeface="Arial MT"/>
                          <a:cs typeface="Arial MT"/>
                        </a:rPr>
                        <a:t> </a:t>
                      </a:r>
                      <a:r>
                        <a:rPr sz="2000" spc="-10" dirty="0">
                          <a:latin typeface="Arial MT"/>
                          <a:cs typeface="Arial MT"/>
                        </a:rPr>
                        <a:t>object</a:t>
                      </a:r>
                      <a:endParaRPr sz="2000">
                        <a:latin typeface="Arial MT"/>
                        <a:cs typeface="Arial MT"/>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92075">
                        <a:lnSpc>
                          <a:spcPct val="100000"/>
                        </a:lnSpc>
                        <a:spcBef>
                          <a:spcPts val="320"/>
                        </a:spcBef>
                      </a:pPr>
                      <a:r>
                        <a:rPr sz="1800" dirty="0">
                          <a:latin typeface="Arial MT"/>
                          <a:cs typeface="Arial MT"/>
                        </a:rPr>
                        <a:t>DMH:</a:t>
                      </a:r>
                      <a:r>
                        <a:rPr sz="1800" spc="-10" dirty="0">
                          <a:latin typeface="Arial MT"/>
                          <a:cs typeface="Arial MT"/>
                        </a:rPr>
                        <a:t> </a:t>
                      </a:r>
                      <a:r>
                        <a:rPr sz="1800" dirty="0">
                          <a:latin typeface="Arial MT"/>
                          <a:cs typeface="Arial MT"/>
                        </a:rPr>
                        <a:t>500</a:t>
                      </a:r>
                      <a:r>
                        <a:rPr sz="1800" spc="-10" dirty="0">
                          <a:latin typeface="Arial MT"/>
                          <a:cs typeface="Arial MT"/>
                        </a:rPr>
                        <a:t> </a:t>
                      </a:r>
                      <a:r>
                        <a:rPr sz="1800" dirty="0">
                          <a:latin typeface="Arial MT"/>
                          <a:cs typeface="Arial MT"/>
                        </a:rPr>
                        <a:t>*</a:t>
                      </a:r>
                      <a:r>
                        <a:rPr sz="1800" spc="-10" dirty="0">
                          <a:latin typeface="Arial MT"/>
                          <a:cs typeface="Arial MT"/>
                        </a:rPr>
                        <a:t> </a:t>
                      </a:r>
                      <a:r>
                        <a:rPr lang="en-US" sz="1800" spc="-10" dirty="0">
                          <a:latin typeface="Arial MT"/>
                          <a:cs typeface="Arial MT"/>
                        </a:rPr>
                        <a:t>$</a:t>
                      </a:r>
                      <a:r>
                        <a:rPr sz="1800" dirty="0">
                          <a:latin typeface="Arial MT"/>
                          <a:cs typeface="Arial MT"/>
                        </a:rPr>
                        <a:t>7.5</a:t>
                      </a:r>
                      <a:r>
                        <a:rPr lang="en-US" sz="1800" dirty="0">
                          <a:latin typeface="Arial MT"/>
                          <a:cs typeface="Arial MT"/>
                        </a:rPr>
                        <a:t>0</a:t>
                      </a:r>
                      <a:r>
                        <a:rPr sz="1800" spc="-15" dirty="0">
                          <a:latin typeface="Arial MT"/>
                          <a:cs typeface="Arial MT"/>
                        </a:rPr>
                        <a:t> </a:t>
                      </a:r>
                      <a:r>
                        <a:rPr sz="1800" dirty="0">
                          <a:latin typeface="Arial MT"/>
                          <a:cs typeface="Arial MT"/>
                        </a:rPr>
                        <a:t>=</a:t>
                      </a:r>
                      <a:r>
                        <a:rPr sz="1800" spc="-20" dirty="0">
                          <a:latin typeface="Arial MT"/>
                          <a:cs typeface="Arial MT"/>
                        </a:rPr>
                        <a:t> </a:t>
                      </a:r>
                      <a:r>
                        <a:rPr sz="1800" spc="-10" dirty="0">
                          <a:latin typeface="Arial MT"/>
                          <a:cs typeface="Arial MT"/>
                        </a:rPr>
                        <a:t>$3,750</a:t>
                      </a:r>
                      <a:endParaRPr sz="1800" dirty="0">
                        <a:latin typeface="Arial MT"/>
                        <a:cs typeface="Arial MT"/>
                      </a:endParaRPr>
                    </a:p>
                    <a:p>
                      <a:pPr marL="92075" marR="2016760">
                        <a:lnSpc>
                          <a:spcPct val="100000"/>
                        </a:lnSpc>
                      </a:pPr>
                      <a:r>
                        <a:rPr sz="1800" dirty="0">
                          <a:latin typeface="Arial MT"/>
                          <a:cs typeface="Arial MT"/>
                        </a:rPr>
                        <a:t>DLH:</a:t>
                      </a:r>
                      <a:r>
                        <a:rPr sz="1800" spc="-10" dirty="0">
                          <a:latin typeface="Arial MT"/>
                          <a:cs typeface="Arial MT"/>
                        </a:rPr>
                        <a:t> </a:t>
                      </a:r>
                      <a:r>
                        <a:rPr sz="1800" dirty="0">
                          <a:latin typeface="Arial MT"/>
                          <a:cs typeface="Arial MT"/>
                        </a:rPr>
                        <a:t>320 </a:t>
                      </a:r>
                      <a:r>
                        <a:rPr sz="1800">
                          <a:latin typeface="Arial MT"/>
                          <a:cs typeface="Arial MT"/>
                        </a:rPr>
                        <a:t>*</a:t>
                      </a:r>
                      <a:r>
                        <a:rPr sz="1800" spc="-5">
                          <a:latin typeface="Arial MT"/>
                          <a:cs typeface="Arial MT"/>
                        </a:rPr>
                        <a:t> </a:t>
                      </a:r>
                      <a:r>
                        <a:rPr lang="en-US" sz="1800" spc="-5">
                          <a:latin typeface="Arial MT"/>
                          <a:cs typeface="Arial MT"/>
                        </a:rPr>
                        <a:t>$</a:t>
                      </a:r>
                      <a:r>
                        <a:rPr sz="1800">
                          <a:latin typeface="Arial MT"/>
                          <a:cs typeface="Arial MT"/>
                        </a:rPr>
                        <a:t>81</a:t>
                      </a:r>
                      <a:r>
                        <a:rPr sz="1800" spc="-5">
                          <a:latin typeface="Arial MT"/>
                          <a:cs typeface="Arial MT"/>
                        </a:rPr>
                        <a:t> </a:t>
                      </a:r>
                      <a:r>
                        <a:rPr sz="1800" dirty="0">
                          <a:latin typeface="Arial MT"/>
                          <a:cs typeface="Arial MT"/>
                        </a:rPr>
                        <a:t>= </a:t>
                      </a:r>
                      <a:r>
                        <a:rPr sz="1800" spc="-10" dirty="0">
                          <a:latin typeface="Arial MT"/>
                          <a:cs typeface="Arial MT"/>
                        </a:rPr>
                        <a:t>$25,920 </a:t>
                      </a:r>
                      <a:r>
                        <a:rPr sz="1800" spc="-35" dirty="0">
                          <a:latin typeface="Arial MT"/>
                          <a:cs typeface="Arial MT"/>
                        </a:rPr>
                        <a:t>TOTAL</a:t>
                      </a:r>
                      <a:r>
                        <a:rPr sz="1800" spc="-100" dirty="0">
                          <a:latin typeface="Arial MT"/>
                          <a:cs typeface="Arial MT"/>
                        </a:rPr>
                        <a:t> </a:t>
                      </a:r>
                      <a:r>
                        <a:rPr sz="1800" dirty="0">
                          <a:latin typeface="Arial MT"/>
                          <a:cs typeface="Arial MT"/>
                        </a:rPr>
                        <a:t>INDIRECT</a:t>
                      </a:r>
                      <a:r>
                        <a:rPr sz="1800" spc="-20" dirty="0">
                          <a:latin typeface="Arial MT"/>
                          <a:cs typeface="Arial MT"/>
                        </a:rPr>
                        <a:t> </a:t>
                      </a:r>
                      <a:r>
                        <a:rPr sz="1800" dirty="0">
                          <a:latin typeface="Arial MT"/>
                          <a:cs typeface="Arial MT"/>
                        </a:rPr>
                        <a:t>= $</a:t>
                      </a:r>
                      <a:r>
                        <a:rPr sz="1800" spc="-5" dirty="0">
                          <a:latin typeface="Arial MT"/>
                          <a:cs typeface="Arial MT"/>
                        </a:rPr>
                        <a:t> </a:t>
                      </a:r>
                      <a:r>
                        <a:rPr sz="1800" spc="-10" dirty="0">
                          <a:latin typeface="Arial MT"/>
                          <a:cs typeface="Arial MT"/>
                        </a:rPr>
                        <a:t>29,670</a:t>
                      </a:r>
                      <a:endParaRPr sz="1800" dirty="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3"/>
                  </a:ext>
                </a:extLst>
              </a:tr>
              <a:tr h="396240">
                <a:tc>
                  <a:txBody>
                    <a:bodyPr/>
                    <a:lstStyle/>
                    <a:p>
                      <a:pPr marL="91440">
                        <a:lnSpc>
                          <a:spcPct val="100000"/>
                        </a:lnSpc>
                        <a:spcBef>
                          <a:spcPts val="310"/>
                        </a:spcBef>
                      </a:pPr>
                      <a:r>
                        <a:rPr sz="2000" spc="-25" dirty="0">
                          <a:latin typeface="Arial MT"/>
                          <a:cs typeface="Arial MT"/>
                        </a:rPr>
                        <a:t>7)</a:t>
                      </a:r>
                      <a:endParaRPr sz="2000">
                        <a:latin typeface="Arial MT"/>
                        <a:cs typeface="Arial MT"/>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1440">
                        <a:lnSpc>
                          <a:spcPct val="100000"/>
                        </a:lnSpc>
                        <a:spcBef>
                          <a:spcPts val="310"/>
                        </a:spcBef>
                      </a:pPr>
                      <a:r>
                        <a:rPr sz="2000" dirty="0">
                          <a:latin typeface="Arial MT"/>
                          <a:cs typeface="Arial MT"/>
                        </a:rPr>
                        <a:t>Compute</a:t>
                      </a:r>
                      <a:r>
                        <a:rPr sz="2000" spc="-50" dirty="0">
                          <a:latin typeface="Arial MT"/>
                          <a:cs typeface="Arial MT"/>
                        </a:rPr>
                        <a:t> </a:t>
                      </a:r>
                      <a:r>
                        <a:rPr sz="2000" dirty="0">
                          <a:latin typeface="Arial MT"/>
                          <a:cs typeface="Arial MT"/>
                        </a:rPr>
                        <a:t>total</a:t>
                      </a:r>
                      <a:r>
                        <a:rPr sz="2000" spc="-30" dirty="0">
                          <a:latin typeface="Arial MT"/>
                          <a:cs typeface="Arial MT"/>
                        </a:rPr>
                        <a:t> </a:t>
                      </a:r>
                      <a:r>
                        <a:rPr sz="2000" dirty="0">
                          <a:latin typeface="Arial MT"/>
                          <a:cs typeface="Arial MT"/>
                        </a:rPr>
                        <a:t>costs</a:t>
                      </a:r>
                      <a:r>
                        <a:rPr sz="2000" spc="-40" dirty="0">
                          <a:latin typeface="Arial MT"/>
                          <a:cs typeface="Arial MT"/>
                        </a:rPr>
                        <a:t> </a:t>
                      </a:r>
                      <a:r>
                        <a:rPr sz="2000" dirty="0">
                          <a:latin typeface="Arial MT"/>
                          <a:cs typeface="Arial MT"/>
                        </a:rPr>
                        <a:t>for</a:t>
                      </a:r>
                      <a:r>
                        <a:rPr sz="2000" spc="-45" dirty="0">
                          <a:latin typeface="Arial MT"/>
                          <a:cs typeface="Arial MT"/>
                        </a:rPr>
                        <a:t> </a:t>
                      </a:r>
                      <a:r>
                        <a:rPr sz="2000" dirty="0">
                          <a:latin typeface="Arial MT"/>
                          <a:cs typeface="Arial MT"/>
                        </a:rPr>
                        <a:t>the</a:t>
                      </a:r>
                      <a:r>
                        <a:rPr sz="2000" spc="-35" dirty="0">
                          <a:latin typeface="Arial MT"/>
                          <a:cs typeface="Arial MT"/>
                        </a:rPr>
                        <a:t> </a:t>
                      </a:r>
                      <a:r>
                        <a:rPr sz="2000" dirty="0">
                          <a:latin typeface="Arial MT"/>
                          <a:cs typeface="Arial MT"/>
                        </a:rPr>
                        <a:t>cost</a:t>
                      </a:r>
                      <a:r>
                        <a:rPr sz="2000" spc="-45" dirty="0">
                          <a:latin typeface="Arial MT"/>
                          <a:cs typeface="Arial MT"/>
                        </a:rPr>
                        <a:t> </a:t>
                      </a:r>
                      <a:r>
                        <a:rPr sz="2000" spc="-10" dirty="0">
                          <a:latin typeface="Arial MT"/>
                          <a:cs typeface="Arial MT"/>
                        </a:rPr>
                        <a:t>object</a:t>
                      </a:r>
                      <a:endParaRPr sz="2000">
                        <a:latin typeface="Arial MT"/>
                        <a:cs typeface="Arial MT"/>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2075">
                        <a:lnSpc>
                          <a:spcPct val="100000"/>
                        </a:lnSpc>
                        <a:spcBef>
                          <a:spcPts val="320"/>
                        </a:spcBef>
                      </a:pPr>
                      <a:r>
                        <a:rPr sz="1800" dirty="0">
                          <a:latin typeface="Arial MT"/>
                          <a:cs typeface="Arial MT"/>
                        </a:rPr>
                        <a:t>$270,000 +</a:t>
                      </a:r>
                      <a:r>
                        <a:rPr sz="1800" spc="-15" dirty="0">
                          <a:latin typeface="Arial MT"/>
                          <a:cs typeface="Arial MT"/>
                        </a:rPr>
                        <a:t> </a:t>
                      </a:r>
                      <a:r>
                        <a:rPr sz="1800" dirty="0">
                          <a:latin typeface="Arial MT"/>
                          <a:cs typeface="Arial MT"/>
                        </a:rPr>
                        <a:t>$29,670</a:t>
                      </a:r>
                      <a:r>
                        <a:rPr sz="1800" spc="-10" dirty="0">
                          <a:latin typeface="Arial MT"/>
                          <a:cs typeface="Arial MT"/>
                        </a:rPr>
                        <a:t> </a:t>
                      </a:r>
                      <a:r>
                        <a:rPr sz="1800" dirty="0">
                          <a:latin typeface="Arial MT"/>
                          <a:cs typeface="Arial MT"/>
                        </a:rPr>
                        <a:t>=</a:t>
                      </a:r>
                      <a:r>
                        <a:rPr sz="1800" spc="-10" dirty="0">
                          <a:latin typeface="Arial MT"/>
                          <a:cs typeface="Arial MT"/>
                        </a:rPr>
                        <a:t> </a:t>
                      </a:r>
                      <a:r>
                        <a:rPr sz="1800" b="1" u="sng" spc="-10" dirty="0">
                          <a:uFill>
                            <a:solidFill>
                              <a:srgbClr val="000000"/>
                            </a:solidFill>
                          </a:uFill>
                          <a:latin typeface="Arial"/>
                          <a:cs typeface="Arial"/>
                        </a:rPr>
                        <a:t>$299,670</a:t>
                      </a:r>
                      <a:endParaRPr sz="1800" dirty="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59C59-928C-9620-A466-AE432B6C92F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AC5FC4B-7F1D-1BC6-A22A-E7583A2F6382}"/>
              </a:ext>
            </a:extLst>
          </p:cNvPr>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8</a:t>
            </a:fld>
            <a:endParaRPr spc="-25" dirty="0"/>
          </a:p>
        </p:txBody>
      </p:sp>
      <p:sp>
        <p:nvSpPr>
          <p:cNvPr id="5" name="Subtitle 4">
            <a:extLst>
              <a:ext uri="{FF2B5EF4-FFF2-40B4-BE49-F238E27FC236}">
                <a16:creationId xmlns:a16="http://schemas.microsoft.com/office/drawing/2014/main" id="{5E9B0202-9208-A89F-9FB4-B33795171F43}"/>
              </a:ext>
            </a:extLst>
          </p:cNvPr>
          <p:cNvSpPr>
            <a:spLocks noGrp="1"/>
          </p:cNvSpPr>
          <p:nvPr>
            <p:ph type="subTitle" idx="1"/>
          </p:nvPr>
        </p:nvSpPr>
        <p:spPr/>
        <p:txBody>
          <a:bodyPr/>
          <a:lstStyle/>
          <a:p>
            <a:r>
              <a:rPr lang="en-CA" dirty="0"/>
              <a:t>Yacht International Inc. (YII) Part 2</a:t>
            </a:r>
          </a:p>
        </p:txBody>
      </p:sp>
      <p:sp>
        <p:nvSpPr>
          <p:cNvPr id="6" name="TextBox 5">
            <a:extLst>
              <a:ext uri="{FF2B5EF4-FFF2-40B4-BE49-F238E27FC236}">
                <a16:creationId xmlns:a16="http://schemas.microsoft.com/office/drawing/2014/main" id="{87B3A9E1-C848-1FFD-1A15-36B21B42D89E}"/>
              </a:ext>
            </a:extLst>
          </p:cNvPr>
          <p:cNvSpPr txBox="1"/>
          <p:nvPr/>
        </p:nvSpPr>
        <p:spPr>
          <a:xfrm>
            <a:off x="911424" y="908720"/>
            <a:ext cx="10153128" cy="3785652"/>
          </a:xfrm>
          <a:prstGeom prst="rect">
            <a:avLst/>
          </a:prstGeom>
          <a:noFill/>
        </p:spPr>
        <p:txBody>
          <a:bodyPr wrap="square">
            <a:spAutoFit/>
          </a:bodyPr>
          <a:lstStyle/>
          <a:p>
            <a:pPr marL="12700" marR="5080">
              <a:lnSpc>
                <a:spcPct val="100000"/>
              </a:lnSpc>
              <a:spcBef>
                <a:spcPts val="105"/>
              </a:spcBef>
            </a:pPr>
            <a:r>
              <a:rPr lang="en-CA" sz="2000" dirty="0">
                <a:latin typeface="Arial MT"/>
              </a:rPr>
              <a:t>It is now December 31st and YII’s controller provides you with the following information with regards to the production costs for the past year.</a:t>
            </a:r>
          </a:p>
          <a:p>
            <a:pPr marL="12700">
              <a:lnSpc>
                <a:spcPct val="100000"/>
              </a:lnSpc>
              <a:spcBef>
                <a:spcPts val="1080"/>
              </a:spcBef>
            </a:pPr>
            <a:r>
              <a:rPr lang="en-CA" sz="2000" dirty="0">
                <a:latin typeface="Arial MT"/>
              </a:rPr>
              <a:t>The actual costs incurred during the year with relation to the yacht production</a:t>
            </a:r>
          </a:p>
          <a:p>
            <a:pPr marL="641350" indent="-171450">
              <a:lnSpc>
                <a:spcPct val="100000"/>
              </a:lnSpc>
              <a:spcBef>
                <a:spcPts val="1080"/>
              </a:spcBef>
              <a:buSzPct val="80000"/>
              <a:buChar char="•"/>
              <a:tabLst>
                <a:tab pos="641350" algn="l"/>
              </a:tabLst>
            </a:pPr>
            <a:r>
              <a:rPr lang="en-CA" sz="2000" dirty="0">
                <a:latin typeface="Arial MT"/>
              </a:rPr>
              <a:t>Management Salary: $1,525,000 per year</a:t>
            </a:r>
          </a:p>
          <a:p>
            <a:pPr marL="641350" indent="-171450">
              <a:lnSpc>
                <a:spcPct val="100000"/>
              </a:lnSpc>
              <a:spcBef>
                <a:spcPts val="480"/>
              </a:spcBef>
              <a:buSzPct val="80000"/>
              <a:buChar char="•"/>
              <a:tabLst>
                <a:tab pos="641350" algn="l"/>
              </a:tabLst>
            </a:pPr>
            <a:r>
              <a:rPr lang="en-CA" sz="2000" dirty="0">
                <a:latin typeface="Arial MT"/>
              </a:rPr>
              <a:t>Equipment Depreciation: $375,000 per year</a:t>
            </a:r>
          </a:p>
          <a:p>
            <a:pPr marL="641350" indent="-171450">
              <a:lnSpc>
                <a:spcPct val="100000"/>
              </a:lnSpc>
              <a:spcBef>
                <a:spcPts val="480"/>
              </a:spcBef>
              <a:buSzPct val="80000"/>
              <a:buChar char="•"/>
              <a:tabLst>
                <a:tab pos="641350" algn="l"/>
              </a:tabLst>
            </a:pPr>
            <a:r>
              <a:rPr lang="en-CA" sz="2000" dirty="0">
                <a:latin typeface="Arial MT"/>
              </a:rPr>
              <a:t>Plant Depreciation: $225,000 per year</a:t>
            </a:r>
          </a:p>
          <a:p>
            <a:pPr marL="641350" indent="-171450">
              <a:lnSpc>
                <a:spcPct val="100000"/>
              </a:lnSpc>
              <a:spcBef>
                <a:spcPts val="480"/>
              </a:spcBef>
              <a:buSzPct val="80000"/>
              <a:buChar char="•"/>
              <a:tabLst>
                <a:tab pos="641350" algn="l"/>
              </a:tabLst>
            </a:pPr>
            <a:r>
              <a:rPr lang="en-CA" sz="2000" dirty="0">
                <a:latin typeface="Arial MT"/>
              </a:rPr>
              <a:t>Utilities: $360,000 per year</a:t>
            </a:r>
          </a:p>
          <a:p>
            <a:pPr marL="12700" marR="464820">
              <a:lnSpc>
                <a:spcPct val="100000"/>
              </a:lnSpc>
              <a:spcBef>
                <a:spcPts val="1080"/>
              </a:spcBef>
            </a:pPr>
            <a:r>
              <a:rPr lang="en-CA" sz="2000" dirty="0">
                <a:latin typeface="Arial MT"/>
              </a:rPr>
              <a:t>In addition, the controller indicates that the production of yachts during the year required 27,200 labour hours and 47,000 machine hours. At the end of the period, the overhead costs applied between the various accounts are as follows:</a:t>
            </a:r>
          </a:p>
        </p:txBody>
      </p:sp>
      <p:graphicFrame>
        <p:nvGraphicFramePr>
          <p:cNvPr id="7" name="object 4">
            <a:extLst>
              <a:ext uri="{FF2B5EF4-FFF2-40B4-BE49-F238E27FC236}">
                <a16:creationId xmlns:a16="http://schemas.microsoft.com/office/drawing/2014/main" id="{4984104C-A508-361C-80A9-103CD0B5AC2D}"/>
              </a:ext>
            </a:extLst>
          </p:cNvPr>
          <p:cNvGraphicFramePr>
            <a:graphicFrameLocks noGrp="1"/>
          </p:cNvGraphicFramePr>
          <p:nvPr>
            <p:extLst>
              <p:ext uri="{D42A27DB-BD31-4B8C-83A1-F6EECF244321}">
                <p14:modId xmlns:p14="http://schemas.microsoft.com/office/powerpoint/2010/main" val="2920376877"/>
              </p:ext>
            </p:extLst>
          </p:nvPr>
        </p:nvGraphicFramePr>
        <p:xfrm>
          <a:off x="3503712" y="4869160"/>
          <a:ext cx="4733290" cy="1477010"/>
        </p:xfrm>
        <a:graphic>
          <a:graphicData uri="http://schemas.openxmlformats.org/drawingml/2006/table">
            <a:tbl>
              <a:tblPr firstRow="1" bandRow="1">
                <a:tableStyleId>{2D5ABB26-0587-4C30-8999-92F81FD0307C}</a:tableStyleId>
              </a:tblPr>
              <a:tblGrid>
                <a:gridCol w="1846580">
                  <a:extLst>
                    <a:ext uri="{9D8B030D-6E8A-4147-A177-3AD203B41FA5}">
                      <a16:colId xmlns:a16="http://schemas.microsoft.com/office/drawing/2014/main" val="20000"/>
                    </a:ext>
                  </a:extLst>
                </a:gridCol>
                <a:gridCol w="2886710">
                  <a:extLst>
                    <a:ext uri="{9D8B030D-6E8A-4147-A177-3AD203B41FA5}">
                      <a16:colId xmlns:a16="http://schemas.microsoft.com/office/drawing/2014/main" val="20001"/>
                    </a:ext>
                  </a:extLst>
                </a:gridCol>
              </a:tblGrid>
              <a:tr h="365125">
                <a:tc>
                  <a:txBody>
                    <a:bodyPr/>
                    <a:lstStyle/>
                    <a:p>
                      <a:pPr marL="91440">
                        <a:lnSpc>
                          <a:spcPct val="100000"/>
                        </a:lnSpc>
                        <a:spcBef>
                          <a:spcPts val="320"/>
                        </a:spcBef>
                      </a:pPr>
                      <a:r>
                        <a:rPr sz="1800" spc="-10" dirty="0">
                          <a:solidFill>
                            <a:srgbClr val="FFFFFF"/>
                          </a:solidFill>
                          <a:latin typeface="Arial MT"/>
                          <a:cs typeface="Arial MT"/>
                        </a:rPr>
                        <a:t>Account</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marL="92075">
                        <a:lnSpc>
                          <a:spcPct val="100000"/>
                        </a:lnSpc>
                        <a:spcBef>
                          <a:spcPts val="320"/>
                        </a:spcBef>
                      </a:pPr>
                      <a:r>
                        <a:rPr sz="1800" dirty="0">
                          <a:solidFill>
                            <a:srgbClr val="FFFFFF"/>
                          </a:solidFill>
                          <a:latin typeface="Arial MT"/>
                          <a:cs typeface="Arial MT"/>
                        </a:rPr>
                        <a:t>$</a:t>
                      </a:r>
                      <a:r>
                        <a:rPr sz="1800" spc="15" dirty="0">
                          <a:solidFill>
                            <a:srgbClr val="FFFFFF"/>
                          </a:solidFill>
                          <a:latin typeface="Arial MT"/>
                          <a:cs typeface="Arial MT"/>
                        </a:rPr>
                        <a:t> </a:t>
                      </a:r>
                      <a:r>
                        <a:rPr sz="1800" spc="-10" dirty="0">
                          <a:solidFill>
                            <a:srgbClr val="FFFFFF"/>
                          </a:solidFill>
                          <a:latin typeface="Arial MT"/>
                          <a:cs typeface="Arial MT"/>
                        </a:rPr>
                        <a:t>Overhead</a:t>
                      </a:r>
                      <a:r>
                        <a:rPr sz="1800" spc="-65" dirty="0">
                          <a:solidFill>
                            <a:srgbClr val="FFFFFF"/>
                          </a:solidFill>
                          <a:latin typeface="Arial MT"/>
                          <a:cs typeface="Arial MT"/>
                        </a:rPr>
                        <a:t> </a:t>
                      </a:r>
                      <a:r>
                        <a:rPr sz="1800" spc="-10" dirty="0">
                          <a:solidFill>
                            <a:srgbClr val="FFFFFF"/>
                          </a:solidFill>
                          <a:latin typeface="Arial MT"/>
                          <a:cs typeface="Arial MT"/>
                        </a:rPr>
                        <a:t>Allocated</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extLst>
                  <a:ext uri="{0D108BD9-81ED-4DB2-BD59-A6C34878D82A}">
                    <a16:rowId xmlns:a16="http://schemas.microsoft.com/office/drawing/2014/main" val="10000"/>
                  </a:ext>
                </a:extLst>
              </a:tr>
              <a:tr h="370840">
                <a:tc>
                  <a:txBody>
                    <a:bodyPr/>
                    <a:lstStyle/>
                    <a:p>
                      <a:pPr marL="91440">
                        <a:lnSpc>
                          <a:spcPct val="100000"/>
                        </a:lnSpc>
                        <a:spcBef>
                          <a:spcPts val="320"/>
                        </a:spcBef>
                      </a:pPr>
                      <a:r>
                        <a:rPr sz="1800" spc="-25" dirty="0">
                          <a:latin typeface="Arial MT"/>
                          <a:cs typeface="Arial MT"/>
                        </a:rPr>
                        <a:t>WIP</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marL="92075">
                        <a:lnSpc>
                          <a:spcPct val="100000"/>
                        </a:lnSpc>
                        <a:spcBef>
                          <a:spcPts val="320"/>
                        </a:spcBef>
                      </a:pPr>
                      <a:r>
                        <a:rPr sz="1800" spc="-10" dirty="0">
                          <a:latin typeface="Arial MT"/>
                          <a:cs typeface="Arial MT"/>
                        </a:rPr>
                        <a:t>$333,150</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1"/>
                  </a:ext>
                </a:extLst>
              </a:tr>
              <a:tr h="370205">
                <a:tc>
                  <a:txBody>
                    <a:bodyPr/>
                    <a:lstStyle/>
                    <a:p>
                      <a:pPr marL="91440">
                        <a:lnSpc>
                          <a:spcPct val="100000"/>
                        </a:lnSpc>
                        <a:spcBef>
                          <a:spcPts val="320"/>
                        </a:spcBef>
                      </a:pPr>
                      <a:r>
                        <a:rPr sz="1800" dirty="0">
                          <a:latin typeface="Arial MT"/>
                          <a:cs typeface="Arial MT"/>
                        </a:rPr>
                        <a:t>Finished</a:t>
                      </a:r>
                      <a:r>
                        <a:rPr sz="1800" spc="-50" dirty="0">
                          <a:latin typeface="Arial MT"/>
                          <a:cs typeface="Arial MT"/>
                        </a:rPr>
                        <a:t> </a:t>
                      </a:r>
                      <a:r>
                        <a:rPr sz="1800" spc="-10" dirty="0">
                          <a:latin typeface="Arial MT"/>
                          <a:cs typeface="Arial MT"/>
                        </a:rPr>
                        <a:t>Goods</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2075">
                        <a:lnSpc>
                          <a:spcPct val="100000"/>
                        </a:lnSpc>
                        <a:spcBef>
                          <a:spcPts val="320"/>
                        </a:spcBef>
                      </a:pPr>
                      <a:r>
                        <a:rPr sz="1800" spc="-10" dirty="0">
                          <a:latin typeface="Arial MT"/>
                          <a:cs typeface="Arial MT"/>
                        </a:rPr>
                        <a:t>$65,300</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2"/>
                  </a:ext>
                </a:extLst>
              </a:tr>
              <a:tr h="370840">
                <a:tc>
                  <a:txBody>
                    <a:bodyPr/>
                    <a:lstStyle/>
                    <a:p>
                      <a:pPr marL="91440">
                        <a:lnSpc>
                          <a:spcPct val="100000"/>
                        </a:lnSpc>
                        <a:spcBef>
                          <a:spcPts val="320"/>
                        </a:spcBef>
                      </a:pPr>
                      <a:r>
                        <a:rPr sz="1800" spc="-20" dirty="0">
                          <a:latin typeface="Arial MT"/>
                          <a:cs typeface="Arial MT"/>
                        </a:rPr>
                        <a:t>COGS</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92075">
                        <a:lnSpc>
                          <a:spcPct val="100000"/>
                        </a:lnSpc>
                        <a:spcBef>
                          <a:spcPts val="320"/>
                        </a:spcBef>
                      </a:pPr>
                      <a:r>
                        <a:rPr sz="1800" spc="-10" dirty="0">
                          <a:latin typeface="Arial MT"/>
                          <a:cs typeface="Arial MT"/>
                        </a:rPr>
                        <a:t>$2,157,250</a:t>
                      </a:r>
                      <a:endParaRPr sz="1800" dirty="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15352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30123" y="1510665"/>
            <a:ext cx="10717530" cy="2004060"/>
          </a:xfrm>
          <a:prstGeom prst="rect">
            <a:avLst/>
          </a:prstGeom>
        </p:spPr>
        <p:txBody>
          <a:bodyPr vert="horz" wrap="square" lIns="0" tIns="12700" rIns="0" bIns="0" rtlCol="0">
            <a:spAutoFit/>
          </a:bodyPr>
          <a:lstStyle/>
          <a:p>
            <a:pPr marL="469900" marR="93980" indent="-457200">
              <a:lnSpc>
                <a:spcPct val="100000"/>
              </a:lnSpc>
              <a:spcBef>
                <a:spcPts val="100"/>
              </a:spcBef>
              <a:buSzPct val="79166"/>
              <a:buAutoNum type="arabicPeriod"/>
              <a:tabLst>
                <a:tab pos="469900" algn="l"/>
              </a:tabLst>
            </a:pPr>
            <a:r>
              <a:rPr sz="2400" dirty="0">
                <a:latin typeface="Arial MT"/>
                <a:cs typeface="Arial MT"/>
              </a:rPr>
              <a:t>Determine</a:t>
            </a:r>
            <a:r>
              <a:rPr sz="2400" spc="-65" dirty="0">
                <a:latin typeface="Arial MT"/>
                <a:cs typeface="Arial MT"/>
              </a:rPr>
              <a:t> </a:t>
            </a:r>
            <a:r>
              <a:rPr sz="2400" dirty="0">
                <a:latin typeface="Arial MT"/>
                <a:cs typeface="Arial MT"/>
              </a:rPr>
              <a:t>the</a:t>
            </a:r>
            <a:r>
              <a:rPr sz="2400" spc="-55" dirty="0">
                <a:latin typeface="Arial MT"/>
                <a:cs typeface="Arial MT"/>
              </a:rPr>
              <a:t> </a:t>
            </a:r>
            <a:r>
              <a:rPr sz="2400" dirty="0">
                <a:latin typeface="Arial MT"/>
                <a:cs typeface="Arial MT"/>
              </a:rPr>
              <a:t>amount</a:t>
            </a:r>
            <a:r>
              <a:rPr sz="2400" spc="-60" dirty="0">
                <a:latin typeface="Arial MT"/>
                <a:cs typeface="Arial MT"/>
              </a:rPr>
              <a:t> </a:t>
            </a:r>
            <a:r>
              <a:rPr sz="2400" dirty="0">
                <a:latin typeface="Arial MT"/>
                <a:cs typeface="Arial MT"/>
              </a:rPr>
              <a:t>of</a:t>
            </a:r>
            <a:r>
              <a:rPr sz="2400" spc="-60" dirty="0">
                <a:latin typeface="Arial MT"/>
                <a:cs typeface="Arial MT"/>
              </a:rPr>
              <a:t> </a:t>
            </a:r>
            <a:r>
              <a:rPr sz="2400" dirty="0">
                <a:latin typeface="Arial MT"/>
                <a:cs typeface="Arial MT"/>
              </a:rPr>
              <a:t>Over</a:t>
            </a:r>
            <a:r>
              <a:rPr sz="2400" spc="-55" dirty="0">
                <a:latin typeface="Arial MT"/>
                <a:cs typeface="Arial MT"/>
              </a:rPr>
              <a:t> </a:t>
            </a:r>
            <a:r>
              <a:rPr sz="2400" dirty="0">
                <a:latin typeface="Arial MT"/>
                <a:cs typeface="Arial MT"/>
              </a:rPr>
              <a:t>or</a:t>
            </a:r>
            <a:r>
              <a:rPr sz="2400" spc="-60" dirty="0">
                <a:latin typeface="Arial MT"/>
                <a:cs typeface="Arial MT"/>
              </a:rPr>
              <a:t> </a:t>
            </a:r>
            <a:r>
              <a:rPr sz="2400" spc="-10" dirty="0">
                <a:latin typeface="Arial MT"/>
                <a:cs typeface="Arial MT"/>
              </a:rPr>
              <a:t>Under</a:t>
            </a:r>
            <a:r>
              <a:rPr sz="2400" spc="-155" dirty="0">
                <a:latin typeface="Arial MT"/>
                <a:cs typeface="Arial MT"/>
              </a:rPr>
              <a:t> </a:t>
            </a:r>
            <a:r>
              <a:rPr sz="2400" dirty="0">
                <a:latin typeface="Arial MT"/>
                <a:cs typeface="Arial MT"/>
              </a:rPr>
              <a:t>Allocated</a:t>
            </a:r>
            <a:r>
              <a:rPr sz="2400" spc="-35" dirty="0">
                <a:latin typeface="Arial MT"/>
                <a:cs typeface="Arial MT"/>
              </a:rPr>
              <a:t> </a:t>
            </a:r>
            <a:r>
              <a:rPr sz="2400" dirty="0">
                <a:latin typeface="Arial MT"/>
                <a:cs typeface="Arial MT"/>
              </a:rPr>
              <a:t>Overhead</a:t>
            </a:r>
            <a:r>
              <a:rPr sz="2400" spc="-45" dirty="0">
                <a:latin typeface="Arial MT"/>
                <a:cs typeface="Arial MT"/>
              </a:rPr>
              <a:t> </a:t>
            </a:r>
            <a:r>
              <a:rPr sz="2400" spc="-10" dirty="0">
                <a:latin typeface="Arial MT"/>
                <a:cs typeface="Arial MT"/>
              </a:rPr>
              <a:t>Manufacturing </a:t>
            </a:r>
            <a:r>
              <a:rPr sz="2400" dirty="0">
                <a:latin typeface="Arial MT"/>
                <a:cs typeface="Arial MT"/>
              </a:rPr>
              <a:t>overhead</a:t>
            </a:r>
            <a:r>
              <a:rPr sz="2400" spc="-30" dirty="0">
                <a:latin typeface="Arial MT"/>
                <a:cs typeface="Arial MT"/>
              </a:rPr>
              <a:t> </a:t>
            </a:r>
            <a:r>
              <a:rPr sz="2400" dirty="0">
                <a:latin typeface="Arial MT"/>
                <a:cs typeface="Arial MT"/>
              </a:rPr>
              <a:t>for</a:t>
            </a:r>
            <a:r>
              <a:rPr sz="2400" spc="-70" dirty="0">
                <a:latin typeface="Arial MT"/>
                <a:cs typeface="Arial MT"/>
              </a:rPr>
              <a:t> </a:t>
            </a:r>
            <a:r>
              <a:rPr sz="2400" dirty="0">
                <a:latin typeface="Arial MT"/>
                <a:cs typeface="Arial MT"/>
              </a:rPr>
              <a:t>the</a:t>
            </a:r>
            <a:r>
              <a:rPr sz="2400" spc="-45" dirty="0">
                <a:latin typeface="Arial MT"/>
                <a:cs typeface="Arial MT"/>
              </a:rPr>
              <a:t> </a:t>
            </a:r>
            <a:r>
              <a:rPr sz="2400" spc="-20" dirty="0">
                <a:latin typeface="Arial MT"/>
                <a:cs typeface="Arial MT"/>
              </a:rPr>
              <a:t>year.</a:t>
            </a:r>
            <a:endParaRPr sz="2400">
              <a:latin typeface="Arial MT"/>
              <a:cs typeface="Arial MT"/>
            </a:endParaRPr>
          </a:p>
          <a:p>
            <a:pPr marL="469900" marR="5080" indent="-457200">
              <a:lnSpc>
                <a:spcPct val="100000"/>
              </a:lnSpc>
              <a:spcBef>
                <a:spcPts val="1175"/>
              </a:spcBef>
              <a:buSzPct val="79166"/>
              <a:buAutoNum type="arabicPeriod"/>
              <a:tabLst>
                <a:tab pos="469900" algn="l"/>
              </a:tabLst>
            </a:pPr>
            <a:r>
              <a:rPr sz="2400" dirty="0">
                <a:solidFill>
                  <a:srgbClr val="252525"/>
                </a:solidFill>
                <a:latin typeface="Arial MT"/>
                <a:cs typeface="Arial MT"/>
              </a:rPr>
              <a:t>Indicate</a:t>
            </a:r>
            <a:r>
              <a:rPr sz="2400" spc="-65" dirty="0">
                <a:solidFill>
                  <a:srgbClr val="252525"/>
                </a:solidFill>
                <a:latin typeface="Arial MT"/>
                <a:cs typeface="Arial MT"/>
              </a:rPr>
              <a:t> </a:t>
            </a:r>
            <a:r>
              <a:rPr sz="2400" dirty="0">
                <a:solidFill>
                  <a:srgbClr val="252525"/>
                </a:solidFill>
                <a:latin typeface="Arial MT"/>
                <a:cs typeface="Arial MT"/>
              </a:rPr>
              <a:t>what</a:t>
            </a:r>
            <a:r>
              <a:rPr sz="2400" spc="-65" dirty="0">
                <a:solidFill>
                  <a:srgbClr val="252525"/>
                </a:solidFill>
                <a:latin typeface="Arial MT"/>
                <a:cs typeface="Arial MT"/>
              </a:rPr>
              <a:t> </a:t>
            </a:r>
            <a:r>
              <a:rPr sz="2400" dirty="0">
                <a:solidFill>
                  <a:srgbClr val="252525"/>
                </a:solidFill>
                <a:latin typeface="Arial MT"/>
                <a:cs typeface="Arial MT"/>
              </a:rPr>
              <a:t>is</a:t>
            </a:r>
            <a:r>
              <a:rPr sz="2400" spc="-65" dirty="0">
                <a:solidFill>
                  <a:srgbClr val="252525"/>
                </a:solidFill>
                <a:latin typeface="Arial MT"/>
                <a:cs typeface="Arial MT"/>
              </a:rPr>
              <a:t> </a:t>
            </a:r>
            <a:r>
              <a:rPr sz="2400" dirty="0">
                <a:solidFill>
                  <a:srgbClr val="252525"/>
                </a:solidFill>
                <a:latin typeface="Arial MT"/>
                <a:cs typeface="Arial MT"/>
              </a:rPr>
              <a:t>the</a:t>
            </a:r>
            <a:r>
              <a:rPr sz="2400" spc="-70" dirty="0">
                <a:solidFill>
                  <a:srgbClr val="252525"/>
                </a:solidFill>
                <a:latin typeface="Arial MT"/>
                <a:cs typeface="Arial MT"/>
              </a:rPr>
              <a:t> </a:t>
            </a:r>
            <a:r>
              <a:rPr sz="2400" dirty="0">
                <a:solidFill>
                  <a:srgbClr val="252525"/>
                </a:solidFill>
                <a:latin typeface="Arial MT"/>
                <a:cs typeface="Arial MT"/>
              </a:rPr>
              <a:t>appropriate</a:t>
            </a:r>
            <a:r>
              <a:rPr sz="2400" spc="-55" dirty="0">
                <a:solidFill>
                  <a:srgbClr val="252525"/>
                </a:solidFill>
                <a:latin typeface="Arial MT"/>
                <a:cs typeface="Arial MT"/>
              </a:rPr>
              <a:t> </a:t>
            </a:r>
            <a:r>
              <a:rPr sz="2400" dirty="0">
                <a:solidFill>
                  <a:srgbClr val="252525"/>
                </a:solidFill>
                <a:latin typeface="Arial MT"/>
                <a:cs typeface="Arial MT"/>
              </a:rPr>
              <a:t>accounting</a:t>
            </a:r>
            <a:r>
              <a:rPr sz="2400" spc="-50" dirty="0">
                <a:solidFill>
                  <a:srgbClr val="252525"/>
                </a:solidFill>
                <a:latin typeface="Arial MT"/>
                <a:cs typeface="Arial MT"/>
              </a:rPr>
              <a:t> </a:t>
            </a:r>
            <a:r>
              <a:rPr sz="2400" dirty="0">
                <a:solidFill>
                  <a:srgbClr val="252525"/>
                </a:solidFill>
                <a:latin typeface="Arial MT"/>
                <a:cs typeface="Arial MT"/>
              </a:rPr>
              <a:t>treatment</a:t>
            </a:r>
            <a:r>
              <a:rPr sz="2400" spc="-80" dirty="0">
                <a:solidFill>
                  <a:srgbClr val="252525"/>
                </a:solidFill>
                <a:latin typeface="Arial MT"/>
                <a:cs typeface="Arial MT"/>
              </a:rPr>
              <a:t> </a:t>
            </a:r>
            <a:r>
              <a:rPr sz="2400" dirty="0">
                <a:solidFill>
                  <a:srgbClr val="252525"/>
                </a:solidFill>
                <a:latin typeface="Arial MT"/>
                <a:cs typeface="Arial MT"/>
              </a:rPr>
              <a:t>for</a:t>
            </a:r>
            <a:r>
              <a:rPr sz="2400" spc="-65" dirty="0">
                <a:solidFill>
                  <a:srgbClr val="252525"/>
                </a:solidFill>
                <a:latin typeface="Arial MT"/>
                <a:cs typeface="Arial MT"/>
              </a:rPr>
              <a:t> </a:t>
            </a:r>
            <a:r>
              <a:rPr sz="2400" dirty="0">
                <a:solidFill>
                  <a:srgbClr val="252525"/>
                </a:solidFill>
                <a:latin typeface="Arial MT"/>
                <a:cs typeface="Arial MT"/>
              </a:rPr>
              <a:t>over</a:t>
            </a:r>
            <a:r>
              <a:rPr sz="2400" spc="-60" dirty="0">
                <a:solidFill>
                  <a:srgbClr val="252525"/>
                </a:solidFill>
                <a:latin typeface="Arial MT"/>
                <a:cs typeface="Arial MT"/>
              </a:rPr>
              <a:t> </a:t>
            </a:r>
            <a:r>
              <a:rPr sz="2400" dirty="0">
                <a:solidFill>
                  <a:srgbClr val="252525"/>
                </a:solidFill>
                <a:latin typeface="Arial MT"/>
                <a:cs typeface="Arial MT"/>
              </a:rPr>
              <a:t>and</a:t>
            </a:r>
            <a:r>
              <a:rPr sz="2400" spc="-65" dirty="0">
                <a:solidFill>
                  <a:srgbClr val="252525"/>
                </a:solidFill>
                <a:latin typeface="Arial MT"/>
                <a:cs typeface="Arial MT"/>
              </a:rPr>
              <a:t> </a:t>
            </a:r>
            <a:r>
              <a:rPr sz="2400" spc="-10" dirty="0">
                <a:solidFill>
                  <a:srgbClr val="252525"/>
                </a:solidFill>
                <a:latin typeface="Arial MT"/>
                <a:cs typeface="Arial MT"/>
              </a:rPr>
              <a:t>under </a:t>
            </a:r>
            <a:r>
              <a:rPr sz="2400" dirty="0">
                <a:solidFill>
                  <a:srgbClr val="252525"/>
                </a:solidFill>
                <a:latin typeface="Arial MT"/>
                <a:cs typeface="Arial MT"/>
              </a:rPr>
              <a:t>allocated</a:t>
            </a:r>
            <a:r>
              <a:rPr sz="2400" spc="-35" dirty="0">
                <a:solidFill>
                  <a:srgbClr val="252525"/>
                </a:solidFill>
                <a:latin typeface="Arial MT"/>
                <a:cs typeface="Arial MT"/>
              </a:rPr>
              <a:t> </a:t>
            </a:r>
            <a:r>
              <a:rPr sz="2400" dirty="0">
                <a:solidFill>
                  <a:srgbClr val="252525"/>
                </a:solidFill>
                <a:latin typeface="Arial MT"/>
                <a:cs typeface="Arial MT"/>
              </a:rPr>
              <a:t>overhead</a:t>
            </a:r>
            <a:r>
              <a:rPr sz="2400" spc="-35" dirty="0">
                <a:solidFill>
                  <a:srgbClr val="252525"/>
                </a:solidFill>
                <a:latin typeface="Arial MT"/>
                <a:cs typeface="Arial MT"/>
              </a:rPr>
              <a:t> </a:t>
            </a:r>
            <a:r>
              <a:rPr sz="2400" dirty="0">
                <a:solidFill>
                  <a:srgbClr val="252525"/>
                </a:solidFill>
                <a:latin typeface="Arial MT"/>
                <a:cs typeface="Arial MT"/>
              </a:rPr>
              <a:t>and</a:t>
            </a:r>
            <a:r>
              <a:rPr sz="2400" spc="-45" dirty="0">
                <a:solidFill>
                  <a:srgbClr val="252525"/>
                </a:solidFill>
                <a:latin typeface="Arial MT"/>
                <a:cs typeface="Arial MT"/>
              </a:rPr>
              <a:t> </a:t>
            </a:r>
            <a:r>
              <a:rPr sz="2400" dirty="0">
                <a:solidFill>
                  <a:srgbClr val="252525"/>
                </a:solidFill>
                <a:latin typeface="Arial MT"/>
                <a:cs typeface="Arial MT"/>
              </a:rPr>
              <a:t>prepare</a:t>
            </a:r>
            <a:r>
              <a:rPr sz="2400" spc="-50" dirty="0">
                <a:solidFill>
                  <a:srgbClr val="252525"/>
                </a:solidFill>
                <a:latin typeface="Arial MT"/>
                <a:cs typeface="Arial MT"/>
              </a:rPr>
              <a:t> </a:t>
            </a:r>
            <a:r>
              <a:rPr sz="2400" dirty="0">
                <a:solidFill>
                  <a:srgbClr val="252525"/>
                </a:solidFill>
                <a:latin typeface="Arial MT"/>
                <a:cs typeface="Arial MT"/>
              </a:rPr>
              <a:t>the</a:t>
            </a:r>
            <a:r>
              <a:rPr sz="2400" spc="-55" dirty="0">
                <a:solidFill>
                  <a:srgbClr val="252525"/>
                </a:solidFill>
                <a:latin typeface="Arial MT"/>
                <a:cs typeface="Arial MT"/>
              </a:rPr>
              <a:t> </a:t>
            </a:r>
            <a:r>
              <a:rPr sz="2400" dirty="0">
                <a:solidFill>
                  <a:srgbClr val="252525"/>
                </a:solidFill>
                <a:latin typeface="Arial MT"/>
                <a:cs typeface="Arial MT"/>
              </a:rPr>
              <a:t>journal</a:t>
            </a:r>
            <a:r>
              <a:rPr sz="2400" spc="-50" dirty="0">
                <a:solidFill>
                  <a:srgbClr val="252525"/>
                </a:solidFill>
                <a:latin typeface="Arial MT"/>
                <a:cs typeface="Arial MT"/>
              </a:rPr>
              <a:t> </a:t>
            </a:r>
            <a:r>
              <a:rPr sz="2400" dirty="0">
                <a:solidFill>
                  <a:srgbClr val="252525"/>
                </a:solidFill>
                <a:latin typeface="Arial MT"/>
                <a:cs typeface="Arial MT"/>
              </a:rPr>
              <a:t>entry</a:t>
            </a:r>
            <a:r>
              <a:rPr sz="2400" spc="-55" dirty="0">
                <a:solidFill>
                  <a:srgbClr val="252525"/>
                </a:solidFill>
                <a:latin typeface="Arial MT"/>
                <a:cs typeface="Arial MT"/>
              </a:rPr>
              <a:t> </a:t>
            </a:r>
            <a:r>
              <a:rPr sz="2400" dirty="0">
                <a:solidFill>
                  <a:srgbClr val="252525"/>
                </a:solidFill>
                <a:latin typeface="Arial MT"/>
                <a:cs typeface="Arial MT"/>
              </a:rPr>
              <a:t>to</a:t>
            </a:r>
            <a:r>
              <a:rPr sz="2400" spc="-55" dirty="0">
                <a:solidFill>
                  <a:srgbClr val="252525"/>
                </a:solidFill>
                <a:latin typeface="Arial MT"/>
                <a:cs typeface="Arial MT"/>
              </a:rPr>
              <a:t> </a:t>
            </a:r>
            <a:r>
              <a:rPr sz="2400" dirty="0">
                <a:solidFill>
                  <a:srgbClr val="252525"/>
                </a:solidFill>
                <a:latin typeface="Arial MT"/>
                <a:cs typeface="Arial MT"/>
              </a:rPr>
              <a:t>adjust</a:t>
            </a:r>
            <a:r>
              <a:rPr sz="2400" spc="-60" dirty="0">
                <a:solidFill>
                  <a:srgbClr val="252525"/>
                </a:solidFill>
                <a:latin typeface="Arial MT"/>
                <a:cs typeface="Arial MT"/>
              </a:rPr>
              <a:t> </a:t>
            </a:r>
            <a:r>
              <a:rPr sz="2400" dirty="0">
                <a:solidFill>
                  <a:srgbClr val="252525"/>
                </a:solidFill>
                <a:latin typeface="Arial MT"/>
                <a:cs typeface="Arial MT"/>
              </a:rPr>
              <a:t>the</a:t>
            </a:r>
            <a:r>
              <a:rPr sz="2400" spc="-55" dirty="0">
                <a:solidFill>
                  <a:srgbClr val="252525"/>
                </a:solidFill>
                <a:latin typeface="Arial MT"/>
                <a:cs typeface="Arial MT"/>
              </a:rPr>
              <a:t> </a:t>
            </a:r>
            <a:r>
              <a:rPr sz="2400" dirty="0">
                <a:solidFill>
                  <a:srgbClr val="252525"/>
                </a:solidFill>
                <a:latin typeface="Arial MT"/>
                <a:cs typeface="Arial MT"/>
              </a:rPr>
              <a:t>over</a:t>
            </a:r>
            <a:r>
              <a:rPr sz="2400" spc="-50" dirty="0">
                <a:solidFill>
                  <a:srgbClr val="252525"/>
                </a:solidFill>
                <a:latin typeface="Arial MT"/>
                <a:cs typeface="Arial MT"/>
              </a:rPr>
              <a:t> </a:t>
            </a:r>
            <a:r>
              <a:rPr sz="2400" dirty="0">
                <a:solidFill>
                  <a:srgbClr val="252525"/>
                </a:solidFill>
                <a:latin typeface="Arial MT"/>
                <a:cs typeface="Arial MT"/>
              </a:rPr>
              <a:t>or</a:t>
            </a:r>
            <a:r>
              <a:rPr sz="2400" spc="-55" dirty="0">
                <a:solidFill>
                  <a:srgbClr val="252525"/>
                </a:solidFill>
                <a:latin typeface="Arial MT"/>
                <a:cs typeface="Arial MT"/>
              </a:rPr>
              <a:t> </a:t>
            </a:r>
            <a:r>
              <a:rPr sz="2400" spc="-10" dirty="0">
                <a:solidFill>
                  <a:srgbClr val="252525"/>
                </a:solidFill>
                <a:latin typeface="Arial MT"/>
                <a:cs typeface="Arial MT"/>
              </a:rPr>
              <a:t>under </a:t>
            </a:r>
            <a:r>
              <a:rPr sz="2400" dirty="0">
                <a:solidFill>
                  <a:srgbClr val="252525"/>
                </a:solidFill>
                <a:latin typeface="Arial MT"/>
                <a:cs typeface="Arial MT"/>
              </a:rPr>
              <a:t>allocated</a:t>
            </a:r>
            <a:r>
              <a:rPr sz="2400" spc="-50" dirty="0">
                <a:solidFill>
                  <a:srgbClr val="252525"/>
                </a:solidFill>
                <a:latin typeface="Arial MT"/>
                <a:cs typeface="Arial MT"/>
              </a:rPr>
              <a:t> </a:t>
            </a:r>
            <a:r>
              <a:rPr sz="2400" dirty="0">
                <a:solidFill>
                  <a:srgbClr val="252525"/>
                </a:solidFill>
                <a:latin typeface="Arial MT"/>
                <a:cs typeface="Arial MT"/>
              </a:rPr>
              <a:t>manufacturing</a:t>
            </a:r>
            <a:r>
              <a:rPr sz="2400" spc="-75" dirty="0">
                <a:solidFill>
                  <a:srgbClr val="252525"/>
                </a:solidFill>
                <a:latin typeface="Arial MT"/>
                <a:cs typeface="Arial MT"/>
              </a:rPr>
              <a:t> </a:t>
            </a:r>
            <a:r>
              <a:rPr sz="2400" dirty="0">
                <a:solidFill>
                  <a:srgbClr val="252525"/>
                </a:solidFill>
                <a:latin typeface="Arial MT"/>
                <a:cs typeface="Arial MT"/>
              </a:rPr>
              <a:t>overhead</a:t>
            </a:r>
            <a:r>
              <a:rPr sz="2400" spc="-50" dirty="0">
                <a:solidFill>
                  <a:srgbClr val="252525"/>
                </a:solidFill>
                <a:latin typeface="Arial MT"/>
                <a:cs typeface="Arial MT"/>
              </a:rPr>
              <a:t> </a:t>
            </a:r>
            <a:r>
              <a:rPr sz="2400" dirty="0">
                <a:solidFill>
                  <a:srgbClr val="252525"/>
                </a:solidFill>
                <a:latin typeface="Arial MT"/>
                <a:cs typeface="Arial MT"/>
              </a:rPr>
              <a:t>costs</a:t>
            </a:r>
            <a:r>
              <a:rPr sz="2400" spc="-80" dirty="0">
                <a:solidFill>
                  <a:srgbClr val="252525"/>
                </a:solidFill>
                <a:latin typeface="Arial MT"/>
                <a:cs typeface="Arial MT"/>
              </a:rPr>
              <a:t> </a:t>
            </a:r>
            <a:r>
              <a:rPr sz="2400" dirty="0">
                <a:solidFill>
                  <a:srgbClr val="252525"/>
                </a:solidFill>
                <a:latin typeface="Arial MT"/>
                <a:cs typeface="Arial MT"/>
              </a:rPr>
              <a:t>for</a:t>
            </a:r>
            <a:r>
              <a:rPr sz="2400" spc="-120" dirty="0">
                <a:solidFill>
                  <a:srgbClr val="252525"/>
                </a:solidFill>
                <a:latin typeface="Arial MT"/>
                <a:cs typeface="Arial MT"/>
              </a:rPr>
              <a:t> </a:t>
            </a:r>
            <a:r>
              <a:rPr sz="2400" spc="-20" dirty="0">
                <a:solidFill>
                  <a:srgbClr val="252525"/>
                </a:solidFill>
                <a:latin typeface="Arial MT"/>
                <a:cs typeface="Arial MT"/>
              </a:rPr>
              <a:t>YII.</a:t>
            </a:r>
            <a:endParaRPr sz="2400">
              <a:latin typeface="Arial MT"/>
              <a:cs typeface="Arial MT"/>
            </a:endParaRPr>
          </a:p>
        </p:txBody>
      </p:sp>
      <p:sp>
        <p:nvSpPr>
          <p:cNvPr id="4" name="object 4"/>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9</a:t>
            </a:fld>
            <a:endParaRPr spc="-25" dirty="0"/>
          </a:p>
        </p:txBody>
      </p:sp>
      <p:sp>
        <p:nvSpPr>
          <p:cNvPr id="5" name="Subtitle 4">
            <a:extLst>
              <a:ext uri="{FF2B5EF4-FFF2-40B4-BE49-F238E27FC236}">
                <a16:creationId xmlns:a16="http://schemas.microsoft.com/office/drawing/2014/main" id="{20655398-4897-F3AD-D3A1-B34E00F8FEA5}"/>
              </a:ext>
            </a:extLst>
          </p:cNvPr>
          <p:cNvSpPr>
            <a:spLocks noGrp="1"/>
          </p:cNvSpPr>
          <p:nvPr>
            <p:ph type="subTitle" idx="1"/>
          </p:nvPr>
        </p:nvSpPr>
        <p:spPr/>
        <p:txBody>
          <a:bodyPr/>
          <a:lstStyle/>
          <a:p>
            <a:r>
              <a:rPr lang="en-CA" dirty="0"/>
              <a:t>Yacht International Inc. (YII) Part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3392" y="980728"/>
            <a:ext cx="10628630" cy="756920"/>
          </a:xfrm>
          <a:prstGeom prst="rect">
            <a:avLst/>
          </a:prstGeom>
        </p:spPr>
        <p:txBody>
          <a:bodyPr vert="horz" wrap="square" lIns="0" tIns="12700" rIns="0" bIns="0" rtlCol="0">
            <a:spAutoFit/>
          </a:bodyPr>
          <a:lstStyle/>
          <a:p>
            <a:pPr marL="469900" marR="5080" indent="-457200">
              <a:lnSpc>
                <a:spcPct val="100000"/>
              </a:lnSpc>
              <a:spcBef>
                <a:spcPts val="100"/>
              </a:spcBef>
              <a:tabLst>
                <a:tab pos="469265" algn="l"/>
              </a:tabLst>
            </a:pPr>
            <a:r>
              <a:rPr sz="1900" spc="-25" dirty="0">
                <a:latin typeface="Arial MT"/>
                <a:cs typeface="Arial MT"/>
              </a:rPr>
              <a:t>1.</a:t>
            </a:r>
            <a:r>
              <a:rPr sz="1900" dirty="0">
                <a:latin typeface="Arial MT"/>
                <a:cs typeface="Arial MT"/>
              </a:rPr>
              <a:t>	</a:t>
            </a:r>
            <a:r>
              <a:rPr sz="2400" dirty="0">
                <a:latin typeface="Arial MT"/>
                <a:cs typeface="Arial MT"/>
              </a:rPr>
              <a:t>Determine</a:t>
            </a:r>
            <a:r>
              <a:rPr sz="2400" spc="-65" dirty="0">
                <a:latin typeface="Arial MT"/>
                <a:cs typeface="Arial MT"/>
              </a:rPr>
              <a:t> </a:t>
            </a:r>
            <a:r>
              <a:rPr sz="2400" dirty="0">
                <a:latin typeface="Arial MT"/>
                <a:cs typeface="Arial MT"/>
              </a:rPr>
              <a:t>the</a:t>
            </a:r>
            <a:r>
              <a:rPr sz="2400" spc="-55" dirty="0">
                <a:latin typeface="Arial MT"/>
                <a:cs typeface="Arial MT"/>
              </a:rPr>
              <a:t> </a:t>
            </a:r>
            <a:r>
              <a:rPr sz="2400" dirty="0">
                <a:latin typeface="Arial MT"/>
                <a:cs typeface="Arial MT"/>
              </a:rPr>
              <a:t>amount</a:t>
            </a:r>
            <a:r>
              <a:rPr sz="2400" spc="-60" dirty="0">
                <a:latin typeface="Arial MT"/>
                <a:cs typeface="Arial MT"/>
              </a:rPr>
              <a:t> </a:t>
            </a:r>
            <a:r>
              <a:rPr sz="2400" dirty="0">
                <a:latin typeface="Arial MT"/>
                <a:cs typeface="Arial MT"/>
              </a:rPr>
              <a:t>of</a:t>
            </a:r>
            <a:r>
              <a:rPr sz="2400" spc="-60" dirty="0">
                <a:latin typeface="Arial MT"/>
                <a:cs typeface="Arial MT"/>
              </a:rPr>
              <a:t> </a:t>
            </a:r>
            <a:r>
              <a:rPr sz="2400" dirty="0">
                <a:latin typeface="Arial MT"/>
                <a:cs typeface="Arial MT"/>
              </a:rPr>
              <a:t>Over</a:t>
            </a:r>
            <a:r>
              <a:rPr sz="2400" spc="-55" dirty="0">
                <a:latin typeface="Arial MT"/>
                <a:cs typeface="Arial MT"/>
              </a:rPr>
              <a:t> </a:t>
            </a:r>
            <a:r>
              <a:rPr sz="2400" dirty="0">
                <a:latin typeface="Arial MT"/>
                <a:cs typeface="Arial MT"/>
              </a:rPr>
              <a:t>or</a:t>
            </a:r>
            <a:r>
              <a:rPr sz="2400" spc="-60" dirty="0">
                <a:latin typeface="Arial MT"/>
                <a:cs typeface="Arial MT"/>
              </a:rPr>
              <a:t> </a:t>
            </a:r>
            <a:r>
              <a:rPr sz="2400" spc="-10" dirty="0">
                <a:latin typeface="Arial MT"/>
                <a:cs typeface="Arial MT"/>
              </a:rPr>
              <a:t>Under</a:t>
            </a:r>
            <a:r>
              <a:rPr sz="2400" spc="-155" dirty="0">
                <a:latin typeface="Arial MT"/>
                <a:cs typeface="Arial MT"/>
              </a:rPr>
              <a:t> </a:t>
            </a:r>
            <a:r>
              <a:rPr sz="2400" dirty="0">
                <a:latin typeface="Arial MT"/>
                <a:cs typeface="Arial MT"/>
              </a:rPr>
              <a:t>Allocated</a:t>
            </a:r>
            <a:r>
              <a:rPr sz="2400" spc="-35" dirty="0">
                <a:latin typeface="Arial MT"/>
                <a:cs typeface="Arial MT"/>
              </a:rPr>
              <a:t> </a:t>
            </a:r>
            <a:r>
              <a:rPr sz="2400" dirty="0">
                <a:latin typeface="Arial MT"/>
                <a:cs typeface="Arial MT"/>
              </a:rPr>
              <a:t>Overhead</a:t>
            </a:r>
            <a:r>
              <a:rPr sz="2400" spc="-45" dirty="0">
                <a:latin typeface="Arial MT"/>
                <a:cs typeface="Arial MT"/>
              </a:rPr>
              <a:t> </a:t>
            </a:r>
            <a:r>
              <a:rPr sz="2400" spc="-10" dirty="0">
                <a:latin typeface="Arial MT"/>
                <a:cs typeface="Arial MT"/>
              </a:rPr>
              <a:t>Manufacturing </a:t>
            </a:r>
            <a:r>
              <a:rPr sz="2400" dirty="0">
                <a:latin typeface="Arial MT"/>
                <a:cs typeface="Arial MT"/>
              </a:rPr>
              <a:t>overhead</a:t>
            </a:r>
            <a:r>
              <a:rPr sz="2400" spc="-30" dirty="0">
                <a:latin typeface="Arial MT"/>
                <a:cs typeface="Arial MT"/>
              </a:rPr>
              <a:t> </a:t>
            </a:r>
            <a:r>
              <a:rPr sz="2400" dirty="0">
                <a:latin typeface="Arial MT"/>
                <a:cs typeface="Arial MT"/>
              </a:rPr>
              <a:t>for</a:t>
            </a:r>
            <a:r>
              <a:rPr sz="2400" spc="-70" dirty="0">
                <a:latin typeface="Arial MT"/>
                <a:cs typeface="Arial MT"/>
              </a:rPr>
              <a:t> </a:t>
            </a:r>
            <a:r>
              <a:rPr sz="2400" dirty="0">
                <a:latin typeface="Arial MT"/>
                <a:cs typeface="Arial MT"/>
              </a:rPr>
              <a:t>the</a:t>
            </a:r>
            <a:r>
              <a:rPr sz="2400" spc="-45" dirty="0">
                <a:latin typeface="Arial MT"/>
                <a:cs typeface="Arial MT"/>
              </a:rPr>
              <a:t> </a:t>
            </a:r>
            <a:r>
              <a:rPr sz="2400" spc="-10" dirty="0">
                <a:latin typeface="Arial MT"/>
                <a:cs typeface="Arial MT"/>
              </a:rPr>
              <a:t>year.</a:t>
            </a:r>
            <a:endParaRPr sz="2400">
              <a:latin typeface="Arial MT"/>
              <a:cs typeface="Arial MT"/>
            </a:endParaRPr>
          </a:p>
        </p:txBody>
      </p:sp>
      <p:sp>
        <p:nvSpPr>
          <p:cNvPr id="9" name="object 9"/>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10</a:t>
            </a:fld>
            <a:endParaRPr spc="-25" dirty="0"/>
          </a:p>
        </p:txBody>
      </p:sp>
      <p:sp>
        <p:nvSpPr>
          <p:cNvPr id="10" name="Subtitle 9">
            <a:extLst>
              <a:ext uri="{FF2B5EF4-FFF2-40B4-BE49-F238E27FC236}">
                <a16:creationId xmlns:a16="http://schemas.microsoft.com/office/drawing/2014/main" id="{5863858C-A24B-2A31-5B81-3F9132F84503}"/>
              </a:ext>
            </a:extLst>
          </p:cNvPr>
          <p:cNvSpPr>
            <a:spLocks noGrp="1"/>
          </p:cNvSpPr>
          <p:nvPr>
            <p:ph type="subTitle" idx="1"/>
          </p:nvPr>
        </p:nvSpPr>
        <p:spPr/>
        <p:txBody>
          <a:bodyPr/>
          <a:lstStyle/>
          <a:p>
            <a:r>
              <a:rPr lang="en-CA" dirty="0"/>
              <a:t>Yacht International Inc (YII) Part 2</a:t>
            </a:r>
          </a:p>
        </p:txBody>
      </p:sp>
      <p:graphicFrame>
        <p:nvGraphicFramePr>
          <p:cNvPr id="4" name="object 4"/>
          <p:cNvGraphicFramePr>
            <a:graphicFrameLocks noGrp="1"/>
          </p:cNvGraphicFramePr>
          <p:nvPr>
            <p:extLst>
              <p:ext uri="{D42A27DB-BD31-4B8C-83A1-F6EECF244321}">
                <p14:modId xmlns:p14="http://schemas.microsoft.com/office/powerpoint/2010/main" val="363569622"/>
              </p:ext>
            </p:extLst>
          </p:nvPr>
        </p:nvGraphicFramePr>
        <p:xfrm>
          <a:off x="983437" y="2163626"/>
          <a:ext cx="2790190" cy="2125980"/>
        </p:xfrm>
        <a:graphic>
          <a:graphicData uri="http://schemas.openxmlformats.org/drawingml/2006/table">
            <a:tbl>
              <a:tblPr firstRow="1" bandRow="1">
                <a:tableStyleId>{2D5ABB26-0587-4C30-8999-92F81FD0307C}</a:tableStyleId>
              </a:tblPr>
              <a:tblGrid>
                <a:gridCol w="1395095">
                  <a:extLst>
                    <a:ext uri="{9D8B030D-6E8A-4147-A177-3AD203B41FA5}">
                      <a16:colId xmlns:a16="http://schemas.microsoft.com/office/drawing/2014/main" val="20000"/>
                    </a:ext>
                  </a:extLst>
                </a:gridCol>
                <a:gridCol w="1395095">
                  <a:extLst>
                    <a:ext uri="{9D8B030D-6E8A-4147-A177-3AD203B41FA5}">
                      <a16:colId xmlns:a16="http://schemas.microsoft.com/office/drawing/2014/main" val="20001"/>
                    </a:ext>
                  </a:extLst>
                </a:gridCol>
              </a:tblGrid>
              <a:tr h="389255">
                <a:tc gridSpan="2">
                  <a:txBody>
                    <a:bodyPr/>
                    <a:lstStyle/>
                    <a:p>
                      <a:pPr marL="149225">
                        <a:lnSpc>
                          <a:spcPts val="2655"/>
                        </a:lnSpc>
                      </a:pPr>
                      <a:r>
                        <a:rPr sz="2400" b="1" dirty="0">
                          <a:latin typeface="Arial"/>
                          <a:cs typeface="Arial"/>
                        </a:rPr>
                        <a:t>MOH</a:t>
                      </a:r>
                      <a:r>
                        <a:rPr sz="2400" b="1" spc="-10" dirty="0">
                          <a:latin typeface="Arial"/>
                          <a:cs typeface="Arial"/>
                        </a:rPr>
                        <a:t> </a:t>
                      </a:r>
                      <a:r>
                        <a:rPr sz="2400" b="1" spc="-55" dirty="0">
                          <a:latin typeface="Arial"/>
                          <a:cs typeface="Arial"/>
                        </a:rPr>
                        <a:t>(T-</a:t>
                      </a:r>
                      <a:r>
                        <a:rPr sz="2400" b="1" spc="-10" dirty="0">
                          <a:latin typeface="Arial"/>
                          <a:cs typeface="Arial"/>
                        </a:rPr>
                        <a:t>Account)</a:t>
                      </a:r>
                      <a:endParaRPr sz="2400" dirty="0">
                        <a:latin typeface="Arial"/>
                        <a:cs typeface="Arial"/>
                      </a:endParaRPr>
                    </a:p>
                  </a:txBody>
                  <a:tcPr marL="0" marR="0" marT="0" marB="0">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1736725">
                <a:tc>
                  <a:txBody>
                    <a:bodyPr/>
                    <a:lstStyle/>
                    <a:p>
                      <a:pPr marL="91440" marR="448309">
                        <a:lnSpc>
                          <a:spcPct val="100000"/>
                        </a:lnSpc>
                        <a:spcBef>
                          <a:spcPts val="305"/>
                        </a:spcBef>
                      </a:pPr>
                      <a:r>
                        <a:rPr sz="2400" spc="-10" dirty="0">
                          <a:latin typeface="Arial MT"/>
                          <a:cs typeface="Arial MT"/>
                        </a:rPr>
                        <a:t>Actual </a:t>
                      </a:r>
                      <a:r>
                        <a:rPr sz="2400" spc="-25" dirty="0">
                          <a:latin typeface="Arial MT"/>
                          <a:cs typeface="Arial MT"/>
                        </a:rPr>
                        <a:t>OH</a:t>
                      </a:r>
                      <a:endParaRPr sz="2400">
                        <a:latin typeface="Arial MT"/>
                        <a:cs typeface="Arial MT"/>
                      </a:endParaRPr>
                    </a:p>
                  </a:txBody>
                  <a:tcPr marL="0" marR="0" marT="38735" marB="0">
                    <a:lnR w="12700">
                      <a:solidFill>
                        <a:srgbClr val="000000"/>
                      </a:solidFill>
                      <a:prstDash val="solid"/>
                    </a:lnR>
                    <a:lnT w="12700">
                      <a:solidFill>
                        <a:srgbClr val="000000"/>
                      </a:solidFill>
                      <a:prstDash val="solid"/>
                    </a:lnT>
                  </a:tcPr>
                </a:tc>
                <a:tc>
                  <a:txBody>
                    <a:bodyPr/>
                    <a:lstStyle/>
                    <a:p>
                      <a:pPr marL="91440" marR="281305">
                        <a:lnSpc>
                          <a:spcPct val="100000"/>
                        </a:lnSpc>
                        <a:spcBef>
                          <a:spcPts val="305"/>
                        </a:spcBef>
                      </a:pPr>
                      <a:r>
                        <a:rPr sz="2400" spc="-20" dirty="0">
                          <a:latin typeface="Arial MT"/>
                          <a:cs typeface="Arial MT"/>
                        </a:rPr>
                        <a:t>Applied </a:t>
                      </a:r>
                      <a:r>
                        <a:rPr sz="2400" spc="-25" dirty="0">
                          <a:latin typeface="Arial MT"/>
                          <a:cs typeface="Arial MT"/>
                        </a:rPr>
                        <a:t>OH</a:t>
                      </a:r>
                      <a:endParaRPr sz="2400" dirty="0">
                        <a:latin typeface="Arial MT"/>
                        <a:cs typeface="Arial MT"/>
                      </a:endParaRPr>
                    </a:p>
                  </a:txBody>
                  <a:tcPr marL="0" marR="0" marT="38735" marB="0">
                    <a:lnL w="12700">
                      <a:solidFill>
                        <a:srgbClr val="000000"/>
                      </a:solidFill>
                      <a:prstDash val="solid"/>
                    </a:lnL>
                    <a:lnT w="12700">
                      <a:solidFill>
                        <a:srgbClr val="000000"/>
                      </a:solidFill>
                      <a:prstDash val="solid"/>
                    </a:lnT>
                  </a:tcPr>
                </a:tc>
                <a:extLst>
                  <a:ext uri="{0D108BD9-81ED-4DB2-BD59-A6C34878D82A}">
                    <a16:rowId xmlns:a16="http://schemas.microsoft.com/office/drawing/2014/main" val="10001"/>
                  </a:ext>
                </a:extLst>
              </a:tr>
            </a:tbl>
          </a:graphicData>
        </a:graphic>
      </p:graphicFrame>
      <p:sp>
        <p:nvSpPr>
          <p:cNvPr id="5" name="object 5"/>
          <p:cNvSpPr/>
          <p:nvPr/>
        </p:nvSpPr>
        <p:spPr>
          <a:xfrm>
            <a:off x="983437" y="4123944"/>
            <a:ext cx="2790190" cy="0"/>
          </a:xfrm>
          <a:custGeom>
            <a:avLst/>
            <a:gdLst/>
            <a:ahLst/>
            <a:cxnLst/>
            <a:rect l="l" t="t" r="r" b="b"/>
            <a:pathLst>
              <a:path w="2790190">
                <a:moveTo>
                  <a:pt x="0" y="0"/>
                </a:moveTo>
                <a:lnTo>
                  <a:pt x="2789859" y="0"/>
                </a:lnTo>
              </a:path>
            </a:pathLst>
          </a:custGeom>
          <a:ln w="12700">
            <a:solidFill>
              <a:srgbClr val="000000"/>
            </a:solidFill>
          </a:ln>
        </p:spPr>
        <p:txBody>
          <a:bodyPr wrap="square" lIns="0" tIns="0" rIns="0" bIns="0" rtlCol="0"/>
          <a:lstStyle/>
          <a:p>
            <a:endParaRPr/>
          </a:p>
        </p:txBody>
      </p:sp>
      <p:graphicFrame>
        <p:nvGraphicFramePr>
          <p:cNvPr id="6" name="object 6"/>
          <p:cNvGraphicFramePr>
            <a:graphicFrameLocks noGrp="1"/>
          </p:cNvGraphicFramePr>
          <p:nvPr>
            <p:extLst>
              <p:ext uri="{D42A27DB-BD31-4B8C-83A1-F6EECF244321}">
                <p14:modId xmlns:p14="http://schemas.microsoft.com/office/powerpoint/2010/main" val="450953237"/>
              </p:ext>
            </p:extLst>
          </p:nvPr>
        </p:nvGraphicFramePr>
        <p:xfrm>
          <a:off x="4727848" y="2163626"/>
          <a:ext cx="4596765" cy="2703195"/>
        </p:xfrm>
        <a:graphic>
          <a:graphicData uri="http://schemas.openxmlformats.org/drawingml/2006/table">
            <a:tbl>
              <a:tblPr firstRow="1" bandRow="1">
                <a:tableStyleId>{2D5ABB26-0587-4C30-8999-92F81FD0307C}</a:tableStyleId>
              </a:tblPr>
              <a:tblGrid>
                <a:gridCol w="2570480">
                  <a:extLst>
                    <a:ext uri="{9D8B030D-6E8A-4147-A177-3AD203B41FA5}">
                      <a16:colId xmlns:a16="http://schemas.microsoft.com/office/drawing/2014/main" val="20000"/>
                    </a:ext>
                  </a:extLst>
                </a:gridCol>
                <a:gridCol w="2026285">
                  <a:extLst>
                    <a:ext uri="{9D8B030D-6E8A-4147-A177-3AD203B41FA5}">
                      <a16:colId xmlns:a16="http://schemas.microsoft.com/office/drawing/2014/main" val="20001"/>
                    </a:ext>
                  </a:extLst>
                </a:gridCol>
              </a:tblGrid>
              <a:tr h="389255">
                <a:tc gridSpan="2">
                  <a:txBody>
                    <a:bodyPr/>
                    <a:lstStyle/>
                    <a:p>
                      <a:pPr marL="1054100">
                        <a:lnSpc>
                          <a:spcPts val="2655"/>
                        </a:lnSpc>
                      </a:pPr>
                      <a:r>
                        <a:rPr sz="2400" b="1" dirty="0">
                          <a:latin typeface="Arial"/>
                          <a:cs typeface="Arial"/>
                        </a:rPr>
                        <a:t>MOH</a:t>
                      </a:r>
                      <a:r>
                        <a:rPr sz="2400" b="1" spc="-5" dirty="0">
                          <a:latin typeface="Arial"/>
                          <a:cs typeface="Arial"/>
                        </a:rPr>
                        <a:t> </a:t>
                      </a:r>
                      <a:r>
                        <a:rPr sz="2400" b="1" spc="-55" dirty="0">
                          <a:latin typeface="Arial"/>
                          <a:cs typeface="Arial"/>
                        </a:rPr>
                        <a:t>(T-</a:t>
                      </a:r>
                      <a:r>
                        <a:rPr sz="2400" b="1" spc="-10" dirty="0">
                          <a:latin typeface="Arial"/>
                          <a:cs typeface="Arial"/>
                        </a:rPr>
                        <a:t>Account)</a:t>
                      </a:r>
                      <a:endParaRPr sz="2400">
                        <a:latin typeface="Arial"/>
                        <a:cs typeface="Arial"/>
                      </a:endParaRPr>
                    </a:p>
                  </a:txBody>
                  <a:tcPr marL="0" marR="0" marT="0" marB="0">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356870">
                <a:tc>
                  <a:txBody>
                    <a:bodyPr/>
                    <a:lstStyle/>
                    <a:p>
                      <a:pPr marL="549275">
                        <a:lnSpc>
                          <a:spcPct val="100000"/>
                        </a:lnSpc>
                        <a:spcBef>
                          <a:spcPts val="309"/>
                        </a:spcBef>
                      </a:pPr>
                      <a:r>
                        <a:rPr sz="2000" dirty="0">
                          <a:latin typeface="Arial MT"/>
                          <a:cs typeface="Arial MT"/>
                        </a:rPr>
                        <a:t>MS:</a:t>
                      </a:r>
                      <a:r>
                        <a:rPr sz="2000" spc="-15" dirty="0">
                          <a:latin typeface="Arial MT"/>
                          <a:cs typeface="Arial MT"/>
                        </a:rPr>
                        <a:t> </a:t>
                      </a:r>
                      <a:r>
                        <a:rPr sz="2000" spc="-10" dirty="0">
                          <a:latin typeface="Arial MT"/>
                          <a:cs typeface="Arial MT"/>
                        </a:rPr>
                        <a:t>$1,525,000</a:t>
                      </a:r>
                      <a:endParaRPr sz="2000">
                        <a:latin typeface="Arial MT"/>
                        <a:cs typeface="Arial MT"/>
                      </a:endParaRPr>
                    </a:p>
                  </a:txBody>
                  <a:tcPr marL="0" marR="0" marT="39369" marB="0">
                    <a:lnR w="12700">
                      <a:solidFill>
                        <a:srgbClr val="000000"/>
                      </a:solidFill>
                      <a:prstDash val="solid"/>
                    </a:lnR>
                    <a:lnT w="12700">
                      <a:solidFill>
                        <a:srgbClr val="000000"/>
                      </a:solidFill>
                      <a:prstDash val="solid"/>
                    </a:lnT>
                  </a:tcPr>
                </a:tc>
                <a:tc>
                  <a:txBody>
                    <a:bodyPr/>
                    <a:lstStyle/>
                    <a:p>
                      <a:pPr marL="92075">
                        <a:lnSpc>
                          <a:spcPct val="100000"/>
                        </a:lnSpc>
                        <a:spcBef>
                          <a:spcPts val="309"/>
                        </a:spcBef>
                      </a:pPr>
                      <a:r>
                        <a:rPr sz="2000" b="1" u="sng" spc="-20" dirty="0">
                          <a:uFill>
                            <a:solidFill>
                              <a:srgbClr val="000000"/>
                            </a:solidFill>
                          </a:uFill>
                          <a:latin typeface="Arial"/>
                          <a:cs typeface="Arial"/>
                        </a:rPr>
                        <a:t>DLH</a:t>
                      </a:r>
                      <a:r>
                        <a:rPr sz="2000" spc="-20" dirty="0">
                          <a:latin typeface="Arial MT"/>
                          <a:cs typeface="Arial MT"/>
                        </a:rPr>
                        <a:t>:</a:t>
                      </a:r>
                      <a:endParaRPr sz="2000">
                        <a:latin typeface="Arial MT"/>
                        <a:cs typeface="Arial MT"/>
                      </a:endParaRPr>
                    </a:p>
                  </a:txBody>
                  <a:tcPr marL="0" marR="0" marT="39369" marB="0">
                    <a:lnL w="12700">
                      <a:solidFill>
                        <a:srgbClr val="000000"/>
                      </a:solidFill>
                      <a:prstDash val="solid"/>
                    </a:lnL>
                    <a:lnT w="12700">
                      <a:solidFill>
                        <a:srgbClr val="000000"/>
                      </a:solidFill>
                      <a:prstDash val="solid"/>
                    </a:lnT>
                  </a:tcPr>
                </a:tc>
                <a:extLst>
                  <a:ext uri="{0D108BD9-81ED-4DB2-BD59-A6C34878D82A}">
                    <a16:rowId xmlns:a16="http://schemas.microsoft.com/office/drawing/2014/main" val="10001"/>
                  </a:ext>
                </a:extLst>
              </a:tr>
              <a:tr h="304165">
                <a:tc>
                  <a:txBody>
                    <a:bodyPr/>
                    <a:lstStyle/>
                    <a:p>
                      <a:pPr marL="549275">
                        <a:lnSpc>
                          <a:spcPts val="2295"/>
                        </a:lnSpc>
                      </a:pPr>
                      <a:r>
                        <a:rPr sz="2000" dirty="0">
                          <a:latin typeface="Arial MT"/>
                          <a:cs typeface="Arial MT"/>
                        </a:rPr>
                        <a:t>Eq:</a:t>
                      </a:r>
                      <a:r>
                        <a:rPr sz="2000" spc="-10" dirty="0">
                          <a:latin typeface="Arial MT"/>
                          <a:cs typeface="Arial MT"/>
                        </a:rPr>
                        <a:t> $375,000</a:t>
                      </a:r>
                      <a:endParaRPr sz="2000" dirty="0">
                        <a:latin typeface="Arial MT"/>
                        <a:cs typeface="Arial MT"/>
                      </a:endParaRPr>
                    </a:p>
                  </a:txBody>
                  <a:tcPr marL="0" marR="0" marT="0" marB="0">
                    <a:lnR w="12700">
                      <a:solidFill>
                        <a:srgbClr val="000000"/>
                      </a:solidFill>
                      <a:prstDash val="solid"/>
                    </a:lnR>
                  </a:tcPr>
                </a:tc>
                <a:tc>
                  <a:txBody>
                    <a:bodyPr/>
                    <a:lstStyle/>
                    <a:p>
                      <a:pPr marL="92075">
                        <a:lnSpc>
                          <a:spcPts val="2295"/>
                        </a:lnSpc>
                      </a:pPr>
                      <a:r>
                        <a:rPr sz="2000" dirty="0">
                          <a:latin typeface="Arial MT"/>
                          <a:cs typeface="Arial MT"/>
                        </a:rPr>
                        <a:t>$81</a:t>
                      </a:r>
                      <a:r>
                        <a:rPr sz="2000" spc="-15" dirty="0">
                          <a:latin typeface="Arial MT"/>
                          <a:cs typeface="Arial MT"/>
                        </a:rPr>
                        <a:t> </a:t>
                      </a:r>
                      <a:r>
                        <a:rPr sz="2000" dirty="0">
                          <a:latin typeface="Arial MT"/>
                          <a:cs typeface="Arial MT"/>
                        </a:rPr>
                        <a:t>*</a:t>
                      </a:r>
                      <a:r>
                        <a:rPr sz="2000" spc="-15" dirty="0">
                          <a:latin typeface="Arial MT"/>
                          <a:cs typeface="Arial MT"/>
                        </a:rPr>
                        <a:t> </a:t>
                      </a:r>
                      <a:r>
                        <a:rPr sz="2000" dirty="0">
                          <a:latin typeface="Arial MT"/>
                          <a:cs typeface="Arial MT"/>
                        </a:rPr>
                        <a:t>27,200</a:t>
                      </a:r>
                      <a:r>
                        <a:rPr sz="2000" spc="-15" dirty="0">
                          <a:latin typeface="Arial MT"/>
                          <a:cs typeface="Arial MT"/>
                        </a:rPr>
                        <a:t> </a:t>
                      </a:r>
                      <a:r>
                        <a:rPr sz="2000" spc="-50" dirty="0">
                          <a:latin typeface="Arial MT"/>
                          <a:cs typeface="Arial MT"/>
                        </a:rPr>
                        <a:t>=</a:t>
                      </a:r>
                      <a:endParaRPr sz="2000">
                        <a:latin typeface="Arial MT"/>
                        <a:cs typeface="Arial MT"/>
                      </a:endParaRPr>
                    </a:p>
                  </a:txBody>
                  <a:tcPr marL="0" marR="0" marT="0" marB="0">
                    <a:lnL w="12700">
                      <a:solidFill>
                        <a:srgbClr val="000000"/>
                      </a:solidFill>
                      <a:prstDash val="solid"/>
                    </a:lnL>
                  </a:tcPr>
                </a:tc>
                <a:extLst>
                  <a:ext uri="{0D108BD9-81ED-4DB2-BD59-A6C34878D82A}">
                    <a16:rowId xmlns:a16="http://schemas.microsoft.com/office/drawing/2014/main" val="10002"/>
                  </a:ext>
                </a:extLst>
              </a:tr>
              <a:tr h="304800">
                <a:tc>
                  <a:txBody>
                    <a:bodyPr/>
                    <a:lstStyle/>
                    <a:p>
                      <a:pPr marL="549275">
                        <a:lnSpc>
                          <a:spcPts val="2295"/>
                        </a:lnSpc>
                      </a:pPr>
                      <a:r>
                        <a:rPr sz="2000" dirty="0">
                          <a:latin typeface="Arial MT"/>
                          <a:cs typeface="Arial MT"/>
                        </a:rPr>
                        <a:t>Plant:</a:t>
                      </a:r>
                      <a:r>
                        <a:rPr sz="2000" spc="-25" dirty="0">
                          <a:latin typeface="Arial MT"/>
                          <a:cs typeface="Arial MT"/>
                        </a:rPr>
                        <a:t> </a:t>
                      </a:r>
                      <a:r>
                        <a:rPr sz="2000" spc="-10" dirty="0">
                          <a:latin typeface="Arial MT"/>
                          <a:cs typeface="Arial MT"/>
                        </a:rPr>
                        <a:t>$225,000</a:t>
                      </a:r>
                      <a:endParaRPr sz="2000">
                        <a:latin typeface="Arial MT"/>
                        <a:cs typeface="Arial MT"/>
                      </a:endParaRPr>
                    </a:p>
                  </a:txBody>
                  <a:tcPr marL="0" marR="0" marT="0" marB="0">
                    <a:lnR w="12700">
                      <a:solidFill>
                        <a:srgbClr val="000000"/>
                      </a:solidFill>
                      <a:prstDash val="solid"/>
                    </a:lnR>
                  </a:tcPr>
                </a:tc>
                <a:tc>
                  <a:txBody>
                    <a:bodyPr/>
                    <a:lstStyle/>
                    <a:p>
                      <a:pPr marL="92075">
                        <a:lnSpc>
                          <a:spcPts val="2295"/>
                        </a:lnSpc>
                      </a:pPr>
                      <a:r>
                        <a:rPr sz="2000" spc="-10" dirty="0">
                          <a:latin typeface="Arial MT"/>
                          <a:cs typeface="Arial MT"/>
                        </a:rPr>
                        <a:t>2,203,200</a:t>
                      </a:r>
                      <a:endParaRPr sz="2000">
                        <a:latin typeface="Arial MT"/>
                        <a:cs typeface="Arial MT"/>
                      </a:endParaRPr>
                    </a:p>
                  </a:txBody>
                  <a:tcPr marL="0" marR="0" marT="0" marB="0">
                    <a:lnL w="12700">
                      <a:solidFill>
                        <a:srgbClr val="000000"/>
                      </a:solidFill>
                      <a:prstDash val="solid"/>
                    </a:lnL>
                  </a:tcPr>
                </a:tc>
                <a:extLst>
                  <a:ext uri="{0D108BD9-81ED-4DB2-BD59-A6C34878D82A}">
                    <a16:rowId xmlns:a16="http://schemas.microsoft.com/office/drawing/2014/main" val="10003"/>
                  </a:ext>
                </a:extLst>
              </a:tr>
              <a:tr h="304800">
                <a:tc>
                  <a:txBody>
                    <a:bodyPr/>
                    <a:lstStyle/>
                    <a:p>
                      <a:pPr marL="549275">
                        <a:lnSpc>
                          <a:spcPts val="2295"/>
                        </a:lnSpc>
                      </a:pPr>
                      <a:r>
                        <a:rPr sz="2000" dirty="0">
                          <a:latin typeface="Arial MT"/>
                          <a:cs typeface="Arial MT"/>
                        </a:rPr>
                        <a:t>Util.:</a:t>
                      </a:r>
                      <a:r>
                        <a:rPr sz="2000" spc="-15" dirty="0">
                          <a:latin typeface="Arial MT"/>
                          <a:cs typeface="Arial MT"/>
                        </a:rPr>
                        <a:t> </a:t>
                      </a:r>
                      <a:r>
                        <a:rPr sz="2000" spc="-10" dirty="0">
                          <a:latin typeface="Arial MT"/>
                          <a:cs typeface="Arial MT"/>
                        </a:rPr>
                        <a:t>$360,000</a:t>
                      </a:r>
                      <a:endParaRPr sz="2000">
                        <a:latin typeface="Arial MT"/>
                        <a:cs typeface="Arial MT"/>
                      </a:endParaRPr>
                    </a:p>
                  </a:txBody>
                  <a:tcPr marL="0" marR="0" marT="0" marB="0">
                    <a:lnR w="12700">
                      <a:solidFill>
                        <a:srgbClr val="000000"/>
                      </a:solidFill>
                      <a:prstDash val="solid"/>
                    </a:lnR>
                  </a:tcPr>
                </a:tc>
                <a:tc>
                  <a:txBody>
                    <a:bodyPr/>
                    <a:lstStyle/>
                    <a:p>
                      <a:pPr marL="92075">
                        <a:lnSpc>
                          <a:spcPts val="2295"/>
                        </a:lnSpc>
                      </a:pPr>
                      <a:r>
                        <a:rPr sz="2000" b="1" u="sng" spc="-20" dirty="0">
                          <a:uFill>
                            <a:solidFill>
                              <a:srgbClr val="000000"/>
                            </a:solidFill>
                          </a:uFill>
                          <a:latin typeface="Arial"/>
                          <a:cs typeface="Arial"/>
                        </a:rPr>
                        <a:t>DMH</a:t>
                      </a:r>
                      <a:r>
                        <a:rPr sz="2000" spc="-20" dirty="0">
                          <a:latin typeface="Arial MT"/>
                          <a:cs typeface="Arial MT"/>
                        </a:rPr>
                        <a:t>:</a:t>
                      </a:r>
                      <a:endParaRPr sz="2000">
                        <a:latin typeface="Arial MT"/>
                        <a:cs typeface="Arial MT"/>
                      </a:endParaRPr>
                    </a:p>
                  </a:txBody>
                  <a:tcPr marL="0" marR="0" marT="0" marB="0">
                    <a:lnL w="12700">
                      <a:solidFill>
                        <a:srgbClr val="000000"/>
                      </a:solidFill>
                      <a:prstDash val="solid"/>
                    </a:lnL>
                  </a:tcPr>
                </a:tc>
                <a:extLst>
                  <a:ext uri="{0D108BD9-81ED-4DB2-BD59-A6C34878D82A}">
                    <a16:rowId xmlns:a16="http://schemas.microsoft.com/office/drawing/2014/main" val="10004"/>
                  </a:ext>
                </a:extLst>
              </a:tr>
              <a:tr h="304800">
                <a:tc>
                  <a:txBody>
                    <a:bodyPr/>
                    <a:lstStyle/>
                    <a:p>
                      <a:pPr>
                        <a:lnSpc>
                          <a:spcPct val="100000"/>
                        </a:lnSpc>
                      </a:pPr>
                      <a:endParaRPr sz="1900">
                        <a:latin typeface="Times New Roman"/>
                        <a:cs typeface="Times New Roman"/>
                      </a:endParaRPr>
                    </a:p>
                  </a:txBody>
                  <a:tcPr marL="0" marR="0" marT="0" marB="0">
                    <a:lnR w="12700">
                      <a:solidFill>
                        <a:srgbClr val="000000"/>
                      </a:solidFill>
                      <a:prstDash val="solid"/>
                    </a:lnR>
                  </a:tcPr>
                </a:tc>
                <a:tc>
                  <a:txBody>
                    <a:bodyPr/>
                    <a:lstStyle/>
                    <a:p>
                      <a:pPr marL="92075">
                        <a:lnSpc>
                          <a:spcPts val="2295"/>
                        </a:lnSpc>
                      </a:pPr>
                      <a:r>
                        <a:rPr sz="2000" dirty="0">
                          <a:latin typeface="Arial MT"/>
                          <a:cs typeface="Arial MT"/>
                        </a:rPr>
                        <a:t>$7.5</a:t>
                      </a:r>
                      <a:r>
                        <a:rPr sz="2000" spc="-15" dirty="0">
                          <a:latin typeface="Arial MT"/>
                          <a:cs typeface="Arial MT"/>
                        </a:rPr>
                        <a:t> </a:t>
                      </a:r>
                      <a:r>
                        <a:rPr sz="2000" dirty="0">
                          <a:latin typeface="Arial MT"/>
                          <a:cs typeface="Arial MT"/>
                        </a:rPr>
                        <a:t>*</a:t>
                      </a:r>
                      <a:r>
                        <a:rPr sz="2000" spc="-15" dirty="0">
                          <a:latin typeface="Arial MT"/>
                          <a:cs typeface="Arial MT"/>
                        </a:rPr>
                        <a:t> </a:t>
                      </a:r>
                      <a:r>
                        <a:rPr sz="2000" dirty="0">
                          <a:latin typeface="Arial MT"/>
                          <a:cs typeface="Arial MT"/>
                        </a:rPr>
                        <a:t>47,000</a:t>
                      </a:r>
                      <a:r>
                        <a:rPr sz="2000" spc="-25" dirty="0">
                          <a:latin typeface="Arial MT"/>
                          <a:cs typeface="Arial MT"/>
                        </a:rPr>
                        <a:t> </a:t>
                      </a:r>
                      <a:r>
                        <a:rPr sz="2000" spc="-50" dirty="0">
                          <a:latin typeface="Arial MT"/>
                          <a:cs typeface="Arial MT"/>
                        </a:rPr>
                        <a:t>=</a:t>
                      </a:r>
                      <a:endParaRPr sz="2000">
                        <a:latin typeface="Arial MT"/>
                        <a:cs typeface="Arial MT"/>
                      </a:endParaRPr>
                    </a:p>
                  </a:txBody>
                  <a:tcPr marL="0" marR="0" marT="0" marB="0">
                    <a:lnL w="12700">
                      <a:solidFill>
                        <a:srgbClr val="000000"/>
                      </a:solidFill>
                      <a:prstDash val="solid"/>
                    </a:lnL>
                  </a:tcPr>
                </a:tc>
                <a:extLst>
                  <a:ext uri="{0D108BD9-81ED-4DB2-BD59-A6C34878D82A}">
                    <a16:rowId xmlns:a16="http://schemas.microsoft.com/office/drawing/2014/main" val="10005"/>
                  </a:ext>
                </a:extLst>
              </a:tr>
              <a:tr h="342900">
                <a:tc>
                  <a:txBody>
                    <a:bodyPr/>
                    <a:lstStyle/>
                    <a:p>
                      <a:pPr>
                        <a:lnSpc>
                          <a:spcPct val="100000"/>
                        </a:lnSpc>
                      </a:pPr>
                      <a:endParaRPr sz="2100">
                        <a:latin typeface="Times New Roman"/>
                        <a:cs typeface="Times New Roman"/>
                      </a:endParaRPr>
                    </a:p>
                  </a:txBody>
                  <a:tcPr marL="0" marR="0" marT="0" marB="0">
                    <a:lnR w="12700">
                      <a:solidFill>
                        <a:srgbClr val="000000"/>
                      </a:solidFill>
                      <a:prstDash val="solid"/>
                    </a:lnR>
                    <a:lnB w="12700">
                      <a:solidFill>
                        <a:srgbClr val="000000"/>
                      </a:solidFill>
                      <a:prstDash val="solid"/>
                    </a:lnB>
                  </a:tcPr>
                </a:tc>
                <a:tc>
                  <a:txBody>
                    <a:bodyPr/>
                    <a:lstStyle/>
                    <a:p>
                      <a:pPr marL="92075">
                        <a:lnSpc>
                          <a:spcPts val="2295"/>
                        </a:lnSpc>
                      </a:pPr>
                      <a:r>
                        <a:rPr sz="2000" spc="-10" dirty="0">
                          <a:latin typeface="Arial MT"/>
                          <a:cs typeface="Arial MT"/>
                        </a:rPr>
                        <a:t>$352,500</a:t>
                      </a:r>
                      <a:endParaRPr sz="2000">
                        <a:latin typeface="Arial MT"/>
                        <a:cs typeface="Arial MT"/>
                      </a:endParaRPr>
                    </a:p>
                  </a:txBody>
                  <a:tcPr marL="0" marR="0" marT="0" marB="0">
                    <a:lnL w="12700">
                      <a:solidFill>
                        <a:srgbClr val="000000"/>
                      </a:solidFill>
                      <a:prstDash val="solid"/>
                    </a:lnL>
                    <a:lnB w="12700">
                      <a:solidFill>
                        <a:srgbClr val="000000"/>
                      </a:solidFill>
                      <a:prstDash val="solid"/>
                    </a:lnB>
                  </a:tcPr>
                </a:tc>
                <a:extLst>
                  <a:ext uri="{0D108BD9-81ED-4DB2-BD59-A6C34878D82A}">
                    <a16:rowId xmlns:a16="http://schemas.microsoft.com/office/drawing/2014/main" val="10006"/>
                  </a:ext>
                </a:extLst>
              </a:tr>
              <a:tr h="395605">
                <a:tc>
                  <a:txBody>
                    <a:bodyPr/>
                    <a:lstStyle/>
                    <a:p>
                      <a:pPr marL="549275">
                        <a:lnSpc>
                          <a:spcPct val="100000"/>
                        </a:lnSpc>
                        <a:spcBef>
                          <a:spcPts val="310"/>
                        </a:spcBef>
                      </a:pPr>
                      <a:r>
                        <a:rPr sz="2000" spc="-10" dirty="0">
                          <a:latin typeface="Arial MT"/>
                          <a:cs typeface="Arial MT"/>
                        </a:rPr>
                        <a:t>$2,485,000</a:t>
                      </a:r>
                      <a:endParaRPr sz="2000">
                        <a:latin typeface="Arial MT"/>
                        <a:cs typeface="Arial MT"/>
                      </a:endParaRPr>
                    </a:p>
                  </a:txBody>
                  <a:tcPr marL="0" marR="0" marT="39370" marB="0">
                    <a:lnR w="12700">
                      <a:solidFill>
                        <a:srgbClr val="000000"/>
                      </a:solidFill>
                      <a:prstDash val="solid"/>
                    </a:lnR>
                    <a:lnT w="12700">
                      <a:solidFill>
                        <a:srgbClr val="000000"/>
                      </a:solidFill>
                      <a:prstDash val="solid"/>
                    </a:lnT>
                  </a:tcPr>
                </a:tc>
                <a:tc>
                  <a:txBody>
                    <a:bodyPr/>
                    <a:lstStyle/>
                    <a:p>
                      <a:pPr marL="549275">
                        <a:lnSpc>
                          <a:spcPct val="100000"/>
                        </a:lnSpc>
                        <a:spcBef>
                          <a:spcPts val="310"/>
                        </a:spcBef>
                      </a:pPr>
                      <a:r>
                        <a:rPr sz="2000" spc="-10" dirty="0">
                          <a:latin typeface="Arial MT"/>
                          <a:cs typeface="Arial MT"/>
                        </a:rPr>
                        <a:t>$2,555,700</a:t>
                      </a:r>
                      <a:endParaRPr sz="2000" dirty="0">
                        <a:latin typeface="Arial MT"/>
                        <a:cs typeface="Arial MT"/>
                      </a:endParaRPr>
                    </a:p>
                  </a:txBody>
                  <a:tcPr marL="0" marR="0" marT="39370" marB="0">
                    <a:lnL w="12700">
                      <a:solidFill>
                        <a:srgbClr val="000000"/>
                      </a:solidFill>
                      <a:prstDash val="solid"/>
                    </a:lnL>
                    <a:lnT w="12700">
                      <a:solidFill>
                        <a:srgbClr val="000000"/>
                      </a:solidFill>
                      <a:prstDash val="solid"/>
                    </a:lnT>
                  </a:tcPr>
                </a:tc>
                <a:extLst>
                  <a:ext uri="{0D108BD9-81ED-4DB2-BD59-A6C34878D82A}">
                    <a16:rowId xmlns:a16="http://schemas.microsoft.com/office/drawing/2014/main" val="10007"/>
                  </a:ext>
                </a:extLst>
              </a:tr>
            </a:tbl>
          </a:graphicData>
        </a:graphic>
      </p:graphicFrame>
      <p:sp>
        <p:nvSpPr>
          <p:cNvPr id="7" name="object 7"/>
          <p:cNvSpPr/>
          <p:nvPr/>
        </p:nvSpPr>
        <p:spPr>
          <a:xfrm>
            <a:off x="3864102" y="5371338"/>
            <a:ext cx="6696709" cy="914400"/>
          </a:xfrm>
          <a:custGeom>
            <a:avLst/>
            <a:gdLst/>
            <a:ahLst/>
            <a:cxnLst/>
            <a:rect l="l" t="t" r="r" b="b"/>
            <a:pathLst>
              <a:path w="6696709" h="914400">
                <a:moveTo>
                  <a:pt x="0" y="152400"/>
                </a:moveTo>
                <a:lnTo>
                  <a:pt x="7766" y="104217"/>
                </a:lnTo>
                <a:lnTo>
                  <a:pt x="29394" y="62380"/>
                </a:lnTo>
                <a:lnTo>
                  <a:pt x="62380" y="29394"/>
                </a:lnTo>
                <a:lnTo>
                  <a:pt x="104217" y="7766"/>
                </a:lnTo>
                <a:lnTo>
                  <a:pt x="152400" y="0"/>
                </a:lnTo>
                <a:lnTo>
                  <a:pt x="6544056" y="0"/>
                </a:lnTo>
                <a:lnTo>
                  <a:pt x="6592238" y="7766"/>
                </a:lnTo>
                <a:lnTo>
                  <a:pt x="6634075" y="29394"/>
                </a:lnTo>
                <a:lnTo>
                  <a:pt x="6667061" y="62380"/>
                </a:lnTo>
                <a:lnTo>
                  <a:pt x="6688689" y="104217"/>
                </a:lnTo>
                <a:lnTo>
                  <a:pt x="6696456" y="152400"/>
                </a:lnTo>
                <a:lnTo>
                  <a:pt x="6696456" y="761987"/>
                </a:lnTo>
                <a:lnTo>
                  <a:pt x="6688689" y="810161"/>
                </a:lnTo>
                <a:lnTo>
                  <a:pt x="6667061" y="852000"/>
                </a:lnTo>
                <a:lnTo>
                  <a:pt x="6634075" y="884993"/>
                </a:lnTo>
                <a:lnTo>
                  <a:pt x="6592238" y="906629"/>
                </a:lnTo>
                <a:lnTo>
                  <a:pt x="6544056" y="914400"/>
                </a:lnTo>
                <a:lnTo>
                  <a:pt x="152400" y="914400"/>
                </a:lnTo>
                <a:lnTo>
                  <a:pt x="104217" y="906629"/>
                </a:lnTo>
                <a:lnTo>
                  <a:pt x="62380" y="884993"/>
                </a:lnTo>
                <a:lnTo>
                  <a:pt x="29394" y="852000"/>
                </a:lnTo>
                <a:lnTo>
                  <a:pt x="7766" y="810161"/>
                </a:lnTo>
                <a:lnTo>
                  <a:pt x="0" y="761987"/>
                </a:lnTo>
                <a:lnTo>
                  <a:pt x="0" y="152400"/>
                </a:lnTo>
                <a:close/>
              </a:path>
            </a:pathLst>
          </a:custGeom>
          <a:ln w="25400">
            <a:solidFill>
              <a:srgbClr val="0070C0"/>
            </a:solidFill>
          </a:ln>
        </p:spPr>
        <p:txBody>
          <a:bodyPr wrap="square" lIns="0" tIns="0" rIns="0" bIns="0" rtlCol="0"/>
          <a:lstStyle/>
          <a:p>
            <a:endParaRPr/>
          </a:p>
        </p:txBody>
      </p:sp>
      <p:sp>
        <p:nvSpPr>
          <p:cNvPr id="8" name="object 8"/>
          <p:cNvSpPr txBox="1"/>
          <p:nvPr/>
        </p:nvSpPr>
        <p:spPr>
          <a:xfrm>
            <a:off x="4238371" y="5434076"/>
            <a:ext cx="5949950" cy="766445"/>
          </a:xfrm>
          <a:prstGeom prst="rect">
            <a:avLst/>
          </a:prstGeom>
        </p:spPr>
        <p:txBody>
          <a:bodyPr vert="horz" wrap="square" lIns="0" tIns="3175" rIns="0" bIns="0" rtlCol="0">
            <a:spAutoFit/>
          </a:bodyPr>
          <a:lstStyle/>
          <a:p>
            <a:pPr marL="1647825" marR="5080" indent="-1635760">
              <a:lnSpc>
                <a:spcPct val="102499"/>
              </a:lnSpc>
              <a:spcBef>
                <a:spcPts val="25"/>
              </a:spcBef>
            </a:pPr>
            <a:r>
              <a:rPr sz="2400" dirty="0">
                <a:latin typeface="Arial MT"/>
                <a:cs typeface="Arial MT"/>
              </a:rPr>
              <a:t>Actual</a:t>
            </a:r>
            <a:r>
              <a:rPr sz="2400" spc="-50" dirty="0">
                <a:latin typeface="Arial MT"/>
                <a:cs typeface="Arial MT"/>
              </a:rPr>
              <a:t> </a:t>
            </a:r>
            <a:r>
              <a:rPr sz="2400" dirty="0">
                <a:latin typeface="Arial MT"/>
                <a:cs typeface="Arial MT"/>
              </a:rPr>
              <a:t>OH</a:t>
            </a:r>
            <a:r>
              <a:rPr sz="2400" spc="-40" dirty="0">
                <a:latin typeface="Arial MT"/>
                <a:cs typeface="Arial MT"/>
              </a:rPr>
              <a:t> </a:t>
            </a:r>
            <a:r>
              <a:rPr sz="2400" dirty="0">
                <a:latin typeface="Arial MT"/>
                <a:cs typeface="Arial MT"/>
              </a:rPr>
              <a:t>costs</a:t>
            </a:r>
            <a:r>
              <a:rPr sz="2400" spc="-40" dirty="0">
                <a:latin typeface="Arial MT"/>
                <a:cs typeface="Arial MT"/>
              </a:rPr>
              <a:t> </a:t>
            </a:r>
            <a:r>
              <a:rPr sz="2400" dirty="0">
                <a:latin typeface="Calibri"/>
                <a:cs typeface="Calibri"/>
              </a:rPr>
              <a:t>≤</a:t>
            </a:r>
            <a:r>
              <a:rPr sz="2400" spc="-40" dirty="0">
                <a:latin typeface="Calibri"/>
                <a:cs typeface="Calibri"/>
              </a:rPr>
              <a:t> </a:t>
            </a:r>
            <a:r>
              <a:rPr sz="2400" dirty="0">
                <a:latin typeface="Arial MT"/>
                <a:cs typeface="Arial MT"/>
              </a:rPr>
              <a:t>OH</a:t>
            </a:r>
            <a:r>
              <a:rPr sz="2400" spc="-40" dirty="0">
                <a:latin typeface="Arial MT"/>
                <a:cs typeface="Arial MT"/>
              </a:rPr>
              <a:t> </a:t>
            </a:r>
            <a:r>
              <a:rPr sz="2400" dirty="0">
                <a:latin typeface="Arial MT"/>
                <a:cs typeface="Arial MT"/>
              </a:rPr>
              <a:t>Costs</a:t>
            </a:r>
            <a:r>
              <a:rPr sz="2400" spc="-40" dirty="0">
                <a:latin typeface="Arial MT"/>
                <a:cs typeface="Arial MT"/>
              </a:rPr>
              <a:t> </a:t>
            </a:r>
            <a:r>
              <a:rPr sz="2400" dirty="0">
                <a:latin typeface="Arial MT"/>
                <a:cs typeface="Arial MT"/>
              </a:rPr>
              <a:t>applied</a:t>
            </a:r>
            <a:r>
              <a:rPr sz="2400" spc="-5" dirty="0">
                <a:latin typeface="Arial MT"/>
                <a:cs typeface="Arial MT"/>
              </a:rPr>
              <a:t> </a:t>
            </a:r>
            <a:r>
              <a:rPr sz="2400" dirty="0">
                <a:latin typeface="Arial MT"/>
                <a:cs typeface="Arial MT"/>
              </a:rPr>
              <a:t>to</a:t>
            </a:r>
            <a:r>
              <a:rPr sz="2400" spc="-40" dirty="0">
                <a:latin typeface="Arial MT"/>
                <a:cs typeface="Arial MT"/>
              </a:rPr>
              <a:t> </a:t>
            </a:r>
            <a:r>
              <a:rPr sz="2400" spc="-20" dirty="0">
                <a:latin typeface="Arial MT"/>
                <a:cs typeface="Arial MT"/>
              </a:rPr>
              <a:t>WIP. </a:t>
            </a:r>
            <a:r>
              <a:rPr sz="2400" dirty="0">
                <a:latin typeface="Arial MT"/>
                <a:cs typeface="Arial MT"/>
              </a:rPr>
              <a:t>Difference:</a:t>
            </a:r>
            <a:r>
              <a:rPr sz="2400" spc="-145" dirty="0">
                <a:latin typeface="Arial MT"/>
                <a:cs typeface="Arial MT"/>
              </a:rPr>
              <a:t> </a:t>
            </a:r>
            <a:r>
              <a:rPr sz="2400" spc="-10" dirty="0">
                <a:latin typeface="Arial MT"/>
                <a:cs typeface="Arial MT"/>
              </a:rPr>
              <a:t>$70,700</a:t>
            </a:r>
            <a:endParaRPr sz="2400">
              <a:latin typeface="Arial MT"/>
              <a:cs typeface="Aria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30123" y="1510665"/>
            <a:ext cx="10715625" cy="1122680"/>
          </a:xfrm>
          <a:prstGeom prst="rect">
            <a:avLst/>
          </a:prstGeom>
        </p:spPr>
        <p:txBody>
          <a:bodyPr vert="horz" wrap="square" lIns="0" tIns="12700" rIns="0" bIns="0" rtlCol="0">
            <a:spAutoFit/>
          </a:bodyPr>
          <a:lstStyle/>
          <a:p>
            <a:pPr marL="469900" marR="5080" indent="-457200">
              <a:lnSpc>
                <a:spcPct val="100000"/>
              </a:lnSpc>
              <a:spcBef>
                <a:spcPts val="100"/>
              </a:spcBef>
              <a:tabLst>
                <a:tab pos="469265" algn="l"/>
              </a:tabLst>
            </a:pPr>
            <a:r>
              <a:rPr sz="1900" spc="-25" dirty="0">
                <a:solidFill>
                  <a:srgbClr val="252525"/>
                </a:solidFill>
                <a:latin typeface="Arial MT"/>
                <a:cs typeface="Arial MT"/>
              </a:rPr>
              <a:t>2.</a:t>
            </a:r>
            <a:r>
              <a:rPr sz="1900" dirty="0">
                <a:solidFill>
                  <a:srgbClr val="252525"/>
                </a:solidFill>
                <a:latin typeface="Arial MT"/>
                <a:cs typeface="Arial MT"/>
              </a:rPr>
              <a:t>	</a:t>
            </a:r>
            <a:r>
              <a:rPr sz="2400" dirty="0">
                <a:solidFill>
                  <a:srgbClr val="252525"/>
                </a:solidFill>
                <a:latin typeface="Arial MT"/>
                <a:cs typeface="Arial MT"/>
              </a:rPr>
              <a:t>Indicate</a:t>
            </a:r>
            <a:r>
              <a:rPr sz="2400" spc="-75" dirty="0">
                <a:solidFill>
                  <a:srgbClr val="252525"/>
                </a:solidFill>
                <a:latin typeface="Arial MT"/>
                <a:cs typeface="Arial MT"/>
              </a:rPr>
              <a:t> </a:t>
            </a:r>
            <a:r>
              <a:rPr sz="2400" dirty="0">
                <a:solidFill>
                  <a:srgbClr val="252525"/>
                </a:solidFill>
                <a:latin typeface="Arial MT"/>
                <a:cs typeface="Arial MT"/>
              </a:rPr>
              <a:t>what</a:t>
            </a:r>
            <a:r>
              <a:rPr sz="2400" spc="-75" dirty="0">
                <a:solidFill>
                  <a:srgbClr val="252525"/>
                </a:solidFill>
                <a:latin typeface="Arial MT"/>
                <a:cs typeface="Arial MT"/>
              </a:rPr>
              <a:t> </a:t>
            </a:r>
            <a:r>
              <a:rPr sz="2400" dirty="0">
                <a:solidFill>
                  <a:srgbClr val="252525"/>
                </a:solidFill>
                <a:latin typeface="Arial MT"/>
                <a:cs typeface="Arial MT"/>
              </a:rPr>
              <a:t>is</a:t>
            </a:r>
            <a:r>
              <a:rPr sz="2400" spc="-75" dirty="0">
                <a:solidFill>
                  <a:srgbClr val="252525"/>
                </a:solidFill>
                <a:latin typeface="Arial MT"/>
                <a:cs typeface="Arial MT"/>
              </a:rPr>
              <a:t> </a:t>
            </a:r>
            <a:r>
              <a:rPr sz="2400" dirty="0">
                <a:solidFill>
                  <a:srgbClr val="252525"/>
                </a:solidFill>
                <a:latin typeface="Arial MT"/>
                <a:cs typeface="Arial MT"/>
              </a:rPr>
              <a:t>the</a:t>
            </a:r>
            <a:r>
              <a:rPr sz="2400" spc="-75" dirty="0">
                <a:solidFill>
                  <a:srgbClr val="252525"/>
                </a:solidFill>
                <a:latin typeface="Arial MT"/>
                <a:cs typeface="Arial MT"/>
              </a:rPr>
              <a:t> </a:t>
            </a:r>
            <a:r>
              <a:rPr sz="2400" dirty="0">
                <a:solidFill>
                  <a:srgbClr val="252525"/>
                </a:solidFill>
                <a:latin typeface="Arial MT"/>
                <a:cs typeface="Arial MT"/>
              </a:rPr>
              <a:t>appropriate</a:t>
            </a:r>
            <a:r>
              <a:rPr sz="2400" spc="-65" dirty="0">
                <a:solidFill>
                  <a:srgbClr val="252525"/>
                </a:solidFill>
                <a:latin typeface="Arial MT"/>
                <a:cs typeface="Arial MT"/>
              </a:rPr>
              <a:t> </a:t>
            </a:r>
            <a:r>
              <a:rPr sz="2400" dirty="0">
                <a:solidFill>
                  <a:srgbClr val="252525"/>
                </a:solidFill>
                <a:latin typeface="Arial MT"/>
                <a:cs typeface="Arial MT"/>
              </a:rPr>
              <a:t>accounting</a:t>
            </a:r>
            <a:r>
              <a:rPr sz="2400" spc="-55" dirty="0">
                <a:solidFill>
                  <a:srgbClr val="252525"/>
                </a:solidFill>
                <a:latin typeface="Arial MT"/>
                <a:cs typeface="Arial MT"/>
              </a:rPr>
              <a:t> </a:t>
            </a:r>
            <a:r>
              <a:rPr sz="2400" dirty="0">
                <a:solidFill>
                  <a:srgbClr val="252525"/>
                </a:solidFill>
                <a:latin typeface="Arial MT"/>
                <a:cs typeface="Arial MT"/>
              </a:rPr>
              <a:t>treatment</a:t>
            </a:r>
            <a:r>
              <a:rPr sz="2400" spc="-90" dirty="0">
                <a:solidFill>
                  <a:srgbClr val="252525"/>
                </a:solidFill>
                <a:latin typeface="Arial MT"/>
                <a:cs typeface="Arial MT"/>
              </a:rPr>
              <a:t> </a:t>
            </a:r>
            <a:r>
              <a:rPr sz="2400" dirty="0">
                <a:solidFill>
                  <a:srgbClr val="252525"/>
                </a:solidFill>
                <a:latin typeface="Arial MT"/>
                <a:cs typeface="Arial MT"/>
              </a:rPr>
              <a:t>for</a:t>
            </a:r>
            <a:r>
              <a:rPr sz="2400" spc="-70" dirty="0">
                <a:solidFill>
                  <a:srgbClr val="252525"/>
                </a:solidFill>
                <a:latin typeface="Arial MT"/>
                <a:cs typeface="Arial MT"/>
              </a:rPr>
              <a:t> </a:t>
            </a:r>
            <a:r>
              <a:rPr sz="2400" dirty="0">
                <a:solidFill>
                  <a:srgbClr val="252525"/>
                </a:solidFill>
                <a:latin typeface="Arial MT"/>
                <a:cs typeface="Arial MT"/>
              </a:rPr>
              <a:t>over</a:t>
            </a:r>
            <a:r>
              <a:rPr sz="2400" spc="-70" dirty="0">
                <a:solidFill>
                  <a:srgbClr val="252525"/>
                </a:solidFill>
                <a:latin typeface="Arial MT"/>
                <a:cs typeface="Arial MT"/>
              </a:rPr>
              <a:t> </a:t>
            </a:r>
            <a:r>
              <a:rPr sz="2400" dirty="0">
                <a:solidFill>
                  <a:srgbClr val="252525"/>
                </a:solidFill>
                <a:latin typeface="Arial MT"/>
                <a:cs typeface="Arial MT"/>
              </a:rPr>
              <a:t>and</a:t>
            </a:r>
            <a:r>
              <a:rPr sz="2400" spc="-85" dirty="0">
                <a:solidFill>
                  <a:srgbClr val="252525"/>
                </a:solidFill>
                <a:latin typeface="Arial MT"/>
                <a:cs typeface="Arial MT"/>
              </a:rPr>
              <a:t> </a:t>
            </a:r>
            <a:r>
              <a:rPr sz="2400" spc="-10" dirty="0">
                <a:solidFill>
                  <a:srgbClr val="252525"/>
                </a:solidFill>
                <a:latin typeface="Arial MT"/>
                <a:cs typeface="Arial MT"/>
              </a:rPr>
              <a:t>under </a:t>
            </a:r>
            <a:r>
              <a:rPr sz="2400" dirty="0">
                <a:solidFill>
                  <a:srgbClr val="252525"/>
                </a:solidFill>
                <a:latin typeface="Arial MT"/>
                <a:cs typeface="Arial MT"/>
              </a:rPr>
              <a:t>allocated</a:t>
            </a:r>
            <a:r>
              <a:rPr sz="2400" spc="-35" dirty="0">
                <a:solidFill>
                  <a:srgbClr val="252525"/>
                </a:solidFill>
                <a:latin typeface="Arial MT"/>
                <a:cs typeface="Arial MT"/>
              </a:rPr>
              <a:t> </a:t>
            </a:r>
            <a:r>
              <a:rPr sz="2400" dirty="0">
                <a:solidFill>
                  <a:srgbClr val="252525"/>
                </a:solidFill>
                <a:latin typeface="Arial MT"/>
                <a:cs typeface="Arial MT"/>
              </a:rPr>
              <a:t>overhead</a:t>
            </a:r>
            <a:r>
              <a:rPr sz="2400" spc="-30" dirty="0">
                <a:solidFill>
                  <a:srgbClr val="252525"/>
                </a:solidFill>
                <a:latin typeface="Arial MT"/>
                <a:cs typeface="Arial MT"/>
              </a:rPr>
              <a:t> </a:t>
            </a:r>
            <a:r>
              <a:rPr sz="2400" dirty="0">
                <a:solidFill>
                  <a:srgbClr val="252525"/>
                </a:solidFill>
                <a:latin typeface="Arial MT"/>
                <a:cs typeface="Arial MT"/>
              </a:rPr>
              <a:t>and</a:t>
            </a:r>
            <a:r>
              <a:rPr sz="2400" spc="-50" dirty="0">
                <a:solidFill>
                  <a:srgbClr val="252525"/>
                </a:solidFill>
                <a:latin typeface="Arial MT"/>
                <a:cs typeface="Arial MT"/>
              </a:rPr>
              <a:t> </a:t>
            </a:r>
            <a:r>
              <a:rPr sz="2400" dirty="0">
                <a:solidFill>
                  <a:srgbClr val="252525"/>
                </a:solidFill>
                <a:latin typeface="Arial MT"/>
                <a:cs typeface="Arial MT"/>
              </a:rPr>
              <a:t>prepare</a:t>
            </a:r>
            <a:r>
              <a:rPr sz="2400" spc="-60" dirty="0">
                <a:solidFill>
                  <a:srgbClr val="252525"/>
                </a:solidFill>
                <a:latin typeface="Arial MT"/>
                <a:cs typeface="Arial MT"/>
              </a:rPr>
              <a:t> </a:t>
            </a:r>
            <a:r>
              <a:rPr sz="2400" dirty="0">
                <a:solidFill>
                  <a:srgbClr val="252525"/>
                </a:solidFill>
                <a:latin typeface="Arial MT"/>
                <a:cs typeface="Arial MT"/>
              </a:rPr>
              <a:t>the</a:t>
            </a:r>
            <a:r>
              <a:rPr sz="2400" spc="-55" dirty="0">
                <a:solidFill>
                  <a:srgbClr val="252525"/>
                </a:solidFill>
                <a:latin typeface="Arial MT"/>
                <a:cs typeface="Arial MT"/>
              </a:rPr>
              <a:t> </a:t>
            </a:r>
            <a:r>
              <a:rPr sz="2400" dirty="0">
                <a:solidFill>
                  <a:srgbClr val="252525"/>
                </a:solidFill>
                <a:latin typeface="Arial MT"/>
                <a:cs typeface="Arial MT"/>
              </a:rPr>
              <a:t>journal</a:t>
            </a:r>
            <a:r>
              <a:rPr sz="2400" spc="-50" dirty="0">
                <a:solidFill>
                  <a:srgbClr val="252525"/>
                </a:solidFill>
                <a:latin typeface="Arial MT"/>
                <a:cs typeface="Arial MT"/>
              </a:rPr>
              <a:t> </a:t>
            </a:r>
            <a:r>
              <a:rPr sz="2400" dirty="0">
                <a:solidFill>
                  <a:srgbClr val="252525"/>
                </a:solidFill>
                <a:latin typeface="Arial MT"/>
                <a:cs typeface="Arial MT"/>
              </a:rPr>
              <a:t>entry</a:t>
            </a:r>
            <a:r>
              <a:rPr sz="2400" spc="-55" dirty="0">
                <a:solidFill>
                  <a:srgbClr val="252525"/>
                </a:solidFill>
                <a:latin typeface="Arial MT"/>
                <a:cs typeface="Arial MT"/>
              </a:rPr>
              <a:t> </a:t>
            </a:r>
            <a:r>
              <a:rPr sz="2400" dirty="0">
                <a:solidFill>
                  <a:srgbClr val="252525"/>
                </a:solidFill>
                <a:latin typeface="Arial MT"/>
                <a:cs typeface="Arial MT"/>
              </a:rPr>
              <a:t>to</a:t>
            </a:r>
            <a:r>
              <a:rPr sz="2400" spc="-70" dirty="0">
                <a:solidFill>
                  <a:srgbClr val="252525"/>
                </a:solidFill>
                <a:latin typeface="Arial MT"/>
                <a:cs typeface="Arial MT"/>
              </a:rPr>
              <a:t> </a:t>
            </a:r>
            <a:r>
              <a:rPr sz="2400" dirty="0">
                <a:solidFill>
                  <a:srgbClr val="252525"/>
                </a:solidFill>
                <a:latin typeface="Arial MT"/>
                <a:cs typeface="Arial MT"/>
              </a:rPr>
              <a:t>adjust</a:t>
            </a:r>
            <a:r>
              <a:rPr sz="2400" spc="-55" dirty="0">
                <a:solidFill>
                  <a:srgbClr val="252525"/>
                </a:solidFill>
                <a:latin typeface="Arial MT"/>
                <a:cs typeface="Arial MT"/>
              </a:rPr>
              <a:t> </a:t>
            </a:r>
            <a:r>
              <a:rPr sz="2400" dirty="0">
                <a:solidFill>
                  <a:srgbClr val="252525"/>
                </a:solidFill>
                <a:latin typeface="Arial MT"/>
                <a:cs typeface="Arial MT"/>
              </a:rPr>
              <a:t>the</a:t>
            </a:r>
            <a:r>
              <a:rPr sz="2400" spc="-55" dirty="0">
                <a:solidFill>
                  <a:srgbClr val="252525"/>
                </a:solidFill>
                <a:latin typeface="Arial MT"/>
                <a:cs typeface="Arial MT"/>
              </a:rPr>
              <a:t> </a:t>
            </a:r>
            <a:r>
              <a:rPr sz="2400" dirty="0">
                <a:solidFill>
                  <a:srgbClr val="252525"/>
                </a:solidFill>
                <a:latin typeface="Arial MT"/>
                <a:cs typeface="Arial MT"/>
              </a:rPr>
              <a:t>over</a:t>
            </a:r>
            <a:r>
              <a:rPr sz="2400" spc="-55" dirty="0">
                <a:solidFill>
                  <a:srgbClr val="252525"/>
                </a:solidFill>
                <a:latin typeface="Arial MT"/>
                <a:cs typeface="Arial MT"/>
              </a:rPr>
              <a:t> </a:t>
            </a:r>
            <a:r>
              <a:rPr sz="2400" dirty="0">
                <a:solidFill>
                  <a:srgbClr val="252525"/>
                </a:solidFill>
                <a:latin typeface="Arial MT"/>
                <a:cs typeface="Arial MT"/>
              </a:rPr>
              <a:t>or</a:t>
            </a:r>
            <a:r>
              <a:rPr sz="2400" spc="-50" dirty="0">
                <a:solidFill>
                  <a:srgbClr val="252525"/>
                </a:solidFill>
                <a:latin typeface="Arial MT"/>
                <a:cs typeface="Arial MT"/>
              </a:rPr>
              <a:t> </a:t>
            </a:r>
            <a:r>
              <a:rPr sz="2400" spc="-10" dirty="0">
                <a:solidFill>
                  <a:srgbClr val="252525"/>
                </a:solidFill>
                <a:latin typeface="Arial MT"/>
                <a:cs typeface="Arial MT"/>
              </a:rPr>
              <a:t>under </a:t>
            </a:r>
            <a:r>
              <a:rPr sz="2400" dirty="0">
                <a:solidFill>
                  <a:srgbClr val="252525"/>
                </a:solidFill>
                <a:latin typeface="Arial MT"/>
                <a:cs typeface="Arial MT"/>
              </a:rPr>
              <a:t>allocated</a:t>
            </a:r>
            <a:r>
              <a:rPr sz="2400" spc="-50" dirty="0">
                <a:solidFill>
                  <a:srgbClr val="252525"/>
                </a:solidFill>
                <a:latin typeface="Arial MT"/>
                <a:cs typeface="Arial MT"/>
              </a:rPr>
              <a:t> </a:t>
            </a:r>
            <a:r>
              <a:rPr sz="2400" dirty="0">
                <a:solidFill>
                  <a:srgbClr val="252525"/>
                </a:solidFill>
                <a:latin typeface="Arial MT"/>
                <a:cs typeface="Arial MT"/>
              </a:rPr>
              <a:t>manufacturing</a:t>
            </a:r>
            <a:r>
              <a:rPr sz="2400" spc="-75" dirty="0">
                <a:solidFill>
                  <a:srgbClr val="252525"/>
                </a:solidFill>
                <a:latin typeface="Arial MT"/>
                <a:cs typeface="Arial MT"/>
              </a:rPr>
              <a:t> </a:t>
            </a:r>
            <a:r>
              <a:rPr sz="2400" dirty="0">
                <a:solidFill>
                  <a:srgbClr val="252525"/>
                </a:solidFill>
                <a:latin typeface="Arial MT"/>
                <a:cs typeface="Arial MT"/>
              </a:rPr>
              <a:t>overhead</a:t>
            </a:r>
            <a:r>
              <a:rPr sz="2400" spc="-50" dirty="0">
                <a:solidFill>
                  <a:srgbClr val="252525"/>
                </a:solidFill>
                <a:latin typeface="Arial MT"/>
                <a:cs typeface="Arial MT"/>
              </a:rPr>
              <a:t> </a:t>
            </a:r>
            <a:r>
              <a:rPr sz="2400" dirty="0">
                <a:solidFill>
                  <a:srgbClr val="252525"/>
                </a:solidFill>
                <a:latin typeface="Arial MT"/>
                <a:cs typeface="Arial MT"/>
              </a:rPr>
              <a:t>costs</a:t>
            </a:r>
            <a:r>
              <a:rPr sz="2400" spc="-80" dirty="0">
                <a:solidFill>
                  <a:srgbClr val="252525"/>
                </a:solidFill>
                <a:latin typeface="Arial MT"/>
                <a:cs typeface="Arial MT"/>
              </a:rPr>
              <a:t> </a:t>
            </a:r>
            <a:r>
              <a:rPr sz="2400" dirty="0">
                <a:solidFill>
                  <a:srgbClr val="252525"/>
                </a:solidFill>
                <a:latin typeface="Arial MT"/>
                <a:cs typeface="Arial MT"/>
              </a:rPr>
              <a:t>for</a:t>
            </a:r>
            <a:r>
              <a:rPr sz="2400" spc="-120" dirty="0">
                <a:solidFill>
                  <a:srgbClr val="252525"/>
                </a:solidFill>
                <a:latin typeface="Arial MT"/>
                <a:cs typeface="Arial MT"/>
              </a:rPr>
              <a:t> </a:t>
            </a:r>
            <a:r>
              <a:rPr sz="2400" spc="-20" dirty="0">
                <a:solidFill>
                  <a:srgbClr val="252525"/>
                </a:solidFill>
                <a:latin typeface="Arial MT"/>
                <a:cs typeface="Arial MT"/>
              </a:rPr>
              <a:t>YII.</a:t>
            </a:r>
            <a:endParaRPr sz="2400">
              <a:latin typeface="Arial MT"/>
              <a:cs typeface="Arial MT"/>
            </a:endParaRPr>
          </a:p>
        </p:txBody>
      </p:sp>
      <p:sp>
        <p:nvSpPr>
          <p:cNvPr id="5" name="object 5"/>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11</a:t>
            </a:fld>
            <a:endParaRPr spc="-25" dirty="0"/>
          </a:p>
        </p:txBody>
      </p:sp>
      <p:sp>
        <p:nvSpPr>
          <p:cNvPr id="6" name="Subtitle 5">
            <a:extLst>
              <a:ext uri="{FF2B5EF4-FFF2-40B4-BE49-F238E27FC236}">
                <a16:creationId xmlns:a16="http://schemas.microsoft.com/office/drawing/2014/main" id="{48C2563D-9185-C26B-ACD3-F463D68CE30B}"/>
              </a:ext>
            </a:extLst>
          </p:cNvPr>
          <p:cNvSpPr>
            <a:spLocks noGrp="1"/>
          </p:cNvSpPr>
          <p:nvPr>
            <p:ph type="subTitle" idx="1"/>
          </p:nvPr>
        </p:nvSpPr>
        <p:spPr/>
        <p:txBody>
          <a:bodyPr/>
          <a:lstStyle/>
          <a:p>
            <a:r>
              <a:rPr lang="en-CA" dirty="0"/>
              <a:t>Yacht International Inc. (YII) Part 2</a:t>
            </a:r>
          </a:p>
        </p:txBody>
      </p:sp>
      <p:graphicFrame>
        <p:nvGraphicFramePr>
          <p:cNvPr id="4" name="object 4"/>
          <p:cNvGraphicFramePr>
            <a:graphicFrameLocks noGrp="1"/>
          </p:cNvGraphicFramePr>
          <p:nvPr/>
        </p:nvGraphicFramePr>
        <p:xfrm>
          <a:off x="1049096" y="3062604"/>
          <a:ext cx="10351135" cy="2663190"/>
        </p:xfrm>
        <a:graphic>
          <a:graphicData uri="http://schemas.openxmlformats.org/drawingml/2006/table">
            <a:tbl>
              <a:tblPr firstRow="1" bandRow="1">
                <a:tableStyleId>{2D5ABB26-0587-4C30-8999-92F81FD0307C}</a:tableStyleId>
              </a:tblPr>
              <a:tblGrid>
                <a:gridCol w="4034790">
                  <a:extLst>
                    <a:ext uri="{9D8B030D-6E8A-4147-A177-3AD203B41FA5}">
                      <a16:colId xmlns:a16="http://schemas.microsoft.com/office/drawing/2014/main" val="20000"/>
                    </a:ext>
                  </a:extLst>
                </a:gridCol>
                <a:gridCol w="6316345">
                  <a:extLst>
                    <a:ext uri="{9D8B030D-6E8A-4147-A177-3AD203B41FA5}">
                      <a16:colId xmlns:a16="http://schemas.microsoft.com/office/drawing/2014/main" val="20001"/>
                    </a:ext>
                  </a:extLst>
                </a:gridCol>
              </a:tblGrid>
              <a:tr h="1510030">
                <a:tc>
                  <a:txBody>
                    <a:bodyPr/>
                    <a:lstStyle/>
                    <a:p>
                      <a:pPr marL="585470" marR="579120" indent="193040">
                        <a:lnSpc>
                          <a:spcPct val="106700"/>
                        </a:lnSpc>
                        <a:spcBef>
                          <a:spcPts val="2705"/>
                        </a:spcBef>
                      </a:pPr>
                      <a:r>
                        <a:rPr sz="2400" b="1" dirty="0">
                          <a:solidFill>
                            <a:srgbClr val="FFFFFF"/>
                          </a:solidFill>
                          <a:latin typeface="Arial"/>
                          <a:cs typeface="Arial"/>
                        </a:rPr>
                        <a:t>UNDER</a:t>
                      </a:r>
                      <a:r>
                        <a:rPr sz="2400" b="1" spc="-170" dirty="0">
                          <a:solidFill>
                            <a:srgbClr val="FFFFFF"/>
                          </a:solidFill>
                          <a:latin typeface="Arial"/>
                          <a:cs typeface="Arial"/>
                        </a:rPr>
                        <a:t> </a:t>
                      </a:r>
                      <a:r>
                        <a:rPr sz="2400" b="1" spc="-10" dirty="0">
                          <a:solidFill>
                            <a:srgbClr val="FFFFFF"/>
                          </a:solidFill>
                          <a:latin typeface="Arial"/>
                          <a:cs typeface="Arial"/>
                        </a:rPr>
                        <a:t>APPLIED </a:t>
                      </a:r>
                      <a:r>
                        <a:rPr sz="2400" b="1" dirty="0">
                          <a:solidFill>
                            <a:srgbClr val="FFFFFF"/>
                          </a:solidFill>
                          <a:latin typeface="Arial"/>
                          <a:cs typeface="Arial"/>
                        </a:rPr>
                        <a:t>OVERHEAD</a:t>
                      </a:r>
                      <a:r>
                        <a:rPr sz="2400" b="1" spc="-65" dirty="0">
                          <a:solidFill>
                            <a:srgbClr val="FFFFFF"/>
                          </a:solidFill>
                          <a:latin typeface="Arial"/>
                          <a:cs typeface="Arial"/>
                        </a:rPr>
                        <a:t> </a:t>
                      </a:r>
                      <a:r>
                        <a:rPr sz="2400" b="1" spc="-10" dirty="0">
                          <a:solidFill>
                            <a:srgbClr val="FFFFFF"/>
                          </a:solidFill>
                          <a:latin typeface="Arial"/>
                          <a:cs typeface="Arial"/>
                        </a:rPr>
                        <a:t>COSTS</a:t>
                      </a:r>
                      <a:endParaRPr sz="2400">
                        <a:latin typeface="Arial"/>
                        <a:cs typeface="Arial"/>
                      </a:endParaRPr>
                    </a:p>
                  </a:txBody>
                  <a:tcPr marL="0" marR="0" marT="343535" marB="0">
                    <a:lnL w="12700">
                      <a:solidFill>
                        <a:srgbClr val="000000"/>
                      </a:solidFill>
                      <a:prstDash val="solid"/>
                    </a:lnL>
                    <a:lnR w="12700">
                      <a:solidFill>
                        <a:srgbClr val="FFFFFF"/>
                      </a:solidFill>
                      <a:prstDash val="solid"/>
                    </a:lnR>
                    <a:lnT w="12700">
                      <a:solidFill>
                        <a:srgbClr val="000000"/>
                      </a:solidFill>
                      <a:prstDash val="solid"/>
                    </a:lnT>
                    <a:lnB w="12700">
                      <a:solidFill>
                        <a:srgbClr val="000000"/>
                      </a:solidFill>
                      <a:prstDash val="solid"/>
                    </a:lnB>
                    <a:solidFill>
                      <a:srgbClr val="929292"/>
                    </a:solidFill>
                  </a:tcPr>
                </a:tc>
                <a:tc>
                  <a:txBody>
                    <a:bodyPr/>
                    <a:lstStyle/>
                    <a:p>
                      <a:pPr marL="68580">
                        <a:lnSpc>
                          <a:spcPct val="100000"/>
                        </a:lnSpc>
                        <a:spcBef>
                          <a:spcPts val="840"/>
                        </a:spcBef>
                      </a:pPr>
                      <a:r>
                        <a:rPr sz="2000" dirty="0">
                          <a:latin typeface="Arial MT"/>
                          <a:cs typeface="Arial MT"/>
                        </a:rPr>
                        <a:t>Close</a:t>
                      </a:r>
                      <a:r>
                        <a:rPr sz="2000" spc="-40" dirty="0">
                          <a:latin typeface="Arial MT"/>
                          <a:cs typeface="Arial MT"/>
                        </a:rPr>
                        <a:t> </a:t>
                      </a:r>
                      <a:r>
                        <a:rPr sz="2000" dirty="0">
                          <a:latin typeface="Arial MT"/>
                          <a:cs typeface="Arial MT"/>
                        </a:rPr>
                        <a:t>the</a:t>
                      </a:r>
                      <a:r>
                        <a:rPr sz="2000" spc="-40" dirty="0">
                          <a:latin typeface="Arial MT"/>
                          <a:cs typeface="Arial MT"/>
                        </a:rPr>
                        <a:t> </a:t>
                      </a:r>
                      <a:r>
                        <a:rPr sz="2000" dirty="0">
                          <a:latin typeface="Arial MT"/>
                          <a:cs typeface="Arial MT"/>
                        </a:rPr>
                        <a:t>difference</a:t>
                      </a:r>
                      <a:r>
                        <a:rPr sz="2000" spc="-55" dirty="0">
                          <a:latin typeface="Arial MT"/>
                          <a:cs typeface="Arial MT"/>
                        </a:rPr>
                        <a:t> </a:t>
                      </a:r>
                      <a:r>
                        <a:rPr sz="2000" dirty="0">
                          <a:latin typeface="Arial MT"/>
                          <a:cs typeface="Arial MT"/>
                        </a:rPr>
                        <a:t>to</a:t>
                      </a:r>
                      <a:r>
                        <a:rPr sz="2000" spc="-45" dirty="0">
                          <a:latin typeface="Arial MT"/>
                          <a:cs typeface="Arial MT"/>
                        </a:rPr>
                        <a:t> </a:t>
                      </a:r>
                      <a:r>
                        <a:rPr sz="2000" spc="-20" dirty="0">
                          <a:latin typeface="Arial MT"/>
                          <a:cs typeface="Arial MT"/>
                        </a:rPr>
                        <a:t>COGS</a:t>
                      </a:r>
                      <a:endParaRPr sz="2000">
                        <a:latin typeface="Arial MT"/>
                        <a:cs typeface="Arial MT"/>
                      </a:endParaRPr>
                    </a:p>
                    <a:p>
                      <a:pPr>
                        <a:lnSpc>
                          <a:spcPct val="100000"/>
                        </a:lnSpc>
                        <a:spcBef>
                          <a:spcPts val="434"/>
                        </a:spcBef>
                      </a:pPr>
                      <a:endParaRPr sz="2000">
                        <a:latin typeface="Times New Roman"/>
                        <a:cs typeface="Times New Roman"/>
                      </a:endParaRPr>
                    </a:p>
                    <a:p>
                      <a:pPr marL="68580">
                        <a:lnSpc>
                          <a:spcPct val="100000"/>
                        </a:lnSpc>
                      </a:pPr>
                      <a:r>
                        <a:rPr sz="2000" spc="-10" dirty="0">
                          <a:latin typeface="Arial MT"/>
                          <a:cs typeface="Arial MT"/>
                        </a:rPr>
                        <a:t>COGS……………………….XXX</a:t>
                      </a:r>
                      <a:endParaRPr sz="2000">
                        <a:latin typeface="Arial MT"/>
                        <a:cs typeface="Arial MT"/>
                      </a:endParaRPr>
                    </a:p>
                    <a:p>
                      <a:pPr marL="277495">
                        <a:lnSpc>
                          <a:spcPct val="100000"/>
                        </a:lnSpc>
                        <a:spcBef>
                          <a:spcPts val="170"/>
                        </a:spcBef>
                      </a:pPr>
                      <a:r>
                        <a:rPr sz="2000" dirty="0">
                          <a:latin typeface="Arial MT"/>
                          <a:cs typeface="Arial MT"/>
                        </a:rPr>
                        <a:t>Manufacturing</a:t>
                      </a:r>
                      <a:r>
                        <a:rPr sz="2000" spc="-95" dirty="0">
                          <a:latin typeface="Arial MT"/>
                          <a:cs typeface="Arial MT"/>
                        </a:rPr>
                        <a:t> </a:t>
                      </a:r>
                      <a:r>
                        <a:rPr sz="2000" spc="-10" dirty="0">
                          <a:latin typeface="Arial MT"/>
                          <a:cs typeface="Arial MT"/>
                        </a:rPr>
                        <a:t>OH…………..XXX</a:t>
                      </a:r>
                      <a:endParaRPr sz="2000">
                        <a:latin typeface="Arial MT"/>
                        <a:cs typeface="Arial MT"/>
                      </a:endParaRPr>
                    </a:p>
                  </a:txBody>
                  <a:tcPr marL="0" marR="0" marT="106680" marB="0">
                    <a:lnL w="12700">
                      <a:solidFill>
                        <a:srgbClr val="FFFFFF"/>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153160">
                <a:tc>
                  <a:txBody>
                    <a:bodyPr/>
                    <a:lstStyle/>
                    <a:p>
                      <a:pPr marL="635" algn="ctr">
                        <a:lnSpc>
                          <a:spcPct val="100000"/>
                        </a:lnSpc>
                        <a:spcBef>
                          <a:spcPts val="1495"/>
                        </a:spcBef>
                      </a:pPr>
                      <a:r>
                        <a:rPr sz="2400" b="1" dirty="0">
                          <a:solidFill>
                            <a:srgbClr val="FFFFFF"/>
                          </a:solidFill>
                          <a:latin typeface="Arial"/>
                          <a:cs typeface="Arial"/>
                        </a:rPr>
                        <a:t>OVER</a:t>
                      </a:r>
                      <a:r>
                        <a:rPr sz="2400" b="1" spc="-130" dirty="0">
                          <a:solidFill>
                            <a:srgbClr val="FFFFFF"/>
                          </a:solidFill>
                          <a:latin typeface="Arial"/>
                          <a:cs typeface="Arial"/>
                        </a:rPr>
                        <a:t> </a:t>
                      </a:r>
                      <a:r>
                        <a:rPr sz="2400" b="1" spc="-10" dirty="0">
                          <a:solidFill>
                            <a:srgbClr val="FFFFFF"/>
                          </a:solidFill>
                          <a:latin typeface="Arial"/>
                          <a:cs typeface="Arial"/>
                        </a:rPr>
                        <a:t>APPLIED</a:t>
                      </a:r>
                      <a:endParaRPr sz="2400">
                        <a:latin typeface="Arial"/>
                        <a:cs typeface="Arial"/>
                      </a:endParaRPr>
                    </a:p>
                    <a:p>
                      <a:pPr algn="ctr">
                        <a:lnSpc>
                          <a:spcPct val="100000"/>
                        </a:lnSpc>
                        <a:spcBef>
                          <a:spcPts val="195"/>
                        </a:spcBef>
                      </a:pPr>
                      <a:r>
                        <a:rPr sz="2400" b="1" dirty="0">
                          <a:solidFill>
                            <a:srgbClr val="FFFFFF"/>
                          </a:solidFill>
                          <a:latin typeface="Arial"/>
                          <a:cs typeface="Arial"/>
                        </a:rPr>
                        <a:t>OVERHEAD</a:t>
                      </a:r>
                      <a:r>
                        <a:rPr sz="2400" b="1" spc="-65" dirty="0">
                          <a:solidFill>
                            <a:srgbClr val="FFFFFF"/>
                          </a:solidFill>
                          <a:latin typeface="Arial"/>
                          <a:cs typeface="Arial"/>
                        </a:rPr>
                        <a:t> </a:t>
                      </a:r>
                      <a:r>
                        <a:rPr sz="2400" b="1" spc="-10" dirty="0">
                          <a:solidFill>
                            <a:srgbClr val="FFFFFF"/>
                          </a:solidFill>
                          <a:latin typeface="Arial"/>
                          <a:cs typeface="Arial"/>
                        </a:rPr>
                        <a:t>COSTS</a:t>
                      </a:r>
                      <a:endParaRPr sz="2400">
                        <a:latin typeface="Arial"/>
                        <a:cs typeface="Arial"/>
                      </a:endParaRPr>
                    </a:p>
                  </a:txBody>
                  <a:tcPr marL="0" marR="0" marT="189865" marB="0">
                    <a:lnL w="12700">
                      <a:solidFill>
                        <a:srgbClr val="000000"/>
                      </a:solidFill>
                      <a:prstDash val="solid"/>
                    </a:lnL>
                    <a:lnR w="12700">
                      <a:solidFill>
                        <a:srgbClr val="FFFFFF"/>
                      </a:solidFill>
                      <a:prstDash val="solid"/>
                    </a:lnR>
                    <a:lnT w="12700">
                      <a:solidFill>
                        <a:srgbClr val="000000"/>
                      </a:solidFill>
                      <a:prstDash val="solid"/>
                    </a:lnT>
                    <a:lnB w="12700">
                      <a:solidFill>
                        <a:srgbClr val="000000"/>
                      </a:solidFill>
                      <a:prstDash val="solid"/>
                    </a:lnB>
                    <a:solidFill>
                      <a:srgbClr val="929292"/>
                    </a:solidFill>
                  </a:tcPr>
                </a:tc>
                <a:tc>
                  <a:txBody>
                    <a:bodyPr/>
                    <a:lstStyle/>
                    <a:p>
                      <a:pPr marL="68580" marR="194310">
                        <a:lnSpc>
                          <a:spcPct val="107000"/>
                        </a:lnSpc>
                        <a:spcBef>
                          <a:spcPts val="555"/>
                        </a:spcBef>
                      </a:pPr>
                      <a:r>
                        <a:rPr sz="2000" dirty="0">
                          <a:latin typeface="Arial MT"/>
                          <a:cs typeface="Arial MT"/>
                        </a:rPr>
                        <a:t>Allocate</a:t>
                      </a:r>
                      <a:r>
                        <a:rPr sz="2000" spc="-50" dirty="0">
                          <a:latin typeface="Arial MT"/>
                          <a:cs typeface="Arial MT"/>
                        </a:rPr>
                        <a:t> </a:t>
                      </a:r>
                      <a:r>
                        <a:rPr sz="2000" dirty="0">
                          <a:latin typeface="Arial MT"/>
                          <a:cs typeface="Arial MT"/>
                        </a:rPr>
                        <a:t>difference</a:t>
                      </a:r>
                      <a:r>
                        <a:rPr sz="2000" spc="-75" dirty="0">
                          <a:latin typeface="Arial MT"/>
                          <a:cs typeface="Arial MT"/>
                        </a:rPr>
                        <a:t> </a:t>
                      </a:r>
                      <a:r>
                        <a:rPr sz="2000" dirty="0">
                          <a:latin typeface="Arial MT"/>
                          <a:cs typeface="Arial MT"/>
                        </a:rPr>
                        <a:t>between</a:t>
                      </a:r>
                      <a:r>
                        <a:rPr sz="2000" spc="-65" dirty="0">
                          <a:latin typeface="Arial MT"/>
                          <a:cs typeface="Arial MT"/>
                        </a:rPr>
                        <a:t> </a:t>
                      </a:r>
                      <a:r>
                        <a:rPr sz="2000" spc="-55" dirty="0">
                          <a:latin typeface="Arial MT"/>
                          <a:cs typeface="Arial MT"/>
                        </a:rPr>
                        <a:t>WIP,</a:t>
                      </a:r>
                      <a:r>
                        <a:rPr sz="2000" spc="-75" dirty="0">
                          <a:latin typeface="Arial MT"/>
                          <a:cs typeface="Arial MT"/>
                        </a:rPr>
                        <a:t> </a:t>
                      </a:r>
                      <a:r>
                        <a:rPr sz="2000" dirty="0">
                          <a:latin typeface="Arial MT"/>
                          <a:cs typeface="Arial MT"/>
                        </a:rPr>
                        <a:t>Finished</a:t>
                      </a:r>
                      <a:r>
                        <a:rPr sz="2000" spc="-35" dirty="0">
                          <a:latin typeface="Arial MT"/>
                          <a:cs typeface="Arial MT"/>
                        </a:rPr>
                        <a:t> </a:t>
                      </a:r>
                      <a:r>
                        <a:rPr sz="2000" dirty="0">
                          <a:latin typeface="Arial MT"/>
                          <a:cs typeface="Arial MT"/>
                        </a:rPr>
                        <a:t>Goods</a:t>
                      </a:r>
                      <a:r>
                        <a:rPr sz="2000" spc="-75" dirty="0">
                          <a:latin typeface="Arial MT"/>
                          <a:cs typeface="Arial MT"/>
                        </a:rPr>
                        <a:t> </a:t>
                      </a:r>
                      <a:r>
                        <a:rPr sz="2000" spc="-25" dirty="0">
                          <a:latin typeface="Arial MT"/>
                          <a:cs typeface="Arial MT"/>
                        </a:rPr>
                        <a:t>and </a:t>
                      </a:r>
                      <a:r>
                        <a:rPr sz="2000" dirty="0">
                          <a:latin typeface="Arial MT"/>
                          <a:cs typeface="Arial MT"/>
                        </a:rPr>
                        <a:t>COGS</a:t>
                      </a:r>
                      <a:r>
                        <a:rPr sz="2000" spc="-55" dirty="0">
                          <a:latin typeface="Arial MT"/>
                          <a:cs typeface="Arial MT"/>
                        </a:rPr>
                        <a:t> </a:t>
                      </a:r>
                      <a:r>
                        <a:rPr sz="2000" dirty="0">
                          <a:latin typeface="Arial MT"/>
                          <a:cs typeface="Arial MT"/>
                        </a:rPr>
                        <a:t>in</a:t>
                      </a:r>
                      <a:r>
                        <a:rPr sz="2000" spc="-20" dirty="0">
                          <a:latin typeface="Arial MT"/>
                          <a:cs typeface="Arial MT"/>
                        </a:rPr>
                        <a:t> </a:t>
                      </a:r>
                      <a:r>
                        <a:rPr sz="2000" dirty="0">
                          <a:latin typeface="Arial MT"/>
                          <a:cs typeface="Arial MT"/>
                        </a:rPr>
                        <a:t>proportion</a:t>
                      </a:r>
                      <a:r>
                        <a:rPr sz="2000" spc="-55" dirty="0">
                          <a:latin typeface="Arial MT"/>
                          <a:cs typeface="Arial MT"/>
                        </a:rPr>
                        <a:t> </a:t>
                      </a:r>
                      <a:r>
                        <a:rPr sz="2000" dirty="0">
                          <a:latin typeface="Arial MT"/>
                          <a:cs typeface="Arial MT"/>
                        </a:rPr>
                        <a:t>to</a:t>
                      </a:r>
                      <a:r>
                        <a:rPr sz="2000" spc="-30" dirty="0">
                          <a:latin typeface="Arial MT"/>
                          <a:cs typeface="Arial MT"/>
                        </a:rPr>
                        <a:t> </a:t>
                      </a:r>
                      <a:r>
                        <a:rPr sz="2000" dirty="0">
                          <a:latin typeface="Arial MT"/>
                          <a:cs typeface="Arial MT"/>
                        </a:rPr>
                        <a:t>the</a:t>
                      </a:r>
                      <a:r>
                        <a:rPr sz="2000" spc="-40" dirty="0">
                          <a:latin typeface="Arial MT"/>
                          <a:cs typeface="Arial MT"/>
                        </a:rPr>
                        <a:t> </a:t>
                      </a:r>
                      <a:r>
                        <a:rPr sz="2000" dirty="0">
                          <a:latin typeface="Arial MT"/>
                          <a:cs typeface="Arial MT"/>
                        </a:rPr>
                        <a:t>OH</a:t>
                      </a:r>
                      <a:r>
                        <a:rPr sz="2000" spc="-30" dirty="0">
                          <a:latin typeface="Arial MT"/>
                          <a:cs typeface="Arial MT"/>
                        </a:rPr>
                        <a:t> </a:t>
                      </a:r>
                      <a:r>
                        <a:rPr sz="2000" dirty="0">
                          <a:latin typeface="Arial MT"/>
                          <a:cs typeface="Arial MT"/>
                        </a:rPr>
                        <a:t>applied</a:t>
                      </a:r>
                      <a:r>
                        <a:rPr sz="2000" spc="-35" dirty="0">
                          <a:latin typeface="Arial MT"/>
                          <a:cs typeface="Arial MT"/>
                        </a:rPr>
                        <a:t> </a:t>
                      </a:r>
                      <a:r>
                        <a:rPr sz="2000" dirty="0">
                          <a:latin typeface="Arial MT"/>
                          <a:cs typeface="Arial MT"/>
                        </a:rPr>
                        <a:t>during</a:t>
                      </a:r>
                      <a:r>
                        <a:rPr sz="2000" spc="-45" dirty="0">
                          <a:latin typeface="Arial MT"/>
                          <a:cs typeface="Arial MT"/>
                        </a:rPr>
                        <a:t> </a:t>
                      </a:r>
                      <a:r>
                        <a:rPr sz="2000" spc="-25" dirty="0">
                          <a:latin typeface="Arial MT"/>
                          <a:cs typeface="Arial MT"/>
                        </a:rPr>
                        <a:t>the </a:t>
                      </a:r>
                      <a:r>
                        <a:rPr sz="2000" spc="-10" dirty="0">
                          <a:latin typeface="Arial MT"/>
                          <a:cs typeface="Arial MT"/>
                        </a:rPr>
                        <a:t>period.</a:t>
                      </a:r>
                      <a:endParaRPr sz="2000">
                        <a:latin typeface="Arial MT"/>
                        <a:cs typeface="Arial MT"/>
                      </a:endParaRPr>
                    </a:p>
                  </a:txBody>
                  <a:tcPr marL="0" marR="0" marT="70485" marB="0">
                    <a:lnL w="12700">
                      <a:solidFill>
                        <a:srgbClr val="FFFFFF"/>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3392" y="908720"/>
            <a:ext cx="10715625" cy="1122680"/>
          </a:xfrm>
          <a:prstGeom prst="rect">
            <a:avLst/>
          </a:prstGeom>
        </p:spPr>
        <p:txBody>
          <a:bodyPr vert="horz" wrap="square" lIns="0" tIns="12700" rIns="0" bIns="0" rtlCol="0">
            <a:spAutoFit/>
          </a:bodyPr>
          <a:lstStyle/>
          <a:p>
            <a:pPr marL="469900" marR="5080" indent="-457200">
              <a:lnSpc>
                <a:spcPct val="100000"/>
              </a:lnSpc>
              <a:spcBef>
                <a:spcPts val="100"/>
              </a:spcBef>
              <a:tabLst>
                <a:tab pos="469265" algn="l"/>
              </a:tabLst>
            </a:pPr>
            <a:r>
              <a:rPr sz="1900" spc="-25" dirty="0">
                <a:solidFill>
                  <a:srgbClr val="252525"/>
                </a:solidFill>
                <a:latin typeface="Arial MT"/>
                <a:cs typeface="Arial MT"/>
              </a:rPr>
              <a:t>2.</a:t>
            </a:r>
            <a:r>
              <a:rPr sz="1900" dirty="0">
                <a:solidFill>
                  <a:srgbClr val="252525"/>
                </a:solidFill>
                <a:latin typeface="Arial MT"/>
                <a:cs typeface="Arial MT"/>
              </a:rPr>
              <a:t>	</a:t>
            </a:r>
            <a:r>
              <a:rPr sz="2400" dirty="0">
                <a:solidFill>
                  <a:srgbClr val="252525"/>
                </a:solidFill>
                <a:latin typeface="Arial MT"/>
                <a:cs typeface="Arial MT"/>
              </a:rPr>
              <a:t>Indicate</a:t>
            </a:r>
            <a:r>
              <a:rPr sz="2400" spc="-65" dirty="0">
                <a:solidFill>
                  <a:srgbClr val="252525"/>
                </a:solidFill>
                <a:latin typeface="Arial MT"/>
                <a:cs typeface="Arial MT"/>
              </a:rPr>
              <a:t> </a:t>
            </a:r>
            <a:r>
              <a:rPr sz="2400" dirty="0">
                <a:solidFill>
                  <a:srgbClr val="252525"/>
                </a:solidFill>
                <a:latin typeface="Arial MT"/>
                <a:cs typeface="Arial MT"/>
              </a:rPr>
              <a:t>what</a:t>
            </a:r>
            <a:r>
              <a:rPr sz="2400" spc="-65" dirty="0">
                <a:solidFill>
                  <a:srgbClr val="252525"/>
                </a:solidFill>
                <a:latin typeface="Arial MT"/>
                <a:cs typeface="Arial MT"/>
              </a:rPr>
              <a:t> </a:t>
            </a:r>
            <a:r>
              <a:rPr sz="2400" dirty="0">
                <a:solidFill>
                  <a:srgbClr val="252525"/>
                </a:solidFill>
                <a:latin typeface="Arial MT"/>
                <a:cs typeface="Arial MT"/>
              </a:rPr>
              <a:t>is</a:t>
            </a:r>
            <a:r>
              <a:rPr sz="2400" spc="-65" dirty="0">
                <a:solidFill>
                  <a:srgbClr val="252525"/>
                </a:solidFill>
                <a:latin typeface="Arial MT"/>
                <a:cs typeface="Arial MT"/>
              </a:rPr>
              <a:t> </a:t>
            </a:r>
            <a:r>
              <a:rPr sz="2400" dirty="0">
                <a:solidFill>
                  <a:srgbClr val="252525"/>
                </a:solidFill>
                <a:latin typeface="Arial MT"/>
                <a:cs typeface="Arial MT"/>
              </a:rPr>
              <a:t>the</a:t>
            </a:r>
            <a:r>
              <a:rPr sz="2400" spc="-70" dirty="0">
                <a:solidFill>
                  <a:srgbClr val="252525"/>
                </a:solidFill>
                <a:latin typeface="Arial MT"/>
                <a:cs typeface="Arial MT"/>
              </a:rPr>
              <a:t> </a:t>
            </a:r>
            <a:r>
              <a:rPr sz="2400" dirty="0">
                <a:solidFill>
                  <a:srgbClr val="252525"/>
                </a:solidFill>
                <a:latin typeface="Arial MT"/>
                <a:cs typeface="Arial MT"/>
              </a:rPr>
              <a:t>appropriate</a:t>
            </a:r>
            <a:r>
              <a:rPr sz="2400" spc="-55" dirty="0">
                <a:solidFill>
                  <a:srgbClr val="252525"/>
                </a:solidFill>
                <a:latin typeface="Arial MT"/>
                <a:cs typeface="Arial MT"/>
              </a:rPr>
              <a:t> </a:t>
            </a:r>
            <a:r>
              <a:rPr sz="2400" dirty="0">
                <a:solidFill>
                  <a:srgbClr val="252525"/>
                </a:solidFill>
                <a:latin typeface="Arial MT"/>
                <a:cs typeface="Arial MT"/>
              </a:rPr>
              <a:t>accounting</a:t>
            </a:r>
            <a:r>
              <a:rPr sz="2400" spc="-50" dirty="0">
                <a:solidFill>
                  <a:srgbClr val="252525"/>
                </a:solidFill>
                <a:latin typeface="Arial MT"/>
                <a:cs typeface="Arial MT"/>
              </a:rPr>
              <a:t> </a:t>
            </a:r>
            <a:r>
              <a:rPr sz="2400" dirty="0">
                <a:solidFill>
                  <a:srgbClr val="252525"/>
                </a:solidFill>
                <a:latin typeface="Arial MT"/>
                <a:cs typeface="Arial MT"/>
              </a:rPr>
              <a:t>treatment</a:t>
            </a:r>
            <a:r>
              <a:rPr sz="2400" spc="-80" dirty="0">
                <a:solidFill>
                  <a:srgbClr val="252525"/>
                </a:solidFill>
                <a:latin typeface="Arial MT"/>
                <a:cs typeface="Arial MT"/>
              </a:rPr>
              <a:t> </a:t>
            </a:r>
            <a:r>
              <a:rPr sz="2400" dirty="0">
                <a:solidFill>
                  <a:srgbClr val="252525"/>
                </a:solidFill>
                <a:latin typeface="Arial MT"/>
                <a:cs typeface="Arial MT"/>
              </a:rPr>
              <a:t>for</a:t>
            </a:r>
            <a:r>
              <a:rPr sz="2400" spc="-65" dirty="0">
                <a:solidFill>
                  <a:srgbClr val="252525"/>
                </a:solidFill>
                <a:latin typeface="Arial MT"/>
                <a:cs typeface="Arial MT"/>
              </a:rPr>
              <a:t> </a:t>
            </a:r>
            <a:r>
              <a:rPr sz="2400" dirty="0">
                <a:solidFill>
                  <a:srgbClr val="252525"/>
                </a:solidFill>
                <a:latin typeface="Arial MT"/>
                <a:cs typeface="Arial MT"/>
              </a:rPr>
              <a:t>over</a:t>
            </a:r>
            <a:r>
              <a:rPr sz="2400" spc="-60" dirty="0">
                <a:solidFill>
                  <a:srgbClr val="252525"/>
                </a:solidFill>
                <a:latin typeface="Arial MT"/>
                <a:cs typeface="Arial MT"/>
              </a:rPr>
              <a:t> </a:t>
            </a:r>
            <a:r>
              <a:rPr sz="2400" dirty="0">
                <a:solidFill>
                  <a:srgbClr val="252525"/>
                </a:solidFill>
                <a:latin typeface="Arial MT"/>
                <a:cs typeface="Arial MT"/>
              </a:rPr>
              <a:t>and</a:t>
            </a:r>
            <a:r>
              <a:rPr sz="2400" spc="-65" dirty="0">
                <a:solidFill>
                  <a:srgbClr val="252525"/>
                </a:solidFill>
                <a:latin typeface="Arial MT"/>
                <a:cs typeface="Arial MT"/>
              </a:rPr>
              <a:t> </a:t>
            </a:r>
            <a:r>
              <a:rPr sz="2400" spc="-10" dirty="0">
                <a:solidFill>
                  <a:srgbClr val="252525"/>
                </a:solidFill>
                <a:latin typeface="Arial MT"/>
                <a:cs typeface="Arial MT"/>
              </a:rPr>
              <a:t>under </a:t>
            </a:r>
            <a:r>
              <a:rPr sz="2400" dirty="0">
                <a:solidFill>
                  <a:srgbClr val="252525"/>
                </a:solidFill>
                <a:latin typeface="Arial MT"/>
                <a:cs typeface="Arial MT"/>
              </a:rPr>
              <a:t>allocated</a:t>
            </a:r>
            <a:r>
              <a:rPr sz="2400" spc="-35" dirty="0">
                <a:solidFill>
                  <a:srgbClr val="252525"/>
                </a:solidFill>
                <a:latin typeface="Arial MT"/>
                <a:cs typeface="Arial MT"/>
              </a:rPr>
              <a:t> </a:t>
            </a:r>
            <a:r>
              <a:rPr sz="2400" dirty="0">
                <a:solidFill>
                  <a:srgbClr val="252525"/>
                </a:solidFill>
                <a:latin typeface="Arial MT"/>
                <a:cs typeface="Arial MT"/>
              </a:rPr>
              <a:t>overhead</a:t>
            </a:r>
            <a:r>
              <a:rPr sz="2400" spc="-30" dirty="0">
                <a:solidFill>
                  <a:srgbClr val="252525"/>
                </a:solidFill>
                <a:latin typeface="Arial MT"/>
                <a:cs typeface="Arial MT"/>
              </a:rPr>
              <a:t> </a:t>
            </a:r>
            <a:r>
              <a:rPr sz="2400" dirty="0">
                <a:solidFill>
                  <a:srgbClr val="252525"/>
                </a:solidFill>
                <a:latin typeface="Arial MT"/>
                <a:cs typeface="Arial MT"/>
              </a:rPr>
              <a:t>and</a:t>
            </a:r>
            <a:r>
              <a:rPr sz="2400" spc="-50" dirty="0">
                <a:solidFill>
                  <a:srgbClr val="252525"/>
                </a:solidFill>
                <a:latin typeface="Arial MT"/>
                <a:cs typeface="Arial MT"/>
              </a:rPr>
              <a:t> </a:t>
            </a:r>
            <a:r>
              <a:rPr sz="2400" dirty="0">
                <a:solidFill>
                  <a:srgbClr val="252525"/>
                </a:solidFill>
                <a:latin typeface="Arial MT"/>
                <a:cs typeface="Arial MT"/>
              </a:rPr>
              <a:t>prepare</a:t>
            </a:r>
            <a:r>
              <a:rPr sz="2400" spc="-60" dirty="0">
                <a:solidFill>
                  <a:srgbClr val="252525"/>
                </a:solidFill>
                <a:latin typeface="Arial MT"/>
                <a:cs typeface="Arial MT"/>
              </a:rPr>
              <a:t> </a:t>
            </a:r>
            <a:r>
              <a:rPr sz="2400" dirty="0">
                <a:solidFill>
                  <a:srgbClr val="252525"/>
                </a:solidFill>
                <a:latin typeface="Arial MT"/>
                <a:cs typeface="Arial MT"/>
              </a:rPr>
              <a:t>the</a:t>
            </a:r>
            <a:r>
              <a:rPr sz="2400" spc="-55" dirty="0">
                <a:solidFill>
                  <a:srgbClr val="252525"/>
                </a:solidFill>
                <a:latin typeface="Arial MT"/>
                <a:cs typeface="Arial MT"/>
              </a:rPr>
              <a:t> </a:t>
            </a:r>
            <a:r>
              <a:rPr sz="2400" dirty="0">
                <a:solidFill>
                  <a:srgbClr val="252525"/>
                </a:solidFill>
                <a:latin typeface="Arial MT"/>
                <a:cs typeface="Arial MT"/>
              </a:rPr>
              <a:t>journal</a:t>
            </a:r>
            <a:r>
              <a:rPr sz="2400" spc="-50" dirty="0">
                <a:solidFill>
                  <a:srgbClr val="252525"/>
                </a:solidFill>
                <a:latin typeface="Arial MT"/>
                <a:cs typeface="Arial MT"/>
              </a:rPr>
              <a:t> </a:t>
            </a:r>
            <a:r>
              <a:rPr sz="2400" dirty="0">
                <a:solidFill>
                  <a:srgbClr val="252525"/>
                </a:solidFill>
                <a:latin typeface="Arial MT"/>
                <a:cs typeface="Arial MT"/>
              </a:rPr>
              <a:t>entry</a:t>
            </a:r>
            <a:r>
              <a:rPr sz="2400" spc="-55" dirty="0">
                <a:solidFill>
                  <a:srgbClr val="252525"/>
                </a:solidFill>
                <a:latin typeface="Arial MT"/>
                <a:cs typeface="Arial MT"/>
              </a:rPr>
              <a:t> </a:t>
            </a:r>
            <a:r>
              <a:rPr sz="2400" dirty="0">
                <a:solidFill>
                  <a:srgbClr val="252525"/>
                </a:solidFill>
                <a:latin typeface="Arial MT"/>
                <a:cs typeface="Arial MT"/>
              </a:rPr>
              <a:t>to</a:t>
            </a:r>
            <a:r>
              <a:rPr sz="2400" spc="-70" dirty="0">
                <a:solidFill>
                  <a:srgbClr val="252525"/>
                </a:solidFill>
                <a:latin typeface="Arial MT"/>
                <a:cs typeface="Arial MT"/>
              </a:rPr>
              <a:t> </a:t>
            </a:r>
            <a:r>
              <a:rPr sz="2400" dirty="0">
                <a:solidFill>
                  <a:srgbClr val="252525"/>
                </a:solidFill>
                <a:latin typeface="Arial MT"/>
                <a:cs typeface="Arial MT"/>
              </a:rPr>
              <a:t>adjust</a:t>
            </a:r>
            <a:r>
              <a:rPr sz="2400" spc="-55" dirty="0">
                <a:solidFill>
                  <a:srgbClr val="252525"/>
                </a:solidFill>
                <a:latin typeface="Arial MT"/>
                <a:cs typeface="Arial MT"/>
              </a:rPr>
              <a:t> </a:t>
            </a:r>
            <a:r>
              <a:rPr sz="2400" dirty="0">
                <a:solidFill>
                  <a:srgbClr val="252525"/>
                </a:solidFill>
                <a:latin typeface="Arial MT"/>
                <a:cs typeface="Arial MT"/>
              </a:rPr>
              <a:t>the</a:t>
            </a:r>
            <a:r>
              <a:rPr sz="2400" spc="-55" dirty="0">
                <a:solidFill>
                  <a:srgbClr val="252525"/>
                </a:solidFill>
                <a:latin typeface="Arial MT"/>
                <a:cs typeface="Arial MT"/>
              </a:rPr>
              <a:t> </a:t>
            </a:r>
            <a:r>
              <a:rPr sz="2400" dirty="0">
                <a:solidFill>
                  <a:srgbClr val="252525"/>
                </a:solidFill>
                <a:latin typeface="Arial MT"/>
                <a:cs typeface="Arial MT"/>
              </a:rPr>
              <a:t>over</a:t>
            </a:r>
            <a:r>
              <a:rPr sz="2400" spc="-55" dirty="0">
                <a:solidFill>
                  <a:srgbClr val="252525"/>
                </a:solidFill>
                <a:latin typeface="Arial MT"/>
                <a:cs typeface="Arial MT"/>
              </a:rPr>
              <a:t> </a:t>
            </a:r>
            <a:r>
              <a:rPr sz="2400" dirty="0">
                <a:solidFill>
                  <a:srgbClr val="252525"/>
                </a:solidFill>
                <a:latin typeface="Arial MT"/>
                <a:cs typeface="Arial MT"/>
              </a:rPr>
              <a:t>or</a:t>
            </a:r>
            <a:r>
              <a:rPr sz="2400" spc="-50" dirty="0">
                <a:solidFill>
                  <a:srgbClr val="252525"/>
                </a:solidFill>
                <a:latin typeface="Arial MT"/>
                <a:cs typeface="Arial MT"/>
              </a:rPr>
              <a:t> </a:t>
            </a:r>
            <a:r>
              <a:rPr sz="2400" spc="-10" dirty="0">
                <a:solidFill>
                  <a:srgbClr val="252525"/>
                </a:solidFill>
                <a:latin typeface="Arial MT"/>
                <a:cs typeface="Arial MT"/>
              </a:rPr>
              <a:t>under </a:t>
            </a:r>
            <a:r>
              <a:rPr sz="2400" dirty="0">
                <a:solidFill>
                  <a:srgbClr val="252525"/>
                </a:solidFill>
                <a:latin typeface="Arial MT"/>
                <a:cs typeface="Arial MT"/>
              </a:rPr>
              <a:t>allocated</a:t>
            </a:r>
            <a:r>
              <a:rPr sz="2400" spc="-50" dirty="0">
                <a:solidFill>
                  <a:srgbClr val="252525"/>
                </a:solidFill>
                <a:latin typeface="Arial MT"/>
                <a:cs typeface="Arial MT"/>
              </a:rPr>
              <a:t> </a:t>
            </a:r>
            <a:r>
              <a:rPr sz="2400" dirty="0">
                <a:solidFill>
                  <a:srgbClr val="252525"/>
                </a:solidFill>
                <a:latin typeface="Arial MT"/>
                <a:cs typeface="Arial MT"/>
              </a:rPr>
              <a:t>manufacturing</a:t>
            </a:r>
            <a:r>
              <a:rPr sz="2400" spc="-75" dirty="0">
                <a:solidFill>
                  <a:srgbClr val="252525"/>
                </a:solidFill>
                <a:latin typeface="Arial MT"/>
                <a:cs typeface="Arial MT"/>
              </a:rPr>
              <a:t> </a:t>
            </a:r>
            <a:r>
              <a:rPr sz="2400" dirty="0">
                <a:solidFill>
                  <a:srgbClr val="252525"/>
                </a:solidFill>
                <a:latin typeface="Arial MT"/>
                <a:cs typeface="Arial MT"/>
              </a:rPr>
              <a:t>overhead</a:t>
            </a:r>
            <a:r>
              <a:rPr sz="2400" spc="-50" dirty="0">
                <a:solidFill>
                  <a:srgbClr val="252525"/>
                </a:solidFill>
                <a:latin typeface="Arial MT"/>
                <a:cs typeface="Arial MT"/>
              </a:rPr>
              <a:t> </a:t>
            </a:r>
            <a:r>
              <a:rPr sz="2400" dirty="0">
                <a:solidFill>
                  <a:srgbClr val="252525"/>
                </a:solidFill>
                <a:latin typeface="Arial MT"/>
                <a:cs typeface="Arial MT"/>
              </a:rPr>
              <a:t>costs</a:t>
            </a:r>
            <a:r>
              <a:rPr sz="2400" spc="-80" dirty="0">
                <a:solidFill>
                  <a:srgbClr val="252525"/>
                </a:solidFill>
                <a:latin typeface="Arial MT"/>
                <a:cs typeface="Arial MT"/>
              </a:rPr>
              <a:t> </a:t>
            </a:r>
            <a:r>
              <a:rPr sz="2400" dirty="0">
                <a:solidFill>
                  <a:srgbClr val="252525"/>
                </a:solidFill>
                <a:latin typeface="Arial MT"/>
                <a:cs typeface="Arial MT"/>
              </a:rPr>
              <a:t>for</a:t>
            </a:r>
            <a:r>
              <a:rPr sz="2400" spc="-120" dirty="0">
                <a:solidFill>
                  <a:srgbClr val="252525"/>
                </a:solidFill>
                <a:latin typeface="Arial MT"/>
                <a:cs typeface="Arial MT"/>
              </a:rPr>
              <a:t> </a:t>
            </a:r>
            <a:r>
              <a:rPr sz="2400" spc="-20" dirty="0">
                <a:solidFill>
                  <a:srgbClr val="252525"/>
                </a:solidFill>
                <a:latin typeface="Arial MT"/>
                <a:cs typeface="Arial MT"/>
              </a:rPr>
              <a:t>YII.</a:t>
            </a:r>
            <a:endParaRPr sz="2400" dirty="0">
              <a:latin typeface="Arial MT"/>
              <a:cs typeface="Arial MT"/>
            </a:endParaRPr>
          </a:p>
        </p:txBody>
      </p:sp>
      <p:sp>
        <p:nvSpPr>
          <p:cNvPr id="7" name="object 7"/>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12</a:t>
            </a:fld>
            <a:endParaRPr spc="-25" dirty="0"/>
          </a:p>
        </p:txBody>
      </p:sp>
      <p:sp>
        <p:nvSpPr>
          <p:cNvPr id="8" name="Subtitle 7">
            <a:extLst>
              <a:ext uri="{FF2B5EF4-FFF2-40B4-BE49-F238E27FC236}">
                <a16:creationId xmlns:a16="http://schemas.microsoft.com/office/drawing/2014/main" id="{F03E2106-AF25-1D3B-ACB8-DA8AB472D3D0}"/>
              </a:ext>
            </a:extLst>
          </p:cNvPr>
          <p:cNvSpPr>
            <a:spLocks noGrp="1"/>
          </p:cNvSpPr>
          <p:nvPr>
            <p:ph type="subTitle" idx="1"/>
          </p:nvPr>
        </p:nvSpPr>
        <p:spPr/>
        <p:txBody>
          <a:bodyPr/>
          <a:lstStyle/>
          <a:p>
            <a:r>
              <a:rPr lang="en-CA" dirty="0"/>
              <a:t>Yacht International Inc. (YII) Part 2</a:t>
            </a:r>
          </a:p>
        </p:txBody>
      </p:sp>
      <p:graphicFrame>
        <p:nvGraphicFramePr>
          <p:cNvPr id="4" name="object 4"/>
          <p:cNvGraphicFramePr>
            <a:graphicFrameLocks noGrp="1"/>
          </p:cNvGraphicFramePr>
          <p:nvPr>
            <p:extLst>
              <p:ext uri="{D42A27DB-BD31-4B8C-83A1-F6EECF244321}">
                <p14:modId xmlns:p14="http://schemas.microsoft.com/office/powerpoint/2010/main" val="2464580571"/>
              </p:ext>
            </p:extLst>
          </p:nvPr>
        </p:nvGraphicFramePr>
        <p:xfrm>
          <a:off x="129963" y="2488963"/>
          <a:ext cx="8112124" cy="2929255"/>
        </p:xfrm>
        <a:graphic>
          <a:graphicData uri="http://schemas.openxmlformats.org/drawingml/2006/table">
            <a:tbl>
              <a:tblPr firstRow="1" bandRow="1">
                <a:tableStyleId>{2D5ABB26-0587-4C30-8999-92F81FD0307C}</a:tableStyleId>
              </a:tblPr>
              <a:tblGrid>
                <a:gridCol w="1765300">
                  <a:extLst>
                    <a:ext uri="{9D8B030D-6E8A-4147-A177-3AD203B41FA5}">
                      <a16:colId xmlns:a16="http://schemas.microsoft.com/office/drawing/2014/main" val="20000"/>
                    </a:ext>
                  </a:extLst>
                </a:gridCol>
                <a:gridCol w="1689735">
                  <a:extLst>
                    <a:ext uri="{9D8B030D-6E8A-4147-A177-3AD203B41FA5}">
                      <a16:colId xmlns:a16="http://schemas.microsoft.com/office/drawing/2014/main" val="20001"/>
                    </a:ext>
                  </a:extLst>
                </a:gridCol>
                <a:gridCol w="2472055">
                  <a:extLst>
                    <a:ext uri="{9D8B030D-6E8A-4147-A177-3AD203B41FA5}">
                      <a16:colId xmlns:a16="http://schemas.microsoft.com/office/drawing/2014/main" val="20002"/>
                    </a:ext>
                  </a:extLst>
                </a:gridCol>
                <a:gridCol w="2185034">
                  <a:extLst>
                    <a:ext uri="{9D8B030D-6E8A-4147-A177-3AD203B41FA5}">
                      <a16:colId xmlns:a16="http://schemas.microsoft.com/office/drawing/2014/main" val="20003"/>
                    </a:ext>
                  </a:extLst>
                </a:gridCol>
              </a:tblGrid>
              <a:tr h="640080">
                <a:tc>
                  <a:txBody>
                    <a:bodyPr/>
                    <a:lstStyle/>
                    <a:p>
                      <a:pPr marL="91440">
                        <a:lnSpc>
                          <a:spcPct val="100000"/>
                        </a:lnSpc>
                        <a:spcBef>
                          <a:spcPts val="315"/>
                        </a:spcBef>
                      </a:pPr>
                      <a:r>
                        <a:rPr sz="1800" b="1" spc="-10" dirty="0">
                          <a:solidFill>
                            <a:srgbClr val="FFFFFF"/>
                          </a:solidFill>
                          <a:latin typeface="Arial"/>
                          <a:cs typeface="Arial"/>
                        </a:rPr>
                        <a:t>Account</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marL="91440" marR="568325">
                        <a:lnSpc>
                          <a:spcPct val="100000"/>
                        </a:lnSpc>
                        <a:spcBef>
                          <a:spcPts val="315"/>
                        </a:spcBef>
                      </a:pPr>
                      <a:r>
                        <a:rPr sz="1800" b="1" dirty="0">
                          <a:solidFill>
                            <a:srgbClr val="FFFFFF"/>
                          </a:solidFill>
                          <a:latin typeface="Arial"/>
                          <a:cs typeface="Arial"/>
                        </a:rPr>
                        <a:t>$ </a:t>
                      </a:r>
                      <a:r>
                        <a:rPr sz="1800" b="1" spc="-25" dirty="0">
                          <a:solidFill>
                            <a:srgbClr val="FFFFFF"/>
                          </a:solidFill>
                          <a:latin typeface="Arial"/>
                          <a:cs typeface="Arial"/>
                        </a:rPr>
                        <a:t>OH </a:t>
                      </a:r>
                      <a:r>
                        <a:rPr sz="1800" b="1" spc="-10" dirty="0">
                          <a:solidFill>
                            <a:srgbClr val="FFFFFF"/>
                          </a:solidFill>
                          <a:latin typeface="Arial"/>
                          <a:cs typeface="Arial"/>
                        </a:rPr>
                        <a:t>Allocated</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marL="91440">
                        <a:lnSpc>
                          <a:spcPct val="100000"/>
                        </a:lnSpc>
                        <a:spcBef>
                          <a:spcPts val="315"/>
                        </a:spcBef>
                      </a:pPr>
                      <a:r>
                        <a:rPr sz="1800" b="1" spc="-50" dirty="0">
                          <a:solidFill>
                            <a:srgbClr val="FFFFFF"/>
                          </a:solidFill>
                          <a:latin typeface="Arial"/>
                          <a:cs typeface="Arial"/>
                        </a:rPr>
                        <a:t>%</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marL="92075" marR="349885">
                        <a:lnSpc>
                          <a:spcPct val="100000"/>
                        </a:lnSpc>
                        <a:spcBef>
                          <a:spcPts val="315"/>
                        </a:spcBef>
                      </a:pPr>
                      <a:r>
                        <a:rPr sz="1800" b="1" dirty="0">
                          <a:solidFill>
                            <a:srgbClr val="FFFFFF"/>
                          </a:solidFill>
                          <a:latin typeface="Arial"/>
                          <a:cs typeface="Arial"/>
                        </a:rPr>
                        <a:t>%</a:t>
                      </a:r>
                      <a:r>
                        <a:rPr sz="1800" b="1" spc="-5" dirty="0">
                          <a:solidFill>
                            <a:srgbClr val="FFFFFF"/>
                          </a:solidFill>
                          <a:latin typeface="Arial"/>
                          <a:cs typeface="Arial"/>
                        </a:rPr>
                        <a:t> </a:t>
                      </a:r>
                      <a:r>
                        <a:rPr sz="1800" b="1" dirty="0">
                          <a:solidFill>
                            <a:srgbClr val="FFFFFF"/>
                          </a:solidFill>
                          <a:latin typeface="Arial"/>
                          <a:cs typeface="Arial"/>
                        </a:rPr>
                        <a:t>* </a:t>
                      </a:r>
                      <a:r>
                        <a:rPr sz="1800" b="1" spc="-10" dirty="0">
                          <a:solidFill>
                            <a:srgbClr val="FFFFFF"/>
                          </a:solidFill>
                          <a:latin typeface="Arial"/>
                          <a:cs typeface="Arial"/>
                        </a:rPr>
                        <a:t>Overapplied </a:t>
                      </a:r>
                      <a:r>
                        <a:rPr sz="1800" b="1" spc="-25" dirty="0">
                          <a:solidFill>
                            <a:srgbClr val="FFFFFF"/>
                          </a:solidFill>
                          <a:latin typeface="Arial"/>
                          <a:cs typeface="Arial"/>
                        </a:rPr>
                        <a:t>OH</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extLst>
                  <a:ext uri="{0D108BD9-81ED-4DB2-BD59-A6C34878D82A}">
                    <a16:rowId xmlns:a16="http://schemas.microsoft.com/office/drawing/2014/main" val="10000"/>
                  </a:ext>
                </a:extLst>
              </a:tr>
              <a:tr h="639445">
                <a:tc>
                  <a:txBody>
                    <a:bodyPr/>
                    <a:lstStyle/>
                    <a:p>
                      <a:pPr marL="91440">
                        <a:lnSpc>
                          <a:spcPct val="100000"/>
                        </a:lnSpc>
                        <a:spcBef>
                          <a:spcPts val="315"/>
                        </a:spcBef>
                      </a:pPr>
                      <a:r>
                        <a:rPr sz="1800" spc="-25" dirty="0">
                          <a:latin typeface="Arial MT"/>
                          <a:cs typeface="Arial MT"/>
                        </a:rPr>
                        <a:t>WIP</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315"/>
                        </a:spcBef>
                      </a:pPr>
                      <a:r>
                        <a:rPr sz="1800" spc="-10" dirty="0">
                          <a:latin typeface="Arial MT"/>
                          <a:cs typeface="Arial MT"/>
                        </a:rPr>
                        <a:t>$333,150</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marL="91440" marR="319405">
                        <a:lnSpc>
                          <a:spcPct val="100000"/>
                        </a:lnSpc>
                        <a:spcBef>
                          <a:spcPts val="315"/>
                        </a:spcBef>
                      </a:pPr>
                      <a:r>
                        <a:rPr sz="1800" spc="-10" dirty="0">
                          <a:latin typeface="Arial MT"/>
                          <a:cs typeface="Arial MT"/>
                        </a:rPr>
                        <a:t>13.03% (333,150/2,555,700)</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marL="92075" marR="691515">
                        <a:lnSpc>
                          <a:spcPct val="100000"/>
                        </a:lnSpc>
                        <a:spcBef>
                          <a:spcPts val="315"/>
                        </a:spcBef>
                      </a:pPr>
                      <a:r>
                        <a:rPr sz="1800" spc="-10" dirty="0">
                          <a:latin typeface="Arial MT"/>
                          <a:cs typeface="Arial MT"/>
                        </a:rPr>
                        <a:t>$9,211 (13%*70,700)</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1"/>
                  </a:ext>
                </a:extLst>
              </a:tr>
              <a:tr h="640080">
                <a:tc>
                  <a:txBody>
                    <a:bodyPr/>
                    <a:lstStyle/>
                    <a:p>
                      <a:pPr marL="91440" marR="803910">
                        <a:lnSpc>
                          <a:spcPct val="100000"/>
                        </a:lnSpc>
                        <a:spcBef>
                          <a:spcPts val="315"/>
                        </a:spcBef>
                      </a:pPr>
                      <a:r>
                        <a:rPr sz="1800" spc="-10" dirty="0">
                          <a:latin typeface="Arial MT"/>
                          <a:cs typeface="Arial MT"/>
                        </a:rPr>
                        <a:t>Finished Goods</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1440">
                        <a:lnSpc>
                          <a:spcPct val="100000"/>
                        </a:lnSpc>
                        <a:spcBef>
                          <a:spcPts val="315"/>
                        </a:spcBef>
                      </a:pPr>
                      <a:r>
                        <a:rPr sz="1800" spc="-10" dirty="0">
                          <a:latin typeface="Arial MT"/>
                          <a:cs typeface="Arial MT"/>
                        </a:rPr>
                        <a:t>$65,300</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1440" marR="445770">
                        <a:lnSpc>
                          <a:spcPct val="100000"/>
                        </a:lnSpc>
                        <a:spcBef>
                          <a:spcPts val="315"/>
                        </a:spcBef>
                      </a:pPr>
                      <a:r>
                        <a:rPr sz="1800" spc="-10" dirty="0">
                          <a:latin typeface="Arial MT"/>
                          <a:cs typeface="Arial MT"/>
                        </a:rPr>
                        <a:t>2.56% (65,300/2,555,700)</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2075">
                        <a:lnSpc>
                          <a:spcPct val="100000"/>
                        </a:lnSpc>
                        <a:spcBef>
                          <a:spcPts val="315"/>
                        </a:spcBef>
                      </a:pPr>
                      <a:r>
                        <a:rPr sz="1800" spc="-10" dirty="0">
                          <a:latin typeface="Arial MT"/>
                          <a:cs typeface="Arial MT"/>
                        </a:rPr>
                        <a:t>$1,810</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2"/>
                  </a:ext>
                </a:extLst>
              </a:tr>
              <a:tr h="639445">
                <a:tc>
                  <a:txBody>
                    <a:bodyPr/>
                    <a:lstStyle/>
                    <a:p>
                      <a:pPr marL="91440">
                        <a:lnSpc>
                          <a:spcPct val="100000"/>
                        </a:lnSpc>
                        <a:spcBef>
                          <a:spcPts val="315"/>
                        </a:spcBef>
                      </a:pPr>
                      <a:r>
                        <a:rPr sz="1800" spc="-20" dirty="0">
                          <a:latin typeface="Arial MT"/>
                          <a:cs typeface="Arial MT"/>
                        </a:rPr>
                        <a:t>COGS</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315"/>
                        </a:spcBef>
                      </a:pPr>
                      <a:r>
                        <a:rPr sz="1800" spc="-10" dirty="0">
                          <a:latin typeface="Arial MT"/>
                          <a:cs typeface="Arial MT"/>
                        </a:rPr>
                        <a:t>$2,157,250</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315"/>
                        </a:spcBef>
                      </a:pPr>
                      <a:r>
                        <a:rPr sz="1800" spc="-10" dirty="0">
                          <a:latin typeface="Arial MT"/>
                          <a:cs typeface="Arial MT"/>
                        </a:rPr>
                        <a:t>84,41%</a:t>
                      </a:r>
                      <a:endParaRPr sz="1800">
                        <a:latin typeface="Arial MT"/>
                        <a:cs typeface="Arial MT"/>
                      </a:endParaRPr>
                    </a:p>
                    <a:p>
                      <a:pPr marL="91440">
                        <a:lnSpc>
                          <a:spcPct val="100000"/>
                        </a:lnSpc>
                        <a:spcBef>
                          <a:spcPts val="5"/>
                        </a:spcBef>
                      </a:pPr>
                      <a:r>
                        <a:rPr sz="1800" spc="-10" dirty="0">
                          <a:latin typeface="Arial MT"/>
                          <a:cs typeface="Arial MT"/>
                        </a:rPr>
                        <a:t>(2,157,205/2,555,700)</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92075">
                        <a:lnSpc>
                          <a:spcPct val="100000"/>
                        </a:lnSpc>
                        <a:spcBef>
                          <a:spcPts val="315"/>
                        </a:spcBef>
                      </a:pPr>
                      <a:r>
                        <a:rPr sz="1800" spc="-10" dirty="0">
                          <a:latin typeface="Arial MT"/>
                          <a:cs typeface="Arial MT"/>
                        </a:rPr>
                        <a:t>$59,679</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3"/>
                  </a:ext>
                </a:extLst>
              </a:tr>
              <a:tr h="370205">
                <a:tc>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1440">
                        <a:lnSpc>
                          <a:spcPct val="100000"/>
                        </a:lnSpc>
                        <a:spcBef>
                          <a:spcPts val="320"/>
                        </a:spcBef>
                      </a:pPr>
                      <a:r>
                        <a:rPr sz="1800" spc="-10" dirty="0">
                          <a:latin typeface="Arial MT"/>
                          <a:cs typeface="Arial MT"/>
                        </a:rPr>
                        <a:t>$2,555,700</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1440">
                        <a:lnSpc>
                          <a:spcPct val="100000"/>
                        </a:lnSpc>
                        <a:spcBef>
                          <a:spcPts val="320"/>
                        </a:spcBef>
                      </a:pPr>
                      <a:r>
                        <a:rPr sz="1800" spc="-20" dirty="0">
                          <a:latin typeface="Arial MT"/>
                          <a:cs typeface="Arial MT"/>
                        </a:rPr>
                        <a:t>100%</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2075">
                        <a:lnSpc>
                          <a:spcPct val="100000"/>
                        </a:lnSpc>
                        <a:spcBef>
                          <a:spcPts val="320"/>
                        </a:spcBef>
                      </a:pPr>
                      <a:r>
                        <a:rPr sz="1800" spc="-10" dirty="0">
                          <a:latin typeface="Arial MT"/>
                          <a:cs typeface="Arial MT"/>
                        </a:rPr>
                        <a:t>$70,700</a:t>
                      </a:r>
                      <a:endParaRPr sz="1800" dirty="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4"/>
                  </a:ext>
                </a:extLst>
              </a:tr>
            </a:tbl>
          </a:graphicData>
        </a:graphic>
      </p:graphicFrame>
      <p:sp>
        <p:nvSpPr>
          <p:cNvPr id="5" name="object 5"/>
          <p:cNvSpPr txBox="1"/>
          <p:nvPr/>
        </p:nvSpPr>
        <p:spPr>
          <a:xfrm>
            <a:off x="8400256" y="2996952"/>
            <a:ext cx="3695065" cy="1647189"/>
          </a:xfrm>
          <a:prstGeom prst="rect">
            <a:avLst/>
          </a:prstGeom>
        </p:spPr>
        <p:txBody>
          <a:bodyPr vert="horz" wrap="square" lIns="0" tIns="142875" rIns="0" bIns="0" rtlCol="0">
            <a:spAutoFit/>
          </a:bodyPr>
          <a:lstStyle/>
          <a:p>
            <a:pPr marL="12700">
              <a:lnSpc>
                <a:spcPct val="100000"/>
              </a:lnSpc>
              <a:spcBef>
                <a:spcPts val="1125"/>
              </a:spcBef>
            </a:pPr>
            <a:r>
              <a:rPr sz="1800" dirty="0">
                <a:latin typeface="Arial MT"/>
                <a:cs typeface="Arial MT"/>
              </a:rPr>
              <a:t>DR</a:t>
            </a:r>
            <a:r>
              <a:rPr sz="1800" spc="-30" dirty="0">
                <a:latin typeface="Arial MT"/>
                <a:cs typeface="Arial MT"/>
              </a:rPr>
              <a:t> </a:t>
            </a:r>
            <a:r>
              <a:rPr sz="1800" dirty="0">
                <a:latin typeface="Arial MT"/>
                <a:cs typeface="Arial MT"/>
              </a:rPr>
              <a:t>MOH</a:t>
            </a:r>
            <a:r>
              <a:rPr sz="1800" spc="-15" dirty="0">
                <a:latin typeface="Arial MT"/>
                <a:cs typeface="Arial MT"/>
              </a:rPr>
              <a:t> </a:t>
            </a:r>
            <a:r>
              <a:rPr sz="1800" spc="-10" dirty="0">
                <a:latin typeface="Arial MT"/>
                <a:cs typeface="Arial MT"/>
              </a:rPr>
              <a:t>$70,700</a:t>
            </a:r>
            <a:endParaRPr sz="1800" dirty="0">
              <a:latin typeface="Arial MT"/>
              <a:cs typeface="Arial MT"/>
            </a:endParaRPr>
          </a:p>
          <a:p>
            <a:pPr marL="927100">
              <a:lnSpc>
                <a:spcPct val="100000"/>
              </a:lnSpc>
              <a:spcBef>
                <a:spcPts val="1035"/>
              </a:spcBef>
            </a:pPr>
            <a:r>
              <a:rPr sz="1800" dirty="0">
                <a:latin typeface="Arial MT"/>
                <a:cs typeface="Arial MT"/>
              </a:rPr>
              <a:t>CR</a:t>
            </a:r>
            <a:r>
              <a:rPr sz="1800" spc="-10" dirty="0">
                <a:latin typeface="Arial MT"/>
                <a:cs typeface="Arial MT"/>
              </a:rPr>
              <a:t> </a:t>
            </a:r>
            <a:r>
              <a:rPr sz="1800" dirty="0">
                <a:latin typeface="Arial MT"/>
                <a:cs typeface="Arial MT"/>
              </a:rPr>
              <a:t>WIP</a:t>
            </a:r>
            <a:r>
              <a:rPr sz="1800" spc="-40" dirty="0">
                <a:latin typeface="Arial MT"/>
                <a:cs typeface="Arial MT"/>
              </a:rPr>
              <a:t> </a:t>
            </a:r>
            <a:r>
              <a:rPr sz="1800" spc="-10" dirty="0">
                <a:latin typeface="Arial MT"/>
                <a:cs typeface="Arial MT"/>
              </a:rPr>
              <a:t>$9,211</a:t>
            </a:r>
            <a:endParaRPr sz="1800" dirty="0">
              <a:latin typeface="Arial MT"/>
              <a:cs typeface="Arial MT"/>
            </a:endParaRPr>
          </a:p>
          <a:p>
            <a:pPr marL="927100" marR="5080">
              <a:lnSpc>
                <a:spcPct val="147800"/>
              </a:lnSpc>
            </a:pPr>
            <a:r>
              <a:rPr sz="1800" dirty="0">
                <a:latin typeface="Arial MT"/>
                <a:cs typeface="Arial MT"/>
              </a:rPr>
              <a:t>CR</a:t>
            </a:r>
            <a:r>
              <a:rPr sz="1800" spc="-40" dirty="0">
                <a:latin typeface="Arial MT"/>
                <a:cs typeface="Arial MT"/>
              </a:rPr>
              <a:t> </a:t>
            </a:r>
            <a:r>
              <a:rPr sz="1800" dirty="0">
                <a:latin typeface="Arial MT"/>
                <a:cs typeface="Arial MT"/>
              </a:rPr>
              <a:t>Finished</a:t>
            </a:r>
            <a:r>
              <a:rPr sz="1800" spc="-20" dirty="0">
                <a:latin typeface="Arial MT"/>
                <a:cs typeface="Arial MT"/>
              </a:rPr>
              <a:t> </a:t>
            </a:r>
            <a:r>
              <a:rPr sz="1800" dirty="0">
                <a:latin typeface="Arial MT"/>
                <a:cs typeface="Arial MT"/>
              </a:rPr>
              <a:t>Goods</a:t>
            </a:r>
            <a:r>
              <a:rPr sz="1800" spc="-30" dirty="0">
                <a:latin typeface="Arial MT"/>
                <a:cs typeface="Arial MT"/>
              </a:rPr>
              <a:t> </a:t>
            </a:r>
            <a:r>
              <a:rPr sz="1800" spc="-10" dirty="0">
                <a:latin typeface="Arial MT"/>
                <a:cs typeface="Arial MT"/>
              </a:rPr>
              <a:t>$1,810 </a:t>
            </a:r>
            <a:r>
              <a:rPr sz="1800" dirty="0">
                <a:latin typeface="Arial MT"/>
                <a:cs typeface="Arial MT"/>
              </a:rPr>
              <a:t>CR</a:t>
            </a:r>
            <a:r>
              <a:rPr sz="1800" spc="-20" dirty="0">
                <a:latin typeface="Arial MT"/>
                <a:cs typeface="Arial MT"/>
              </a:rPr>
              <a:t> </a:t>
            </a:r>
            <a:r>
              <a:rPr sz="1800" dirty="0">
                <a:latin typeface="Arial MT"/>
                <a:cs typeface="Arial MT"/>
              </a:rPr>
              <a:t>COGS</a:t>
            </a:r>
            <a:r>
              <a:rPr sz="1800" spc="-10" dirty="0">
                <a:latin typeface="Arial MT"/>
                <a:cs typeface="Arial MT"/>
              </a:rPr>
              <a:t> $59,679</a:t>
            </a:r>
            <a:endParaRPr sz="1800" dirty="0">
              <a:latin typeface="Arial MT"/>
              <a:cs typeface="Arial MT"/>
            </a:endParaRPr>
          </a:p>
        </p:txBody>
      </p:sp>
      <p:sp>
        <p:nvSpPr>
          <p:cNvPr id="6" name="object 6"/>
          <p:cNvSpPr txBox="1"/>
          <p:nvPr/>
        </p:nvSpPr>
        <p:spPr>
          <a:xfrm>
            <a:off x="119634" y="5875782"/>
            <a:ext cx="8114030" cy="462280"/>
          </a:xfrm>
          <a:prstGeom prst="rect">
            <a:avLst/>
          </a:prstGeom>
          <a:ln w="38100">
            <a:solidFill>
              <a:srgbClr val="0070C0"/>
            </a:solidFill>
          </a:ln>
        </p:spPr>
        <p:txBody>
          <a:bodyPr vert="horz" wrap="square" lIns="0" tIns="38735" rIns="0" bIns="0" rtlCol="0">
            <a:spAutoFit/>
          </a:bodyPr>
          <a:lstStyle/>
          <a:p>
            <a:pPr algn="ctr">
              <a:lnSpc>
                <a:spcPct val="100000"/>
              </a:lnSpc>
              <a:spcBef>
                <a:spcPts val="305"/>
              </a:spcBef>
            </a:pPr>
            <a:r>
              <a:rPr sz="2400" dirty="0">
                <a:latin typeface="Arial MT"/>
                <a:cs typeface="Arial MT"/>
              </a:rPr>
              <a:t>What</a:t>
            </a:r>
            <a:r>
              <a:rPr sz="2400" spc="-35" dirty="0">
                <a:latin typeface="Arial MT"/>
                <a:cs typeface="Arial MT"/>
              </a:rPr>
              <a:t> </a:t>
            </a:r>
            <a:r>
              <a:rPr sz="2400" dirty="0">
                <a:latin typeface="Arial MT"/>
                <a:cs typeface="Arial MT"/>
              </a:rPr>
              <a:t>if</a:t>
            </a:r>
            <a:r>
              <a:rPr sz="2400" spc="-35" dirty="0">
                <a:latin typeface="Arial MT"/>
                <a:cs typeface="Arial MT"/>
              </a:rPr>
              <a:t> </a:t>
            </a:r>
            <a:r>
              <a:rPr sz="2400" dirty="0">
                <a:latin typeface="Arial MT"/>
                <a:cs typeface="Arial MT"/>
              </a:rPr>
              <a:t>you</a:t>
            </a:r>
            <a:r>
              <a:rPr sz="2400" spc="-35" dirty="0">
                <a:latin typeface="Arial MT"/>
                <a:cs typeface="Arial MT"/>
              </a:rPr>
              <a:t> </a:t>
            </a:r>
            <a:r>
              <a:rPr sz="2400" dirty="0">
                <a:latin typeface="Arial MT"/>
                <a:cs typeface="Arial MT"/>
              </a:rPr>
              <a:t>don’t</a:t>
            </a:r>
            <a:r>
              <a:rPr sz="2400" spc="-20" dirty="0">
                <a:latin typeface="Arial MT"/>
                <a:cs typeface="Arial MT"/>
              </a:rPr>
              <a:t> </a:t>
            </a:r>
            <a:r>
              <a:rPr sz="2400" dirty="0">
                <a:latin typeface="Arial MT"/>
                <a:cs typeface="Arial MT"/>
              </a:rPr>
              <a:t>have</a:t>
            </a:r>
            <a:r>
              <a:rPr sz="2400" spc="-40" dirty="0">
                <a:latin typeface="Arial MT"/>
                <a:cs typeface="Arial MT"/>
              </a:rPr>
              <a:t> </a:t>
            </a:r>
            <a:r>
              <a:rPr sz="2400" dirty="0">
                <a:latin typeface="Arial MT"/>
                <a:cs typeface="Arial MT"/>
              </a:rPr>
              <a:t>$OH</a:t>
            </a:r>
            <a:r>
              <a:rPr sz="2400" spc="-35" dirty="0">
                <a:latin typeface="Arial MT"/>
                <a:cs typeface="Arial MT"/>
              </a:rPr>
              <a:t> </a:t>
            </a:r>
            <a:r>
              <a:rPr sz="2400" spc="-10" dirty="0">
                <a:latin typeface="Arial MT"/>
                <a:cs typeface="Arial MT"/>
              </a:rPr>
              <a:t>allocated?</a:t>
            </a:r>
            <a:endParaRPr sz="2400">
              <a:latin typeface="Arial MT"/>
              <a:cs typeface="Arial M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6F989-30C7-9B2C-9B7C-A362216BBA6E}"/>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DDB6ED7E-48FF-4DDA-BE32-1075D94F51AF}"/>
              </a:ext>
            </a:extLst>
          </p:cNvPr>
          <p:cNvSpPr>
            <a:spLocks noGrp="1"/>
          </p:cNvSpPr>
          <p:nvPr>
            <p:ph type="subTitle" idx="1"/>
          </p:nvPr>
        </p:nvSpPr>
        <p:spPr>
          <a:xfrm>
            <a:off x="239351" y="116629"/>
            <a:ext cx="9601067" cy="506016"/>
          </a:xfrm>
        </p:spPr>
        <p:txBody>
          <a:bodyPr/>
          <a:lstStyle/>
          <a:p>
            <a:r>
              <a:rPr lang="en-CA" dirty="0"/>
              <a:t>Any Questions?</a:t>
            </a:r>
            <a:endParaRPr lang="en-US" sz="1800" dirty="0"/>
          </a:p>
          <a:p>
            <a:endParaRPr lang="en-CA" dirty="0"/>
          </a:p>
        </p:txBody>
      </p:sp>
      <p:sp>
        <p:nvSpPr>
          <p:cNvPr id="2" name="object 16">
            <a:extLst>
              <a:ext uri="{FF2B5EF4-FFF2-40B4-BE49-F238E27FC236}">
                <a16:creationId xmlns:a16="http://schemas.microsoft.com/office/drawing/2014/main" id="{70E3F86C-C2BA-7728-C49B-7B059BF0EA10}"/>
              </a:ext>
            </a:extLst>
          </p:cNvPr>
          <p:cNvSpPr txBox="1">
            <a:spLocks noGrp="1"/>
          </p:cNvSpPr>
          <p:nvPr>
            <p:ph type="sldNum" sz="quarter" idx="12"/>
          </p:nvPr>
        </p:nvSpPr>
        <p:spPr>
          <a:xfrm>
            <a:off x="239351" y="6525348"/>
            <a:ext cx="480053" cy="216023"/>
          </a:xfrm>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5" dirty="0"/>
              <a:t>13</a:t>
            </a:fld>
            <a:endParaRPr spc="-5" dirty="0"/>
          </a:p>
        </p:txBody>
      </p:sp>
    </p:spTree>
    <p:extLst>
      <p:ext uri="{BB962C8B-B14F-4D97-AF65-F5344CB8AC3E}">
        <p14:creationId xmlns:p14="http://schemas.microsoft.com/office/powerpoint/2010/main" val="1794917252"/>
      </p:ext>
    </p:extLst>
  </p:cSld>
  <p:clrMapOvr>
    <a:masterClrMapping/>
  </p:clrMapOvr>
</p:sld>
</file>

<file path=ppt/theme/theme1.xml><?xml version="1.0" encoding="utf-8"?>
<a:theme xmlns:a="http://schemas.openxmlformats.org/drawingml/2006/main" name="Rotman Pi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otman Cy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Rotman Dark Te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Rotman Blu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Rotman Oran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Rotman Gre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Rotman Gol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c18c8954-ab2f-4275-a5d7-b9aa33856ba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9C29625CE8F2445A33C4944AD902EE6" ma:contentTypeVersion="18" ma:contentTypeDescription="Create a new document." ma:contentTypeScope="" ma:versionID="2ba906667caed82590a3b6d7b3da7513">
  <xsd:schema xmlns:xsd="http://www.w3.org/2001/XMLSchema" xmlns:xs="http://www.w3.org/2001/XMLSchema" xmlns:p="http://schemas.microsoft.com/office/2006/metadata/properties" xmlns:ns3="c18c8954-ab2f-4275-a5d7-b9aa33856ba2" xmlns:ns4="7e677d30-5ff7-4313-a396-6d249a69ab27" targetNamespace="http://schemas.microsoft.com/office/2006/metadata/properties" ma:root="true" ma:fieldsID="85ab7bee49a667cd25923cf2338d3e94" ns3:_="" ns4:_="">
    <xsd:import namespace="c18c8954-ab2f-4275-a5d7-b9aa33856ba2"/>
    <xsd:import namespace="7e677d30-5ff7-4313-a396-6d249a69ab27"/>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OCR" minOccurs="0"/>
                <xsd:element ref="ns3:_activity" minOccurs="0"/>
                <xsd:element ref="ns3:MediaServiceObjectDetectorVersions" minOccurs="0"/>
                <xsd:element ref="ns3:MediaServiceSystemTags" minOccurs="0"/>
                <xsd:element ref="ns3:MediaServiceSearchProperties"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8c8954-ab2f-4275-a5d7-b9aa33856b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Location" ma:index="24" nillable="true" ma:displayName="Location" ma:indexed="true" ma:internalName="MediaServiceLocation" ma:readOnly="true">
      <xsd:simpleType>
        <xsd:restriction base="dms:Text"/>
      </xsd:simpleType>
    </xsd:element>
    <xsd:element name="MediaLengthInSeconds" ma:index="2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e677d30-5ff7-4313-a396-6d249a69ab27"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8103E23-3D7C-4E39-9DD5-75683B020A9E}">
  <ds:schemaRefs>
    <ds:schemaRef ds:uri="http://schemas.microsoft.com/office/2006/documentManagement/types"/>
    <ds:schemaRef ds:uri="c18c8954-ab2f-4275-a5d7-b9aa33856ba2"/>
    <ds:schemaRef ds:uri="http://schemas.microsoft.com/office/2006/metadata/properties"/>
    <ds:schemaRef ds:uri="http://schemas.openxmlformats.org/package/2006/metadata/core-properties"/>
    <ds:schemaRef ds:uri="http://purl.org/dc/elements/1.1/"/>
    <ds:schemaRef ds:uri="http://purl.org/dc/dcmitype/"/>
    <ds:schemaRef ds:uri="http://purl.org/dc/terms/"/>
    <ds:schemaRef ds:uri="7e677d30-5ff7-4313-a396-6d249a69ab27"/>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57CF0919-26FB-4AF4-98AE-101D7BAB3817}">
  <ds:schemaRefs>
    <ds:schemaRef ds:uri="http://schemas.microsoft.com/sharepoint/v3/contenttype/forms"/>
  </ds:schemaRefs>
</ds:datastoreItem>
</file>

<file path=customXml/itemProps3.xml><?xml version="1.0" encoding="utf-8"?>
<ds:datastoreItem xmlns:ds="http://schemas.openxmlformats.org/officeDocument/2006/customXml" ds:itemID="{23AC9AE6-CD88-486C-8B5C-3155BF730A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8c8954-ab2f-4275-a5d7-b9aa33856ba2"/>
    <ds:schemaRef ds:uri="7e677d30-5ff7-4313-a396-6d249a69ab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8aac226-2f03-4b4d-9037-b46d56c55210}" enabled="0" method="" siteId="{78aac226-2f03-4b4d-9037-b46d56c55210}" removed="1"/>
</clbl:labelList>
</file>

<file path=docProps/app.xml><?xml version="1.0" encoding="utf-8"?>
<Properties xmlns="http://schemas.openxmlformats.org/officeDocument/2006/extended-properties" xmlns:vt="http://schemas.openxmlformats.org/officeDocument/2006/docPropsVTypes">
  <TotalTime>10583</TotalTime>
  <Words>993</Words>
  <Application>Microsoft Office PowerPoint</Application>
  <PresentationFormat>Widescreen</PresentationFormat>
  <Paragraphs>169</Paragraphs>
  <Slides>13</Slides>
  <Notes>0</Notes>
  <HiddenSlides>0</HiddenSlides>
  <MMClips>0</MMClips>
  <ScaleCrop>false</ScaleCrop>
  <HeadingPairs>
    <vt:vector size="6" baseType="variant">
      <vt:variant>
        <vt:lpstr>Fonts Used</vt:lpstr>
      </vt:variant>
      <vt:variant>
        <vt:i4>4</vt:i4>
      </vt:variant>
      <vt:variant>
        <vt:lpstr>Theme</vt:lpstr>
      </vt:variant>
      <vt:variant>
        <vt:i4>7</vt:i4>
      </vt:variant>
      <vt:variant>
        <vt:lpstr>Slide Titles</vt:lpstr>
      </vt:variant>
      <vt:variant>
        <vt:i4>13</vt:i4>
      </vt:variant>
    </vt:vector>
  </HeadingPairs>
  <TitlesOfParts>
    <vt:vector size="24" baseType="lpstr">
      <vt:lpstr>Arial MT</vt:lpstr>
      <vt:lpstr>Times New Roman</vt:lpstr>
      <vt:lpstr>Arial</vt:lpstr>
      <vt:lpstr>Calibri</vt:lpstr>
      <vt:lpstr>Rotman Pink</vt:lpstr>
      <vt:lpstr>Rotman Cyan</vt:lpstr>
      <vt:lpstr>Rotman Dark Teal</vt:lpstr>
      <vt:lpstr>Rotman Blue</vt:lpstr>
      <vt:lpstr>Rotman Orange</vt:lpstr>
      <vt:lpstr>Rotman Grey</vt:lpstr>
      <vt:lpstr>Rotman Gold</vt:lpstr>
      <vt:lpstr>  RSM222 Management Accounting 1  Class 3: Student Handout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Graham Huber</dc:creator>
  <cp:lastModifiedBy>Elisa Zuliani</cp:lastModifiedBy>
  <cp:revision>187</cp:revision>
  <cp:lastPrinted>2025-09-11T22:16:33Z</cp:lastPrinted>
  <dcterms:created xsi:type="dcterms:W3CDTF">2013-07-26T14:57:40Z</dcterms:created>
  <dcterms:modified xsi:type="dcterms:W3CDTF">2025-09-16T16:46:07Z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0x01010089C29625CE8F2445A33C4944AD902EE6</vt:lpwstr>
  </property>
</Properties>
</file>