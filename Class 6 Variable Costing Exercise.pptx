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18"/>
  </p:notesMasterIdLst>
  <p:sldIdLst>
    <p:sldId id="256" r:id="rId11"/>
    <p:sldId id="270" r:id="rId12"/>
    <p:sldId id="271" r:id="rId13"/>
    <p:sldId id="272" r:id="rId14"/>
    <p:sldId id="273" r:id="rId15"/>
    <p:sldId id="274" r:id="rId16"/>
    <p:sldId id="706" r:id="rId17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4D2519-C3C6-46F3-8584-3519E5D324F9}" v="4" dt="2025-09-13T14:12:51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89" autoAdjust="0"/>
    <p:restoredTop sz="50000" autoAdjust="0"/>
  </p:normalViewPr>
  <p:slideViewPr>
    <p:cSldViewPr>
      <p:cViewPr varScale="1">
        <p:scale>
          <a:sx n="103" d="100"/>
          <a:sy n="103" d="100"/>
        </p:scale>
        <p:origin x="68" y="56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 Zuliani" userId="5d8035ea-da0f-4081-bdcf-3fa4d66daaa7" providerId="ADAL" clId="{4722C113-FF9D-495D-9E47-6ECF48CC02B8}"/>
    <pc:docChg chg="undo custSel addSld delSld modSld">
      <pc:chgData name="Elisa Zuliani" userId="5d8035ea-da0f-4081-bdcf-3fa4d66daaa7" providerId="ADAL" clId="{4722C113-FF9D-495D-9E47-6ECF48CC02B8}" dt="2025-09-16T02:51:23.981" v="130" actId="20577"/>
      <pc:docMkLst>
        <pc:docMk/>
      </pc:docMkLst>
      <pc:sldChg chg="modSp mod">
        <pc:chgData name="Elisa Zuliani" userId="5d8035ea-da0f-4081-bdcf-3fa4d66daaa7" providerId="ADAL" clId="{4722C113-FF9D-495D-9E47-6ECF48CC02B8}" dt="2025-09-16T02:51:23.981" v="130" actId="20577"/>
        <pc:sldMkLst>
          <pc:docMk/>
          <pc:sldMk cId="3869622953" sldId="256"/>
        </pc:sldMkLst>
        <pc:spChg chg="mod">
          <ac:chgData name="Elisa Zuliani" userId="5d8035ea-da0f-4081-bdcf-3fa4d66daaa7" providerId="ADAL" clId="{4722C113-FF9D-495D-9E47-6ECF48CC02B8}" dt="2025-09-16T02:51:23.981" v="130" actId="20577"/>
          <ac:spMkLst>
            <pc:docMk/>
            <pc:sldMk cId="3869622953" sldId="256"/>
            <ac:spMk id="2" creationId="{00000000-0000-0000-0000-000000000000}"/>
          </ac:spMkLst>
        </pc:spChg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261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262"/>
        </pc:sldMkLst>
      </pc:sldChg>
      <pc:sldChg chg="addSp delSp modSp add mod modClrScheme chgLayout">
        <pc:chgData name="Elisa Zuliani" userId="5d8035ea-da0f-4081-bdcf-3fa4d66daaa7" providerId="ADAL" clId="{4722C113-FF9D-495D-9E47-6ECF48CC02B8}" dt="2025-09-13T14:15:51.345" v="110" actId="478"/>
        <pc:sldMkLst>
          <pc:docMk/>
          <pc:sldMk cId="0" sldId="270"/>
        </pc:sldMkLst>
        <pc:spChg chg="mod ord">
          <ac:chgData name="Elisa Zuliani" userId="5d8035ea-da0f-4081-bdcf-3fa4d66daaa7" providerId="ADAL" clId="{4722C113-FF9D-495D-9E47-6ECF48CC02B8}" dt="2025-09-13T14:08:45.200" v="2" actId="700"/>
          <ac:spMkLst>
            <pc:docMk/>
            <pc:sldMk cId="0" sldId="270"/>
            <ac:spMk id="2" creationId="{00000000-0000-0000-0000-000000000000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14:10:39.383" v="25" actId="1076"/>
        <pc:sldMkLst>
          <pc:docMk/>
          <pc:sldMk cId="0" sldId="271"/>
        </pc:sldMkLst>
        <pc:spChg chg="mod ord">
          <ac:chgData name="Elisa Zuliani" userId="5d8035ea-da0f-4081-bdcf-3fa4d66daaa7" providerId="ADAL" clId="{4722C113-FF9D-495D-9E47-6ECF48CC02B8}" dt="2025-09-13T14:09:51.200" v="15" actId="20577"/>
          <ac:spMkLst>
            <pc:docMk/>
            <pc:sldMk cId="0" sldId="271"/>
            <ac:spMk id="3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4:09:28.802" v="4" actId="700"/>
          <ac:spMkLst>
            <pc:docMk/>
            <pc:sldMk cId="0" sldId="271"/>
            <ac:spMk id="7" creationId="{00000000-0000-0000-0000-000000000000}"/>
          </ac:spMkLst>
        </pc:spChg>
        <pc:spChg chg="add del mod ord">
          <ac:chgData name="Elisa Zuliani" userId="5d8035ea-da0f-4081-bdcf-3fa4d66daaa7" providerId="ADAL" clId="{4722C113-FF9D-495D-9E47-6ECF48CC02B8}" dt="2025-09-13T14:10:16.501" v="20" actId="14100"/>
          <ac:spMkLst>
            <pc:docMk/>
            <pc:sldMk cId="0" sldId="271"/>
            <ac:spMk id="8" creationId="{9A01407B-7A83-B106-7018-724E2A9C547B}"/>
          </ac:spMkLst>
        </pc:spChg>
        <pc:graphicFrameChg chg="mod">
          <ac:chgData name="Elisa Zuliani" userId="5d8035ea-da0f-4081-bdcf-3fa4d66daaa7" providerId="ADAL" clId="{4722C113-FF9D-495D-9E47-6ECF48CC02B8}" dt="2025-09-13T14:10:32.884" v="23" actId="1076"/>
          <ac:graphicFrameMkLst>
            <pc:docMk/>
            <pc:sldMk cId="0" sldId="271"/>
            <ac:graphicFrameMk id="4" creationId="{00000000-0000-0000-0000-000000000000}"/>
          </ac:graphicFrameMkLst>
        </pc:graphicFrameChg>
        <pc:graphicFrameChg chg="mod">
          <ac:chgData name="Elisa Zuliani" userId="5d8035ea-da0f-4081-bdcf-3fa4d66daaa7" providerId="ADAL" clId="{4722C113-FF9D-495D-9E47-6ECF48CC02B8}" dt="2025-09-13T14:10:36.048" v="24" actId="1076"/>
          <ac:graphicFrameMkLst>
            <pc:docMk/>
            <pc:sldMk cId="0" sldId="271"/>
            <ac:graphicFrameMk id="5" creationId="{00000000-0000-0000-0000-000000000000}"/>
          </ac:graphicFrameMkLst>
        </pc:graphicFrameChg>
        <pc:graphicFrameChg chg="mod">
          <ac:chgData name="Elisa Zuliani" userId="5d8035ea-da0f-4081-bdcf-3fa4d66daaa7" providerId="ADAL" clId="{4722C113-FF9D-495D-9E47-6ECF48CC02B8}" dt="2025-09-13T14:10:39.383" v="25" actId="1076"/>
          <ac:graphicFrameMkLst>
            <pc:docMk/>
            <pc:sldMk cId="0" sldId="271"/>
            <ac:graphicFrameMk id="6" creationId="{00000000-0000-0000-0000-000000000000}"/>
          </ac:graphicFrameMkLst>
        </pc:graphicFrameChg>
      </pc:sldChg>
      <pc:sldChg chg="addSp delSp modSp add mod modClrScheme chgLayout">
        <pc:chgData name="Elisa Zuliani" userId="5d8035ea-da0f-4081-bdcf-3fa4d66daaa7" providerId="ADAL" clId="{4722C113-FF9D-495D-9E47-6ECF48CC02B8}" dt="2025-09-13T14:12:07.340" v="43" actId="207"/>
        <pc:sldMkLst>
          <pc:docMk/>
          <pc:sldMk cId="0" sldId="272"/>
        </pc:sldMkLst>
        <pc:spChg chg="mod">
          <ac:chgData name="Elisa Zuliani" userId="5d8035ea-da0f-4081-bdcf-3fa4d66daaa7" providerId="ADAL" clId="{4722C113-FF9D-495D-9E47-6ECF48CC02B8}" dt="2025-09-13T14:11:51.379" v="41" actId="208"/>
          <ac:spMkLst>
            <pc:docMk/>
            <pc:sldMk cId="0" sldId="272"/>
            <ac:spMk id="6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4:12:07.340" v="43" actId="207"/>
          <ac:spMkLst>
            <pc:docMk/>
            <pc:sldMk cId="0" sldId="272"/>
            <ac:spMk id="7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4:11:34.298" v="39" actId="208"/>
          <ac:spMkLst>
            <pc:docMk/>
            <pc:sldMk cId="0" sldId="272"/>
            <ac:spMk id="8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4:10:51.437" v="26" actId="700"/>
          <ac:spMkLst>
            <pc:docMk/>
            <pc:sldMk cId="0" sldId="272"/>
            <ac:spMk id="9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4:10:56.571" v="35" actId="20577"/>
          <ac:spMkLst>
            <pc:docMk/>
            <pc:sldMk cId="0" sldId="272"/>
            <ac:spMk id="10" creationId="{0AFCC72A-FE10-7DC6-3132-ACEC92195CB6}"/>
          </ac:spMkLst>
        </pc:spChg>
      </pc:sldChg>
      <pc:sldChg chg="addSp delSp modSp add mod modClrScheme chgLayout">
        <pc:chgData name="Elisa Zuliani" userId="5d8035ea-da0f-4081-bdcf-3fa4d66daaa7" providerId="ADAL" clId="{4722C113-FF9D-495D-9E47-6ECF48CC02B8}" dt="2025-09-13T14:14:28.796" v="91" actId="20577"/>
        <pc:sldMkLst>
          <pc:docMk/>
          <pc:sldMk cId="0" sldId="273"/>
        </pc:sldMkLst>
        <pc:spChg chg="mod ord">
          <ac:chgData name="Elisa Zuliani" userId="5d8035ea-da0f-4081-bdcf-3fa4d66daaa7" providerId="ADAL" clId="{4722C113-FF9D-495D-9E47-6ECF48CC02B8}" dt="2025-09-13T14:13:21.778" v="62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Elisa Zuliani" userId="5d8035ea-da0f-4081-bdcf-3fa4d66daaa7" providerId="ADAL" clId="{4722C113-FF9D-495D-9E47-6ECF48CC02B8}" dt="2025-09-13T14:14:00.472" v="70" actId="208"/>
          <ac:spMkLst>
            <pc:docMk/>
            <pc:sldMk cId="0" sldId="273"/>
            <ac:spMk id="5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4:12:25.723" v="44" actId="700"/>
          <ac:spMkLst>
            <pc:docMk/>
            <pc:sldMk cId="0" sldId="273"/>
            <ac:spMk id="6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4:14:28.796" v="91" actId="20577"/>
          <ac:spMkLst>
            <pc:docMk/>
            <pc:sldMk cId="0" sldId="273"/>
            <ac:spMk id="7" creationId="{5A58B207-A5E8-504A-46B0-A27C558471C7}"/>
          </ac:spMkLst>
        </pc:spChg>
        <pc:graphicFrameChg chg="mod">
          <ac:chgData name="Elisa Zuliani" userId="5d8035ea-da0f-4081-bdcf-3fa4d66daaa7" providerId="ADAL" clId="{4722C113-FF9D-495D-9E47-6ECF48CC02B8}" dt="2025-09-13T14:13:48.314" v="67" actId="1076"/>
          <ac:graphicFrameMkLst>
            <pc:docMk/>
            <pc:sldMk cId="0" sldId="273"/>
            <ac:graphicFrameMk id="4" creationId="{00000000-0000-0000-0000-000000000000}"/>
          </ac:graphicFrameMkLst>
        </pc:graphicFrameChg>
      </pc:sldChg>
      <pc:sldChg chg="addSp delSp modSp add mod modClrScheme chgLayout">
        <pc:chgData name="Elisa Zuliani" userId="5d8035ea-da0f-4081-bdcf-3fa4d66daaa7" providerId="ADAL" clId="{4722C113-FF9D-495D-9E47-6ECF48CC02B8}" dt="2025-09-13T14:15:35.255" v="109" actId="208"/>
        <pc:sldMkLst>
          <pc:docMk/>
          <pc:sldMk cId="0" sldId="274"/>
        </pc:sldMkLst>
        <pc:spChg chg="mod">
          <ac:chgData name="Elisa Zuliani" userId="5d8035ea-da0f-4081-bdcf-3fa4d66daaa7" providerId="ADAL" clId="{4722C113-FF9D-495D-9E47-6ECF48CC02B8}" dt="2025-09-13T14:15:35.255" v="109" actId="208"/>
          <ac:spMkLst>
            <pc:docMk/>
            <pc:sldMk cId="0" sldId="274"/>
            <ac:spMk id="5" creationId="{00000000-0000-0000-0000-000000000000}"/>
          </ac:spMkLst>
        </pc:spChg>
        <pc:spChg chg="mod ord">
          <ac:chgData name="Elisa Zuliani" userId="5d8035ea-da0f-4081-bdcf-3fa4d66daaa7" providerId="ADAL" clId="{4722C113-FF9D-495D-9E47-6ECF48CC02B8}" dt="2025-09-13T14:14:50.011" v="92" actId="700"/>
          <ac:spMkLst>
            <pc:docMk/>
            <pc:sldMk cId="0" sldId="274"/>
            <ac:spMk id="6" creationId="{00000000-0000-0000-0000-000000000000}"/>
          </ac:spMkLst>
        </pc:spChg>
        <pc:spChg chg="add mod ord">
          <ac:chgData name="Elisa Zuliani" userId="5d8035ea-da0f-4081-bdcf-3fa4d66daaa7" providerId="ADAL" clId="{4722C113-FF9D-495D-9E47-6ECF48CC02B8}" dt="2025-09-13T14:14:54.319" v="101" actId="20577"/>
          <ac:spMkLst>
            <pc:docMk/>
            <pc:sldMk cId="0" sldId="274"/>
            <ac:spMk id="7" creationId="{B9392901-D472-6506-B770-71EA643FD320}"/>
          </ac:spMkLst>
        </pc:spChg>
        <pc:graphicFrameChg chg="mod">
          <ac:chgData name="Elisa Zuliani" userId="5d8035ea-da0f-4081-bdcf-3fa4d66daaa7" providerId="ADAL" clId="{4722C113-FF9D-495D-9E47-6ECF48CC02B8}" dt="2025-09-13T14:15:14.802" v="105" actId="1076"/>
          <ac:graphicFrameMkLst>
            <pc:docMk/>
            <pc:sldMk cId="0" sldId="274"/>
            <ac:graphicFrameMk id="3" creationId="{00000000-0000-0000-0000-000000000000}"/>
          </ac:graphicFrameMkLst>
        </pc:graphicFrameChg>
        <pc:graphicFrameChg chg="mod">
          <ac:chgData name="Elisa Zuliani" userId="5d8035ea-da0f-4081-bdcf-3fa4d66daaa7" providerId="ADAL" clId="{4722C113-FF9D-495D-9E47-6ECF48CC02B8}" dt="2025-09-13T14:15:26.958" v="107" actId="1076"/>
          <ac:graphicFrameMkLst>
            <pc:docMk/>
            <pc:sldMk cId="0" sldId="274"/>
            <ac:graphicFrameMk id="4" creationId="{00000000-0000-0000-0000-000000000000}"/>
          </ac:graphicFrameMkLst>
        </pc:graphicFrameChg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586722182" sldId="352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357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716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717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718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719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720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721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0" sldId="722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3840109713" sldId="723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763998428" sldId="724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151905846" sldId="725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1465793293" sldId="726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1721515311" sldId="727"/>
        </pc:sldMkLst>
      </pc:sldChg>
      <pc:sldChg chg="del">
        <pc:chgData name="Elisa Zuliani" userId="5d8035ea-da0f-4081-bdcf-3fa4d66daaa7" providerId="ADAL" clId="{4722C113-FF9D-495D-9E47-6ECF48CC02B8}" dt="2025-09-13T14:08:17.774" v="0" actId="47"/>
        <pc:sldMkLst>
          <pc:docMk/>
          <pc:sldMk cId="469372248" sldId="7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C81263-C894-4873-89C2-971E5590E23B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980B6D-915E-41AE-AD5B-A36BF2CAC5C5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1C3432-9C42-4A48-825B-C3094C036AEB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C88A52-FA99-4BEC-9A78-5E07FCAB4954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C1E9A2-12C1-4979-AFFA-5E8BA8DB4F7D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6D2C611-B2AF-49AE-AFE1-B2114802218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51478A-F9E3-4EE4-9087-211C1938799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D07D92-6294-4F14-86FE-D10AC9A801A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534C-45DE-41A8-AA2B-DD797E8BAE16}" type="datetime1">
              <a:rPr lang="en-US" smtClean="0"/>
              <a:t>9/15/2025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This is the slide footer, which can be edited under Header &amp; Footer, along with slide numbers and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F8B65-1483-4B3F-A448-0521E8C9ED3A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88975-7FA8-4990-A221-A8D4AA93DF1B}" type="datetime1">
              <a:rPr lang="en-US" smtClean="0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52010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263B5-A16B-4CBF-89AF-1583C81BD7FF}" type="datetime1">
              <a:rPr lang="en-US" smtClean="0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2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EDAA2-DF3E-4D48-856F-FB5399E9F66B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7255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0EEC23F-7C14-469F-A1B9-38D397306EDD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9B159E-9C66-4E28-A9E0-71CCCBDB9217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E1691D9-E12D-42C0-8BA1-F5A1373BE1C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A868AFA-FE36-4FFE-A031-ED80A79D509B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4BDE068-A8D9-459D-AC95-5BD6982A9031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FAEB19-06AB-4F2D-BE96-61EE880A4037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D7E247-1F04-458A-9755-259C385159AB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B2F29FF-CD2E-4E47-819B-780FE6BE24A4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7D5D68-E52E-4203-9A92-55A760F85E0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9118D4-9F30-447E-848C-3E56CBEBE4F4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3D877D-EBF1-49DB-A072-4E9B70D223C6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6E6461-DFDE-413E-BCDC-E5351B674790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7B4548-819E-4C00-8C36-57BF13901DBD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ECA07C-CB2E-4A6F-987C-8933693716E0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CB5EE4-02A8-4F4F-AF71-F2F97FA0C0D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CF6243-C493-4C50-BECA-51D2680F588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5AC2C6-CC36-47EF-BE8D-83E3AE7A39C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8EAA225-43EB-49CC-9625-09C5D0CC1807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05B02B6-E7B4-42F3-90B2-2801B747EAE3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983B62-8B8E-4396-AAC0-029254DDE05B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60A48C-828F-4C74-85B6-794E5A2C5D6A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8204AA-A46B-482B-9D21-B43E59128823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382845-11ED-4EB8-9640-DD33DC65F96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5EF182A-FB98-480A-9C7C-7811435576C6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7DCC81-9C0B-407A-AC87-A022B5FF8E16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7091C9-50D1-4B3B-AE95-6538AA595F8F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E69555-D04C-4701-AB19-0B211266A9BF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489B49-3815-4A08-9320-389A0F7D6AF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EC4451B-16AF-4D16-A530-933208496501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0C6CFD-519D-41A3-99F2-FAE9DD011415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651C4A-EDF0-4FE1-A52A-76F290528895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5AB31F-EF1E-4C98-A04F-0A3648BBA970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BE26218-A5B9-4E80-878F-DBCFACBF30C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F3BB86-6445-456B-B00D-98A3E75CB0BA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72B862-DC74-442F-820A-A2A58A496AB0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7933AB-54BF-478C-8E1B-42B08795FE4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97FC774-152B-4C82-917D-645053E2AC73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07093A-6BD4-4E03-BB46-27F22930560B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957994-B2A1-4E2A-9557-58020F828B0A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14AB20-C775-4524-84AC-D2ED5DAF412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407160-66BB-49B8-B3DD-0005465EAFD6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F0C750-8BCA-48D8-AC8D-73EB38A4B137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C29CC7E-DC52-4939-AC1F-796D56CE109E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208BB1-B402-4387-8CFF-84B532F8A4E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313E0F-CEB1-4D88-BC27-54F7A2EA785C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29EB-1CAF-42D5-A3ED-0FB8398F04E9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4240F8-07ED-4467-B016-17843176ECF7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11DAD7-7E79-4C01-AD23-8F7F083D0A6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4EE84C1-B19C-4F79-8A67-00A4DCDDD9C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C91FA7-57C1-4941-9861-38B69BDC2235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13BF13-5C1A-43F5-8E5F-E63ED09CFA1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4" r:id="rId13"/>
    <p:sldLayoutId id="2147483845" r:id="rId14"/>
    <p:sldLayoutId id="2147483846" r:id="rId15"/>
    <p:sldLayoutId id="2147483847" r:id="rId1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3BEAF0-9531-439F-A5E2-5A73EE5D0C27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E1617C-1B21-4073-96B0-CD63E59AB7E0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6E4B64D-87D1-4754-A671-7503FD453606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0AE750-AED6-4FC9-B676-5D500A12F61A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1CAB05-2034-4AA0-A8B5-541E5845A646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CABBC-1DA2-49DD-BC1B-AC2E3B9E91C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6: In Class </a:t>
            </a:r>
            <a:r>
              <a:rPr lang="en-CA" sz="3100"/>
              <a:t>Exercise – Variable Costing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2327-40D4-DB86-08A7-3C044CEB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CLASS</a:t>
            </a:r>
            <a:r>
              <a:rPr sz="3600" spc="-10" dirty="0">
                <a:solidFill>
                  <a:srgbClr val="FFFFFF"/>
                </a:solidFill>
              </a:rPr>
              <a:t> 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58190" y="2638805"/>
            <a:ext cx="1682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Mini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Moto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1735" y="1286255"/>
            <a:ext cx="3962400" cy="4285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1"/>
          </p:nvPr>
        </p:nvSpPr>
        <p:spPr>
          <a:xfrm>
            <a:off x="335361" y="65644"/>
            <a:ext cx="960106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SzPct val="79545"/>
              <a:tabLst>
                <a:tab pos="469900" algn="l"/>
              </a:tabLst>
            </a:pPr>
            <a:r>
              <a:rPr lang="en-CA" sz="2000" dirty="0">
                <a:latin typeface="Arial MT"/>
                <a:cs typeface="Arial MT"/>
              </a:rPr>
              <a:t>Mini Moto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01407B-7A83-B106-7018-724E2A9C54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2016224"/>
          </a:xfrm>
        </p:spPr>
        <p:txBody>
          <a:bodyPr/>
          <a:lstStyle/>
          <a:p>
            <a:pPr marL="469900" marR="5080" indent="-457200">
              <a:spcBef>
                <a:spcPts val="95"/>
              </a:spcBef>
              <a:buSzPct val="79545"/>
              <a:tabLst>
                <a:tab pos="469900" algn="l"/>
              </a:tabLst>
            </a:pPr>
            <a:r>
              <a:rPr lang="en-CA" sz="2400" dirty="0"/>
              <a:t>Mini</a:t>
            </a:r>
            <a:r>
              <a:rPr lang="en-CA" sz="2400" spc="-65" dirty="0"/>
              <a:t> </a:t>
            </a:r>
            <a:r>
              <a:rPr lang="en-CA" sz="2400" dirty="0"/>
              <a:t>Moto</a:t>
            </a:r>
            <a:r>
              <a:rPr lang="en-CA" sz="2400" spc="-35" dirty="0"/>
              <a:t> </a:t>
            </a:r>
            <a:r>
              <a:rPr lang="en-CA" sz="2400" dirty="0"/>
              <a:t>is</a:t>
            </a:r>
            <a:r>
              <a:rPr lang="en-CA" sz="2400" spc="-60" dirty="0"/>
              <a:t> </a:t>
            </a:r>
            <a:r>
              <a:rPr lang="en-CA" sz="2400" dirty="0"/>
              <a:t>a</a:t>
            </a:r>
            <a:r>
              <a:rPr lang="en-CA" sz="2400" spc="-60" dirty="0"/>
              <a:t> </a:t>
            </a:r>
            <a:r>
              <a:rPr lang="en-CA" sz="2400" dirty="0"/>
              <a:t>private</a:t>
            </a:r>
            <a:r>
              <a:rPr lang="en-CA" sz="2400" spc="-45" dirty="0"/>
              <a:t> </a:t>
            </a:r>
            <a:r>
              <a:rPr lang="en-CA" sz="2400" dirty="0"/>
              <a:t>company</a:t>
            </a:r>
            <a:r>
              <a:rPr lang="en-CA" sz="2400" spc="-35" dirty="0"/>
              <a:t> </a:t>
            </a:r>
            <a:r>
              <a:rPr lang="en-CA" sz="2400" dirty="0"/>
              <a:t>that</a:t>
            </a:r>
            <a:r>
              <a:rPr lang="en-CA" sz="2400" spc="-45" dirty="0"/>
              <a:t> </a:t>
            </a:r>
            <a:r>
              <a:rPr lang="en-CA" sz="2400" dirty="0"/>
              <a:t>produces</a:t>
            </a:r>
            <a:r>
              <a:rPr lang="en-CA" sz="2400" spc="-60" dirty="0"/>
              <a:t> </a:t>
            </a:r>
            <a:r>
              <a:rPr lang="en-CA" sz="2400" dirty="0"/>
              <a:t>scooters.</a:t>
            </a:r>
            <a:r>
              <a:rPr lang="en-CA" sz="2400" spc="-95" dirty="0"/>
              <a:t> </a:t>
            </a:r>
            <a:r>
              <a:rPr lang="en-CA" sz="2400" dirty="0"/>
              <a:t>Their</a:t>
            </a:r>
            <a:r>
              <a:rPr lang="en-CA" sz="2400" spc="-50" dirty="0"/>
              <a:t> </a:t>
            </a:r>
            <a:r>
              <a:rPr lang="en-CA" sz="2400" dirty="0"/>
              <a:t>operations</a:t>
            </a:r>
            <a:r>
              <a:rPr lang="en-CA" sz="2400" spc="-55" dirty="0"/>
              <a:t> </a:t>
            </a:r>
            <a:r>
              <a:rPr lang="en-CA" sz="2400" dirty="0"/>
              <a:t>are</a:t>
            </a:r>
            <a:r>
              <a:rPr lang="en-CA" sz="2400" spc="-40" dirty="0"/>
              <a:t> </a:t>
            </a:r>
            <a:r>
              <a:rPr lang="en-CA" sz="2400" dirty="0"/>
              <a:t>still</a:t>
            </a:r>
            <a:r>
              <a:rPr lang="en-CA" sz="2400" spc="-65" dirty="0"/>
              <a:t> </a:t>
            </a:r>
            <a:r>
              <a:rPr lang="en-CA" sz="2400" spc="-10" dirty="0"/>
              <a:t>fairly </a:t>
            </a:r>
            <a:r>
              <a:rPr lang="en-CA" sz="2400" dirty="0"/>
              <a:t>small</a:t>
            </a:r>
            <a:r>
              <a:rPr lang="en-CA" sz="2400" spc="-50" dirty="0"/>
              <a:t> </a:t>
            </a:r>
            <a:r>
              <a:rPr lang="en-CA" sz="2400" dirty="0"/>
              <a:t>and</a:t>
            </a:r>
            <a:r>
              <a:rPr lang="en-CA" sz="2400" spc="-45" dirty="0"/>
              <a:t> </a:t>
            </a:r>
            <a:r>
              <a:rPr lang="en-CA" sz="2400" dirty="0"/>
              <a:t>for</a:t>
            </a:r>
            <a:r>
              <a:rPr lang="en-CA" sz="2400" spc="-40" dirty="0"/>
              <a:t> </a:t>
            </a:r>
            <a:r>
              <a:rPr lang="en-CA" sz="2400" spc="-10" dirty="0"/>
              <a:t>now,</a:t>
            </a:r>
            <a:r>
              <a:rPr lang="en-CA" sz="2400" spc="-40" dirty="0"/>
              <a:t> </a:t>
            </a:r>
            <a:r>
              <a:rPr lang="en-CA" sz="2400" dirty="0"/>
              <a:t>they</a:t>
            </a:r>
            <a:r>
              <a:rPr lang="en-CA" sz="2400" spc="-55" dirty="0"/>
              <a:t> </a:t>
            </a:r>
            <a:r>
              <a:rPr lang="en-CA" sz="2400" dirty="0"/>
              <a:t>only</a:t>
            </a:r>
            <a:r>
              <a:rPr lang="en-CA" sz="2400" spc="-45" dirty="0"/>
              <a:t> </a:t>
            </a:r>
            <a:r>
              <a:rPr lang="en-CA" sz="2400" dirty="0"/>
              <a:t>produce</a:t>
            </a:r>
            <a:r>
              <a:rPr lang="en-CA" sz="2400" spc="-35" dirty="0"/>
              <a:t> </a:t>
            </a:r>
            <a:r>
              <a:rPr lang="en-CA" sz="2400" dirty="0"/>
              <a:t>one</a:t>
            </a:r>
            <a:r>
              <a:rPr lang="en-CA" sz="2400" spc="-55" dirty="0"/>
              <a:t> </a:t>
            </a:r>
            <a:r>
              <a:rPr lang="en-CA" sz="2400" dirty="0"/>
              <a:t>model</a:t>
            </a:r>
            <a:r>
              <a:rPr lang="en-CA" sz="2400" spc="-35" dirty="0"/>
              <a:t> </a:t>
            </a:r>
            <a:r>
              <a:rPr lang="en-CA" sz="2400" dirty="0"/>
              <a:t>of</a:t>
            </a:r>
            <a:r>
              <a:rPr lang="en-CA" sz="2400" spc="-50" dirty="0"/>
              <a:t> </a:t>
            </a:r>
            <a:r>
              <a:rPr lang="en-CA" sz="2400" spc="-20" dirty="0"/>
              <a:t>scooter.</a:t>
            </a:r>
            <a:r>
              <a:rPr lang="en-CA" sz="2400" spc="-80" dirty="0"/>
              <a:t> </a:t>
            </a:r>
            <a:r>
              <a:rPr lang="en-CA" sz="2400" dirty="0"/>
              <a:t>Their</a:t>
            </a:r>
            <a:r>
              <a:rPr lang="en-CA" sz="2400" spc="-40" dirty="0"/>
              <a:t> </a:t>
            </a:r>
            <a:r>
              <a:rPr lang="en-CA" sz="2400" dirty="0"/>
              <a:t>facility</a:t>
            </a:r>
            <a:r>
              <a:rPr lang="en-CA" sz="2400" spc="-70" dirty="0"/>
              <a:t> </a:t>
            </a:r>
            <a:r>
              <a:rPr lang="en-CA" sz="2400" dirty="0"/>
              <a:t>is</a:t>
            </a:r>
            <a:r>
              <a:rPr lang="en-CA" sz="2400" spc="-55" dirty="0"/>
              <a:t> </a:t>
            </a:r>
            <a:r>
              <a:rPr lang="en-CA" sz="2400" spc="-10" dirty="0"/>
              <a:t>highly </a:t>
            </a:r>
            <a:r>
              <a:rPr lang="en-CA" sz="2400" dirty="0"/>
              <a:t>automated</a:t>
            </a:r>
            <a:r>
              <a:rPr lang="en-CA" sz="2400" spc="-30" dirty="0"/>
              <a:t> </a:t>
            </a:r>
            <a:r>
              <a:rPr lang="en-CA" sz="2400" dirty="0"/>
              <a:t>and</a:t>
            </a:r>
            <a:r>
              <a:rPr lang="en-CA" sz="2400" spc="-50" dirty="0"/>
              <a:t> </a:t>
            </a:r>
            <a:r>
              <a:rPr lang="en-CA" sz="2400" dirty="0"/>
              <a:t>has</a:t>
            </a:r>
            <a:r>
              <a:rPr lang="en-CA" sz="2400" spc="-50" dirty="0"/>
              <a:t> </a:t>
            </a:r>
            <a:r>
              <a:rPr lang="en-CA" sz="2400" dirty="0"/>
              <a:t>a</a:t>
            </a:r>
            <a:r>
              <a:rPr lang="en-CA" sz="2400" spc="-50" dirty="0"/>
              <a:t> </a:t>
            </a:r>
            <a:r>
              <a:rPr lang="en-CA" sz="2400" dirty="0"/>
              <a:t>high</a:t>
            </a:r>
            <a:r>
              <a:rPr lang="en-CA" sz="2400" spc="-45" dirty="0"/>
              <a:t> </a:t>
            </a:r>
            <a:r>
              <a:rPr lang="en-CA" sz="2400" dirty="0"/>
              <a:t>monthly</a:t>
            </a:r>
            <a:r>
              <a:rPr lang="en-CA" sz="2400" spc="-30" dirty="0"/>
              <a:t> </a:t>
            </a:r>
            <a:r>
              <a:rPr lang="en-CA" sz="2400" dirty="0"/>
              <a:t>fixed</a:t>
            </a:r>
            <a:r>
              <a:rPr lang="en-CA" sz="2400" spc="-45" dirty="0"/>
              <a:t> </a:t>
            </a:r>
            <a:r>
              <a:rPr lang="en-CA" sz="2400" dirty="0"/>
              <a:t>cost</a:t>
            </a:r>
            <a:r>
              <a:rPr lang="en-CA" sz="2400" spc="-55" dirty="0"/>
              <a:t> </a:t>
            </a:r>
            <a:r>
              <a:rPr lang="en-CA" sz="2400" dirty="0"/>
              <a:t>of</a:t>
            </a:r>
            <a:r>
              <a:rPr lang="en-CA" sz="2400" spc="-55" dirty="0"/>
              <a:t> </a:t>
            </a:r>
            <a:r>
              <a:rPr lang="en-CA" sz="2400" spc="-10" dirty="0"/>
              <a:t>operation.</a:t>
            </a:r>
          </a:p>
          <a:p>
            <a:pPr marL="919480" lvl="1" indent="-457200">
              <a:spcBef>
                <a:spcPts val="1085"/>
              </a:spcBef>
              <a:tabLst>
                <a:tab pos="919480" algn="l"/>
              </a:tabLst>
            </a:pPr>
            <a:r>
              <a:rPr lang="en-CA" sz="2400" dirty="0"/>
              <a:t>The</a:t>
            </a:r>
            <a:r>
              <a:rPr lang="en-CA" sz="2400" spc="-30" dirty="0"/>
              <a:t> </a:t>
            </a:r>
            <a:r>
              <a:rPr lang="en-CA" sz="2400" dirty="0"/>
              <a:t>costs</a:t>
            </a:r>
            <a:r>
              <a:rPr lang="en-CA" sz="2400" spc="-35" dirty="0"/>
              <a:t> </a:t>
            </a:r>
            <a:r>
              <a:rPr lang="en-CA" sz="2400" dirty="0"/>
              <a:t>listed</a:t>
            </a:r>
            <a:r>
              <a:rPr lang="en-CA" sz="2400" spc="-25" dirty="0"/>
              <a:t> </a:t>
            </a:r>
            <a:r>
              <a:rPr lang="en-CA" sz="2400" dirty="0"/>
              <a:t>below</a:t>
            </a:r>
            <a:r>
              <a:rPr lang="en-CA" sz="2400" spc="-20" dirty="0"/>
              <a:t> </a:t>
            </a:r>
            <a:r>
              <a:rPr lang="en-CA" sz="2400" dirty="0"/>
              <a:t>pertain</a:t>
            </a:r>
            <a:r>
              <a:rPr lang="en-CA" sz="2400" spc="-30" dirty="0"/>
              <a:t> </a:t>
            </a:r>
            <a:r>
              <a:rPr lang="en-CA" sz="2400" dirty="0"/>
              <a:t>to</a:t>
            </a:r>
            <a:r>
              <a:rPr lang="en-CA" sz="2400" spc="-30" dirty="0"/>
              <a:t> </a:t>
            </a:r>
            <a:r>
              <a:rPr lang="en-CA" sz="2400" dirty="0"/>
              <a:t>the</a:t>
            </a:r>
            <a:r>
              <a:rPr lang="en-CA" sz="2400" spc="-30" dirty="0"/>
              <a:t> </a:t>
            </a:r>
            <a:r>
              <a:rPr lang="en-CA" sz="2400" dirty="0"/>
              <a:t>yearly</a:t>
            </a:r>
            <a:r>
              <a:rPr lang="en-CA" sz="2400" spc="-25" dirty="0"/>
              <a:t> </a:t>
            </a:r>
            <a:r>
              <a:rPr lang="en-CA" sz="2400" dirty="0"/>
              <a:t>production</a:t>
            </a:r>
            <a:r>
              <a:rPr lang="en-CA" sz="2400" spc="-55" dirty="0"/>
              <a:t> </a:t>
            </a:r>
            <a:r>
              <a:rPr lang="en-CA" sz="2400" dirty="0"/>
              <a:t>of</a:t>
            </a:r>
            <a:r>
              <a:rPr lang="en-CA" sz="2400" spc="-30" dirty="0"/>
              <a:t> </a:t>
            </a:r>
            <a:r>
              <a:rPr lang="en-CA" sz="2400" dirty="0"/>
              <a:t>scooters</a:t>
            </a:r>
            <a:r>
              <a:rPr lang="en-CA" sz="2400" spc="-55" dirty="0"/>
              <a:t> </a:t>
            </a:r>
            <a:r>
              <a:rPr lang="en-CA" sz="2400" dirty="0"/>
              <a:t>for</a:t>
            </a:r>
            <a:r>
              <a:rPr lang="en-CA" sz="2400" spc="-25" dirty="0"/>
              <a:t> </a:t>
            </a:r>
            <a:r>
              <a:rPr lang="en-CA" sz="2400" spc="-10" dirty="0"/>
              <a:t>2016:</a:t>
            </a:r>
            <a:endParaRPr lang="en-CA" sz="2400" dirty="0"/>
          </a:p>
          <a:p>
            <a:endParaRPr lang="en-CA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610160"/>
              </p:ext>
            </p:extLst>
          </p:nvPr>
        </p:nvGraphicFramePr>
        <p:xfrm>
          <a:off x="265793" y="3284984"/>
          <a:ext cx="3723004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4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Production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Units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Produced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12,800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Units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Sold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12,500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Selling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unit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$4,000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873541"/>
              </p:ext>
            </p:extLst>
          </p:nvPr>
        </p:nvGraphicFramePr>
        <p:xfrm>
          <a:off x="4234815" y="3284984"/>
          <a:ext cx="3722370" cy="222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Manufacturing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(per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unit):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$2,300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$250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VOH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Costs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$3,700,000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26215"/>
              </p:ext>
            </p:extLst>
          </p:nvPr>
        </p:nvGraphicFramePr>
        <p:xfrm>
          <a:off x="8188727" y="3284984"/>
          <a:ext cx="3722370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SG+A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(per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Unit)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$65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Fixed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$2,360,000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AFCC72A-FE10-7DC6-3132-ACEC92195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Mini Moto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0123" y="1510665"/>
            <a:ext cx="102285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SzPct val="79545"/>
              <a:buChar char="•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Compute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Unit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under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Absorption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Costing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Variable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Costing</a:t>
            </a:r>
            <a:endParaRPr sz="22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93773" y="2342514"/>
          <a:ext cx="3996690" cy="2862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Absorption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$2,300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$250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VMOH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Unit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$2,950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FMOH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$3,700,000/12,800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$289.06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3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Cost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$3,239.06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33667" y="2342514"/>
          <a:ext cx="3996690" cy="2862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r>
                        <a:rPr sz="1800" b="1" spc="-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$2,300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$250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VMOH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Unit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$2,950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FMOH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3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Cost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$2,950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000250" y="5584697"/>
            <a:ext cx="8237220" cy="42227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period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04594" y="3524250"/>
            <a:ext cx="1664335" cy="1062990"/>
          </a:xfrm>
          <a:custGeom>
            <a:avLst/>
            <a:gdLst/>
            <a:ahLst/>
            <a:cxnLst/>
            <a:rect l="l" t="t" r="r" b="b"/>
            <a:pathLst>
              <a:path w="1664335" h="1062989">
                <a:moveTo>
                  <a:pt x="1567307" y="977519"/>
                </a:moveTo>
                <a:lnTo>
                  <a:pt x="1552067" y="1001649"/>
                </a:lnTo>
                <a:lnTo>
                  <a:pt x="1648586" y="1062863"/>
                </a:lnTo>
                <a:lnTo>
                  <a:pt x="1663827" y="1038732"/>
                </a:lnTo>
                <a:lnTo>
                  <a:pt x="1567307" y="977519"/>
                </a:lnTo>
                <a:close/>
              </a:path>
              <a:path w="1664335" h="1062989">
                <a:moveTo>
                  <a:pt x="1398397" y="870331"/>
                </a:moveTo>
                <a:lnTo>
                  <a:pt x="1383157" y="894461"/>
                </a:lnTo>
                <a:lnTo>
                  <a:pt x="1479677" y="955675"/>
                </a:lnTo>
                <a:lnTo>
                  <a:pt x="1494917" y="931544"/>
                </a:lnTo>
                <a:lnTo>
                  <a:pt x="1398397" y="870331"/>
                </a:lnTo>
                <a:close/>
              </a:path>
              <a:path w="1664335" h="1062989">
                <a:moveTo>
                  <a:pt x="1229487" y="763143"/>
                </a:moveTo>
                <a:lnTo>
                  <a:pt x="1214247" y="787273"/>
                </a:lnTo>
                <a:lnTo>
                  <a:pt x="1310767" y="848487"/>
                </a:lnTo>
                <a:lnTo>
                  <a:pt x="1326007" y="824357"/>
                </a:lnTo>
                <a:lnTo>
                  <a:pt x="1229487" y="763143"/>
                </a:lnTo>
                <a:close/>
              </a:path>
              <a:path w="1664335" h="1062989">
                <a:moveTo>
                  <a:pt x="1060577" y="655955"/>
                </a:moveTo>
                <a:lnTo>
                  <a:pt x="1045337" y="680085"/>
                </a:lnTo>
                <a:lnTo>
                  <a:pt x="1141857" y="741299"/>
                </a:lnTo>
                <a:lnTo>
                  <a:pt x="1157097" y="717295"/>
                </a:lnTo>
                <a:lnTo>
                  <a:pt x="1060577" y="655955"/>
                </a:lnTo>
                <a:close/>
              </a:path>
              <a:path w="1664335" h="1062989">
                <a:moveTo>
                  <a:pt x="891667" y="548894"/>
                </a:moveTo>
                <a:lnTo>
                  <a:pt x="876426" y="573024"/>
                </a:lnTo>
                <a:lnTo>
                  <a:pt x="972947" y="634238"/>
                </a:lnTo>
                <a:lnTo>
                  <a:pt x="988187" y="610107"/>
                </a:lnTo>
                <a:lnTo>
                  <a:pt x="891667" y="548894"/>
                </a:lnTo>
                <a:close/>
              </a:path>
              <a:path w="1664335" h="1062989">
                <a:moveTo>
                  <a:pt x="722883" y="441706"/>
                </a:moveTo>
                <a:lnTo>
                  <a:pt x="707517" y="465836"/>
                </a:lnTo>
                <a:lnTo>
                  <a:pt x="804037" y="527050"/>
                </a:lnTo>
                <a:lnTo>
                  <a:pt x="819404" y="502919"/>
                </a:lnTo>
                <a:lnTo>
                  <a:pt x="722883" y="441706"/>
                </a:lnTo>
                <a:close/>
              </a:path>
              <a:path w="1664335" h="1062989">
                <a:moveTo>
                  <a:pt x="553974" y="334518"/>
                </a:moveTo>
                <a:lnTo>
                  <a:pt x="538607" y="358648"/>
                </a:lnTo>
                <a:lnTo>
                  <a:pt x="635126" y="419862"/>
                </a:lnTo>
                <a:lnTo>
                  <a:pt x="650494" y="395731"/>
                </a:lnTo>
                <a:lnTo>
                  <a:pt x="553974" y="334518"/>
                </a:lnTo>
                <a:close/>
              </a:path>
              <a:path w="1664335" h="1062989">
                <a:moveTo>
                  <a:pt x="385063" y="227330"/>
                </a:moveTo>
                <a:lnTo>
                  <a:pt x="369697" y="251460"/>
                </a:lnTo>
                <a:lnTo>
                  <a:pt x="466217" y="312674"/>
                </a:lnTo>
                <a:lnTo>
                  <a:pt x="481583" y="288544"/>
                </a:lnTo>
                <a:lnTo>
                  <a:pt x="385063" y="227330"/>
                </a:lnTo>
                <a:close/>
              </a:path>
              <a:path w="1664335" h="1062989">
                <a:moveTo>
                  <a:pt x="216154" y="120142"/>
                </a:moveTo>
                <a:lnTo>
                  <a:pt x="200787" y="144272"/>
                </a:lnTo>
                <a:lnTo>
                  <a:pt x="297306" y="205612"/>
                </a:lnTo>
                <a:lnTo>
                  <a:pt x="312674" y="181482"/>
                </a:lnTo>
                <a:lnTo>
                  <a:pt x="216154" y="120142"/>
                </a:lnTo>
                <a:close/>
              </a:path>
              <a:path w="1664335" h="1062989">
                <a:moveTo>
                  <a:pt x="80079" y="33865"/>
                </a:moveTo>
                <a:lnTo>
                  <a:pt x="64773" y="57966"/>
                </a:lnTo>
                <a:lnTo>
                  <a:pt x="128397" y="98425"/>
                </a:lnTo>
                <a:lnTo>
                  <a:pt x="143763" y="74295"/>
                </a:lnTo>
                <a:lnTo>
                  <a:pt x="80079" y="33865"/>
                </a:lnTo>
                <a:close/>
              </a:path>
              <a:path w="1664335" h="1062989">
                <a:moveTo>
                  <a:pt x="0" y="0"/>
                </a:moveTo>
                <a:lnTo>
                  <a:pt x="49403" y="82169"/>
                </a:lnTo>
                <a:lnTo>
                  <a:pt x="64773" y="57966"/>
                </a:lnTo>
                <a:lnTo>
                  <a:pt x="52705" y="50291"/>
                </a:lnTo>
                <a:lnTo>
                  <a:pt x="67944" y="26162"/>
                </a:lnTo>
                <a:lnTo>
                  <a:pt x="84972" y="26162"/>
                </a:lnTo>
                <a:lnTo>
                  <a:pt x="95376" y="9778"/>
                </a:lnTo>
                <a:lnTo>
                  <a:pt x="0" y="0"/>
                </a:lnTo>
                <a:close/>
              </a:path>
              <a:path w="1664335" h="1062989">
                <a:moveTo>
                  <a:pt x="67944" y="26162"/>
                </a:moveTo>
                <a:lnTo>
                  <a:pt x="52705" y="50291"/>
                </a:lnTo>
                <a:lnTo>
                  <a:pt x="64773" y="57966"/>
                </a:lnTo>
                <a:lnTo>
                  <a:pt x="80079" y="33865"/>
                </a:lnTo>
                <a:lnTo>
                  <a:pt x="67944" y="26162"/>
                </a:lnTo>
                <a:close/>
              </a:path>
              <a:path w="1664335" h="1062989">
                <a:moveTo>
                  <a:pt x="84972" y="26162"/>
                </a:moveTo>
                <a:lnTo>
                  <a:pt x="67944" y="26162"/>
                </a:lnTo>
                <a:lnTo>
                  <a:pt x="80079" y="33865"/>
                </a:lnTo>
                <a:lnTo>
                  <a:pt x="84972" y="26162"/>
                </a:lnTo>
                <a:close/>
              </a:path>
            </a:pathLst>
          </a:cu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86106" y="3339846"/>
            <a:ext cx="1584960" cy="36766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55"/>
              </a:spcBef>
            </a:pPr>
            <a:r>
              <a:rPr sz="2000" spc="-10" dirty="0">
                <a:latin typeface="Arial MT"/>
                <a:cs typeface="Arial MT"/>
              </a:rPr>
              <a:t>Production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1"/>
          </p:nvPr>
        </p:nvSpPr>
        <p:spPr>
          <a:xfrm>
            <a:off x="335361" y="68209"/>
            <a:ext cx="9601067" cy="314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9480">
              <a:lnSpc>
                <a:spcPts val="2635"/>
              </a:lnSpc>
            </a:pPr>
            <a:endParaRPr spc="-1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58B207-A5E8-504A-46B0-A27C558471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07368" y="705245"/>
            <a:ext cx="11545281" cy="1536700"/>
          </a:xfrm>
        </p:spPr>
        <p:txBody>
          <a:bodyPr/>
          <a:lstStyle/>
          <a:p>
            <a:pPr marL="469900" marR="123189" indent="-457200">
              <a:spcBef>
                <a:spcPts val="95"/>
              </a:spcBef>
              <a:buSzPct val="79545"/>
              <a:tabLst>
                <a:tab pos="469900" algn="l"/>
                <a:tab pos="10386695" algn="l"/>
              </a:tabLst>
            </a:pPr>
            <a:r>
              <a:rPr lang="en-CA" sz="2000" dirty="0"/>
              <a:t>Prepare</a:t>
            </a:r>
            <a:r>
              <a:rPr lang="en-CA" sz="2000" spc="-85" dirty="0"/>
              <a:t> </a:t>
            </a:r>
            <a:r>
              <a:rPr lang="en-CA" sz="2000" dirty="0"/>
              <a:t>the</a:t>
            </a:r>
            <a:r>
              <a:rPr lang="en-CA" sz="2000" spc="-70" dirty="0"/>
              <a:t> </a:t>
            </a:r>
            <a:r>
              <a:rPr lang="en-CA" sz="2000" dirty="0"/>
              <a:t>Income</a:t>
            </a:r>
            <a:r>
              <a:rPr lang="en-CA" sz="2000" spc="-50" dirty="0"/>
              <a:t> </a:t>
            </a:r>
            <a:r>
              <a:rPr lang="en-CA" sz="2000" dirty="0"/>
              <a:t>Statement</a:t>
            </a:r>
            <a:r>
              <a:rPr lang="en-CA" sz="2000" spc="-60" dirty="0"/>
              <a:t> </a:t>
            </a:r>
            <a:r>
              <a:rPr lang="en-CA" sz="2000" spc="-10" dirty="0"/>
              <a:t>under</a:t>
            </a:r>
            <a:r>
              <a:rPr lang="en-CA" sz="2000" spc="-145" dirty="0"/>
              <a:t> </a:t>
            </a:r>
            <a:r>
              <a:rPr lang="en-CA" sz="2000" dirty="0"/>
              <a:t>Absorption</a:t>
            </a:r>
            <a:r>
              <a:rPr lang="en-CA" sz="2000" spc="-70" dirty="0"/>
              <a:t> </a:t>
            </a:r>
            <a:r>
              <a:rPr lang="en-CA" sz="2000" dirty="0"/>
              <a:t>Costing</a:t>
            </a:r>
            <a:r>
              <a:rPr lang="en-CA" sz="2000" spc="-70" dirty="0"/>
              <a:t> </a:t>
            </a:r>
            <a:r>
              <a:rPr lang="en-CA" sz="2000" dirty="0"/>
              <a:t>and</a:t>
            </a:r>
            <a:r>
              <a:rPr lang="en-CA" sz="2000" spc="-70" dirty="0"/>
              <a:t> </a:t>
            </a:r>
            <a:r>
              <a:rPr lang="en-CA" sz="2000" spc="-20" dirty="0"/>
              <a:t>Variable</a:t>
            </a:r>
            <a:r>
              <a:rPr lang="en-CA" sz="2000" spc="-70" dirty="0"/>
              <a:t> </a:t>
            </a:r>
            <a:r>
              <a:rPr lang="en-CA" sz="2000" spc="-10" dirty="0"/>
              <a:t>Costing. </a:t>
            </a:r>
            <a:r>
              <a:rPr lang="en-CA" sz="2000" spc="-20" dirty="0"/>
              <a:t>Mini Moto </a:t>
            </a:r>
            <a:r>
              <a:rPr lang="en-CA" sz="2000" dirty="0"/>
              <a:t>uses</a:t>
            </a:r>
            <a:r>
              <a:rPr lang="en-CA" sz="2000" spc="-45" dirty="0"/>
              <a:t> </a:t>
            </a:r>
            <a:r>
              <a:rPr lang="en-CA" sz="2000" dirty="0"/>
              <a:t>FIFO</a:t>
            </a:r>
            <a:r>
              <a:rPr lang="en-CA" sz="2000" spc="-25" dirty="0"/>
              <a:t> </a:t>
            </a:r>
            <a:r>
              <a:rPr lang="en-CA" sz="2000" dirty="0"/>
              <a:t>to</a:t>
            </a:r>
            <a:r>
              <a:rPr lang="en-CA" sz="2000" spc="-50" dirty="0"/>
              <a:t> </a:t>
            </a:r>
            <a:r>
              <a:rPr lang="en-CA" sz="2000" dirty="0"/>
              <a:t>compute</a:t>
            </a:r>
            <a:r>
              <a:rPr lang="en-CA" sz="2000" spc="-35" dirty="0"/>
              <a:t> </a:t>
            </a:r>
            <a:r>
              <a:rPr lang="en-CA" sz="2000" dirty="0"/>
              <a:t>their</a:t>
            </a:r>
            <a:r>
              <a:rPr lang="en-CA" sz="2000" spc="-55" dirty="0"/>
              <a:t> </a:t>
            </a:r>
            <a:r>
              <a:rPr lang="en-CA" sz="2000" dirty="0"/>
              <a:t>Net</a:t>
            </a:r>
            <a:r>
              <a:rPr lang="en-CA" sz="2000" spc="-40" dirty="0"/>
              <a:t> </a:t>
            </a:r>
            <a:r>
              <a:rPr lang="en-CA" sz="2000" spc="-10" dirty="0"/>
              <a:t>Income.</a:t>
            </a:r>
          </a:p>
          <a:p>
            <a:pPr marL="919480" lvl="1" indent="-457200">
              <a:lnSpc>
                <a:spcPts val="2395"/>
              </a:lnSpc>
              <a:spcBef>
                <a:spcPts val="1085"/>
              </a:spcBef>
              <a:tabLst>
                <a:tab pos="919480" algn="l"/>
              </a:tabLst>
            </a:pPr>
            <a:r>
              <a:rPr lang="en-CA" sz="2000" dirty="0"/>
              <a:t>Assume</a:t>
            </a:r>
            <a:r>
              <a:rPr lang="en-CA" sz="2000" spc="-35" dirty="0"/>
              <a:t> </a:t>
            </a:r>
            <a:r>
              <a:rPr lang="en-CA" sz="2000" dirty="0"/>
              <a:t>that</a:t>
            </a:r>
            <a:r>
              <a:rPr lang="en-CA" sz="2000" spc="-35" dirty="0"/>
              <a:t> </a:t>
            </a:r>
            <a:r>
              <a:rPr lang="en-CA" sz="2000" dirty="0"/>
              <a:t>there</a:t>
            </a:r>
            <a:r>
              <a:rPr lang="en-CA" sz="2000" spc="-35" dirty="0"/>
              <a:t> </a:t>
            </a:r>
            <a:r>
              <a:rPr lang="en-CA" sz="2000" dirty="0"/>
              <a:t>were</a:t>
            </a:r>
            <a:r>
              <a:rPr lang="en-CA" sz="2000" spc="-35" dirty="0"/>
              <a:t> </a:t>
            </a:r>
            <a:r>
              <a:rPr lang="en-CA" sz="2000" dirty="0"/>
              <a:t>50</a:t>
            </a:r>
            <a:r>
              <a:rPr lang="en-CA" sz="2000" spc="-25" dirty="0"/>
              <a:t> </a:t>
            </a:r>
            <a:r>
              <a:rPr lang="en-CA" sz="2000" dirty="0"/>
              <a:t>units</a:t>
            </a:r>
            <a:r>
              <a:rPr lang="en-CA" sz="2000" spc="-25" dirty="0"/>
              <a:t> </a:t>
            </a:r>
            <a:r>
              <a:rPr lang="en-CA" sz="2000" dirty="0"/>
              <a:t>in</a:t>
            </a:r>
            <a:r>
              <a:rPr lang="en-CA" sz="2000" spc="-10" dirty="0"/>
              <a:t> </a:t>
            </a:r>
            <a:r>
              <a:rPr lang="en-CA" sz="2000" dirty="0"/>
              <a:t>opening</a:t>
            </a:r>
            <a:r>
              <a:rPr lang="en-CA" sz="2000" spc="-25" dirty="0"/>
              <a:t> </a:t>
            </a:r>
            <a:r>
              <a:rPr lang="en-CA" sz="2000" dirty="0"/>
              <a:t>inventory</a:t>
            </a:r>
            <a:r>
              <a:rPr lang="en-CA" sz="2000" spc="-30" dirty="0"/>
              <a:t> </a:t>
            </a:r>
            <a:r>
              <a:rPr lang="en-CA" sz="2000" dirty="0"/>
              <a:t>and</a:t>
            </a:r>
            <a:r>
              <a:rPr lang="en-CA" sz="2000" spc="-25" dirty="0"/>
              <a:t> </a:t>
            </a:r>
            <a:r>
              <a:rPr lang="en-CA" sz="2000" dirty="0"/>
              <a:t>that</a:t>
            </a:r>
            <a:r>
              <a:rPr lang="en-CA" sz="2000" spc="-35" dirty="0"/>
              <a:t> </a:t>
            </a:r>
            <a:r>
              <a:rPr lang="en-CA" sz="2000" dirty="0"/>
              <a:t>the</a:t>
            </a:r>
            <a:r>
              <a:rPr lang="en-CA" sz="2000" spc="-30" dirty="0"/>
              <a:t> </a:t>
            </a:r>
            <a:r>
              <a:rPr lang="en-CA" sz="2000" dirty="0"/>
              <a:t>unit</a:t>
            </a:r>
            <a:r>
              <a:rPr lang="en-CA" sz="2000" spc="-30" dirty="0"/>
              <a:t> </a:t>
            </a:r>
            <a:r>
              <a:rPr lang="en-CA" sz="2000" dirty="0"/>
              <a:t>cost</a:t>
            </a:r>
            <a:r>
              <a:rPr lang="en-CA" sz="2000" spc="-40" dirty="0"/>
              <a:t> </a:t>
            </a:r>
            <a:r>
              <a:rPr lang="en-CA" sz="2000" dirty="0"/>
              <a:t>per</a:t>
            </a:r>
            <a:r>
              <a:rPr lang="en-CA" sz="2000" spc="-25" dirty="0"/>
              <a:t> </a:t>
            </a:r>
            <a:r>
              <a:rPr lang="en-CA" sz="2000" spc="-10" dirty="0"/>
              <a:t>absorption </a:t>
            </a:r>
            <a:r>
              <a:rPr lang="en-CA" sz="2000" dirty="0"/>
              <a:t>costing</a:t>
            </a:r>
            <a:r>
              <a:rPr lang="en-CA" sz="2000" spc="-75" dirty="0"/>
              <a:t> </a:t>
            </a:r>
            <a:r>
              <a:rPr lang="en-CA" sz="2000" dirty="0"/>
              <a:t>was</a:t>
            </a:r>
            <a:r>
              <a:rPr lang="en-CA" sz="2000" spc="-65" dirty="0"/>
              <a:t> </a:t>
            </a:r>
            <a:r>
              <a:rPr lang="en-CA" sz="2000" dirty="0"/>
              <a:t>computed</a:t>
            </a:r>
            <a:r>
              <a:rPr lang="en-CA" sz="2000" spc="-40" dirty="0"/>
              <a:t> </a:t>
            </a:r>
            <a:r>
              <a:rPr lang="en-CA" sz="2000" dirty="0"/>
              <a:t>as</a:t>
            </a:r>
            <a:r>
              <a:rPr lang="en-CA" sz="2000" spc="-70" dirty="0"/>
              <a:t> </a:t>
            </a:r>
            <a:r>
              <a:rPr lang="en-CA" sz="2000" spc="-10" dirty="0"/>
              <a:t>follows:</a:t>
            </a:r>
          </a:p>
          <a:p>
            <a:pPr marL="919480" lvl="1" indent="-457200">
              <a:lnSpc>
                <a:spcPts val="2395"/>
              </a:lnSpc>
              <a:spcBef>
                <a:spcPts val="1085"/>
              </a:spcBef>
              <a:tabLst>
                <a:tab pos="919480" algn="l"/>
              </a:tabLst>
            </a:pPr>
            <a:endParaRPr lang="en-CA" sz="2000" dirty="0">
              <a:latin typeface="Arial MT"/>
              <a:cs typeface="Arial MT"/>
            </a:endParaRPr>
          </a:p>
          <a:p>
            <a:endParaRPr lang="en-CA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62989"/>
              </p:ext>
            </p:extLst>
          </p:nvPr>
        </p:nvGraphicFramePr>
        <p:xfrm>
          <a:off x="1775520" y="2780928"/>
          <a:ext cx="3996690" cy="259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Absorption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Costing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(2015)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$2,300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DL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$250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VMOH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Costs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Unit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$2,950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FMOH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$328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3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Cost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$3,278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384032" y="3309248"/>
            <a:ext cx="4752340" cy="153670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 MT"/>
                <a:cs typeface="Arial MT"/>
              </a:rPr>
              <a:t>Don’t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stressed.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need</a:t>
            </a:r>
            <a:endParaRPr sz="2400">
              <a:latin typeface="Arial MT"/>
              <a:cs typeface="Arial MT"/>
            </a:endParaRPr>
          </a:p>
          <a:p>
            <a:pPr marL="54673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first.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Remember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219???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9392901-D472-6506-B770-71EA643FD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Mini Moto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456059"/>
              </p:ext>
            </p:extLst>
          </p:nvPr>
        </p:nvGraphicFramePr>
        <p:xfrm>
          <a:off x="1055440" y="1168502"/>
          <a:ext cx="4168775" cy="3961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5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Absorption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12,500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*$4,000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$50,000,000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COGS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50*$3,278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12,450*$3,239.06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($40,490,197)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Gross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Profit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$9,509,803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SG+A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$65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*12,500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$2,360,000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($3,172,500)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12573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Net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Income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$6,337,303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924540"/>
              </p:ext>
            </p:extLst>
          </p:nvPr>
        </p:nvGraphicFramePr>
        <p:xfrm>
          <a:off x="5591944" y="1168502"/>
          <a:ext cx="5225415" cy="3961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1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Sales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12,500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*$4,000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$50,000,000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Variable</a:t>
                      </a:r>
                      <a:r>
                        <a:rPr sz="24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12,500*$2,950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$65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*12,500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($37,687,500)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2400" spc="-1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Margin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$12,312,500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24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Costs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$3,700,000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$2,360,000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($6,060,000)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Net</a:t>
                      </a:r>
                      <a:r>
                        <a:rPr sz="24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Income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$6,252,500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07368" y="5608363"/>
            <a:ext cx="11275060" cy="42227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Absorption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NI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Variable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NI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103E23-3D7C-4E39-9DD5-75683B020A9E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7e677d30-5ff7-4313-a396-6d249a69ab27"/>
    <ds:schemaRef ds:uri="http://schemas.microsoft.com/office/infopath/2007/PartnerControls"/>
    <ds:schemaRef ds:uri="http://schemas.openxmlformats.org/package/2006/metadata/core-properties"/>
    <ds:schemaRef ds:uri="c18c8954-ab2f-4275-a5d7-b9aa33856ba2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11005</TotalTime>
  <Words>384</Words>
  <Application>Microsoft Office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Calibri</vt:lpstr>
      <vt:lpstr>Arial</vt:lpstr>
      <vt:lpstr>Arial MT</vt:lpstr>
      <vt:lpstr>Times New Roman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    RSM222 Management Accounting 1  Class 6: In Class Exercise – Variable Costing </vt:lpstr>
      <vt:lpstr>IN CLASS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Elisa Zuliani</cp:lastModifiedBy>
  <cp:revision>191</cp:revision>
  <cp:lastPrinted>2025-09-15T17:53:16Z</cp:lastPrinted>
  <dcterms:created xsi:type="dcterms:W3CDTF">2013-07-26T14:57:40Z</dcterms:created>
  <dcterms:modified xsi:type="dcterms:W3CDTF">2025-09-16T02:51:49Z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